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image/jpeg" Extension="jpe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60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25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8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53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56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7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46.xml"/>
  <Override ContentType="application/vnd.openxmlformats-officedocument.presentationml.slide+xml" PartName="/ppt/slides/slide38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55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62.xml"/>
  <Override ContentType="application/vnd.openxmlformats-officedocument.presentationml.slide+xml" PartName="/ppt/slides/slide3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58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88.xml"/>
  <Override ContentType="application/vnd.openxmlformats-officedocument.presentationml.slide+xml" PartName="/ppt/slides/slide74.xml"/>
  <Override ContentType="application/vnd.openxmlformats-officedocument.presentationml.slide+xml" PartName="/ppt/slides/slide57.xml"/>
  <Override ContentType="application/vnd.openxmlformats-officedocument.presentationml.slide+xml" PartName="/ppt/slides/slide27.xml"/>
  <Override ContentType="application/vnd.openxmlformats-officedocument.presentationml.slide+xml" PartName="/ppt/slides/slide44.xml"/>
  <Override ContentType="application/vnd.openxmlformats-officedocument.presentationml.slide+xml" PartName="/ppt/slides/slide2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</p:sldIdLst>
  <p:sldSz cy="6858000" cx="9144000"/>
  <p:notesSz cx="6858000" cy="9144000"/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42" Type="http://schemas.openxmlformats.org/officeDocument/2006/relationships/slide" Target="slides/slide37.xml"/><Relationship Id="rId86" Type="http://schemas.openxmlformats.org/officeDocument/2006/relationships/slide" Target="slides/slide81.xml"/><Relationship Id="rId41" Type="http://schemas.openxmlformats.org/officeDocument/2006/relationships/slide" Target="slides/slide36.xml"/><Relationship Id="rId85" Type="http://schemas.openxmlformats.org/officeDocument/2006/relationships/slide" Target="slides/slide80.xml"/><Relationship Id="rId44" Type="http://schemas.openxmlformats.org/officeDocument/2006/relationships/slide" Target="slides/slide39.xml"/><Relationship Id="rId88" Type="http://schemas.openxmlformats.org/officeDocument/2006/relationships/slide" Target="slides/slide83.xml"/><Relationship Id="rId43" Type="http://schemas.openxmlformats.org/officeDocument/2006/relationships/slide" Target="slides/slide38.xml"/><Relationship Id="rId87" Type="http://schemas.openxmlformats.org/officeDocument/2006/relationships/slide" Target="slides/slide82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schemas.openxmlformats.org/officeDocument/2006/relationships/slide" Target="slides/slide70.xml"/><Relationship Id="rId30" Type="http://schemas.openxmlformats.org/officeDocument/2006/relationships/slide" Target="slides/slide25.xml"/><Relationship Id="rId74" Type="http://schemas.openxmlformats.org/officeDocument/2006/relationships/slide" Target="slides/slide69.xml"/><Relationship Id="rId33" Type="http://schemas.openxmlformats.org/officeDocument/2006/relationships/slide" Target="slides/slide28.xml"/><Relationship Id="rId77" Type="http://schemas.openxmlformats.org/officeDocument/2006/relationships/slide" Target="slides/slide72.xml"/><Relationship Id="rId32" Type="http://schemas.openxmlformats.org/officeDocument/2006/relationships/slide" Target="slides/slide27.xml"/><Relationship Id="rId76" Type="http://schemas.openxmlformats.org/officeDocument/2006/relationships/slide" Target="slides/slide71.xml"/><Relationship Id="rId35" Type="http://schemas.openxmlformats.org/officeDocument/2006/relationships/slide" Target="slides/slide30.xml"/><Relationship Id="rId79" Type="http://schemas.openxmlformats.org/officeDocument/2006/relationships/slide" Target="slides/slide74.xml"/><Relationship Id="rId34" Type="http://schemas.openxmlformats.org/officeDocument/2006/relationships/slide" Target="slides/slide29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94" Type="http://schemas.openxmlformats.org/officeDocument/2006/relationships/slide" Target="slides/slide89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FF90A6-DCCD-4373-9450-CD522731DE65}" type="datetimeFigureOut">
              <a:rPr lang="en-US" smtClean="0"/>
              <a:pPr/>
              <a:t>13-Aug-25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B0BEC3-D2C9-41A7-8DF4-04E43FD2E4E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B0BEC3-D2C9-41A7-8DF4-04E43FD2E4E7}" type="slidenum">
              <a:rPr lang="en-US" smtClean="0"/>
              <a:pPr/>
              <a:t>39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B0BEC3-D2C9-41A7-8DF4-04E43FD2E4E7}" type="slidenum">
              <a:rPr lang="en-US" smtClean="0"/>
              <a:pPr/>
              <a:t>46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0BA479B0-E1C9-46F9-9569-93D2B6795D81}" type="datetimeFigureOut">
              <a:rPr lang="en-US" smtClean="0"/>
              <a:pPr/>
              <a:t>13-Aug-25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DDD2DA9B-B61D-48AF-B21A-F05CB99AAD2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BA479B0-E1C9-46F9-9569-93D2B6795D81}" type="datetimeFigureOut">
              <a:rPr lang="en-US" smtClean="0"/>
              <a:pPr/>
              <a:t>13-Aug-25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DD2DA9B-B61D-48AF-B21A-F05CB99AAD2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BA479B0-E1C9-46F9-9569-93D2B6795D81}" type="datetimeFigureOut">
              <a:rPr lang="en-US" smtClean="0"/>
              <a:pPr/>
              <a:t>13-Aug-25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DD2DA9B-B61D-48AF-B21A-F05CB99AAD2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BA479B0-E1C9-46F9-9569-93D2B6795D81}" type="datetimeFigureOut">
              <a:rPr lang="en-US" smtClean="0"/>
              <a:pPr/>
              <a:t>13-Aug-25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DD2DA9B-B61D-48AF-B21A-F05CB99AAD2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BA479B0-E1C9-46F9-9569-93D2B6795D81}" type="datetimeFigureOut">
              <a:rPr lang="en-US" smtClean="0"/>
              <a:pPr/>
              <a:t>13-Aug-25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DD2DA9B-B61D-48AF-B21A-F05CB99AAD2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BA479B0-E1C9-46F9-9569-93D2B6795D81}" type="datetimeFigureOut">
              <a:rPr lang="en-US" smtClean="0"/>
              <a:pPr/>
              <a:t>13-Aug-25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DD2DA9B-B61D-48AF-B21A-F05CB99AAD2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BA479B0-E1C9-46F9-9569-93D2B6795D81}" type="datetimeFigureOut">
              <a:rPr lang="en-US" smtClean="0"/>
              <a:pPr/>
              <a:t>13-Aug-25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DD2DA9B-B61D-48AF-B21A-F05CB99AAD2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0BA479B0-E1C9-46F9-9569-93D2B6795D81}" type="datetimeFigureOut">
              <a:rPr lang="en-US" smtClean="0"/>
              <a:pPr/>
              <a:t>13-Aug-25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DD2DA9B-B61D-48AF-B21A-F05CB99AAD2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0BA479B0-E1C9-46F9-9569-93D2B6795D81}" type="datetimeFigureOut">
              <a:rPr lang="en-US" smtClean="0"/>
              <a:pPr/>
              <a:t>13-Aug-25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DDD2DA9B-B61D-48AF-B21A-F05CB99AAD2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BA479B0-E1C9-46F9-9569-93D2B6795D81}" type="datetimeFigureOut">
              <a:rPr lang="en-US" smtClean="0"/>
              <a:pPr/>
              <a:t>13-Aug-25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DD2DA9B-B61D-48AF-B21A-F05CB99AAD2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BA479B0-E1C9-46F9-9569-93D2B6795D81}" type="datetimeFigureOut">
              <a:rPr lang="en-US" smtClean="0"/>
              <a:pPr/>
              <a:t>13-Aug-25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DD2DA9B-B61D-48AF-B21A-F05CB99AAD2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0BA479B0-E1C9-46F9-9569-93D2B6795D81}" type="datetimeFigureOut">
              <a:rPr lang="en-US" smtClean="0"/>
              <a:pPr/>
              <a:t>13-Aug-25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DDD2DA9B-B61D-48AF-B21A-F05CB99AAD2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JIT2321-DPCO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smtClean="0"/>
              <a:t>Unit -2</a:t>
            </a:r>
          </a:p>
          <a:p>
            <a:r>
              <a:rPr lang="en-US" dirty="0" smtClean="0"/>
              <a:t>Combinational  Logic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Logical Circuits for digital systems may be:</a:t>
            </a:r>
          </a:p>
          <a:p>
            <a:pPr lvl="2"/>
            <a:endParaRPr lang="en-US" dirty="0" smtClean="0"/>
          </a:p>
          <a:p>
            <a:pPr lvl="2"/>
            <a:r>
              <a:rPr lang="en-US" dirty="0" smtClean="0"/>
              <a:t>Combinational</a:t>
            </a:r>
          </a:p>
          <a:p>
            <a:pPr lvl="2"/>
            <a:endParaRPr lang="en-US" dirty="0" smtClean="0"/>
          </a:p>
          <a:p>
            <a:pPr lvl="2"/>
            <a:r>
              <a:rPr lang="en-US" dirty="0" smtClean="0"/>
              <a:t>Sequential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Logic Circuit</a:t>
            </a:r>
            <a:endParaRPr lang="en-US" dirty="0"/>
          </a:p>
        </p:txBody>
      </p:sp>
      <p:pic>
        <p:nvPicPr>
          <p:cNvPr id="1027" name="Picture 3" descr="C:\Users\Ajai\Desktop\Jerusalem\JIT2321_DPCO\Unit-2\1111-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38600" y="3429000"/>
            <a:ext cx="3695700" cy="229552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b="1" dirty="0" smtClean="0"/>
              <a:t>Combinational Circuit</a:t>
            </a:r>
            <a:r>
              <a:rPr lang="en-US" dirty="0" smtClean="0"/>
              <a:t> consists of logic gates whose </a:t>
            </a:r>
            <a:r>
              <a:rPr lang="en-US" b="1" dirty="0" smtClean="0"/>
              <a:t>outputs</a:t>
            </a:r>
            <a:r>
              <a:rPr lang="en-US" dirty="0" smtClean="0"/>
              <a:t> at any time are </a:t>
            </a:r>
            <a:r>
              <a:rPr lang="en-US" b="1" dirty="0" smtClean="0"/>
              <a:t>determined from</a:t>
            </a:r>
            <a:r>
              <a:rPr lang="en-US" dirty="0" smtClean="0"/>
              <a:t> only the </a:t>
            </a:r>
            <a:r>
              <a:rPr lang="en-US" b="1" dirty="0" smtClean="0"/>
              <a:t>present</a:t>
            </a:r>
            <a:r>
              <a:rPr lang="en-US" dirty="0" smtClean="0"/>
              <a:t> combination of </a:t>
            </a:r>
            <a:r>
              <a:rPr lang="en-US" b="1" dirty="0" smtClean="0"/>
              <a:t>inputs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A combinational circuit performs an operation that can be specified logically by a set of Boolean functions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Combinational Circuit?</a:t>
            </a:r>
            <a:endParaRPr lang="en-US" dirty="0"/>
          </a:p>
        </p:txBody>
      </p:sp>
      <p:pic>
        <p:nvPicPr>
          <p:cNvPr id="2050" name="Picture 2" descr="C:\Users\Ajai\Desktop\Jerusalem\JIT2321_DPCO\Unit-2\11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67200" y="4953000"/>
            <a:ext cx="3648075" cy="10572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A combinational circuit consists of an interconnection of logic gates.</a:t>
            </a:r>
          </a:p>
          <a:p>
            <a:endParaRPr lang="en-US" dirty="0" smtClean="0"/>
          </a:p>
          <a:p>
            <a:r>
              <a:rPr lang="en-US" b="1" dirty="0" smtClean="0"/>
              <a:t>Combinational logic gates</a:t>
            </a:r>
            <a:r>
              <a:rPr lang="en-US" dirty="0" smtClean="0"/>
              <a:t> react to the values of the signals at their inputs and produce the value of the output signal, transforming binary information from the given input data to a required output data.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Contd</a:t>
            </a:r>
            <a:r>
              <a:rPr lang="en-US" dirty="0" smtClean="0"/>
              <a:t>…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="1" dirty="0" smtClean="0"/>
          </a:p>
          <a:p>
            <a:pPr>
              <a:buNone/>
            </a:pPr>
            <a:r>
              <a:rPr lang="en-US" b="1" dirty="0" smtClean="0"/>
              <a:t>Four steps</a:t>
            </a:r>
            <a:r>
              <a:rPr lang="en-US" dirty="0" smtClean="0"/>
              <a:t>:</a:t>
            </a:r>
          </a:p>
          <a:p>
            <a:pPr>
              <a:buNone/>
            </a:pPr>
            <a:endParaRPr lang="en-US" dirty="0" smtClean="0"/>
          </a:p>
          <a:p>
            <a:pPr marL="624078" indent="-514350">
              <a:buAutoNum type="arabicPeriod"/>
            </a:pPr>
            <a:r>
              <a:rPr lang="en-US" dirty="0" smtClean="0"/>
              <a:t>Determine the input and output and assign a constant.</a:t>
            </a:r>
          </a:p>
          <a:p>
            <a:pPr marL="624078" indent="-514350">
              <a:buAutoNum type="arabicPeriod"/>
            </a:pPr>
            <a:r>
              <a:rPr lang="en-US" dirty="0" smtClean="0"/>
              <a:t>Draw a truth table for inputs and outputs.</a:t>
            </a:r>
          </a:p>
          <a:p>
            <a:pPr marL="624078" indent="-514350">
              <a:buAutoNum type="arabicPeriod"/>
            </a:pPr>
            <a:r>
              <a:rPr lang="en-US" dirty="0" smtClean="0"/>
              <a:t>Use Boolean Algebra to solve the equation.</a:t>
            </a:r>
          </a:p>
          <a:p>
            <a:pPr marL="624078" indent="-514350">
              <a:buAutoNum type="arabicPeriod"/>
            </a:pPr>
            <a:r>
              <a:rPr lang="en-US" dirty="0" smtClean="0"/>
              <a:t>Draw the logic circuit using the derived equation.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How to design a Combinational Circuit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Combinational  Circuit</a:t>
            </a:r>
          </a:p>
          <a:p>
            <a:r>
              <a:rPr lang="en-US" dirty="0" smtClean="0"/>
              <a:t>Adder - Circuit which adds</a:t>
            </a:r>
          </a:p>
          <a:p>
            <a:r>
              <a:rPr lang="en-US" dirty="0" smtClean="0"/>
              <a:t>Half Adder- Adds only 2 bits(0,1) [</a:t>
            </a:r>
            <a:r>
              <a:rPr lang="en-US" dirty="0" err="1" smtClean="0"/>
              <a:t>eg</a:t>
            </a:r>
            <a:r>
              <a:rPr lang="en-US" dirty="0" smtClean="0"/>
              <a:t>. A+B]</a:t>
            </a:r>
          </a:p>
          <a:p>
            <a:r>
              <a:rPr lang="en-US" dirty="0" smtClean="0"/>
              <a:t>0- OFF   1-ON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Half Adder</a:t>
            </a:r>
            <a:endParaRPr lang="en-US" dirty="0"/>
          </a:p>
        </p:txBody>
      </p:sp>
      <p:pic>
        <p:nvPicPr>
          <p:cNvPr id="8" name="Picture 4" descr="C:\Users\Ajai\Desktop\Jerusalem\JIT2321_DPCO\Unit-2\HA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71800" y="3657600"/>
            <a:ext cx="3352800" cy="2362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TT_HA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0200" y="1600200"/>
            <a:ext cx="5326380" cy="2171700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Truth Table &amp; Boolean Expression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905000" y="4572000"/>
            <a:ext cx="22605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Sum (S) = A’B+AB’</a:t>
            </a:r>
          </a:p>
          <a:p>
            <a:r>
              <a:rPr lang="en-US" dirty="0" smtClean="0"/>
              <a:t>Carry(C) = A.B</a:t>
            </a:r>
            <a:endParaRPr lang="en-US" dirty="0"/>
          </a:p>
        </p:txBody>
      </p:sp>
      <p:pic>
        <p:nvPicPr>
          <p:cNvPr id="4098" name="Picture 2" descr="C:\Users\Ajai\Desktop\Jerusalem\JIT2321_DPCO\Unit-2\Sum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34000" y="4495800"/>
            <a:ext cx="1387475" cy="3651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Logic Circuit Diagram</a:t>
            </a:r>
            <a:endParaRPr lang="en-US" dirty="0"/>
          </a:p>
        </p:txBody>
      </p:sp>
      <p:pic>
        <p:nvPicPr>
          <p:cNvPr id="5122" name="Picture 2" descr="C:\Users\Ajai\Desktop\Jerusalem\JIT2321_DPCO\Unit-2\HA_CKT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981200" y="1752600"/>
            <a:ext cx="5334000" cy="3581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  <a:p>
            <a:r>
              <a:rPr lang="en-US" dirty="0" smtClean="0"/>
              <a:t>Overcomes the disadvantage of half adder</a:t>
            </a:r>
          </a:p>
          <a:p>
            <a:r>
              <a:rPr lang="en-US" dirty="0" smtClean="0"/>
              <a:t>Usage of 3 bit numbers (0-7)</a:t>
            </a:r>
          </a:p>
          <a:p>
            <a:r>
              <a:rPr lang="en-US" dirty="0" smtClean="0"/>
              <a:t>For more than 3 bits, we can cascade the full adders</a:t>
            </a:r>
          </a:p>
          <a:p>
            <a:r>
              <a:rPr lang="en-US" dirty="0" smtClean="0"/>
              <a:t>Increase in Speed</a:t>
            </a:r>
          </a:p>
          <a:p>
            <a:r>
              <a:rPr lang="en-US" dirty="0" smtClean="0"/>
              <a:t>Carry in s usually the carry from the previous stage.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Full Adder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Truth Table</a:t>
            </a:r>
            <a:endParaRPr lang="en-US" dirty="0"/>
          </a:p>
        </p:txBody>
      </p:sp>
      <p:pic>
        <p:nvPicPr>
          <p:cNvPr id="6146" name="Picture 2" descr="C:\Users\Ajai\Desktop\Jerusalem\JIT2321_DPCO\Unit-2\TT_FA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026920" y="1934369"/>
            <a:ext cx="5090160" cy="3619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 Map for Full Adder</a:t>
            </a:r>
            <a:endParaRPr lang="en-US" dirty="0"/>
          </a:p>
        </p:txBody>
      </p:sp>
      <p:pic>
        <p:nvPicPr>
          <p:cNvPr id="7170" name="Picture 2" descr="C:\Users\Ajai\Desktop\Jerusalem\JIT2321_DPCO\Unit-2\FA_K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485900" y="2593499"/>
            <a:ext cx="6172200" cy="230124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Logic Circuit Diagram</a:t>
            </a:r>
            <a:endParaRPr lang="en-US" dirty="0"/>
          </a:p>
        </p:txBody>
      </p:sp>
      <p:pic>
        <p:nvPicPr>
          <p:cNvPr id="8194" name="Picture 2" descr="C:\Users\Ajai\Desktop\Jerusalem\JIT2321_DPCO\Unit-2\FA_CKT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133600" y="1828800"/>
            <a:ext cx="4160520" cy="318785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Block diagram</a:t>
            </a:r>
            <a:endParaRPr lang="en-US" dirty="0"/>
          </a:p>
        </p:txBody>
      </p:sp>
      <p:pic>
        <p:nvPicPr>
          <p:cNvPr id="6" name="Content Placeholder 5" descr="FA_BlK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8869" y="1481138"/>
            <a:ext cx="5706262" cy="4525962"/>
          </a:xfr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Half Adder using NAND Gates</a:t>
            </a:r>
            <a:endParaRPr lang="en-US" dirty="0"/>
          </a:p>
        </p:txBody>
      </p:sp>
      <p:pic>
        <p:nvPicPr>
          <p:cNvPr id="1026" name="Picture 2" descr="C:\Users\Ajai\Desktop\Jerusalem\JIT2321_DPCO\Unit-2\HA_NANDGTE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162072" y="1481138"/>
            <a:ext cx="4819856" cy="452596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Can be implemented with two half adders and one OR gate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Full Adder using two half adders</a:t>
            </a:r>
            <a:endParaRPr lang="en-US" dirty="0"/>
          </a:p>
        </p:txBody>
      </p:sp>
      <p:pic>
        <p:nvPicPr>
          <p:cNvPr id="2051" name="Picture 3" descr="C:\Users\Ajai\Desktop\Jerusalem\JIT2321_DPCO\Unit-2\FA_HA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28800" y="2514600"/>
            <a:ext cx="6210300" cy="301783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Half Adder(HA) – 2 bits</a:t>
            </a:r>
          </a:p>
          <a:p>
            <a:endParaRPr lang="en-US" dirty="0" smtClean="0"/>
          </a:p>
          <a:p>
            <a:r>
              <a:rPr lang="en-US" dirty="0" smtClean="0"/>
              <a:t>Full Adder(FA)-3 bits</a:t>
            </a:r>
          </a:p>
          <a:p>
            <a:endParaRPr lang="en-US" dirty="0" smtClean="0"/>
          </a:p>
          <a:p>
            <a:r>
              <a:rPr lang="en-US" dirty="0" smtClean="0"/>
              <a:t>Binary Adder(BA) – Adds two numbers.</a:t>
            </a:r>
          </a:p>
          <a:p>
            <a:endParaRPr lang="en-US" dirty="0" smtClean="0"/>
          </a:p>
          <a:p>
            <a:r>
              <a:rPr lang="en-US" dirty="0" err="1" smtClean="0"/>
              <a:t>Eg</a:t>
            </a:r>
            <a:r>
              <a:rPr lang="en-US" dirty="0" smtClean="0"/>
              <a:t>(1011+0011=1110) </a:t>
            </a:r>
            <a:r>
              <a:rPr lang="en-US" dirty="0" smtClean="0">
                <a:sym typeface="Wingdings" pitchFamily="2" charset="2"/>
              </a:rPr>
              <a:t> 11+3=14</a:t>
            </a:r>
          </a:p>
          <a:p>
            <a:endParaRPr lang="en-US" dirty="0" smtClean="0">
              <a:sym typeface="Wingdings" pitchFamily="2" charset="2"/>
            </a:endParaRPr>
          </a:p>
          <a:p>
            <a:r>
              <a:rPr lang="en-US" dirty="0" smtClean="0">
                <a:sym typeface="Wingdings" pitchFamily="2" charset="2"/>
              </a:rPr>
              <a:t>Carry Propagation Problem – Carry </a:t>
            </a:r>
            <a:r>
              <a:rPr lang="en-US" dirty="0" err="1" smtClean="0">
                <a:sym typeface="Wingdings" pitchFamily="2" charset="2"/>
              </a:rPr>
              <a:t>Lookahead</a:t>
            </a:r>
            <a:r>
              <a:rPr lang="en-US" dirty="0" smtClean="0">
                <a:sym typeface="Wingdings" pitchFamily="2" charset="2"/>
              </a:rPr>
              <a:t> adder.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Binary Adder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bA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0" y="1981200"/>
            <a:ext cx="7848600" cy="3352800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Block Diagram for Binary Adder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2 bit input – x, y, D, B</a:t>
            </a:r>
          </a:p>
          <a:p>
            <a:pPr>
              <a:buNone/>
            </a:pPr>
            <a:r>
              <a:rPr lang="en-US" dirty="0" smtClean="0"/>
              <a:t> D-Difference       B-Borrow</a:t>
            </a:r>
          </a:p>
          <a:p>
            <a:r>
              <a:rPr lang="en-US" dirty="0" smtClean="0"/>
              <a:t>[0-1=&gt; D=1, B=1]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Subtractor</a:t>
            </a:r>
            <a:r>
              <a:rPr lang="en-US" dirty="0" smtClean="0"/>
              <a:t> – Half </a:t>
            </a:r>
            <a:r>
              <a:rPr lang="en-US" dirty="0" err="1" smtClean="0"/>
              <a:t>subtractor</a:t>
            </a:r>
            <a:endParaRPr lang="en-US" dirty="0"/>
          </a:p>
        </p:txBody>
      </p:sp>
      <p:pic>
        <p:nvPicPr>
          <p:cNvPr id="1026" name="Picture 2" descr="C:\Users\Ajai\Desktop\Jerusalem\JIT2321_DPCO\Unit-2\HS_B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00200" y="3200400"/>
            <a:ext cx="5715000" cy="204787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Truth Table-Half </a:t>
            </a:r>
            <a:r>
              <a:rPr lang="en-US" dirty="0" err="1" smtClean="0"/>
              <a:t>Subtractor</a:t>
            </a:r>
            <a:endParaRPr lang="en-US" dirty="0"/>
          </a:p>
        </p:txBody>
      </p:sp>
      <p:pic>
        <p:nvPicPr>
          <p:cNvPr id="1027" name="Picture 3" descr="C:\Users\Ajai\Desktop\Jerusalem\JIT2321_DPCO\Unit-2\HS_TT.pn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905000" y="1752600"/>
            <a:ext cx="4953000" cy="3809999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K-Map Half </a:t>
            </a:r>
            <a:r>
              <a:rPr lang="en-US" dirty="0" err="1" smtClean="0"/>
              <a:t>Subtractor</a:t>
            </a:r>
            <a:endParaRPr lang="en-US" dirty="0"/>
          </a:p>
        </p:txBody>
      </p:sp>
      <p:pic>
        <p:nvPicPr>
          <p:cNvPr id="2051" name="Picture 3" descr="C:\Users\Ajai\Desktop\Jerusalem\JIT2321_DPCO\Unit-2\HS_K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209800" y="1981200"/>
            <a:ext cx="4762500" cy="235267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Logic Diagram – Half </a:t>
            </a:r>
            <a:r>
              <a:rPr lang="en-US" dirty="0" err="1" smtClean="0"/>
              <a:t>Subtractor</a:t>
            </a:r>
            <a:endParaRPr lang="en-US" dirty="0"/>
          </a:p>
        </p:txBody>
      </p:sp>
      <p:pic>
        <p:nvPicPr>
          <p:cNvPr id="3074" name="Picture 2" descr="C:\Users\Ajai\Desktop\Jerusalem\JIT2321_DPCO\Unit-2\FS_Logic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971800" y="2209800"/>
            <a:ext cx="4114800" cy="22098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Full </a:t>
            </a:r>
            <a:r>
              <a:rPr lang="en-US" dirty="0" err="1" smtClean="0"/>
              <a:t>Subtractor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1026" name="Picture 2" descr="C:\Users\Ajai\Desktop\Jerusalem\JIT2321_DPCO\Unit-2\FS_TT.pn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971800" y="3505200"/>
            <a:ext cx="5943600" cy="2971800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685800" y="1981200"/>
            <a:ext cx="4572000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800" dirty="0" smtClean="0">
                <a:latin typeface="Calibri" pitchFamily="34" charset="0"/>
                <a:cs typeface="Calibri" pitchFamily="34" charset="0"/>
              </a:rPr>
              <a:t> Inputs- A,B, </a:t>
            </a:r>
            <a:r>
              <a:rPr lang="en-US" sz="2800" dirty="0" err="1" smtClean="0">
                <a:latin typeface="Calibri" pitchFamily="34" charset="0"/>
                <a:cs typeface="Calibri" pitchFamily="34" charset="0"/>
              </a:rPr>
              <a:t>Borrowin</a:t>
            </a:r>
            <a:endParaRPr lang="en-US" sz="2800" dirty="0" smtClean="0">
              <a:latin typeface="Calibri" pitchFamily="34" charset="0"/>
              <a:cs typeface="Calibri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8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800" dirty="0" err="1" smtClean="0">
                <a:latin typeface="Calibri" pitchFamily="34" charset="0"/>
                <a:cs typeface="Calibri" pitchFamily="34" charset="0"/>
              </a:rPr>
              <a:t>Borrowin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  -Previous Borrow</a:t>
            </a:r>
          </a:p>
          <a:p>
            <a:r>
              <a:rPr lang="en-US" sz="2800" dirty="0" smtClean="0">
                <a:latin typeface="Calibri" pitchFamily="34" charset="0"/>
                <a:cs typeface="Calibri" pitchFamily="34" charset="0"/>
              </a:rPr>
              <a:t>                                 </a:t>
            </a:r>
            <a:r>
              <a:rPr lang="en-US" sz="2800" b="1" dirty="0" smtClean="0">
                <a:latin typeface="Calibri" pitchFamily="34" charset="0"/>
                <a:cs typeface="Calibri" pitchFamily="34" charset="0"/>
              </a:rPr>
              <a:t>Truth Table</a:t>
            </a:r>
            <a:endParaRPr lang="en-US" sz="2800" b="1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Full </a:t>
            </a:r>
            <a:r>
              <a:rPr lang="en-US" dirty="0" err="1" smtClean="0"/>
              <a:t>Subtractor</a:t>
            </a:r>
            <a:r>
              <a:rPr lang="en-US" dirty="0" smtClean="0"/>
              <a:t> – K Map</a:t>
            </a:r>
            <a:endParaRPr lang="en-US" dirty="0"/>
          </a:p>
        </p:txBody>
      </p:sp>
      <p:pic>
        <p:nvPicPr>
          <p:cNvPr id="4099" name="Picture 3" descr="C:\Users\Ajai\Desktop\Jerusalem\JIT2321_DPCO\Unit-2\FS_K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09800" y="2895600"/>
            <a:ext cx="4524375" cy="2286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Logic Diagram for Full </a:t>
            </a:r>
            <a:r>
              <a:rPr lang="en-US" dirty="0" err="1" smtClean="0"/>
              <a:t>Subtractor</a:t>
            </a:r>
            <a:endParaRPr lang="en-US" dirty="0"/>
          </a:p>
        </p:txBody>
      </p:sp>
      <p:pic>
        <p:nvPicPr>
          <p:cNvPr id="5122" name="Picture 2" descr="C:\Users\Ajai\Desktop\Jerusalem\JIT2321_DPCO\Unit-2\FS_LOG_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1238" y="2447925"/>
            <a:ext cx="4581525" cy="19621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Deriving Equation</a:t>
            </a:r>
            <a:endParaRPr lang="en-US" dirty="0"/>
          </a:p>
        </p:txBody>
      </p:sp>
      <p:pic>
        <p:nvPicPr>
          <p:cNvPr id="6146" name="Picture 2" descr="C:\Users\Ajai\Desktop\Jerusalem\JIT2321_DPCO\Unit-2\FS_Derivation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90838" y="1905000"/>
            <a:ext cx="4652962" cy="28956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Logic Diagram - 2</a:t>
            </a:r>
            <a:endParaRPr lang="en-US" dirty="0"/>
          </a:p>
        </p:txBody>
      </p:sp>
      <p:pic>
        <p:nvPicPr>
          <p:cNvPr id="7170" name="Picture 2" descr="C:\Users\Ajai\Desktop\Jerusalem\JIT2321_DPCO\Unit-2\FS_Logic_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47800" y="2062163"/>
            <a:ext cx="6400800" cy="327183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FS_BLK.jpe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5000" y="1905000"/>
            <a:ext cx="5943600" cy="3124199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Block Diagram-Full </a:t>
            </a:r>
            <a:r>
              <a:rPr lang="en-US" dirty="0" err="1" smtClean="0"/>
              <a:t>Subtractor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Full </a:t>
            </a:r>
            <a:r>
              <a:rPr lang="en-US" dirty="0" err="1" smtClean="0"/>
              <a:t>Subtractor</a:t>
            </a:r>
            <a:r>
              <a:rPr lang="en-US" dirty="0" smtClean="0"/>
              <a:t> – Complicate</a:t>
            </a:r>
          </a:p>
          <a:p>
            <a:endParaRPr lang="en-US" dirty="0" smtClean="0"/>
          </a:p>
          <a:p>
            <a:r>
              <a:rPr lang="en-US" dirty="0" smtClean="0"/>
              <a:t>A-B</a:t>
            </a:r>
          </a:p>
          <a:p>
            <a:endParaRPr lang="en-US" dirty="0" smtClean="0"/>
          </a:p>
          <a:p>
            <a:r>
              <a:rPr lang="en-US" dirty="0" smtClean="0"/>
              <a:t>Steps:</a:t>
            </a:r>
          </a:p>
          <a:p>
            <a:pPr>
              <a:buNone/>
            </a:pPr>
            <a:r>
              <a:rPr lang="en-US" dirty="0" smtClean="0"/>
              <a:t>          1. Find 1’s Complement of B</a:t>
            </a:r>
          </a:p>
          <a:p>
            <a:pPr>
              <a:buNone/>
            </a:pPr>
            <a:r>
              <a:rPr lang="en-US" dirty="0" smtClean="0"/>
              <a:t>          2. Add 1 </a:t>
            </a:r>
            <a:r>
              <a:rPr lang="en-US" dirty="0" smtClean="0">
                <a:sym typeface="Wingdings" pitchFamily="2" charset="2"/>
              </a:rPr>
              <a:t> 2’s Complement</a:t>
            </a:r>
          </a:p>
          <a:p>
            <a:pPr>
              <a:buNone/>
            </a:pPr>
            <a:r>
              <a:rPr lang="en-US" dirty="0" smtClean="0">
                <a:sym typeface="Wingdings" pitchFamily="2" charset="2"/>
              </a:rPr>
              <a:t>          3. Add the result with A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Binary </a:t>
            </a:r>
            <a:r>
              <a:rPr lang="en-US" dirty="0" err="1" smtClean="0"/>
              <a:t>Subtractor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Two ways – Full </a:t>
            </a:r>
            <a:r>
              <a:rPr lang="en-US" dirty="0" err="1" smtClean="0"/>
              <a:t>Subtractor</a:t>
            </a:r>
            <a:r>
              <a:rPr lang="en-US" dirty="0" smtClean="0"/>
              <a:t> and full addition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Construct</a:t>
            </a:r>
            <a:endParaRPr lang="en-US" dirty="0"/>
          </a:p>
        </p:txBody>
      </p:sp>
      <p:pic>
        <p:nvPicPr>
          <p:cNvPr id="8194" name="Picture 2" descr="C:\Users\Ajai\Desktop\Jerusalem\JIT2321_DPCO\Unit-2\BS_Logic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81200" y="2057400"/>
            <a:ext cx="5868987" cy="45910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Truth Table or Mapping</a:t>
            </a:r>
            <a:endParaRPr 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00201" y="2024063"/>
            <a:ext cx="5562600" cy="3462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Arithmetic addition of adding two decimal digits in BCD.</a:t>
            </a:r>
          </a:p>
          <a:p>
            <a:endParaRPr lang="en-US" dirty="0" smtClean="0"/>
          </a:p>
          <a:p>
            <a:r>
              <a:rPr lang="en-US" dirty="0" smtClean="0"/>
              <a:t>A varies from (0) 0000 to (9) 1001</a:t>
            </a:r>
          </a:p>
          <a:p>
            <a:r>
              <a:rPr lang="en-US" dirty="0" smtClean="0"/>
              <a:t>B varies from (0) 0000 to (9) 1001</a:t>
            </a:r>
          </a:p>
          <a:p>
            <a:r>
              <a:rPr lang="en-US" dirty="0" smtClean="0"/>
              <a:t>So totally 19=9+9+1(Carry)</a:t>
            </a:r>
          </a:p>
          <a:p>
            <a:endParaRPr lang="en-US" dirty="0" smtClean="0"/>
          </a:p>
          <a:p>
            <a:r>
              <a:rPr lang="en-US" dirty="0" smtClean="0"/>
              <a:t>Add </a:t>
            </a:r>
            <a:r>
              <a:rPr lang="en-US" b="1" dirty="0" smtClean="0"/>
              <a:t>6 (0110)</a:t>
            </a:r>
            <a:r>
              <a:rPr lang="en-US" dirty="0" smtClean="0"/>
              <a:t>, if the value is greater than 9 because BCD’s maximum value is 9.</a:t>
            </a:r>
            <a:endParaRPr lang="en-US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BCD Adder/Decimal Adder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95400" y="457200"/>
            <a:ext cx="6858000" cy="586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C:\Users\Ajai\Downloads\WhatsApp Image 2025-08-06 at 23.13.55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52400"/>
            <a:ext cx="9144000" cy="6477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K-Map for BCD Adder</a:t>
            </a:r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29400" y="6315075"/>
            <a:ext cx="1828800" cy="542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C:\Users\Ajai\Desktop\Jerusalem\JIT2321_DPCO\Unit-2\BCD_KMap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69988" y="1447800"/>
            <a:ext cx="6802437" cy="382746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Block Diagram of BCD Adder</a:t>
            </a:r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011680" y="1610519"/>
            <a:ext cx="512064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Combinational Circuit that compares two numbers</a:t>
            </a:r>
          </a:p>
          <a:p>
            <a:endParaRPr lang="en-US" dirty="0" smtClean="0"/>
          </a:p>
          <a:p>
            <a:r>
              <a:rPr lang="en-US" dirty="0" smtClean="0"/>
              <a:t>Outcome is specified by three binary variables A&gt;B, A=B, A&lt;B</a:t>
            </a:r>
          </a:p>
          <a:p>
            <a:endParaRPr lang="en-US" dirty="0" smtClean="0"/>
          </a:p>
          <a:p>
            <a:r>
              <a:rPr lang="en-US" dirty="0" smtClean="0"/>
              <a:t>Comparing 2 n-bit numbers =&gt; Makes 2</a:t>
            </a:r>
            <a:r>
              <a:rPr lang="en-US" baseline="30000" dirty="0" smtClean="0"/>
              <a:t>2n </a:t>
            </a:r>
            <a:r>
              <a:rPr lang="en-US" dirty="0" smtClean="0"/>
              <a:t>entries in truth table, which is not feasible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Magnitude Comparator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 – Bit Comparator</a:t>
            </a:r>
            <a:endParaRPr lang="en-US" dirty="0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838200" y="2133600"/>
            <a:ext cx="3368332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24400" y="3962400"/>
            <a:ext cx="3475037" cy="169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1-bit Comparator</a:t>
            </a:r>
            <a:endParaRPr lang="en-US" dirty="0"/>
          </a:p>
        </p:txBody>
      </p:sp>
      <p:pic>
        <p:nvPicPr>
          <p:cNvPr id="1026" name="Picture 2" descr="C:\Users\Ajai\Desktop\Jerusalem\JIT2321_DPCO\Unit-2\1bit_MC_Kmap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1" y="1752600"/>
            <a:ext cx="8305800" cy="4267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MC_TT.jpg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85975" y="1615281"/>
            <a:ext cx="4972050" cy="4257675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 – Bit Comparator</a:t>
            </a:r>
            <a:endParaRPr 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2- Bit Comparator K Map</a:t>
            </a:r>
            <a:endParaRPr lang="en-US" dirty="0"/>
          </a:p>
        </p:txBody>
      </p:sp>
      <p:pic>
        <p:nvPicPr>
          <p:cNvPr id="2050" name="Picture 2" descr="C:\Users\Ajai\Desktop\Jerusalem\JIT2321_DPCO\Unit-2\2bit_Kmap_MC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43200" y="1295400"/>
            <a:ext cx="6400800" cy="53117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2- Bit Comparator Logic Diagram</a:t>
            </a:r>
            <a:endParaRPr lang="en-US" dirty="0"/>
          </a:p>
        </p:txBody>
      </p:sp>
      <p:pic>
        <p:nvPicPr>
          <p:cNvPr id="3074" name="Picture 2" descr="C:\Users\Ajai\Desktop\Jerusalem\JIT2321_DPCO\Unit-2\2-bit-MC_Logic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52800" y="1120775"/>
            <a:ext cx="5921375" cy="573722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1828800"/>
            <a:ext cx="57150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667000" y="4038600"/>
            <a:ext cx="4892675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9400" y="304800"/>
            <a:ext cx="8585200" cy="617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950" y="304800"/>
            <a:ext cx="8928100" cy="617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0200" y="381000"/>
            <a:ext cx="8483600" cy="632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0500" y="304800"/>
            <a:ext cx="8763000" cy="624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3050" y="381000"/>
            <a:ext cx="8597900" cy="609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8450" y="304800"/>
            <a:ext cx="8547100" cy="624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9200" y="457200"/>
            <a:ext cx="5828328" cy="5668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Combinational logic circuit used in digital system to perform multiplication of two numbers.</a:t>
            </a:r>
          </a:p>
          <a:p>
            <a:endParaRPr lang="en-US" dirty="0" smtClean="0"/>
          </a:p>
          <a:p>
            <a:r>
              <a:rPr lang="en-US" dirty="0" smtClean="0"/>
              <a:t>2-bit binary numbers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Binary Multiplier</a:t>
            </a:r>
            <a:endParaRPr lang="en-US" dirty="0"/>
          </a:p>
        </p:txBody>
      </p:sp>
      <p:pic>
        <p:nvPicPr>
          <p:cNvPr id="1026" name="Picture 2" descr="C:\Users\Ajai\Desktop\Jerusalem\JIT2321_DPCO\Unit-2\BM_2Mul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71800" y="3810000"/>
            <a:ext cx="5608637" cy="250666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C:\Users\Ajai\Desktop\Jerusalem\JIT2321_DPCO\Unit-2\BM_2Multiply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71600" y="2136775"/>
            <a:ext cx="5791200" cy="35020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4x4</a:t>
            </a:r>
            <a:endParaRPr lang="en-US" dirty="0"/>
          </a:p>
        </p:txBody>
      </p:sp>
      <p:pic>
        <p:nvPicPr>
          <p:cNvPr id="2050" name="Picture 2" descr="C:\Users\Ajai\Desktop\Jerusalem\JIT2321_DPCO\Unit-2\BM_Mul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2057400"/>
            <a:ext cx="7223125" cy="31083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Logic Diagram</a:t>
            </a:r>
            <a:endParaRPr lang="en-US" dirty="0"/>
          </a:p>
        </p:txBody>
      </p:sp>
      <p:pic>
        <p:nvPicPr>
          <p:cNvPr id="3074" name="Picture 2" descr="C:\Users\Ajai\Desktop\Jerusalem\JIT2321_DPCO\Unit-2\BM_BLK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760752" y="1481138"/>
            <a:ext cx="5622496" cy="452596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Decodes</a:t>
            </a:r>
          </a:p>
          <a:p>
            <a:endParaRPr lang="en-US" dirty="0" smtClean="0"/>
          </a:p>
          <a:p>
            <a:r>
              <a:rPr lang="en-US" dirty="0" smtClean="0"/>
              <a:t>n bit -&gt; 2</a:t>
            </a:r>
            <a:r>
              <a:rPr lang="en-US" baseline="30000" dirty="0" smtClean="0"/>
              <a:t>n </a:t>
            </a:r>
            <a:r>
              <a:rPr lang="en-US" dirty="0" smtClean="0"/>
              <a:t>different outputs</a:t>
            </a:r>
          </a:p>
          <a:p>
            <a:endParaRPr lang="en-US" dirty="0" smtClean="0"/>
          </a:p>
          <a:p>
            <a:r>
              <a:rPr lang="en-US" dirty="0" smtClean="0"/>
              <a:t>One output will be active at any point of time</a:t>
            </a:r>
          </a:p>
          <a:p>
            <a:endParaRPr lang="en-US" dirty="0" smtClean="0"/>
          </a:p>
          <a:p>
            <a:r>
              <a:rPr lang="en-US" dirty="0" smtClean="0"/>
              <a:t>Three inputs(</a:t>
            </a:r>
            <a:r>
              <a:rPr lang="en-US" dirty="0" err="1" smtClean="0"/>
              <a:t>x,y,z</a:t>
            </a:r>
            <a:r>
              <a:rPr lang="en-US" dirty="0" smtClean="0"/>
              <a:t>)</a:t>
            </a:r>
          </a:p>
          <a:p>
            <a:endParaRPr lang="en-US" dirty="0" smtClean="0"/>
          </a:p>
          <a:p>
            <a:r>
              <a:rPr lang="en-US" dirty="0" smtClean="0"/>
              <a:t>Eight outputs(D0,D1,D2,D3,D4,D5,D6,D7)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Decoder</a:t>
            </a:r>
            <a:endParaRPr lang="en-US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Block Diagram-Decoder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00163" y="2109788"/>
            <a:ext cx="6543675" cy="2638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Truth Table - Decoder</a:t>
            </a:r>
            <a:endParaRPr lang="en-US" dirty="0"/>
          </a:p>
        </p:txBody>
      </p:sp>
      <p:pic>
        <p:nvPicPr>
          <p:cNvPr id="2050" name="Picture 2" descr="C:\Users\Ajai\Desktop\Jerusalem\JIT2321_DPCO\Unit-2\Decoder_TT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09800" y="1447800"/>
            <a:ext cx="4945063" cy="5075237"/>
          </a:xfrm>
          <a:prstGeom prst="rect">
            <a:avLst/>
          </a:prstGeom>
          <a:noFill/>
        </p:spPr>
      </p:pic>
      <p:pic>
        <p:nvPicPr>
          <p:cNvPr id="2051" name="Picture 3" descr="C:\Users\Ajai\Desktop\Jerusalem\JIT2321_DPCO\Unit-2\Decoder_Eqn1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391400" y="6248400"/>
            <a:ext cx="1493837" cy="42703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b="1" dirty="0" smtClean="0"/>
              <a:t>3 to 8 line decoder</a:t>
            </a:r>
          </a:p>
          <a:p>
            <a:r>
              <a:rPr lang="en-US" dirty="0" smtClean="0"/>
              <a:t>2 to 4 line decoder</a:t>
            </a:r>
          </a:p>
          <a:p>
            <a:r>
              <a:rPr lang="en-US" dirty="0" smtClean="0"/>
              <a:t>4 to 16 line decoder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Equations</a:t>
            </a:r>
            <a:endParaRPr lang="en-US" dirty="0"/>
          </a:p>
        </p:txBody>
      </p:sp>
      <p:pic>
        <p:nvPicPr>
          <p:cNvPr id="4098" name="Picture 2" descr="C:\Users\Ajai\Desktop\Jerusalem\JIT2321_DPCO\Unit-2\Decoder_Eqn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43200" y="2057400"/>
            <a:ext cx="1493837" cy="427037"/>
          </a:xfrm>
          <a:prstGeom prst="rect">
            <a:avLst/>
          </a:prstGeom>
          <a:noFill/>
        </p:spPr>
      </p:pic>
      <p:pic>
        <p:nvPicPr>
          <p:cNvPr id="4099" name="Picture 3" descr="C:\Users\Ajai\Desktop\Jerusalem\JIT2321_DPCO\Unit-2\Decoder_Eqn2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43200" y="2438400"/>
            <a:ext cx="1524000" cy="182086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Logic Diagram</a:t>
            </a:r>
            <a:endParaRPr lang="en-US" dirty="0"/>
          </a:p>
        </p:txBody>
      </p:sp>
      <p:pic>
        <p:nvPicPr>
          <p:cNvPr id="5122" name="Picture 2" descr="C:\Users\Ajai\Desktop\Jerusalem\JIT2321_DPCO\Unit-2\Decoder_LogJPG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1" y="1855788"/>
            <a:ext cx="4408488" cy="37830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Single bit input</a:t>
            </a:r>
          </a:p>
          <a:p>
            <a:pPr>
              <a:buNone/>
            </a:pPr>
            <a:r>
              <a:rPr lang="en-US" dirty="0" smtClean="0"/>
              <a:t>          0 -&gt; decoder works</a:t>
            </a:r>
          </a:p>
          <a:p>
            <a:pPr>
              <a:buNone/>
            </a:pPr>
            <a:r>
              <a:rPr lang="en-US" dirty="0" smtClean="0"/>
              <a:t>          1 -&gt; Circuit Disabled 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err="1" smtClean="0"/>
              <a:t>Eg</a:t>
            </a:r>
            <a:r>
              <a:rPr lang="en-US" dirty="0" smtClean="0"/>
              <a:t>. 2 bit input -&gt; 4 bit output   			                       (complemented)</a:t>
            </a:r>
          </a:p>
          <a:p>
            <a:endParaRPr lang="en-US" dirty="0" smtClean="0"/>
          </a:p>
          <a:p>
            <a:r>
              <a:rPr lang="en-US" dirty="0" smtClean="0"/>
              <a:t>Inputs (E, A, B)</a:t>
            </a:r>
          </a:p>
          <a:p>
            <a:endParaRPr lang="en-US" dirty="0" smtClean="0"/>
          </a:p>
          <a:p>
            <a:r>
              <a:rPr lang="en-US" dirty="0" smtClean="0"/>
              <a:t>Outputs(D0, D1, D2, D3)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Enable Input</a:t>
            </a:r>
            <a:endParaRPr lang="en-US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D0=A’B’</a:t>
            </a:r>
          </a:p>
          <a:p>
            <a:r>
              <a:rPr lang="en-US" dirty="0" smtClean="0"/>
              <a:t>D1=A’B</a:t>
            </a:r>
          </a:p>
          <a:p>
            <a:r>
              <a:rPr lang="en-US" dirty="0" smtClean="0"/>
              <a:t>D2=AB’</a:t>
            </a:r>
          </a:p>
          <a:p>
            <a:r>
              <a:rPr lang="en-US" dirty="0" smtClean="0"/>
              <a:t>D3=AB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Truth Table</a:t>
            </a:r>
            <a:endParaRPr lang="en-US" dirty="0"/>
          </a:p>
        </p:txBody>
      </p:sp>
      <p:pic>
        <p:nvPicPr>
          <p:cNvPr id="6146" name="Picture 2" descr="C:\Users\Ajai\Desktop\Jerusalem\JIT2321_DPCO\Unit-2\En_Decode_TT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05200" y="1524000"/>
            <a:ext cx="3810000" cy="2743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Logic Diagram</a:t>
            </a:r>
            <a:endParaRPr lang="en-US" dirty="0"/>
          </a:p>
        </p:txBody>
      </p:sp>
      <p:pic>
        <p:nvPicPr>
          <p:cNvPr id="7170" name="Picture 2" descr="C:\Users\Ajai\Desktop\Jerusalem\JIT2321_DPCO\Unit-2\En_Decode_Log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14600" y="2144713"/>
            <a:ext cx="4267200" cy="318928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Implementation of full adder using decoder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Boolean Function using decoder</a:t>
            </a:r>
            <a:endParaRPr lang="en-US" dirty="0"/>
          </a:p>
        </p:txBody>
      </p:sp>
      <p:pic>
        <p:nvPicPr>
          <p:cNvPr id="8194" name="Picture 2" descr="C:\Users\Ajai\Desktop\Jerusalem\JIT2321_DPCO\Unit-2\FD using Decoder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2362200"/>
            <a:ext cx="6621463" cy="1066800"/>
          </a:xfrm>
          <a:prstGeom prst="rect">
            <a:avLst/>
          </a:prstGeom>
          <a:noFill/>
        </p:spPr>
      </p:pic>
      <p:pic>
        <p:nvPicPr>
          <p:cNvPr id="8195" name="Picture 3" descr="C:\Users\Ajai\Desktop\Jerusalem\JIT2321_DPCO\Unit-2\FA_Deoder_Log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19400" y="3429000"/>
            <a:ext cx="4648200" cy="2743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218" name="AutoShape 2" descr="blob:https://web.whatsapp.com/336928b3-15e9-4ff0-8ea4-b9b4d80bfa3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219" name="Picture 3" descr="C:\Users\Ajai\Desktop\Jerusalem\JIT2321_DPCO\Unit-2\Decoder-Summary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81200" y="2057399"/>
            <a:ext cx="6096000" cy="388937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Inverse operation of decoder</a:t>
            </a:r>
          </a:p>
          <a:p>
            <a:endParaRPr lang="en-US" dirty="0" smtClean="0"/>
          </a:p>
          <a:p>
            <a:r>
              <a:rPr lang="en-US" dirty="0" smtClean="0"/>
              <a:t>Input </a:t>
            </a:r>
            <a:r>
              <a:rPr lang="en-US" b="1" dirty="0" smtClean="0"/>
              <a:t>2</a:t>
            </a:r>
            <a:r>
              <a:rPr lang="en-US" b="1" baseline="30000" dirty="0" smtClean="0"/>
              <a:t>n</a:t>
            </a:r>
            <a:r>
              <a:rPr lang="en-US" baseline="30000" dirty="0" smtClean="0"/>
              <a:t> </a:t>
            </a:r>
            <a:r>
              <a:rPr lang="en-US" dirty="0" smtClean="0"/>
              <a:t>-&gt;Output </a:t>
            </a:r>
            <a:r>
              <a:rPr lang="en-US" b="1" dirty="0" smtClean="0"/>
              <a:t>n</a:t>
            </a:r>
          </a:p>
          <a:p>
            <a:endParaRPr lang="en-US" b="1" dirty="0" smtClean="0"/>
          </a:p>
          <a:p>
            <a:endParaRPr lang="en-US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Encoder</a:t>
            </a:r>
            <a:endParaRPr lang="en-US" dirty="0"/>
          </a:p>
        </p:txBody>
      </p:sp>
      <p:pic>
        <p:nvPicPr>
          <p:cNvPr id="1026" name="Picture 2" descr="C:\Users\Ajai\Desktop\Jerusalem\JIT2321_DPCO\Unit-2\Encoder_Blk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19400" y="3352800"/>
            <a:ext cx="4016375" cy="26066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octal-to-binary encoder truth table</a:t>
            </a:r>
            <a:endParaRPr lang="en-US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02652" y="2125671"/>
            <a:ext cx="7338696" cy="34750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algn="just"/>
            <a:endParaRPr lang="en-US" i="1" dirty="0" smtClean="0"/>
          </a:p>
          <a:p>
            <a:pPr lvl="1" algn="just"/>
            <a:endParaRPr lang="en-US" i="1" dirty="0" smtClean="0"/>
          </a:p>
          <a:p>
            <a:pPr lvl="1" algn="just"/>
            <a:r>
              <a:rPr lang="pl-PL" i="1" dirty="0" smtClean="0"/>
              <a:t>z = D1 + D3 + D5 + D7</a:t>
            </a:r>
          </a:p>
          <a:p>
            <a:pPr lvl="1" algn="just"/>
            <a:r>
              <a:rPr lang="es-ES" i="1" dirty="0" smtClean="0"/>
              <a:t>y = D2 + D3 + D6 + D7</a:t>
            </a:r>
          </a:p>
          <a:p>
            <a:pPr lvl="1" algn="just"/>
            <a:r>
              <a:rPr lang="en-US" i="1" dirty="0" smtClean="0"/>
              <a:t>x = D4 + D5 + D6 + D7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89808" y="3657600"/>
            <a:ext cx="4054192" cy="27621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P</a:t>
            </a:r>
            <a:r>
              <a:rPr lang="en-US" b="1" dirty="0" smtClean="0"/>
              <a:t>riority encoder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/>
              <a:t>A priority encoder is an encoder circuit that includes the priority function.</a:t>
            </a:r>
          </a:p>
          <a:p>
            <a:pPr algn="just"/>
            <a:r>
              <a:rPr lang="en-US" dirty="0" smtClean="0"/>
              <a:t> The operation of the priority encoder is such that if two or more inputs are equal to 1 at the same time, the </a:t>
            </a:r>
            <a:r>
              <a:rPr lang="en-US" b="1" dirty="0" smtClean="0"/>
              <a:t>input having the highest priority will take precedence. </a:t>
            </a:r>
          </a:p>
          <a:p>
            <a:pPr algn="just"/>
            <a:r>
              <a:rPr lang="en-CA" dirty="0" smtClean="0"/>
              <a:t>D0 D1 D2 D3		</a:t>
            </a:r>
            <a:r>
              <a:rPr lang="en-CA" dirty="0" smtClean="0">
                <a:solidFill>
                  <a:srgbClr val="FF0000"/>
                </a:solidFill>
              </a:rPr>
              <a:t>D0-00,D1-01,D2-10,</a:t>
            </a:r>
          </a:p>
          <a:p>
            <a:pPr algn="just">
              <a:buNone/>
            </a:pPr>
            <a:r>
              <a:rPr lang="en-CA" dirty="0" smtClean="0"/>
              <a:t>	1     0    1   0				</a:t>
            </a:r>
            <a:r>
              <a:rPr lang="en-CA" dirty="0" smtClean="0">
                <a:solidFill>
                  <a:srgbClr val="FF0000"/>
                </a:solidFill>
              </a:rPr>
              <a:t>D3-11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304800"/>
          <a:ext cx="8229600" cy="649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</a:tblGrid>
              <a:tr h="355411">
                <a:tc>
                  <a:txBody>
                    <a:bodyPr/>
                    <a:lstStyle/>
                    <a:p>
                      <a:r>
                        <a:rPr lang="en-CA" dirty="0" smtClean="0"/>
                        <a:t>D0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D1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D2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D3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X(o/p)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Y(o/p)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V(valid)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613450">
                <a:tc>
                  <a:txBody>
                    <a:bodyPr/>
                    <a:lstStyle/>
                    <a:p>
                      <a:r>
                        <a:rPr lang="en-CA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0(invalid)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50543">
                <a:tc>
                  <a:txBody>
                    <a:bodyPr/>
                    <a:lstStyle/>
                    <a:p>
                      <a:r>
                        <a:rPr lang="en-CA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dirty="0" smtClean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55411">
                <a:tc>
                  <a:txBody>
                    <a:bodyPr/>
                    <a:lstStyle/>
                    <a:p>
                      <a:r>
                        <a:rPr lang="en-CA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="1" dirty="0" smtClean="0">
                          <a:solidFill>
                            <a:srgbClr val="00B0F0"/>
                          </a:solidFill>
                        </a:rPr>
                        <a:t>1</a:t>
                      </a:r>
                      <a:endParaRPr lang="en-US" b="1" dirty="0">
                        <a:solidFill>
                          <a:srgbClr val="00B0F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="1" dirty="0" smtClean="0">
                          <a:solidFill>
                            <a:srgbClr val="00B0F0"/>
                          </a:solidFill>
                        </a:rPr>
                        <a:t>1</a:t>
                      </a:r>
                      <a:endParaRPr lang="en-US" b="1" dirty="0">
                        <a:solidFill>
                          <a:srgbClr val="00B0F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="1" dirty="0" smtClean="0">
                          <a:solidFill>
                            <a:srgbClr val="00B0F0"/>
                          </a:solidFill>
                        </a:rPr>
                        <a:t>0</a:t>
                      </a:r>
                      <a:endParaRPr lang="en-US" b="1" dirty="0">
                        <a:solidFill>
                          <a:srgbClr val="00B0F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2</a:t>
                      </a:r>
                      <a:endParaRPr lang="en-US" dirty="0"/>
                    </a:p>
                  </a:txBody>
                  <a:tcPr/>
                </a:tc>
              </a:tr>
              <a:tr h="355411">
                <a:tc>
                  <a:txBody>
                    <a:bodyPr/>
                    <a:lstStyle/>
                    <a:p>
                      <a:r>
                        <a:rPr lang="en-CA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dirty="0" smtClean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3</a:t>
                      </a:r>
                      <a:endParaRPr lang="en-US" dirty="0"/>
                    </a:p>
                  </a:txBody>
                  <a:tcPr/>
                </a:tc>
              </a:tr>
              <a:tr h="355411">
                <a:tc>
                  <a:txBody>
                    <a:bodyPr/>
                    <a:lstStyle/>
                    <a:p>
                      <a:r>
                        <a:rPr lang="en-CA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="1" dirty="0" smtClean="0">
                          <a:solidFill>
                            <a:srgbClr val="00B050"/>
                          </a:solidFill>
                        </a:rPr>
                        <a:t>1</a:t>
                      </a:r>
                      <a:endParaRPr lang="en-US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="1" dirty="0" smtClean="0">
                          <a:solidFill>
                            <a:srgbClr val="00B050"/>
                          </a:solidFill>
                        </a:rPr>
                        <a:t>0</a:t>
                      </a:r>
                      <a:endParaRPr lang="en-US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="1" dirty="0" smtClean="0">
                          <a:solidFill>
                            <a:srgbClr val="00B050"/>
                          </a:solidFill>
                        </a:rPr>
                        <a:t>1</a:t>
                      </a:r>
                      <a:endParaRPr lang="en-US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4</a:t>
                      </a:r>
                      <a:endParaRPr lang="en-US" dirty="0"/>
                    </a:p>
                  </a:txBody>
                  <a:tcPr/>
                </a:tc>
              </a:tr>
              <a:tr h="355411">
                <a:tc>
                  <a:txBody>
                    <a:bodyPr/>
                    <a:lstStyle/>
                    <a:p>
                      <a:r>
                        <a:rPr lang="en-CA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dirty="0" smtClean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5</a:t>
                      </a:r>
                      <a:endParaRPr lang="en-US" dirty="0"/>
                    </a:p>
                  </a:txBody>
                  <a:tcPr/>
                </a:tc>
              </a:tr>
              <a:tr h="355411">
                <a:tc>
                  <a:txBody>
                    <a:bodyPr/>
                    <a:lstStyle/>
                    <a:p>
                      <a:r>
                        <a:rPr lang="en-CA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="1" dirty="0" smtClean="0">
                          <a:solidFill>
                            <a:srgbClr val="00B0F0"/>
                          </a:solidFill>
                        </a:rPr>
                        <a:t>1</a:t>
                      </a:r>
                      <a:endParaRPr lang="en-US" b="1" dirty="0">
                        <a:solidFill>
                          <a:srgbClr val="00B0F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="1" dirty="0" smtClean="0">
                          <a:solidFill>
                            <a:srgbClr val="00B0F0"/>
                          </a:solidFill>
                        </a:rPr>
                        <a:t>1</a:t>
                      </a:r>
                      <a:endParaRPr lang="en-US" b="1" dirty="0">
                        <a:solidFill>
                          <a:srgbClr val="00B0F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="1" dirty="0" smtClean="0">
                          <a:solidFill>
                            <a:srgbClr val="00B0F0"/>
                          </a:solidFill>
                        </a:rPr>
                        <a:t>0</a:t>
                      </a:r>
                      <a:endParaRPr lang="en-US" b="1" dirty="0">
                        <a:solidFill>
                          <a:srgbClr val="00B0F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6</a:t>
                      </a:r>
                      <a:endParaRPr lang="en-US" dirty="0"/>
                    </a:p>
                  </a:txBody>
                  <a:tcPr/>
                </a:tc>
              </a:tr>
              <a:tr h="355411">
                <a:tc>
                  <a:txBody>
                    <a:bodyPr/>
                    <a:lstStyle/>
                    <a:p>
                      <a:r>
                        <a:rPr lang="en-CA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dirty="0" smtClean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7</a:t>
                      </a:r>
                      <a:endParaRPr lang="en-US" dirty="0"/>
                    </a:p>
                  </a:txBody>
                  <a:tcPr/>
                </a:tc>
              </a:tr>
              <a:tr h="355411">
                <a:tc>
                  <a:txBody>
                    <a:bodyPr/>
                    <a:lstStyle/>
                    <a:p>
                      <a:r>
                        <a:rPr lang="en-CA" b="1" dirty="0" smtClean="0">
                          <a:solidFill>
                            <a:srgbClr val="FFFF00"/>
                          </a:solidFill>
                        </a:rPr>
                        <a:t>1</a:t>
                      </a:r>
                      <a:endParaRPr lang="en-US" b="1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="1" dirty="0" smtClean="0">
                          <a:solidFill>
                            <a:srgbClr val="FFFF00"/>
                          </a:solidFill>
                        </a:rPr>
                        <a:t>0</a:t>
                      </a:r>
                      <a:endParaRPr lang="en-US" b="1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="1" dirty="0" smtClean="0">
                          <a:solidFill>
                            <a:srgbClr val="FFFF00"/>
                          </a:solidFill>
                        </a:rPr>
                        <a:t>0</a:t>
                      </a:r>
                      <a:endParaRPr lang="en-US" b="1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8</a:t>
                      </a:r>
                      <a:endParaRPr lang="en-US" dirty="0"/>
                    </a:p>
                  </a:txBody>
                  <a:tcPr/>
                </a:tc>
              </a:tr>
              <a:tr h="355411">
                <a:tc>
                  <a:txBody>
                    <a:bodyPr/>
                    <a:lstStyle/>
                    <a:p>
                      <a:r>
                        <a:rPr lang="en-CA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dirty="0" smtClean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9</a:t>
                      </a:r>
                      <a:endParaRPr lang="en-US" dirty="0"/>
                    </a:p>
                  </a:txBody>
                  <a:tcPr/>
                </a:tc>
              </a:tr>
              <a:tr h="355411">
                <a:tc>
                  <a:txBody>
                    <a:bodyPr/>
                    <a:lstStyle/>
                    <a:p>
                      <a:r>
                        <a:rPr lang="en-CA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="1" dirty="0" smtClean="0">
                          <a:solidFill>
                            <a:srgbClr val="00B0F0"/>
                          </a:solidFill>
                        </a:rPr>
                        <a:t>1</a:t>
                      </a:r>
                      <a:endParaRPr lang="en-US" b="1" dirty="0">
                        <a:solidFill>
                          <a:srgbClr val="00B0F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="1" dirty="0" smtClean="0">
                          <a:solidFill>
                            <a:srgbClr val="00B0F0"/>
                          </a:solidFill>
                        </a:rPr>
                        <a:t>1</a:t>
                      </a:r>
                      <a:endParaRPr lang="en-US" b="1" dirty="0">
                        <a:solidFill>
                          <a:srgbClr val="00B0F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="1" dirty="0" smtClean="0">
                          <a:solidFill>
                            <a:srgbClr val="00B0F0"/>
                          </a:solidFill>
                        </a:rPr>
                        <a:t>0</a:t>
                      </a:r>
                      <a:endParaRPr lang="en-US" b="1" dirty="0">
                        <a:solidFill>
                          <a:srgbClr val="00B0F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10</a:t>
                      </a:r>
                      <a:endParaRPr lang="en-US" dirty="0"/>
                    </a:p>
                  </a:txBody>
                  <a:tcPr/>
                </a:tc>
              </a:tr>
              <a:tr h="355411">
                <a:tc>
                  <a:txBody>
                    <a:bodyPr/>
                    <a:lstStyle/>
                    <a:p>
                      <a:r>
                        <a:rPr lang="en-CA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dirty="0" smtClean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11</a:t>
                      </a:r>
                      <a:endParaRPr lang="en-US" dirty="0"/>
                    </a:p>
                  </a:txBody>
                  <a:tcPr/>
                </a:tc>
              </a:tr>
              <a:tr h="355411">
                <a:tc>
                  <a:txBody>
                    <a:bodyPr/>
                    <a:lstStyle/>
                    <a:p>
                      <a:r>
                        <a:rPr lang="en-CA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>
                          <a:solidFill>
                            <a:srgbClr val="00B050"/>
                          </a:solidFill>
                        </a:rPr>
                        <a:t>1</a:t>
                      </a:r>
                      <a:endParaRPr 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="1" dirty="0" smtClean="0">
                          <a:solidFill>
                            <a:srgbClr val="00B050"/>
                          </a:solidFill>
                        </a:rPr>
                        <a:t>0</a:t>
                      </a:r>
                      <a:endParaRPr lang="en-US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="1" dirty="0" smtClean="0">
                          <a:solidFill>
                            <a:srgbClr val="00B050"/>
                          </a:solidFill>
                        </a:rPr>
                        <a:t>1</a:t>
                      </a:r>
                      <a:endParaRPr lang="en-US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12</a:t>
                      </a:r>
                      <a:endParaRPr lang="en-US" dirty="0"/>
                    </a:p>
                  </a:txBody>
                  <a:tcPr/>
                </a:tc>
              </a:tr>
              <a:tr h="355411">
                <a:tc>
                  <a:txBody>
                    <a:bodyPr/>
                    <a:lstStyle/>
                    <a:p>
                      <a:r>
                        <a:rPr lang="en-CA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dirty="0" smtClean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13</a:t>
                      </a:r>
                      <a:endParaRPr lang="en-US" dirty="0"/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lang="en-CA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="1" dirty="0" smtClean="0">
                          <a:solidFill>
                            <a:srgbClr val="00B0F0"/>
                          </a:solidFill>
                        </a:rPr>
                        <a:t>1</a:t>
                      </a:r>
                      <a:endParaRPr lang="en-US" b="1" dirty="0">
                        <a:solidFill>
                          <a:srgbClr val="00B0F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="1" dirty="0" smtClean="0">
                          <a:solidFill>
                            <a:srgbClr val="00B0F0"/>
                          </a:solidFill>
                        </a:rPr>
                        <a:t>1</a:t>
                      </a:r>
                      <a:endParaRPr lang="en-US" b="1" dirty="0">
                        <a:solidFill>
                          <a:srgbClr val="00B0F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="1" dirty="0" smtClean="0">
                          <a:solidFill>
                            <a:srgbClr val="00B0F0"/>
                          </a:solidFill>
                        </a:rPr>
                        <a:t>0</a:t>
                      </a:r>
                      <a:endParaRPr lang="en-US" b="1" dirty="0">
                        <a:solidFill>
                          <a:srgbClr val="00B0F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14</a:t>
                      </a:r>
                      <a:endParaRPr lang="en-US" dirty="0"/>
                    </a:p>
                  </a:txBody>
                  <a:tcPr/>
                </a:tc>
              </a:tr>
              <a:tr h="355411">
                <a:tc>
                  <a:txBody>
                    <a:bodyPr/>
                    <a:lstStyle/>
                    <a:p>
                      <a:r>
                        <a:rPr lang="en-CA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dirty="0" smtClean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15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381000" y="685800"/>
          <a:ext cx="65836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</a:tblGrid>
              <a:tr h="370840">
                <a:tc>
                  <a:txBody>
                    <a:bodyPr/>
                    <a:lstStyle/>
                    <a:p>
                      <a:r>
                        <a:rPr lang="en-CA" dirty="0" smtClean="0"/>
                        <a:t>                         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                       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                         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                     2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 smtClean="0"/>
                        <a:t>                         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                         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                         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                      6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 smtClean="0"/>
                        <a:t>                       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                       13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                       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                     14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 smtClean="0"/>
                        <a:t>                        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                         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                       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                      10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Content Placeholder 3"/>
          <p:cNvGraphicFramePr>
            <a:graphicFrameLocks/>
          </p:cNvGraphicFramePr>
          <p:nvPr/>
        </p:nvGraphicFramePr>
        <p:xfrm>
          <a:off x="685800" y="3886200"/>
          <a:ext cx="65836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</a:tblGrid>
              <a:tr h="137160">
                <a:tc>
                  <a:txBody>
                    <a:bodyPr/>
                    <a:lstStyle/>
                    <a:p>
                      <a:r>
                        <a:rPr lang="en-CA" dirty="0" smtClean="0"/>
                        <a:t>                         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                       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                         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                     2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 smtClean="0"/>
                        <a:t>                         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                         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                         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                      6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 smtClean="0"/>
                        <a:t>                       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                       13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                       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                     14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 smtClean="0"/>
                        <a:t>                        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                         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                       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                      10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3048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 smtClean="0"/>
              <a:t>X={1,2,3,5,6,7,9,10,11,13,14,15}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609600" y="3429000"/>
            <a:ext cx="518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 smtClean="0"/>
              <a:t>Y={1,3,4,5,7,9,11,12,13,15}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Maps for Priority Encoder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1295400"/>
            <a:ext cx="4191000" cy="3314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0" y="1371600"/>
            <a:ext cx="2819400" cy="2538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352800" y="4114800"/>
            <a:ext cx="3673475" cy="233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Four-input priority encoder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744735" y="2575290"/>
            <a:ext cx="5654530" cy="25757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62400" y="5257800"/>
            <a:ext cx="3733800" cy="739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MULTIPLEXERS AND DEMULTIPLEXERS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None/>
            </a:pPr>
            <a:r>
              <a:rPr lang="en-US" b="1" dirty="0" smtClean="0"/>
              <a:t>Multiplexer:</a:t>
            </a:r>
            <a:endParaRPr lang="en-US" dirty="0" smtClean="0"/>
          </a:p>
          <a:p>
            <a:pPr algn="just"/>
            <a:r>
              <a:rPr lang="en-US" dirty="0" smtClean="0"/>
              <a:t>A </a:t>
            </a:r>
            <a:r>
              <a:rPr lang="en-US" b="1" dirty="0" smtClean="0"/>
              <a:t>multiplexer</a:t>
            </a:r>
            <a:r>
              <a:rPr lang="en-US" dirty="0" smtClean="0"/>
              <a:t> is a combinational circuit that selects binary information from one of many input lines and directs it to a single output line. The selection of a particular input line is controlled by a set of selection lines. </a:t>
            </a:r>
          </a:p>
          <a:p>
            <a:pPr algn="just"/>
            <a:r>
              <a:rPr lang="en-US" dirty="0" smtClean="0"/>
              <a:t>Normally, there are 2n input lines and n selection lines whose bit combinations determine which input is selected. </a:t>
            </a:r>
          </a:p>
          <a:p>
            <a:pPr algn="just"/>
            <a:endParaRPr lang="en-US" dirty="0" smtClean="0"/>
          </a:p>
          <a:p>
            <a:pPr algn="just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2 to 1 MUX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2514600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en-US" dirty="0" smtClean="0"/>
              <a:t>A two-to-one-line multiplexer connects one of two 1-bit sources to a common destination, as shown in Fig.</a:t>
            </a:r>
          </a:p>
          <a:p>
            <a:pPr algn="just"/>
            <a:r>
              <a:rPr lang="en-US" dirty="0" smtClean="0"/>
              <a:t>The circuit has two data input lines, one output line, and one selection line </a:t>
            </a:r>
            <a:r>
              <a:rPr lang="en-US" i="1" dirty="0" smtClean="0"/>
              <a:t>S. When S = 0, the upper AND gate is enabled and I</a:t>
            </a:r>
            <a:r>
              <a:rPr lang="en-US" i="1" baseline="-25000" dirty="0" smtClean="0"/>
              <a:t>0 </a:t>
            </a:r>
            <a:r>
              <a:rPr lang="en-US" i="1" dirty="0" smtClean="0"/>
              <a:t>has a path </a:t>
            </a:r>
            <a:r>
              <a:rPr lang="en-US" dirty="0" smtClean="0"/>
              <a:t>to the output.</a:t>
            </a:r>
          </a:p>
          <a:p>
            <a:pPr algn="just"/>
            <a:r>
              <a:rPr lang="en-US" dirty="0" smtClean="0"/>
              <a:t> When </a:t>
            </a:r>
            <a:r>
              <a:rPr lang="en-US" i="1" dirty="0" smtClean="0"/>
              <a:t>S = 1, the lower AND gate is enabled and I</a:t>
            </a:r>
            <a:r>
              <a:rPr lang="en-US" i="1" baseline="-25000" dirty="0" smtClean="0"/>
              <a:t>1 </a:t>
            </a:r>
            <a:r>
              <a:rPr lang="en-US" i="1" dirty="0" smtClean="0"/>
              <a:t>has a path to the </a:t>
            </a:r>
            <a:r>
              <a:rPr lang="en-US" dirty="0" smtClean="0"/>
              <a:t>output. </a:t>
            </a:r>
          </a:p>
          <a:p>
            <a:pPr algn="just"/>
            <a:r>
              <a:rPr lang="en-US" dirty="0" smtClean="0"/>
              <a:t>The multiplexer acts like an electronic switch that selects one of two sources.</a:t>
            </a:r>
          </a:p>
          <a:p>
            <a:pPr algn="just">
              <a:buNone/>
            </a:pPr>
            <a:r>
              <a:rPr lang="en-CA" dirty="0" smtClean="0"/>
              <a:t>				y= I</a:t>
            </a:r>
            <a:r>
              <a:rPr lang="en-CA" baseline="-25000" dirty="0" smtClean="0"/>
              <a:t>0 </a:t>
            </a:r>
            <a:r>
              <a:rPr lang="en-CA" dirty="0" smtClean="0"/>
              <a:t>s’+ s I</a:t>
            </a:r>
            <a:r>
              <a:rPr lang="en-CA" baseline="-25000" dirty="0" smtClean="0"/>
              <a:t>1</a:t>
            </a:r>
            <a:endParaRPr lang="en-US" baseline="-25000" dirty="0"/>
          </a:p>
        </p:txBody>
      </p:sp>
      <p:sp>
        <p:nvSpPr>
          <p:cNvPr id="6" name="Rectangle 5"/>
          <p:cNvSpPr/>
          <p:nvPr/>
        </p:nvSpPr>
        <p:spPr>
          <a:xfrm>
            <a:off x="1371600" y="6096000"/>
            <a:ext cx="22828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wedge-shaped symbol</a:t>
            </a:r>
            <a:endParaRPr lang="en-US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71600" y="4267200"/>
            <a:ext cx="2454275" cy="1836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191000" y="4038600"/>
            <a:ext cx="3719513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4 to 1 MUX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endParaRPr lang="en-US" dirty="0" smtClean="0"/>
          </a:p>
          <a:p>
            <a:pPr algn="just"/>
            <a:r>
              <a:rPr lang="en-US" dirty="0" smtClean="0"/>
              <a:t>A 4 to 1 line multiplexer is shown in figure below, each of 4 input lines I</a:t>
            </a:r>
            <a:r>
              <a:rPr lang="en-US" baseline="-25000" dirty="0" smtClean="0"/>
              <a:t>0 </a:t>
            </a:r>
            <a:r>
              <a:rPr lang="en-US" dirty="0" smtClean="0"/>
              <a:t>to I</a:t>
            </a:r>
            <a:r>
              <a:rPr lang="en-US" baseline="-25000" dirty="0" smtClean="0"/>
              <a:t>3 </a:t>
            </a:r>
            <a:r>
              <a:rPr lang="en-US" dirty="0" smtClean="0"/>
              <a:t>is applied to one input of an AND gate. </a:t>
            </a:r>
          </a:p>
          <a:p>
            <a:pPr algn="just"/>
            <a:r>
              <a:rPr lang="en-US" dirty="0" smtClean="0"/>
              <a:t> Selection lines S</a:t>
            </a:r>
            <a:r>
              <a:rPr lang="en-US" baseline="-25000" dirty="0" smtClean="0"/>
              <a:t>0 </a:t>
            </a:r>
            <a:r>
              <a:rPr lang="en-US" dirty="0" smtClean="0"/>
              <a:t>and S</a:t>
            </a:r>
            <a:r>
              <a:rPr lang="en-US" baseline="-25000" dirty="0" smtClean="0"/>
              <a:t>1 </a:t>
            </a:r>
            <a:r>
              <a:rPr lang="en-US" dirty="0" smtClean="0"/>
              <a:t>are decoded to select a particular AND gate. </a:t>
            </a:r>
          </a:p>
          <a:p>
            <a:pPr algn="just"/>
            <a:r>
              <a:rPr lang="en-US" dirty="0" smtClean="0"/>
              <a:t>The outputs of the AND gates are applied to a single OR gate that provides the one-line output.</a:t>
            </a:r>
          </a:p>
          <a:p>
            <a:pPr algn="just"/>
            <a:r>
              <a:rPr lang="en-US" dirty="0" smtClean="0"/>
              <a:t>The truth table for the 4:1 </a:t>
            </a:r>
            <a:r>
              <a:rPr lang="en-US" dirty="0" err="1" smtClean="0"/>
              <a:t>mux</a:t>
            </a:r>
            <a:r>
              <a:rPr lang="en-US" dirty="0" smtClean="0"/>
              <a:t> is given in the table below. </a:t>
            </a:r>
          </a:p>
          <a:p>
            <a:pPr algn="just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59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657"/>
                <a:gridCol w="1175657"/>
                <a:gridCol w="1175657"/>
                <a:gridCol w="1175657"/>
                <a:gridCol w="1175657"/>
                <a:gridCol w="1175657"/>
                <a:gridCol w="1175657"/>
              </a:tblGrid>
              <a:tr h="370840">
                <a:tc>
                  <a:txBody>
                    <a:bodyPr/>
                    <a:lstStyle/>
                    <a:p>
                      <a:r>
                        <a:rPr lang="en-CA" dirty="0" smtClean="0"/>
                        <a:t>s1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s0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I0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I1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I2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I3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y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 smtClean="0">
                          <a:solidFill>
                            <a:srgbClr val="FFFF00"/>
                          </a:solidFill>
                        </a:rPr>
                        <a:t>0</a:t>
                      </a:r>
                      <a:endParaRPr lang="en-US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>
                          <a:solidFill>
                            <a:srgbClr val="FFFF00"/>
                          </a:solidFill>
                        </a:rPr>
                        <a:t>1</a:t>
                      </a:r>
                      <a:endParaRPr lang="en-US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>
                          <a:solidFill>
                            <a:srgbClr val="FFFF00"/>
                          </a:solidFill>
                        </a:rPr>
                        <a:t>1</a:t>
                      </a:r>
                      <a:endParaRPr lang="en-US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 smtClean="0">
                          <a:solidFill>
                            <a:srgbClr val="00B050"/>
                          </a:solidFill>
                        </a:rPr>
                        <a:t>1</a:t>
                      </a:r>
                      <a:endParaRPr 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>
                          <a:solidFill>
                            <a:srgbClr val="00B050"/>
                          </a:solidFill>
                        </a:rPr>
                        <a:t>0</a:t>
                      </a:r>
                      <a:endParaRPr 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>
                          <a:solidFill>
                            <a:srgbClr val="00B050"/>
                          </a:solidFill>
                        </a:rPr>
                        <a:t>1</a:t>
                      </a:r>
                      <a:endParaRPr 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 smtClean="0">
                          <a:solidFill>
                            <a:srgbClr val="00B0F0"/>
                          </a:solidFill>
                        </a:rPr>
                        <a:t>1</a:t>
                      </a:r>
                      <a:endParaRPr lang="en-US" dirty="0">
                        <a:solidFill>
                          <a:srgbClr val="00B0F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>
                          <a:solidFill>
                            <a:srgbClr val="00B0F0"/>
                          </a:solidFill>
                        </a:rPr>
                        <a:t>1</a:t>
                      </a:r>
                      <a:endParaRPr lang="en-US" dirty="0">
                        <a:solidFill>
                          <a:srgbClr val="00B0F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>
                          <a:solidFill>
                            <a:srgbClr val="00B0F0"/>
                          </a:solidFill>
                        </a:rPr>
                        <a:t>1</a:t>
                      </a:r>
                      <a:endParaRPr lang="en-US" dirty="0">
                        <a:solidFill>
                          <a:srgbClr val="00B0F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38200" y="4038600"/>
            <a:ext cx="8153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 smtClean="0"/>
              <a:t>Y is set to 1 if any one of the row value has 1</a:t>
            </a:r>
          </a:p>
          <a:p>
            <a:endParaRPr lang="en-CA" dirty="0" smtClean="0"/>
          </a:p>
          <a:p>
            <a:r>
              <a:rPr lang="en-CA" dirty="0" smtClean="0"/>
              <a:t>How to generate equation for y</a:t>
            </a:r>
          </a:p>
          <a:p>
            <a:r>
              <a:rPr lang="en-CA" smtClean="0"/>
              <a:t>Y=S1`S0`I0 + S1`S0 I1 + S1S0`I2 + S1S0I3</a:t>
            </a:r>
            <a:endParaRPr lang="en-CA" dirty="0" smtClean="0"/>
          </a:p>
          <a:p>
            <a:r>
              <a:rPr lang="en-CA" dirty="0" smtClean="0"/>
              <a:t>At any point of time only one input is selected based on the selection line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752600" y="1752600"/>
            <a:ext cx="4495800" cy="4099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24600" y="533400"/>
            <a:ext cx="220980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1600200" y="1219200"/>
            <a:ext cx="33810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dirty="0" smtClean="0"/>
              <a:t>Y=s1`s0`I0+s1`s0I1+s1s0`I2+s1s0I3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Boolean Function Implementation with Multiplexers</a:t>
            </a:r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057400" y="2971800"/>
            <a:ext cx="5486400" cy="35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2362200" y="4038600"/>
            <a:ext cx="434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 smtClean="0"/>
              <a:t>Three selection line :s0,s1,s2(C,B,A)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447800" y="2057400"/>
            <a:ext cx="46583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Implement the Boolean expression using MUX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981200" y="228600"/>
          <a:ext cx="6096000" cy="6635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2950"/>
                <a:gridCol w="742950"/>
                <a:gridCol w="742950"/>
                <a:gridCol w="742950"/>
                <a:gridCol w="742950"/>
                <a:gridCol w="742950"/>
                <a:gridCol w="742950"/>
                <a:gridCol w="895350"/>
              </a:tblGrid>
              <a:tr h="33013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>
                          <a:solidFill>
                            <a:srgbClr val="FFFF00"/>
                          </a:solidFill>
                        </a:rPr>
                        <a:t>A(s2)</a:t>
                      </a:r>
                      <a:endParaRPr lang="en-US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>
                          <a:solidFill>
                            <a:srgbClr val="FFFF00"/>
                          </a:solidFill>
                        </a:rPr>
                        <a:t>B(s1)</a:t>
                      </a:r>
                      <a:endParaRPr lang="en-US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>
                          <a:solidFill>
                            <a:srgbClr val="FFFF00"/>
                          </a:solidFill>
                        </a:rPr>
                        <a:t>C(s0)</a:t>
                      </a:r>
                      <a:endParaRPr lang="en-US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509000"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F=D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30138"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30138"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dirty="0" smtClean="0"/>
                        <a:t>F=D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30138"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30138"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F=D`</a:t>
                      </a:r>
                      <a:endParaRPr lang="en-US" dirty="0"/>
                    </a:p>
                  </a:txBody>
                  <a:tcPr/>
                </a:tc>
              </a:tr>
              <a:tr h="330138"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30138"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F=0</a:t>
                      </a:r>
                      <a:endParaRPr lang="en-US" dirty="0"/>
                    </a:p>
                  </a:txBody>
                  <a:tcPr/>
                </a:tc>
              </a:tr>
              <a:tr h="330138"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30138">
                <a:tc>
                  <a:txBody>
                    <a:bodyPr/>
                    <a:lstStyle/>
                    <a:p>
                      <a:pPr algn="ctr"/>
                      <a:r>
                        <a:rPr lang="en-CA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CA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F=0</a:t>
                      </a:r>
                      <a:endParaRPr lang="en-US" dirty="0"/>
                    </a:p>
                  </a:txBody>
                  <a:tcPr/>
                </a:tc>
              </a:tr>
              <a:tr h="330138"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 smtClean="0"/>
                    </a:p>
                  </a:txBody>
                  <a:tcPr/>
                </a:tc>
              </a:tr>
              <a:tr h="330138"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dirty="0" smtClean="0"/>
                        <a:t>F=D</a:t>
                      </a:r>
                    </a:p>
                  </a:txBody>
                  <a:tcPr/>
                </a:tc>
              </a:tr>
              <a:tr h="330138"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11</a:t>
                      </a:r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30138"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F=1</a:t>
                      </a:r>
                      <a:endParaRPr lang="en-US" dirty="0"/>
                    </a:p>
                  </a:txBody>
                  <a:tcPr/>
                </a:tc>
              </a:tr>
              <a:tr h="330138"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13</a:t>
                      </a:r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30138"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14</a:t>
                      </a:r>
                      <a:endParaRPr 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dirty="0" smtClean="0"/>
                        <a:t>F=1</a:t>
                      </a:r>
                      <a:endParaRPr lang="en-US" dirty="0" smtClean="0"/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30138"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15</a:t>
                      </a:r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90600" y="990601"/>
            <a:ext cx="7086600" cy="4861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Implement the Boolean function using Multiplexer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i="1" dirty="0" smtClean="0"/>
              <a:t>F (x, y, z) = (1, 2, 6, 7)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447800" y="2362200"/>
          <a:ext cx="3886197" cy="33527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8446"/>
                <a:gridCol w="528446"/>
                <a:gridCol w="528446"/>
                <a:gridCol w="528446"/>
                <a:gridCol w="528446"/>
                <a:gridCol w="528446"/>
                <a:gridCol w="715521"/>
              </a:tblGrid>
              <a:tr h="37253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z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2533">
                <a:tc>
                  <a:txBody>
                    <a:bodyPr/>
                    <a:lstStyle/>
                    <a:p>
                      <a:r>
                        <a:rPr lang="en-CA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CA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0</a:t>
                      </a:r>
                      <a:endParaRPr lang="en-US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0</a:t>
                      </a:r>
                      <a:endParaRPr lang="en-US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CA" dirty="0" smtClean="0"/>
                        <a:t>F=Z</a:t>
                      </a:r>
                      <a:endParaRPr lang="en-US" dirty="0"/>
                    </a:p>
                  </a:txBody>
                  <a:tcPr/>
                </a:tc>
              </a:tr>
              <a:tr h="372533">
                <a:tc>
                  <a:txBody>
                    <a:bodyPr/>
                    <a:lstStyle/>
                    <a:p>
                      <a:r>
                        <a:rPr lang="en-CA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0</a:t>
                      </a:r>
                      <a:endParaRPr lang="en-US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0</a:t>
                      </a:r>
                      <a:endParaRPr lang="en-US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2533">
                <a:tc>
                  <a:txBody>
                    <a:bodyPr/>
                    <a:lstStyle/>
                    <a:p>
                      <a:r>
                        <a:rPr lang="en-CA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CA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0</a:t>
                      </a:r>
                      <a:endParaRPr lang="en-US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1</a:t>
                      </a:r>
                      <a:endParaRPr lang="en-US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CA" dirty="0" smtClean="0"/>
                        <a:t>F=Z’</a:t>
                      </a:r>
                      <a:endParaRPr lang="en-US" dirty="0"/>
                    </a:p>
                  </a:txBody>
                  <a:tcPr/>
                </a:tc>
              </a:tr>
              <a:tr h="372533">
                <a:tc>
                  <a:txBody>
                    <a:bodyPr/>
                    <a:lstStyle/>
                    <a:p>
                      <a:r>
                        <a:rPr lang="en-CA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0</a:t>
                      </a:r>
                      <a:endParaRPr lang="en-US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1</a:t>
                      </a:r>
                      <a:endParaRPr lang="en-US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2533">
                <a:tc>
                  <a:txBody>
                    <a:bodyPr/>
                    <a:lstStyle/>
                    <a:p>
                      <a:r>
                        <a:rPr lang="en-CA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CA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1</a:t>
                      </a:r>
                      <a:endParaRPr lang="en-US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0</a:t>
                      </a:r>
                      <a:endParaRPr lang="en-US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CA" dirty="0" smtClean="0"/>
                        <a:t>F=0</a:t>
                      </a:r>
                      <a:endParaRPr lang="en-US" dirty="0"/>
                    </a:p>
                  </a:txBody>
                  <a:tcPr/>
                </a:tc>
              </a:tr>
              <a:tr h="372533">
                <a:tc>
                  <a:txBody>
                    <a:bodyPr/>
                    <a:lstStyle/>
                    <a:p>
                      <a:r>
                        <a:rPr lang="en-CA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1</a:t>
                      </a:r>
                      <a:endParaRPr lang="en-US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0</a:t>
                      </a:r>
                      <a:endParaRPr lang="en-US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2533">
                <a:tc>
                  <a:txBody>
                    <a:bodyPr/>
                    <a:lstStyle/>
                    <a:p>
                      <a:r>
                        <a:rPr lang="en-CA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CA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1</a:t>
                      </a:r>
                      <a:endParaRPr lang="en-US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1</a:t>
                      </a:r>
                      <a:endParaRPr lang="en-US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CA" dirty="0" smtClean="0"/>
                        <a:t>F=1</a:t>
                      </a:r>
                      <a:endParaRPr lang="en-US" dirty="0"/>
                    </a:p>
                  </a:txBody>
                  <a:tcPr/>
                </a:tc>
              </a:tr>
              <a:tr h="372533">
                <a:tc>
                  <a:txBody>
                    <a:bodyPr/>
                    <a:lstStyle/>
                    <a:p>
                      <a:r>
                        <a:rPr lang="en-CA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1</a:t>
                      </a:r>
                      <a:endParaRPr lang="en-US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1</a:t>
                      </a:r>
                      <a:endParaRPr lang="en-US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0" y="1981200"/>
            <a:ext cx="2568575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DEMULTIPLEXER(DEMUX)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CA" dirty="0" smtClean="0"/>
              <a:t>Communication(one to many)</a:t>
            </a:r>
            <a:endParaRPr lang="en-US" dirty="0" smtClean="0"/>
          </a:p>
          <a:p>
            <a:pPr algn="just"/>
            <a:r>
              <a:rPr lang="en-US" dirty="0" smtClean="0"/>
              <a:t>The de-multiplexer performs the inverse function of a multiplexer, that is it receives information on one line and transmits its onto one of 2</a:t>
            </a:r>
            <a:r>
              <a:rPr lang="en-US" baseline="30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</a:t>
            </a:r>
            <a:r>
              <a:rPr lang="en-US" dirty="0" smtClean="0"/>
              <a:t> possible output lines. </a:t>
            </a:r>
          </a:p>
          <a:p>
            <a:pPr algn="just"/>
            <a:r>
              <a:rPr lang="en-US" dirty="0" smtClean="0"/>
              <a:t>The selection is by n input select lines. Example: 1-to-4 De-multiplexer </a:t>
            </a:r>
          </a:p>
          <a:p>
            <a:pPr algn="just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Example: 1-to-4 De-multiplexer </a:t>
            </a:r>
            <a:br>
              <a:rPr lang="en-US" dirty="0" smtClean="0"/>
            </a:br>
            <a:endParaRPr lang="en-US" dirty="0"/>
          </a:p>
        </p:txBody>
      </p:sp>
      <p:pic>
        <p:nvPicPr>
          <p:cNvPr id="7172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868359" y="2198067"/>
            <a:ext cx="7407282" cy="33302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838200" y="1676400"/>
            <a:ext cx="1882303" cy="8916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838200" y="1066800"/>
            <a:ext cx="259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Output Y0 Equation</a:t>
            </a:r>
            <a:endParaRPr lang="en-US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52800" y="1752600"/>
            <a:ext cx="1577975" cy="860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/>
        </p:nvSpPr>
        <p:spPr>
          <a:xfrm>
            <a:off x="3276600" y="1219200"/>
            <a:ext cx="20258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Output Y1 Equation</a:t>
            </a:r>
            <a:endParaRPr lang="en-US" dirty="0"/>
          </a:p>
        </p:txBody>
      </p:sp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096000" y="1600200"/>
            <a:ext cx="1622425" cy="769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Rectangle 8"/>
          <p:cNvSpPr/>
          <p:nvPr/>
        </p:nvSpPr>
        <p:spPr>
          <a:xfrm>
            <a:off x="6019800" y="990600"/>
            <a:ext cx="20258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Output Y2 Equation</a:t>
            </a:r>
            <a:endParaRPr lang="en-US" dirty="0"/>
          </a:p>
        </p:txBody>
      </p:sp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760788" y="3074988"/>
            <a:ext cx="1622425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Rectangle 10"/>
          <p:cNvSpPr/>
          <p:nvPr/>
        </p:nvSpPr>
        <p:spPr>
          <a:xfrm>
            <a:off x="3581400" y="2667000"/>
            <a:ext cx="20258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Output Y3 Equation</a:t>
            </a:r>
            <a:endParaRPr lang="en-US" dirty="0"/>
          </a:p>
        </p:txBody>
      </p:sp>
      <p:pic>
        <p:nvPicPr>
          <p:cNvPr id="8199" name="Picture 7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066800" y="4038600"/>
            <a:ext cx="6629400" cy="1455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Logic Diagram</a:t>
            </a:r>
            <a:endParaRPr lang="en-US" dirty="0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800196" y="2716272"/>
            <a:ext cx="3543607" cy="22938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/>
              <a:t>Implement full adder using De-multiplexer. </a:t>
            </a:r>
            <a:br>
              <a:rPr lang="en-US" b="1" dirty="0" smtClean="0"/>
            </a:br>
            <a:endParaRPr lang="en-US" dirty="0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143000" y="1524000"/>
            <a:ext cx="75438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90600" y="1676400"/>
            <a:ext cx="5867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90600" y="3200400"/>
            <a:ext cx="7026275" cy="275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Example</a:t>
            </a:r>
            <a:endParaRPr lang="en-US" dirty="0"/>
          </a:p>
        </p:txBody>
      </p:sp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62001" y="1524000"/>
            <a:ext cx="73152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
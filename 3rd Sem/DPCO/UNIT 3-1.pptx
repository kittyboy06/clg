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02-Sep-25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02-Sep-25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02-Sep-25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02-Sep-25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02-Sep-25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02-Sep-25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3432175"/>
          </a:xfrm>
        </p:spPr>
        <p:txBody>
          <a:bodyPr/>
          <a:lstStyle/>
          <a:p>
            <a:r>
              <a:rPr lang="en-CA" u="sng" dirty="0" smtClean="0"/>
              <a:t>Unit-3</a:t>
            </a:r>
            <a:br>
              <a:rPr lang="en-CA" u="sng" dirty="0" smtClean="0"/>
            </a:br>
            <a:r>
              <a:rPr lang="en-CA" u="sng" dirty="0" smtClean="0"/>
              <a:t>[Computer Fundamentals]</a:t>
            </a:r>
            <a:br>
              <a:rPr lang="en-CA" u="sng" dirty="0" smtClean="0"/>
            </a:br>
            <a:r>
              <a:rPr lang="en-CA" dirty="0" smtClean="0"/>
              <a:t>Functional Units of a Digital computer</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lnSpcReduction="10000"/>
          </a:bodyPr>
          <a:lstStyle/>
          <a:p>
            <a:pPr algn="just"/>
            <a:endParaRPr lang="en-US" dirty="0" smtClean="0"/>
          </a:p>
          <a:p>
            <a:pPr algn="just"/>
            <a:r>
              <a:rPr lang="en-US" dirty="0" smtClean="0"/>
              <a:t>Functional units of a computer system are parts of the CPU (Central Processing Unit) that performs the operations and calculations called for by the computer program. </a:t>
            </a:r>
          </a:p>
          <a:p>
            <a:pPr algn="just"/>
            <a:r>
              <a:rPr lang="en-US" dirty="0" smtClean="0"/>
              <a:t>A computer consists of five main components namely, </a:t>
            </a:r>
            <a:r>
              <a:rPr lang="en-US" b="1" dirty="0" smtClean="0"/>
              <a:t>Input unit, Central Processing Unit, Memory unit , Arithmetic &amp; logical unit, Control unit and an Output unit. </a:t>
            </a:r>
          </a:p>
          <a:p>
            <a:pPr algn="just"/>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2"/>
          <a:srcRect/>
          <a:stretch>
            <a:fillRect/>
          </a:stretch>
        </p:blipFill>
        <p:spPr bwMode="auto">
          <a:xfrm>
            <a:off x="1143000" y="914400"/>
            <a:ext cx="6553199" cy="495301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Input unit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Input units are used by the computer </a:t>
            </a:r>
            <a:r>
              <a:rPr lang="en-US" b="1" dirty="0" smtClean="0"/>
              <a:t>to read the data. </a:t>
            </a:r>
          </a:p>
          <a:p>
            <a:pPr algn="just"/>
            <a:r>
              <a:rPr lang="en-US" dirty="0" smtClean="0"/>
              <a:t>The most commonly used input devices are keyboards, mouse, joysticks, trackballs, microphones, etc. </a:t>
            </a:r>
          </a:p>
          <a:p>
            <a:pPr algn="just"/>
            <a:r>
              <a:rPr lang="en-US" dirty="0" smtClean="0"/>
              <a:t>However, the most well-known input device is a keyboard.</a:t>
            </a:r>
          </a:p>
          <a:p>
            <a:pPr algn="just"/>
            <a:r>
              <a:rPr lang="en-US" dirty="0" smtClean="0"/>
              <a:t> Whenever a key is pressed, the corresponding letter or digit is automatically </a:t>
            </a:r>
            <a:r>
              <a:rPr lang="en-US" b="1" dirty="0" smtClean="0"/>
              <a:t>translated into its corresponding binary code</a:t>
            </a:r>
            <a:r>
              <a:rPr lang="en-US" dirty="0" smtClean="0"/>
              <a:t> and transmitted over a cable </a:t>
            </a:r>
            <a:r>
              <a:rPr lang="en-US" b="1" dirty="0" smtClean="0"/>
              <a:t>to either the memory or the processor</a:t>
            </a:r>
            <a:r>
              <a:rPr lang="en-US" dirty="0" smtClean="0"/>
              <a:t>. </a:t>
            </a:r>
          </a:p>
          <a:p>
            <a:pPr algn="just"/>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Central processing unit </a:t>
            </a:r>
            <a:br>
              <a:rPr lang="en-US" b="1" dirty="0" smtClean="0"/>
            </a:br>
            <a:endParaRPr lang="en-US" b="1" dirty="0"/>
          </a:p>
        </p:txBody>
      </p:sp>
      <p:sp>
        <p:nvSpPr>
          <p:cNvPr id="3" name="Content Placeholder 2"/>
          <p:cNvSpPr>
            <a:spLocks noGrp="1"/>
          </p:cNvSpPr>
          <p:nvPr>
            <p:ph idx="1"/>
          </p:nvPr>
        </p:nvSpPr>
        <p:spPr/>
        <p:txBody>
          <a:bodyPr/>
          <a:lstStyle/>
          <a:p>
            <a:pPr algn="just"/>
            <a:r>
              <a:rPr lang="en-US" dirty="0" smtClean="0"/>
              <a:t>Central processing unit commonly known as CPU can be referred as an electronic circuitry within a computer that </a:t>
            </a:r>
            <a:r>
              <a:rPr lang="en-US" b="1" dirty="0" smtClean="0"/>
              <a:t>carries out the instructions given by a computer program by performing the basic arithmetic, logical, control and input/output (I/O) operations specified by the instructions. </a:t>
            </a:r>
          </a:p>
          <a:p>
            <a:pPr algn="just"/>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Memory unit</a:t>
            </a:r>
            <a:r>
              <a:rPr lang="en-US" dirty="0" smtClean="0"/>
              <a:t> </a:t>
            </a:r>
            <a:br>
              <a:rPr lang="en-US" dirty="0" smtClean="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The Memory unit can be referred to as the </a:t>
            </a:r>
            <a:r>
              <a:rPr lang="en-US" b="1" dirty="0" smtClean="0"/>
              <a:t>storage area </a:t>
            </a:r>
            <a:r>
              <a:rPr lang="en-US" dirty="0" smtClean="0"/>
              <a:t>in which programs are kept which are running, and that contains data needed by the running programs. </a:t>
            </a:r>
          </a:p>
          <a:p>
            <a:pPr algn="just"/>
            <a:r>
              <a:rPr lang="en-US" dirty="0" smtClean="0"/>
              <a:t>The Memory unit can be categorized in two ways namely, </a:t>
            </a:r>
            <a:r>
              <a:rPr lang="en-US" b="1" dirty="0" smtClean="0"/>
              <a:t>primary memory and secondary memory. </a:t>
            </a:r>
          </a:p>
          <a:p>
            <a:pPr algn="just"/>
            <a:r>
              <a:rPr lang="en-US" dirty="0" smtClean="0"/>
              <a:t>It enables a processor to </a:t>
            </a:r>
            <a:r>
              <a:rPr lang="en-US" b="1" dirty="0" smtClean="0"/>
              <a:t>access running execution applications and services that are temporarily stored in a specific memory location.</a:t>
            </a:r>
            <a:r>
              <a:rPr lang="en-US" dirty="0" smtClean="0"/>
              <a:t> </a:t>
            </a:r>
          </a:p>
          <a:p>
            <a:pPr algn="just">
              <a:buNone/>
            </a:pPr>
            <a:endParaRPr 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just"/>
            <a:endParaRPr lang="en-US" dirty="0" smtClean="0"/>
          </a:p>
          <a:p>
            <a:pPr algn="just"/>
            <a:r>
              <a:rPr lang="en-US" dirty="0" smtClean="0"/>
              <a:t>Primary storage is the fastest memory that operates at electronic speeds. Primary memory contains a large number of semiconductor storage cells, capable of storing a bit of information. The word length of a computer is between 16-64 bits. </a:t>
            </a:r>
          </a:p>
          <a:p>
            <a:pPr algn="just"/>
            <a:r>
              <a:rPr lang="en-US" dirty="0" smtClean="0"/>
              <a:t>It is also known as the </a:t>
            </a:r>
            <a:r>
              <a:rPr lang="en-US" b="1" dirty="0" smtClean="0"/>
              <a:t>volatile form of memory, means when the computer is shut down, anything contained in RAM is lost.</a:t>
            </a:r>
            <a:r>
              <a:rPr lang="en-US" dirty="0" smtClean="0"/>
              <a:t> </a:t>
            </a:r>
          </a:p>
          <a:p>
            <a:pPr algn="just"/>
            <a:r>
              <a:rPr lang="en-US" b="1" dirty="0" smtClean="0"/>
              <a:t>Cache memory </a:t>
            </a:r>
            <a:r>
              <a:rPr lang="en-US" dirty="0" smtClean="0"/>
              <a:t>is also a kind of memory which is used to </a:t>
            </a:r>
            <a:r>
              <a:rPr lang="en-US" b="1" dirty="0" smtClean="0"/>
              <a:t>fetch the data very soon.</a:t>
            </a:r>
            <a:r>
              <a:rPr lang="en-US" dirty="0" smtClean="0"/>
              <a:t> They are highly coupled with the processor. </a:t>
            </a:r>
          </a:p>
          <a:p>
            <a:pPr algn="just"/>
            <a:r>
              <a:rPr lang="en-US" dirty="0" smtClean="0"/>
              <a:t> The most common examples of primary memory are RAM and ROM. </a:t>
            </a:r>
          </a:p>
          <a:p>
            <a:pPr algn="just"/>
            <a:r>
              <a:rPr lang="en-US" b="1" dirty="0" smtClean="0"/>
              <a:t>Secondary memory is used when a large amount of data and programs </a:t>
            </a:r>
            <a:r>
              <a:rPr lang="en-US" dirty="0" smtClean="0"/>
              <a:t>have to be stored for a long-term basis. </a:t>
            </a:r>
          </a:p>
          <a:p>
            <a:pPr algn="just"/>
            <a:r>
              <a:rPr lang="en-US" dirty="0" smtClean="0"/>
              <a:t> It is also known as the</a:t>
            </a:r>
            <a:r>
              <a:rPr lang="en-US" b="1" dirty="0" smtClean="0"/>
              <a:t> Non-volatile memory </a:t>
            </a:r>
            <a:r>
              <a:rPr lang="en-US" dirty="0" smtClean="0"/>
              <a:t>form of memory, means the data is stored permanently irrespective of shut down. </a:t>
            </a:r>
          </a:p>
          <a:p>
            <a:pPr algn="just"/>
            <a:r>
              <a:rPr lang="en-US" dirty="0" smtClean="0"/>
              <a:t> The most common examples of secondary memory are magnetic disks, magnetic tapes, and optical disks. </a:t>
            </a:r>
          </a:p>
          <a:p>
            <a:pPr algn="just"/>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Arithmetic &amp; logical unit </a:t>
            </a:r>
            <a:br>
              <a:rPr lang="en-US" b="1" dirty="0" smtClean="0"/>
            </a:br>
            <a:endParaRPr lang="en-US" b="1" dirty="0"/>
          </a:p>
        </p:txBody>
      </p:sp>
      <p:sp>
        <p:nvSpPr>
          <p:cNvPr id="3" name="Content Placeholder 2"/>
          <p:cNvSpPr>
            <a:spLocks noGrp="1"/>
          </p:cNvSpPr>
          <p:nvPr>
            <p:ph idx="1"/>
          </p:nvPr>
        </p:nvSpPr>
        <p:spPr/>
        <p:txBody>
          <a:bodyPr>
            <a:normAutofit/>
          </a:bodyPr>
          <a:lstStyle/>
          <a:p>
            <a:pPr algn="just"/>
            <a:r>
              <a:rPr lang="en-US" dirty="0" smtClean="0"/>
              <a:t>Most of all the </a:t>
            </a:r>
            <a:r>
              <a:rPr lang="en-US" b="1" dirty="0" smtClean="0"/>
              <a:t>arithmetic and logical operations of a computer are executed in the ALU</a:t>
            </a:r>
            <a:r>
              <a:rPr lang="en-US" dirty="0" smtClean="0"/>
              <a:t> (Arithmetic and Logical Unit) of the processor. </a:t>
            </a:r>
          </a:p>
          <a:p>
            <a:pPr algn="just"/>
            <a:r>
              <a:rPr lang="en-US" dirty="0" smtClean="0"/>
              <a:t>It performs arithmetic operations like addition, subtraction, multiplication, division and also the logical operations like AND, OR, NOT operations. </a:t>
            </a:r>
          </a:p>
          <a:p>
            <a:pPr algn="just"/>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Control unit </a:t>
            </a:r>
            <a:br>
              <a:rPr lang="en-US" dirty="0" smtClean="0"/>
            </a:br>
            <a:endParaRPr lang="en-US" dirty="0"/>
          </a:p>
        </p:txBody>
      </p:sp>
      <p:sp>
        <p:nvSpPr>
          <p:cNvPr id="3" name="Content Placeholder 2"/>
          <p:cNvSpPr>
            <a:spLocks noGrp="1"/>
          </p:cNvSpPr>
          <p:nvPr>
            <p:ph idx="1"/>
          </p:nvPr>
        </p:nvSpPr>
        <p:spPr/>
        <p:txBody>
          <a:bodyPr>
            <a:normAutofit fontScale="62500" lnSpcReduction="20000"/>
          </a:bodyPr>
          <a:lstStyle/>
          <a:p>
            <a:pPr algn="just"/>
            <a:r>
              <a:rPr lang="en-US" dirty="0" smtClean="0"/>
              <a:t>The control unit is a component of a computer's central processing unit that </a:t>
            </a:r>
            <a:r>
              <a:rPr lang="en-US" b="1" dirty="0" smtClean="0"/>
              <a:t>coordinates the operation</a:t>
            </a:r>
            <a:r>
              <a:rPr lang="en-US" dirty="0" smtClean="0"/>
              <a:t> of the processor. </a:t>
            </a:r>
          </a:p>
          <a:p>
            <a:pPr algn="just"/>
            <a:r>
              <a:rPr lang="en-US" dirty="0" smtClean="0"/>
              <a:t>It tells the computer's memory, arithmetic/logic unit and input and output devices how to respond to a program's instructions. </a:t>
            </a:r>
          </a:p>
          <a:p>
            <a:pPr algn="just"/>
            <a:r>
              <a:rPr lang="en-US" dirty="0" smtClean="0"/>
              <a:t>The control unit is also known as the nerve center of a computer system. It</a:t>
            </a:r>
            <a:r>
              <a:rPr lang="en-US" b="1" dirty="0" smtClean="0"/>
              <a:t> manages and coordinates the execution of instructions.</a:t>
            </a:r>
          </a:p>
          <a:p>
            <a:pPr algn="just"/>
            <a:r>
              <a:rPr lang="en-US" dirty="0" smtClean="0"/>
              <a:t>Let's us consider an example of addition of two operands by the instruction given as Add LOCA, RO. </a:t>
            </a:r>
          </a:p>
          <a:p>
            <a:pPr algn="just"/>
            <a:r>
              <a:rPr lang="en-US" dirty="0" smtClean="0"/>
              <a:t>This instruction adds the memory location LOCA to the operand in the register RO and places the sum in the register RO. </a:t>
            </a:r>
          </a:p>
          <a:p>
            <a:pPr lvl="1" algn="just"/>
            <a:r>
              <a:rPr lang="en-CA" dirty="0" smtClean="0"/>
              <a:t>Instruction fetch</a:t>
            </a:r>
          </a:p>
          <a:p>
            <a:pPr lvl="1" algn="just"/>
            <a:r>
              <a:rPr lang="en-CA" dirty="0" smtClean="0"/>
              <a:t>Instruction Decode</a:t>
            </a:r>
          </a:p>
          <a:p>
            <a:pPr lvl="1" algn="just"/>
            <a:r>
              <a:rPr lang="en-CA" dirty="0" smtClean="0"/>
              <a:t>Operand fetch</a:t>
            </a:r>
          </a:p>
          <a:p>
            <a:pPr lvl="1" algn="just"/>
            <a:r>
              <a:rPr lang="en-CA" dirty="0" smtClean="0"/>
              <a:t>Execution</a:t>
            </a:r>
          </a:p>
          <a:p>
            <a:pPr lvl="1" algn="just"/>
            <a:r>
              <a:rPr lang="en-CA" dirty="0" smtClean="0"/>
              <a:t>Memory Access</a:t>
            </a:r>
          </a:p>
          <a:p>
            <a:pPr lvl="1" algn="just"/>
            <a:r>
              <a:rPr lang="en-CA" dirty="0" smtClean="0"/>
              <a:t>I/O Management</a:t>
            </a:r>
          </a:p>
          <a:p>
            <a:pPr lvl="1" algn="just">
              <a:buNone/>
            </a:pPr>
            <a:endParaRPr lang="en-US" dirty="0" smtClean="0"/>
          </a:p>
          <a:p>
            <a:pPr algn="just">
              <a:buNone/>
            </a:pP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92500" lnSpcReduction="10000"/>
          </a:bodyPr>
          <a:lstStyle/>
          <a:p>
            <a:pPr algn="just">
              <a:buNone/>
            </a:pPr>
            <a:r>
              <a:rPr lang="en-US" b="1" dirty="0" smtClean="0"/>
              <a:t>Output Unit </a:t>
            </a:r>
          </a:p>
          <a:p>
            <a:pPr algn="just"/>
            <a:r>
              <a:rPr lang="en-US" dirty="0" smtClean="0"/>
              <a:t>The primary function of the output unit is to send the processed results to the user. Output devices display information in a way that the user can understand. </a:t>
            </a:r>
          </a:p>
          <a:p>
            <a:pPr algn="just"/>
            <a:r>
              <a:rPr lang="en-US" dirty="0" smtClean="0"/>
              <a:t>Output devices are pieces of equipment that are used to generate information or any other response processed by the computer. These devices display information that has been held or generated within a computer. </a:t>
            </a:r>
          </a:p>
          <a:p>
            <a:pPr algn="just">
              <a:buNone/>
            </a:pPr>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Von Neumann Architecture</a:t>
            </a:r>
            <a:br>
              <a:rPr lang="en-US" b="1" dirty="0" smtClean="0"/>
            </a:br>
            <a:endParaRPr lang="en-US" dirty="0"/>
          </a:p>
        </p:txBody>
      </p:sp>
      <p:sp>
        <p:nvSpPr>
          <p:cNvPr id="3" name="Content Placeholder 2"/>
          <p:cNvSpPr>
            <a:spLocks noGrp="1"/>
          </p:cNvSpPr>
          <p:nvPr>
            <p:ph idx="1"/>
          </p:nvPr>
        </p:nvSpPr>
        <p:spPr/>
        <p:txBody>
          <a:bodyPr/>
          <a:lstStyle/>
          <a:p>
            <a:pPr algn="just"/>
            <a:r>
              <a:rPr lang="en-US" dirty="0" smtClean="0"/>
              <a:t>Computer is built on John von Neumann’s concept of </a:t>
            </a:r>
            <a:r>
              <a:rPr lang="en-US" b="1" dirty="0" smtClean="0"/>
              <a:t>stored </a:t>
            </a:r>
            <a:r>
              <a:rPr lang="en-US" b="1" dirty="0" err="1" smtClean="0"/>
              <a:t>programmes</a:t>
            </a:r>
            <a:r>
              <a:rPr lang="en-US" dirty="0" smtClean="0"/>
              <a:t>.</a:t>
            </a:r>
          </a:p>
          <a:p>
            <a:pPr algn="just"/>
            <a:r>
              <a:rPr lang="en-US" dirty="0" smtClean="0"/>
              <a:t> </a:t>
            </a:r>
            <a:r>
              <a:rPr lang="en-US" b="1" dirty="0" smtClean="0"/>
              <a:t>Programs and data are kept in a distinct storage unit called memories</a:t>
            </a:r>
            <a:r>
              <a:rPr lang="en-US" dirty="0" smtClean="0"/>
              <a:t> in this stored-program approach, and they handle the same. </a:t>
            </a:r>
          </a:p>
          <a:p>
            <a:pPr algn="just"/>
            <a:r>
              <a:rPr lang="en-US" dirty="0" smtClean="0"/>
              <a:t>A computer developed with this design would be considerably </a:t>
            </a:r>
            <a:r>
              <a:rPr lang="en-US" b="1" dirty="0" smtClean="0"/>
              <a:t>easier to reprogram</a:t>
            </a:r>
            <a:endParaRPr lang="en-US" b="1"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Grp="1" noChangeAspect="1" noChangeArrowheads="1"/>
          </p:cNvPicPr>
          <p:nvPr>
            <p:ph idx="1"/>
          </p:nvPr>
        </p:nvPicPr>
        <p:blipFill>
          <a:blip r:embed="rId2"/>
          <a:srcRect/>
          <a:stretch>
            <a:fillRect/>
          </a:stretch>
        </p:blipFill>
        <p:spPr bwMode="auto">
          <a:xfrm>
            <a:off x="1992406" y="1066800"/>
            <a:ext cx="5159187" cy="4270979"/>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smtClean="0"/>
              <a:t>It’s made up of three fundamental components: </a:t>
            </a:r>
          </a:p>
          <a:p>
            <a:pPr lvl="1"/>
            <a:r>
              <a:rPr lang="en-US" dirty="0" smtClean="0"/>
              <a:t>The CPU or Central Processing Unit </a:t>
            </a:r>
          </a:p>
          <a:p>
            <a:pPr lvl="1"/>
            <a:r>
              <a:rPr lang="en-US" dirty="0" smtClean="0"/>
              <a:t>The Main Memory Unit (most important part of the system) </a:t>
            </a:r>
          </a:p>
          <a:p>
            <a:pPr lvl="1"/>
            <a:r>
              <a:rPr lang="en-US" dirty="0" smtClean="0"/>
              <a:t>The I/O Device or the </a:t>
            </a:r>
            <a:r>
              <a:rPr lang="en-US" dirty="0" err="1" smtClean="0"/>
              <a:t>Input/Output</a:t>
            </a:r>
            <a:r>
              <a:rPr lang="en-US" dirty="0" smtClean="0"/>
              <a:t> Device </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CPU (Central Processing Unit)</a:t>
            </a:r>
            <a:endParaRPr lang="en-US" dirty="0"/>
          </a:p>
        </p:txBody>
      </p:sp>
      <p:sp>
        <p:nvSpPr>
          <p:cNvPr id="3" name="Content Placeholder 2"/>
          <p:cNvSpPr>
            <a:spLocks noGrp="1"/>
          </p:cNvSpPr>
          <p:nvPr>
            <p:ph idx="1"/>
          </p:nvPr>
        </p:nvSpPr>
        <p:spPr/>
        <p:txBody>
          <a:bodyPr>
            <a:normAutofit fontScale="77500" lnSpcReduction="20000"/>
          </a:bodyPr>
          <a:lstStyle/>
          <a:p>
            <a:pPr algn="just">
              <a:buNone/>
            </a:pPr>
            <a:r>
              <a:rPr lang="en-US" b="1" dirty="0" smtClean="0"/>
              <a:t> </a:t>
            </a:r>
          </a:p>
          <a:p>
            <a:pPr algn="just"/>
            <a:r>
              <a:rPr lang="en-US" dirty="0" smtClean="0"/>
              <a:t>The control unit, main memory, and arithmetic-logic unit make up the central processing unit (CPU), which is the most important portion of any digital computer system. </a:t>
            </a:r>
          </a:p>
          <a:p>
            <a:pPr algn="just"/>
            <a:r>
              <a:rPr lang="en-US" dirty="0" smtClean="0"/>
              <a:t>The CPU is the computer’s brain, including all of the circuitry required to process input, store data, and generate output. </a:t>
            </a:r>
          </a:p>
          <a:p>
            <a:pPr algn="just"/>
            <a:r>
              <a:rPr lang="en-US" dirty="0" smtClean="0"/>
              <a:t>The CPU is always following </a:t>
            </a:r>
            <a:r>
              <a:rPr lang="en-US" b="1" dirty="0" smtClean="0"/>
              <a:t>computer program instructions that instruct it on which information to process as well as how to process it. </a:t>
            </a:r>
          </a:p>
          <a:p>
            <a:pPr algn="just"/>
            <a:r>
              <a:rPr lang="en-US" dirty="0" smtClean="0"/>
              <a:t>We couldn’t run applications on a computer without a CPU. </a:t>
            </a:r>
          </a:p>
          <a:p>
            <a:pPr algn="just"/>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CU (Control Unit) &amp;ALU</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It is responsible for all processor control signals.</a:t>
            </a:r>
          </a:p>
          <a:p>
            <a:pPr algn="just"/>
            <a:r>
              <a:rPr lang="en-US" dirty="0" smtClean="0"/>
              <a:t> It governs </a:t>
            </a:r>
            <a:r>
              <a:rPr lang="en-US" b="1" dirty="0" smtClean="0"/>
              <a:t>how data moves throughout the system, directs all input and output flow,</a:t>
            </a:r>
            <a:r>
              <a:rPr lang="en-US" dirty="0" smtClean="0"/>
              <a:t> and gets code for instructions. </a:t>
            </a:r>
          </a:p>
          <a:p>
            <a:pPr algn="just">
              <a:buNone/>
            </a:pPr>
            <a:r>
              <a:rPr lang="en-US" b="1" dirty="0" smtClean="0"/>
              <a:t>ALU (Arithmetic and Logic Unit) </a:t>
            </a:r>
          </a:p>
          <a:p>
            <a:pPr algn="just"/>
            <a:r>
              <a:rPr lang="en-US" dirty="0" smtClean="0"/>
              <a:t>The arithmetic logic unit (ALU) is the portion of the CPU that handles all of the CPU’s computations, such as addition, subtraction, and comparisons.</a:t>
            </a:r>
          </a:p>
          <a:p>
            <a:pPr algn="just"/>
            <a:r>
              <a:rPr lang="en-US" dirty="0" smtClean="0"/>
              <a:t> Also, Logical operations, arithmetic operations, and bit shifting operations are all performed by it. </a:t>
            </a:r>
          </a:p>
          <a:p>
            <a:pPr algn="just"/>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3"/>
          <p:cNvPicPr>
            <a:picLocks noGrp="1" noChangeAspect="1" noChangeArrowheads="1"/>
          </p:cNvPicPr>
          <p:nvPr>
            <p:ph idx="1"/>
          </p:nvPr>
        </p:nvPicPr>
        <p:blipFill>
          <a:blip r:embed="rId2"/>
          <a:srcRect/>
          <a:stretch>
            <a:fillRect/>
          </a:stretch>
        </p:blipFill>
        <p:spPr bwMode="auto">
          <a:xfrm>
            <a:off x="1340840" y="1973257"/>
            <a:ext cx="6462320" cy="3779848"/>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
            </a:r>
            <a:br>
              <a:rPr lang="en-US" b="1" dirty="0" smtClean="0"/>
            </a:br>
            <a:r>
              <a:rPr lang="en-US" b="1" dirty="0" smtClean="0"/>
              <a:t>Registers (Main Memory Unit) </a:t>
            </a:r>
            <a:br>
              <a:rPr lang="en-US" b="1" dirty="0" smtClean="0"/>
            </a:br>
            <a:endParaRPr lang="en-US" dirty="0"/>
          </a:p>
        </p:txBody>
      </p:sp>
      <p:sp>
        <p:nvSpPr>
          <p:cNvPr id="3" name="Content Placeholder 2"/>
          <p:cNvSpPr>
            <a:spLocks noGrp="1"/>
          </p:cNvSpPr>
          <p:nvPr>
            <p:ph idx="1"/>
          </p:nvPr>
        </p:nvSpPr>
        <p:spPr/>
        <p:txBody>
          <a:bodyPr>
            <a:normAutofit lnSpcReduction="10000"/>
          </a:bodyPr>
          <a:lstStyle/>
          <a:p>
            <a:pPr algn="just"/>
            <a:r>
              <a:rPr lang="en-US" dirty="0" smtClean="0"/>
              <a:t>Registers are a sort of computer memory that is used to </a:t>
            </a:r>
            <a:r>
              <a:rPr lang="en-US" b="1" dirty="0" smtClean="0"/>
              <a:t>accept, store, and transport data and instructions</a:t>
            </a:r>
            <a:r>
              <a:rPr lang="en-US" dirty="0" smtClean="0"/>
              <a:t> that are used by the CPU right away. </a:t>
            </a:r>
          </a:p>
          <a:p>
            <a:pPr algn="just"/>
            <a:r>
              <a:rPr lang="en-US" b="1" dirty="0" smtClean="0"/>
              <a:t>Processor registers</a:t>
            </a:r>
            <a:r>
              <a:rPr lang="en-US" dirty="0" smtClean="0"/>
              <a:t> is the term used to define the registers that the </a:t>
            </a:r>
            <a:r>
              <a:rPr lang="en-US" b="1" dirty="0" smtClean="0"/>
              <a:t>CPU uses</a:t>
            </a:r>
            <a:r>
              <a:rPr lang="en-US" dirty="0" smtClean="0"/>
              <a:t>. </a:t>
            </a:r>
          </a:p>
          <a:p>
            <a:pPr algn="just"/>
            <a:r>
              <a:rPr lang="en-US" dirty="0" smtClean="0"/>
              <a:t>Registers are </a:t>
            </a:r>
            <a:r>
              <a:rPr lang="en-US" b="1" dirty="0" smtClean="0"/>
              <a:t>highly fast computer memory </a:t>
            </a:r>
            <a:r>
              <a:rPr lang="en-US" dirty="0" smtClean="0"/>
              <a:t>that are </a:t>
            </a:r>
            <a:r>
              <a:rPr lang="en-US" b="1" dirty="0" smtClean="0"/>
              <a:t>used to efficiently execute programs and operations </a:t>
            </a:r>
            <a:r>
              <a:rPr lang="en-US" dirty="0" smtClean="0"/>
              <a:t>in computer architecture. </a:t>
            </a:r>
          </a:p>
          <a:p>
            <a:pPr algn="just"/>
            <a:endParaRPr lang="en-US"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fontScale="62500" lnSpcReduction="20000"/>
          </a:bodyPr>
          <a:lstStyle/>
          <a:p>
            <a:pPr algn="just"/>
            <a:r>
              <a:rPr lang="en-US" b="1" dirty="0" smtClean="0"/>
              <a:t>Accumulator:</a:t>
            </a:r>
            <a:r>
              <a:rPr lang="en-US" dirty="0" smtClean="0"/>
              <a:t> It stores the results of the calculations that the ALU makes. </a:t>
            </a:r>
          </a:p>
          <a:p>
            <a:pPr algn="just"/>
            <a:r>
              <a:rPr lang="en-US" b="1" dirty="0" smtClean="0"/>
              <a:t>Program Counter:</a:t>
            </a:r>
            <a:r>
              <a:rPr lang="en-US" dirty="0" smtClean="0"/>
              <a:t> The PC keeps track of the location of the memory of the </a:t>
            </a:r>
            <a:r>
              <a:rPr lang="en-US" b="1" dirty="0" smtClean="0"/>
              <a:t>next instructions </a:t>
            </a:r>
            <a:r>
              <a:rPr lang="en-US" dirty="0" smtClean="0"/>
              <a:t>that are to be dealt with. Then this next address is passed by the PC and passes to the Memory Address Register (MAR). </a:t>
            </a:r>
          </a:p>
          <a:p>
            <a:pPr algn="just"/>
            <a:r>
              <a:rPr lang="en-US" b="1" dirty="0" smtClean="0"/>
              <a:t>Memory Address Register:</a:t>
            </a:r>
            <a:r>
              <a:rPr lang="en-US" dirty="0" smtClean="0"/>
              <a:t> MAR </a:t>
            </a:r>
            <a:r>
              <a:rPr lang="en-US" b="1" dirty="0" smtClean="0"/>
              <a:t>stores the memory locations of those instructions that are either to be fetched from the memory or to be stored in the memory. </a:t>
            </a:r>
          </a:p>
          <a:p>
            <a:pPr algn="just"/>
            <a:r>
              <a:rPr lang="en-US" b="1" dirty="0" smtClean="0"/>
              <a:t>Memory Data Register:</a:t>
            </a:r>
            <a:r>
              <a:rPr lang="en-US" dirty="0" smtClean="0"/>
              <a:t> MDR stores the </a:t>
            </a:r>
            <a:r>
              <a:rPr lang="en-US" b="1" dirty="0" smtClean="0"/>
              <a:t>data</a:t>
            </a:r>
            <a:r>
              <a:rPr lang="en-US" dirty="0" smtClean="0"/>
              <a:t> that are fetched from the memory or any information that is to be transferred to and stored in the memory. </a:t>
            </a:r>
          </a:p>
          <a:p>
            <a:pPr algn="just"/>
            <a:r>
              <a:rPr lang="en-US" b="1" dirty="0" smtClean="0"/>
              <a:t>Current Instruction Register:</a:t>
            </a:r>
            <a:r>
              <a:rPr lang="en-US" dirty="0" smtClean="0"/>
              <a:t> CIR stores the </a:t>
            </a:r>
            <a:r>
              <a:rPr lang="en-US" b="1" dirty="0" smtClean="0"/>
              <a:t>recently fetched instructions</a:t>
            </a:r>
            <a:r>
              <a:rPr lang="en-US" dirty="0" smtClean="0"/>
              <a:t> while it waits for coding and execution. </a:t>
            </a:r>
          </a:p>
          <a:p>
            <a:pPr algn="just"/>
            <a:r>
              <a:rPr lang="en-US" b="1" dirty="0" smtClean="0"/>
              <a:t>Instruction Buffer Register:</a:t>
            </a:r>
            <a:r>
              <a:rPr lang="en-US" dirty="0" smtClean="0"/>
              <a:t> (Buffer-no need to wait for the instruction)The instruction that isn’t to be immediately executed is placed in the IBR or instruction buffer register. </a:t>
            </a:r>
          </a:p>
          <a:p>
            <a:pPr algn="just"/>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55000" lnSpcReduction="20000"/>
          </a:bodyPr>
          <a:lstStyle/>
          <a:p>
            <a:pPr algn="just">
              <a:buNone/>
            </a:pPr>
            <a:r>
              <a:rPr lang="en-US" b="1" dirty="0" smtClean="0"/>
              <a:t>I/O Devices </a:t>
            </a:r>
          </a:p>
          <a:p>
            <a:pPr algn="just"/>
            <a:r>
              <a:rPr lang="en-US" dirty="0" smtClean="0"/>
              <a:t>Under the control of CPU input instructions, the </a:t>
            </a:r>
            <a:r>
              <a:rPr lang="en-US" dirty="0" err="1" smtClean="0"/>
              <a:t>programme</a:t>
            </a:r>
            <a:r>
              <a:rPr lang="en-US" dirty="0" smtClean="0"/>
              <a:t> or the data is read into the main memory from the secondary storage or the input device. The data from a computer is output using output devices. If any results are evaluated by a computer and saved in it, you can present them to a user via output devices. </a:t>
            </a:r>
          </a:p>
          <a:p>
            <a:pPr algn="just">
              <a:buNone/>
            </a:pPr>
            <a:endParaRPr lang="en-US" b="1" dirty="0" smtClean="0"/>
          </a:p>
          <a:p>
            <a:pPr algn="just">
              <a:buNone/>
            </a:pPr>
            <a:r>
              <a:rPr lang="en-US" b="1" dirty="0" smtClean="0"/>
              <a:t>Buses </a:t>
            </a:r>
          </a:p>
          <a:p>
            <a:pPr algn="just"/>
            <a:r>
              <a:rPr lang="en-US" dirty="0" smtClean="0"/>
              <a:t>Data is sent from one portion of a computer to another via buses, which connect all key internal components to the memory and CPU. They are of the following types: </a:t>
            </a:r>
          </a:p>
          <a:p>
            <a:pPr algn="just"/>
            <a:r>
              <a:rPr lang="en-US" b="1" dirty="0" smtClean="0"/>
              <a:t>Control Bus:</a:t>
            </a:r>
            <a:r>
              <a:rPr lang="en-US" dirty="0" smtClean="0"/>
              <a:t> It receives </a:t>
            </a:r>
            <a:r>
              <a:rPr lang="en-US" b="1" dirty="0" smtClean="0"/>
              <a:t>control commands</a:t>
            </a:r>
            <a:r>
              <a:rPr lang="en-US" dirty="0" smtClean="0"/>
              <a:t> from the CPU, as well as </a:t>
            </a:r>
            <a:r>
              <a:rPr lang="en-US" b="1" dirty="0" smtClean="0"/>
              <a:t>status signals from other devices</a:t>
            </a:r>
            <a:r>
              <a:rPr lang="en-US" dirty="0" smtClean="0"/>
              <a:t>, and uses them to control and coordinate all of the computer’s actions. (clock </a:t>
            </a:r>
            <a:r>
              <a:rPr lang="en-US" dirty="0" err="1" smtClean="0"/>
              <a:t>signal,read</a:t>
            </a:r>
            <a:r>
              <a:rPr lang="en-US" dirty="0" smtClean="0"/>
              <a:t>/write signal)</a:t>
            </a:r>
          </a:p>
          <a:p>
            <a:pPr algn="just"/>
            <a:r>
              <a:rPr lang="en-US" b="1" dirty="0" smtClean="0"/>
              <a:t>Address Bus: </a:t>
            </a:r>
            <a:r>
              <a:rPr lang="en-US" dirty="0" smtClean="0"/>
              <a:t>It carries memory address from CPU to memory and other peripherals</a:t>
            </a:r>
          </a:p>
          <a:p>
            <a:pPr algn="just"/>
            <a:r>
              <a:rPr lang="en-US" b="1" dirty="0" smtClean="0"/>
              <a:t>Data Bus:</a:t>
            </a:r>
            <a:r>
              <a:rPr lang="en-US" dirty="0" smtClean="0"/>
              <a:t> It carries data between CPU to memory and other peripherals</a:t>
            </a:r>
          </a:p>
          <a:p>
            <a:pPr algn="just"/>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2"/>
          <a:srcRect/>
          <a:stretch>
            <a:fillRect/>
          </a:stretch>
        </p:blipFill>
        <p:spPr bwMode="auto">
          <a:xfrm>
            <a:off x="2647783" y="1295401"/>
            <a:ext cx="3848434" cy="353941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Memory Unit </a:t>
            </a:r>
            <a:br>
              <a:rPr lang="en-US" b="1" dirty="0" smtClean="0"/>
            </a:br>
            <a:endParaRPr lang="en-US" dirty="0"/>
          </a:p>
        </p:txBody>
      </p:sp>
      <p:sp>
        <p:nvSpPr>
          <p:cNvPr id="3" name="Content Placeholder 2"/>
          <p:cNvSpPr>
            <a:spLocks noGrp="1"/>
          </p:cNvSpPr>
          <p:nvPr>
            <p:ph idx="1"/>
          </p:nvPr>
        </p:nvSpPr>
        <p:spPr/>
        <p:txBody>
          <a:bodyPr>
            <a:normAutofit fontScale="92500" lnSpcReduction="20000"/>
          </a:bodyPr>
          <a:lstStyle/>
          <a:p>
            <a:pPr algn="just"/>
            <a:r>
              <a:rPr lang="en-US" dirty="0" smtClean="0"/>
              <a:t>A memory unit is a collection of storage cells together with associated circuits needed to transfer information in and out of the storage. </a:t>
            </a:r>
          </a:p>
          <a:p>
            <a:pPr algn="just"/>
            <a:r>
              <a:rPr lang="en-US" dirty="0" smtClean="0"/>
              <a:t>The memory stores binary information in groups of bits called words. The internal structure of a memory unit is specified by the number of words it contains and the number of bits in each word. </a:t>
            </a:r>
          </a:p>
          <a:p>
            <a:pPr algn="just"/>
            <a:r>
              <a:rPr lang="en-US" b="1" dirty="0" smtClean="0"/>
              <a:t>Two major types of memories are used in computer systems: </a:t>
            </a:r>
          </a:p>
          <a:p>
            <a:pPr algn="just">
              <a:buNone/>
            </a:pPr>
            <a:r>
              <a:rPr lang="en-US" dirty="0" smtClean="0"/>
              <a:t>1. RAM (Random Access Memory) </a:t>
            </a:r>
          </a:p>
          <a:p>
            <a:pPr algn="just">
              <a:buNone/>
            </a:pPr>
            <a:r>
              <a:rPr lang="en-US" dirty="0" smtClean="0"/>
              <a:t>2. ROM (Read-Only Memory) </a:t>
            </a:r>
          </a:p>
          <a:p>
            <a:pPr algn="just"/>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Format</a:t>
            </a:r>
            <a:endParaRPr lang="en-US" dirty="0"/>
          </a:p>
        </p:txBody>
      </p:sp>
      <p:sp>
        <p:nvSpPr>
          <p:cNvPr id="3" name="Content Placeholder 2"/>
          <p:cNvSpPr>
            <a:spLocks noGrp="1"/>
          </p:cNvSpPr>
          <p:nvPr>
            <p:ph idx="1"/>
          </p:nvPr>
        </p:nvSpPr>
        <p:spPr>
          <a:xfrm>
            <a:off x="457200" y="1600200"/>
            <a:ext cx="8229600" cy="5105400"/>
          </a:xfrm>
        </p:spPr>
        <p:txBody>
          <a:bodyPr>
            <a:normAutofit fontScale="92500"/>
          </a:bodyPr>
          <a:lstStyle/>
          <a:p>
            <a:r>
              <a:rPr lang="en-US" dirty="0" smtClean="0"/>
              <a:t>Rectangular box – bits of the instruction 	 	             (memory word/control register)</a:t>
            </a:r>
          </a:p>
          <a:p>
            <a:r>
              <a:rPr lang="en-US" dirty="0" smtClean="0"/>
              <a:t>Defines – layout of the bits of an instruction – 	                   constituent parts</a:t>
            </a:r>
          </a:p>
          <a:p>
            <a:r>
              <a:rPr lang="en-US" dirty="0" smtClean="0"/>
              <a:t>Bits of instruction – groups called fields</a:t>
            </a:r>
          </a:p>
          <a:p>
            <a:r>
              <a:rPr lang="en-US" dirty="0" smtClean="0"/>
              <a:t>Most common field – IF</a:t>
            </a:r>
          </a:p>
          <a:p>
            <a:pPr lvl="1"/>
            <a:r>
              <a:rPr lang="en-US" dirty="0" smtClean="0"/>
              <a:t>Operation code- specifies the operation</a:t>
            </a:r>
          </a:p>
          <a:p>
            <a:pPr lvl="1"/>
            <a:r>
              <a:rPr lang="en-US" dirty="0" smtClean="0"/>
              <a:t>Address field- memory address or processor register</a:t>
            </a:r>
          </a:p>
          <a:p>
            <a:pPr lvl="1"/>
            <a:r>
              <a:rPr lang="en-US" dirty="0" smtClean="0"/>
              <a:t>Mode field-specifies the way the operand / address is determined</a:t>
            </a:r>
            <a:endParaRPr lang="en-US"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dirty="0" smtClean="0"/>
          </a:p>
          <a:p>
            <a:endParaRPr lang="en-US" dirty="0" smtClean="0"/>
          </a:p>
          <a:p>
            <a:r>
              <a:rPr lang="en-US" dirty="0" smtClean="0"/>
              <a:t>Operation code: Add, subtract, complement, 	                        shift</a:t>
            </a:r>
          </a:p>
          <a:p>
            <a:r>
              <a:rPr lang="en-US" dirty="0" smtClean="0"/>
              <a:t>Address field: Memory address/register 	  	                   address</a:t>
            </a:r>
          </a:p>
          <a:p>
            <a:r>
              <a:rPr lang="en-US" dirty="0" smtClean="0"/>
              <a:t>Mode field: Ways in which operand is chosen</a:t>
            </a:r>
          </a:p>
          <a:p>
            <a:endParaRPr lang="en-US" dirty="0"/>
          </a:p>
        </p:txBody>
      </p:sp>
      <p:pic>
        <p:nvPicPr>
          <p:cNvPr id="1026" name="Picture 2" descr="C:\Users\Ajai\Desktop\Jerusalem\JIT2321_DPCO\Unit-3\Opcode.JPG"/>
          <p:cNvPicPr>
            <a:picLocks noChangeAspect="1" noChangeArrowheads="1"/>
          </p:cNvPicPr>
          <p:nvPr/>
        </p:nvPicPr>
        <p:blipFill>
          <a:blip r:embed="rId2"/>
          <a:srcRect/>
          <a:stretch>
            <a:fillRect/>
          </a:stretch>
        </p:blipFill>
        <p:spPr bwMode="auto">
          <a:xfrm>
            <a:off x="1905000" y="1524000"/>
            <a:ext cx="4906963" cy="1028700"/>
          </a:xfrm>
          <a:prstGeom prst="rect">
            <a:avLst/>
          </a:prstGeom>
          <a:noFill/>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Instruction Format</a:t>
            </a:r>
            <a:endParaRPr lang="en-US" dirty="0"/>
          </a:p>
        </p:txBody>
      </p:sp>
      <p:sp>
        <p:nvSpPr>
          <p:cNvPr id="3" name="Content Placeholder 2"/>
          <p:cNvSpPr>
            <a:spLocks noGrp="1"/>
          </p:cNvSpPr>
          <p:nvPr>
            <p:ph idx="1"/>
          </p:nvPr>
        </p:nvSpPr>
        <p:spPr/>
        <p:txBody>
          <a:bodyPr/>
          <a:lstStyle/>
          <a:p>
            <a:pPr algn="just"/>
            <a:r>
              <a:rPr lang="en-US" dirty="0" smtClean="0"/>
              <a:t>Three address instructions</a:t>
            </a:r>
          </a:p>
          <a:p>
            <a:pPr algn="just"/>
            <a:r>
              <a:rPr lang="en-US" dirty="0" smtClean="0"/>
              <a:t>Two address instructions</a:t>
            </a:r>
          </a:p>
          <a:p>
            <a:pPr algn="just"/>
            <a:r>
              <a:rPr lang="en-US" dirty="0" smtClean="0"/>
              <a:t>One address instructions</a:t>
            </a:r>
          </a:p>
          <a:p>
            <a:pPr algn="just"/>
            <a:r>
              <a:rPr lang="en-US" dirty="0" smtClean="0"/>
              <a:t>Zero address instructions</a:t>
            </a:r>
          </a:p>
          <a:p>
            <a:pPr algn="just">
              <a:buNone/>
            </a:pPr>
            <a:endParaRPr lang="en-US" dirty="0" smtClean="0"/>
          </a:p>
          <a:p>
            <a:pPr algn="just">
              <a:buNone/>
            </a:pPr>
            <a:r>
              <a:rPr lang="en-US" dirty="0" smtClean="0"/>
              <a:t>Each </a:t>
            </a:r>
            <a:r>
              <a:rPr lang="en-US" b="1" dirty="0" smtClean="0"/>
              <a:t>Address field</a:t>
            </a:r>
            <a:r>
              <a:rPr lang="en-US" dirty="0" smtClean="0"/>
              <a:t> used to specify </a:t>
            </a:r>
          </a:p>
          <a:p>
            <a:pPr algn="just">
              <a:buNone/>
            </a:pPr>
            <a:r>
              <a:rPr lang="en-US" dirty="0" smtClean="0"/>
              <a:t>-&gt; Process Register            -&gt;Memory Operand</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Three Address Instruction</a:t>
            </a:r>
            <a:endParaRPr lang="en-US" dirty="0"/>
          </a:p>
        </p:txBody>
      </p:sp>
      <p:sp>
        <p:nvSpPr>
          <p:cNvPr id="3" name="Content Placeholder 2"/>
          <p:cNvSpPr>
            <a:spLocks noGrp="1"/>
          </p:cNvSpPr>
          <p:nvPr>
            <p:ph idx="1"/>
          </p:nvPr>
        </p:nvSpPr>
        <p:spPr>
          <a:xfrm>
            <a:off x="457200" y="1219200"/>
            <a:ext cx="8229600" cy="4906963"/>
          </a:xfrm>
        </p:spPr>
        <p:txBody>
          <a:bodyPr>
            <a:normAutofit fontScale="55000" lnSpcReduction="20000"/>
          </a:bodyPr>
          <a:lstStyle/>
          <a:p>
            <a:endParaRPr lang="en-US" dirty="0" smtClean="0"/>
          </a:p>
          <a:p>
            <a:endParaRPr lang="en-US" dirty="0" smtClean="0"/>
          </a:p>
          <a:p>
            <a:endParaRPr lang="en-US" dirty="0" smtClean="0"/>
          </a:p>
          <a:p>
            <a:endParaRPr lang="en-US" dirty="0" smtClean="0"/>
          </a:p>
          <a:p>
            <a:endParaRPr lang="en-US" dirty="0" smtClean="0"/>
          </a:p>
          <a:p>
            <a:r>
              <a:rPr lang="en-US" dirty="0" smtClean="0"/>
              <a:t>Program in Assembly Language</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smtClean="0"/>
              <a:t>Process Registers – R1 and R2</a:t>
            </a:r>
          </a:p>
          <a:p>
            <a:r>
              <a:rPr lang="en-US" dirty="0" smtClean="0"/>
              <a:t>M[A] – Operand at Memory </a:t>
            </a:r>
            <a:r>
              <a:rPr lang="en-US" dirty="0" err="1" smtClean="0"/>
              <a:t>Addr</a:t>
            </a:r>
            <a:r>
              <a:rPr lang="en-US" dirty="0" smtClean="0"/>
              <a:t> symbolized by A</a:t>
            </a:r>
          </a:p>
          <a:p>
            <a:r>
              <a:rPr lang="en-US" dirty="0" smtClean="0"/>
              <a:t>Adv – short programs – arithmetic expressions</a:t>
            </a:r>
          </a:p>
          <a:p>
            <a:r>
              <a:rPr lang="en-US" dirty="0" err="1" smtClean="0"/>
              <a:t>Disadv</a:t>
            </a:r>
            <a:r>
              <a:rPr lang="en-US" dirty="0" smtClean="0"/>
              <a:t> – Binary coded instruction – too many bits</a:t>
            </a:r>
          </a:p>
          <a:p>
            <a:r>
              <a:rPr lang="en-US" dirty="0" err="1" smtClean="0"/>
              <a:t>Eg</a:t>
            </a:r>
            <a:r>
              <a:rPr lang="en-US" dirty="0" smtClean="0"/>
              <a:t>: Cyber 170</a:t>
            </a:r>
          </a:p>
          <a:p>
            <a:endParaRPr lang="en-US" dirty="0"/>
          </a:p>
        </p:txBody>
      </p:sp>
      <p:pic>
        <p:nvPicPr>
          <p:cNvPr id="2050" name="Picture 2" descr="C:\Users\Ajai\Desktop\Jerusalem\JIT2321_DPCO\Unit-3\eqn.JPG"/>
          <p:cNvPicPr>
            <a:picLocks noChangeAspect="1" noChangeArrowheads="1"/>
          </p:cNvPicPr>
          <p:nvPr/>
        </p:nvPicPr>
        <p:blipFill>
          <a:blip r:embed="rId2"/>
          <a:srcRect/>
          <a:stretch>
            <a:fillRect/>
          </a:stretch>
        </p:blipFill>
        <p:spPr bwMode="auto">
          <a:xfrm>
            <a:off x="1066800" y="1371600"/>
            <a:ext cx="5181600" cy="838200"/>
          </a:xfrm>
          <a:prstGeom prst="rect">
            <a:avLst/>
          </a:prstGeom>
          <a:noFill/>
        </p:spPr>
      </p:pic>
      <p:pic>
        <p:nvPicPr>
          <p:cNvPr id="2051" name="Picture 3" descr="C:\Users\Ajai\Desktop\Jerusalem\JIT2321_DPCO\Unit-3\ALP.JPG"/>
          <p:cNvPicPr>
            <a:picLocks noChangeAspect="1" noChangeArrowheads="1"/>
          </p:cNvPicPr>
          <p:nvPr/>
        </p:nvPicPr>
        <p:blipFill>
          <a:blip r:embed="rId3"/>
          <a:srcRect/>
          <a:stretch>
            <a:fillRect/>
          </a:stretch>
        </p:blipFill>
        <p:spPr bwMode="auto">
          <a:xfrm>
            <a:off x="838200" y="3124200"/>
            <a:ext cx="4876800" cy="137160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Two Address Instruction</a:t>
            </a:r>
            <a:endParaRPr lang="en-US" dirty="0"/>
          </a:p>
        </p:txBody>
      </p:sp>
      <p:sp>
        <p:nvSpPr>
          <p:cNvPr id="3" name="Content Placeholder 2"/>
          <p:cNvSpPr>
            <a:spLocks noGrp="1"/>
          </p:cNvSpPr>
          <p:nvPr>
            <p:ph idx="1"/>
          </p:nvPr>
        </p:nvSpPr>
        <p:spPr/>
        <p:txBody>
          <a:bodyPr>
            <a:normAutofit lnSpcReduction="10000"/>
          </a:bodyPr>
          <a:lstStyle/>
          <a:p>
            <a:r>
              <a:rPr lang="en-US" dirty="0" smtClean="0"/>
              <a:t>Most Common in Commercial Computers</a:t>
            </a:r>
          </a:p>
          <a:p>
            <a:endParaRPr lang="en-US" dirty="0" smtClean="0"/>
          </a:p>
          <a:p>
            <a:endParaRPr lang="en-US" dirty="0" smtClean="0"/>
          </a:p>
          <a:p>
            <a:endParaRPr lang="en-US" dirty="0" smtClean="0"/>
          </a:p>
          <a:p>
            <a:pPr>
              <a:buNone/>
            </a:pPr>
            <a:r>
              <a:rPr lang="en-US" dirty="0" smtClean="0"/>
              <a:t>              </a:t>
            </a:r>
            <a:r>
              <a:rPr lang="en-US" sz="4000" dirty="0" smtClean="0"/>
              <a:t>One Address Instruction</a:t>
            </a:r>
          </a:p>
          <a:p>
            <a:pPr>
              <a:buNone/>
            </a:pPr>
            <a:r>
              <a:rPr lang="en-US" sz="4000" dirty="0" smtClean="0"/>
              <a:t>                                         </a:t>
            </a:r>
            <a:r>
              <a:rPr lang="en-US" sz="2400" dirty="0" smtClean="0"/>
              <a:t>AC – Accumulator register</a:t>
            </a:r>
          </a:p>
          <a:p>
            <a:pPr>
              <a:buNone/>
            </a:pPr>
            <a:r>
              <a:rPr lang="en-US" sz="2400" dirty="0" smtClean="0"/>
              <a:t>                                                                     T – </a:t>
            </a:r>
            <a:r>
              <a:rPr lang="en-US" sz="2400" dirty="0" err="1" smtClean="0"/>
              <a:t>Addr</a:t>
            </a:r>
            <a:r>
              <a:rPr lang="en-US" sz="2400" dirty="0" smtClean="0"/>
              <a:t> of a temporary </a:t>
            </a:r>
          </a:p>
          <a:p>
            <a:pPr>
              <a:buNone/>
            </a:pPr>
            <a:r>
              <a:rPr lang="en-US" sz="2400" dirty="0" smtClean="0"/>
              <a:t>                                                                               memory location</a:t>
            </a:r>
            <a:endParaRPr lang="en-US" dirty="0"/>
          </a:p>
        </p:txBody>
      </p:sp>
      <p:pic>
        <p:nvPicPr>
          <p:cNvPr id="3074" name="Picture 2" descr="C:\Users\Ajai\Desktop\Jerusalem\JIT2321_DPCO\Unit-3\2_OP.JPG"/>
          <p:cNvPicPr>
            <a:picLocks noChangeAspect="1" noChangeArrowheads="1"/>
          </p:cNvPicPr>
          <p:nvPr/>
        </p:nvPicPr>
        <p:blipFill>
          <a:blip r:embed="rId2"/>
          <a:srcRect/>
          <a:stretch>
            <a:fillRect/>
          </a:stretch>
        </p:blipFill>
        <p:spPr bwMode="auto">
          <a:xfrm>
            <a:off x="762000" y="2057400"/>
            <a:ext cx="3946525" cy="1501775"/>
          </a:xfrm>
          <a:prstGeom prst="rect">
            <a:avLst/>
          </a:prstGeom>
          <a:noFill/>
        </p:spPr>
      </p:pic>
      <p:pic>
        <p:nvPicPr>
          <p:cNvPr id="3075" name="Picture 3" descr="C:\Users\Ajai\Desktop\Jerusalem\JIT2321_DPCO\Unit-3\Ac_Op.JPG"/>
          <p:cNvPicPr>
            <a:picLocks noChangeAspect="1" noChangeArrowheads="1"/>
          </p:cNvPicPr>
          <p:nvPr/>
        </p:nvPicPr>
        <p:blipFill>
          <a:blip r:embed="rId3"/>
          <a:srcRect/>
          <a:stretch>
            <a:fillRect/>
          </a:stretch>
        </p:blipFill>
        <p:spPr bwMode="auto">
          <a:xfrm>
            <a:off x="609600" y="4343400"/>
            <a:ext cx="4351337" cy="1844675"/>
          </a:xfrm>
          <a:prstGeom prst="rect">
            <a:avLst/>
          </a:prstGeom>
          <a:noFill/>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Zero Address Instruction</a:t>
            </a:r>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p>
          <a:p>
            <a:r>
              <a:rPr lang="en-US" dirty="0" smtClean="0"/>
              <a:t>Stack organized computer – No usage of address field (ADD and MUL)</a:t>
            </a:r>
          </a:p>
          <a:p>
            <a:r>
              <a:rPr lang="en-US" dirty="0" smtClean="0"/>
              <a:t>Zero Address – Absence of an address field</a:t>
            </a:r>
            <a:endParaRPr lang="en-US" dirty="0"/>
          </a:p>
        </p:txBody>
      </p:sp>
      <p:pic>
        <p:nvPicPr>
          <p:cNvPr id="4098" name="Picture 2" descr="C:\Users\Ajai\Desktop\Jerusalem\JIT2321_DPCO\Unit-3\st_Alp.JPG"/>
          <p:cNvPicPr>
            <a:picLocks noChangeAspect="1" noChangeArrowheads="1"/>
          </p:cNvPicPr>
          <p:nvPr/>
        </p:nvPicPr>
        <p:blipFill>
          <a:blip r:embed="rId2"/>
          <a:srcRect/>
          <a:stretch>
            <a:fillRect/>
          </a:stretch>
        </p:blipFill>
        <p:spPr bwMode="auto">
          <a:xfrm>
            <a:off x="533400" y="1676400"/>
            <a:ext cx="4533900" cy="2087563"/>
          </a:xfrm>
          <a:prstGeom prst="rect">
            <a:avLst/>
          </a:prstGeom>
          <a:noFill/>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 and Operands</a:t>
            </a:r>
            <a:endParaRPr lang="en-US" dirty="0"/>
          </a:p>
        </p:txBody>
      </p:sp>
      <p:sp>
        <p:nvSpPr>
          <p:cNvPr id="3" name="Content Placeholder 2"/>
          <p:cNvSpPr>
            <a:spLocks noGrp="1"/>
          </p:cNvSpPr>
          <p:nvPr>
            <p:ph idx="1"/>
          </p:nvPr>
        </p:nvSpPr>
        <p:spPr/>
        <p:txBody>
          <a:bodyPr/>
          <a:lstStyle/>
          <a:p>
            <a:endParaRPr lang="en-US" dirty="0"/>
          </a:p>
        </p:txBody>
      </p:sp>
      <p:pic>
        <p:nvPicPr>
          <p:cNvPr id="6146" name="Picture 2" descr="C:\Users\Ajai\Desktop\Jerusalem\JIT2321_DPCO\Unit-3\4variables.JPG"/>
          <p:cNvPicPr>
            <a:picLocks noChangeAspect="1" noChangeArrowheads="1"/>
          </p:cNvPicPr>
          <p:nvPr/>
        </p:nvPicPr>
        <p:blipFill>
          <a:blip r:embed="rId2"/>
          <a:srcRect/>
          <a:stretch>
            <a:fillRect/>
          </a:stretch>
        </p:blipFill>
        <p:spPr bwMode="auto">
          <a:xfrm>
            <a:off x="609600" y="1524000"/>
            <a:ext cx="7467600" cy="4343400"/>
          </a:xfrm>
          <a:prstGeom prst="rect">
            <a:avLst/>
          </a:prstGeom>
          <a:noFill/>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MIPS Instructions</a:t>
            </a:r>
            <a:endParaRPr lang="en-US" dirty="0"/>
          </a:p>
        </p:txBody>
      </p:sp>
      <p:sp>
        <p:nvSpPr>
          <p:cNvPr id="3" name="Content Placeholder 2"/>
          <p:cNvSpPr>
            <a:spLocks noGrp="1"/>
          </p:cNvSpPr>
          <p:nvPr>
            <p:ph idx="1"/>
          </p:nvPr>
        </p:nvSpPr>
        <p:spPr/>
        <p:txBody>
          <a:bodyPr/>
          <a:lstStyle/>
          <a:p>
            <a:endParaRPr lang="en-US"/>
          </a:p>
        </p:txBody>
      </p:sp>
      <p:pic>
        <p:nvPicPr>
          <p:cNvPr id="5122" name="Picture 2" descr="C:\Users\Ajai\Desktop\Jerusalem\JIT2321_DPCO\Unit-3\Mips.png"/>
          <p:cNvPicPr>
            <a:picLocks noChangeAspect="1" noChangeArrowheads="1"/>
          </p:cNvPicPr>
          <p:nvPr/>
        </p:nvPicPr>
        <p:blipFill>
          <a:blip r:embed="rId2"/>
          <a:srcRect/>
          <a:stretch>
            <a:fillRect/>
          </a:stretch>
        </p:blipFill>
        <p:spPr bwMode="auto">
          <a:xfrm>
            <a:off x="1752600" y="1447800"/>
            <a:ext cx="5619750" cy="516255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Operations</a:t>
            </a:r>
            <a:endParaRPr lang="en-US" dirty="0"/>
          </a:p>
        </p:txBody>
      </p:sp>
      <p:sp>
        <p:nvSpPr>
          <p:cNvPr id="3" name="Content Placeholder 2"/>
          <p:cNvSpPr>
            <a:spLocks noGrp="1"/>
          </p:cNvSpPr>
          <p:nvPr>
            <p:ph idx="1"/>
          </p:nvPr>
        </p:nvSpPr>
        <p:spPr/>
        <p:txBody>
          <a:bodyPr>
            <a:normAutofit/>
          </a:bodyPr>
          <a:lstStyle/>
          <a:p>
            <a:r>
              <a:rPr lang="en-US" sz="4000" dirty="0" smtClean="0"/>
              <a:t>Arithmetic</a:t>
            </a:r>
          </a:p>
          <a:p>
            <a:r>
              <a:rPr lang="en-US" sz="4000" dirty="0" smtClean="0"/>
              <a:t>Data Transfer</a:t>
            </a:r>
          </a:p>
          <a:p>
            <a:r>
              <a:rPr lang="en-US" sz="4000" dirty="0" smtClean="0"/>
              <a:t>Logical</a:t>
            </a:r>
          </a:p>
          <a:p>
            <a:r>
              <a:rPr lang="en-US" sz="4000" dirty="0" smtClean="0"/>
              <a:t>Conditional Branch</a:t>
            </a:r>
          </a:p>
          <a:p>
            <a:r>
              <a:rPr lang="en-US" sz="4000" dirty="0" smtClean="0"/>
              <a:t>Unconditional Jump</a:t>
            </a:r>
            <a:endParaRPr lang="en-US" sz="4000" dirty="0"/>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a:t>
            </a:r>
            <a:endParaRPr lang="en-US" dirty="0"/>
          </a:p>
        </p:txBody>
      </p:sp>
      <p:sp>
        <p:nvSpPr>
          <p:cNvPr id="3" name="Content Placeholder 2"/>
          <p:cNvSpPr>
            <a:spLocks noGrp="1"/>
          </p:cNvSpPr>
          <p:nvPr>
            <p:ph idx="1"/>
          </p:nvPr>
        </p:nvSpPr>
        <p:spPr>
          <a:xfrm>
            <a:off x="457200" y="1600200"/>
            <a:ext cx="8229600" cy="5105400"/>
          </a:xfrm>
        </p:spPr>
        <p:txBody>
          <a:bodyPr/>
          <a:lstStyle/>
          <a:p>
            <a:r>
              <a:rPr lang="en-US" b="1" dirty="0" smtClean="0"/>
              <a:t>Instructions:</a:t>
            </a:r>
            <a:r>
              <a:rPr lang="en-US" dirty="0" smtClean="0"/>
              <a:t> </a:t>
            </a:r>
          </a:p>
          <a:p>
            <a:pPr>
              <a:buNone/>
            </a:pPr>
            <a:r>
              <a:rPr lang="en-US" dirty="0" smtClean="0"/>
              <a:t>				add, subtract, add immediate</a:t>
            </a:r>
          </a:p>
          <a:p>
            <a:pPr>
              <a:buNone/>
            </a:pPr>
            <a:r>
              <a:rPr lang="en-US" dirty="0" smtClean="0"/>
              <a:t> </a:t>
            </a:r>
            <a:r>
              <a:rPr lang="en-US" b="1" dirty="0" smtClean="0"/>
              <a:t>add $s1, $s2, $s3                subtract $s1, $s2, $s3 </a:t>
            </a:r>
          </a:p>
          <a:p>
            <a:pPr>
              <a:buNone/>
            </a:pPr>
            <a:endParaRPr lang="en-US" dirty="0" smtClean="0"/>
          </a:p>
          <a:p>
            <a:pPr>
              <a:buFont typeface="Wingdings"/>
              <a:buChar char="è"/>
            </a:pPr>
            <a:r>
              <a:rPr lang="en-US" dirty="0" smtClean="0">
                <a:sym typeface="Wingdings" pitchFamily="2" charset="2"/>
              </a:rPr>
              <a:t>$s1 = $s2 + $s3                    $s1 = $s2 - $s3</a:t>
            </a:r>
          </a:p>
          <a:p>
            <a:pPr>
              <a:buNone/>
            </a:pPr>
            <a:endParaRPr lang="en-US" dirty="0" smtClean="0">
              <a:sym typeface="Wingdings" pitchFamily="2" charset="2"/>
            </a:endParaRPr>
          </a:p>
          <a:p>
            <a:pPr>
              <a:buNone/>
            </a:pPr>
            <a:r>
              <a:rPr lang="en-US" dirty="0" smtClean="0">
                <a:sym typeface="Wingdings" pitchFamily="2" charset="2"/>
              </a:rPr>
              <a:t>				</a:t>
            </a:r>
            <a:r>
              <a:rPr lang="en-US" b="1" dirty="0" smtClean="0"/>
              <a:t> add </a:t>
            </a:r>
            <a:r>
              <a:rPr lang="en-US" b="1" dirty="0" err="1" smtClean="0"/>
              <a:t>i</a:t>
            </a:r>
            <a:r>
              <a:rPr lang="en-US" b="1" dirty="0" smtClean="0"/>
              <a:t> $s1, $s2, $s3</a:t>
            </a:r>
          </a:p>
          <a:p>
            <a:pPr>
              <a:buNone/>
            </a:pPr>
            <a:r>
              <a:rPr lang="en-US" b="1" dirty="0" smtClean="0">
                <a:sym typeface="Wingdings" pitchFamily="2" charset="2"/>
              </a:rPr>
              <a:t>    			</a:t>
            </a:r>
            <a:r>
              <a:rPr lang="en-US" dirty="0" smtClean="0">
                <a:sym typeface="Wingdings" pitchFamily="2" charset="2"/>
              </a:rPr>
              <a:t> $s1 = $s2 + 50</a:t>
            </a:r>
            <a:r>
              <a:rPr lang="en-US" b="1" dirty="0" smtClean="0">
                <a:sym typeface="Wingdings" pitchFamily="2" charset="2"/>
              </a:rPr>
              <a:t> </a:t>
            </a:r>
            <a:endParaRPr lang="en-US" dirty="0" smtClean="0">
              <a:sym typeface="Wingdings" pitchFamily="2" charset="2"/>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Transfer</a:t>
            </a:r>
            <a:endParaRPr lang="en-US" dirty="0"/>
          </a:p>
        </p:txBody>
      </p:sp>
      <p:sp>
        <p:nvSpPr>
          <p:cNvPr id="3" name="Content Placeholder 2"/>
          <p:cNvSpPr>
            <a:spLocks noGrp="1"/>
          </p:cNvSpPr>
          <p:nvPr>
            <p:ph idx="1"/>
          </p:nvPr>
        </p:nvSpPr>
        <p:spPr/>
        <p:txBody>
          <a:bodyPr>
            <a:normAutofit/>
          </a:bodyPr>
          <a:lstStyle/>
          <a:p>
            <a:r>
              <a:rPr lang="en-US" b="1" dirty="0" smtClean="0"/>
              <a:t>Instructions:</a:t>
            </a:r>
            <a:r>
              <a:rPr lang="en-US" dirty="0" smtClean="0"/>
              <a:t> load word, store word, load half,   		        store half, load byte, store byte,</a:t>
            </a:r>
          </a:p>
          <a:p>
            <a:pPr>
              <a:buNone/>
            </a:pPr>
            <a:r>
              <a:rPr lang="en-US" dirty="0" smtClean="0"/>
              <a:t>			        load linked words, store   			        condition word, load upper     	                  immediate </a:t>
            </a:r>
          </a:p>
          <a:p>
            <a:pPr>
              <a:buNone/>
            </a:pPr>
            <a:endParaRPr lang="en-US" dirty="0" smtClean="0"/>
          </a:p>
          <a:p>
            <a:pPr>
              <a:buNone/>
            </a:pPr>
            <a:r>
              <a:rPr lang="en-US" dirty="0" err="1" smtClean="0"/>
              <a:t>lw</a:t>
            </a:r>
            <a:r>
              <a:rPr lang="en-US" dirty="0" smtClean="0"/>
              <a:t> $s1, 50($s2)</a:t>
            </a:r>
            <a:r>
              <a:rPr lang="en-US" dirty="0" smtClean="0">
                <a:sym typeface="Wingdings" pitchFamily="2" charset="2"/>
              </a:rPr>
              <a:t>word from memory to register</a:t>
            </a:r>
          </a:p>
          <a:p>
            <a:pPr>
              <a:buNone/>
            </a:pPr>
            <a:r>
              <a:rPr lang="en-US" dirty="0" err="1" smtClean="0">
                <a:sym typeface="Wingdings" pitchFamily="2" charset="2"/>
              </a:rPr>
              <a:t>s</a:t>
            </a:r>
            <a:r>
              <a:rPr lang="en-US" dirty="0" err="1" smtClean="0"/>
              <a:t>w</a:t>
            </a:r>
            <a:r>
              <a:rPr lang="en-US" dirty="0" smtClean="0"/>
              <a:t> $s1, 50($s2)</a:t>
            </a:r>
            <a:r>
              <a:rPr lang="en-US" dirty="0" smtClean="0">
                <a:sym typeface="Wingdings" pitchFamily="2" charset="2"/>
              </a:rPr>
              <a:t>word from register to memory </a:t>
            </a:r>
            <a:endParaRPr lang="en-US" dirty="0"/>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dirty="0" err="1" smtClean="0"/>
              <a:t>lh</a:t>
            </a:r>
            <a:r>
              <a:rPr lang="en-US" dirty="0" smtClean="0"/>
              <a:t> $s1, 50($s2) </a:t>
            </a:r>
            <a:r>
              <a:rPr lang="en-US" dirty="0" smtClean="0">
                <a:sym typeface="Wingdings" pitchFamily="2" charset="2"/>
              </a:rPr>
              <a:t> Half word memory to register</a:t>
            </a:r>
          </a:p>
          <a:p>
            <a:pPr>
              <a:buNone/>
            </a:pPr>
            <a:r>
              <a:rPr lang="en-US" dirty="0" err="1" smtClean="0">
                <a:sym typeface="Wingdings" pitchFamily="2" charset="2"/>
              </a:rPr>
              <a:t>sh</a:t>
            </a:r>
            <a:r>
              <a:rPr lang="en-US" dirty="0" smtClean="0">
                <a:sym typeface="Wingdings" pitchFamily="2" charset="2"/>
              </a:rPr>
              <a:t> $s1, 50($s2)  Half word register to memory</a:t>
            </a:r>
          </a:p>
          <a:p>
            <a:pPr>
              <a:buNone/>
            </a:pPr>
            <a:endParaRPr lang="en-US" dirty="0" smtClean="0"/>
          </a:p>
          <a:p>
            <a:pPr>
              <a:buNone/>
            </a:pPr>
            <a:r>
              <a:rPr lang="en-US" dirty="0" smtClean="0"/>
              <a:t>lb $s1, 50($s2) </a:t>
            </a:r>
            <a:r>
              <a:rPr lang="en-US" dirty="0" smtClean="0">
                <a:sym typeface="Wingdings" pitchFamily="2" charset="2"/>
              </a:rPr>
              <a:t> Byte from memory to register</a:t>
            </a:r>
          </a:p>
          <a:p>
            <a:pPr>
              <a:buNone/>
            </a:pPr>
            <a:r>
              <a:rPr lang="en-US" dirty="0" err="1" smtClean="0">
                <a:sym typeface="Wingdings" pitchFamily="2" charset="2"/>
              </a:rPr>
              <a:t>sb</a:t>
            </a:r>
            <a:r>
              <a:rPr lang="en-US" dirty="0" smtClean="0">
                <a:sym typeface="Wingdings" pitchFamily="2" charset="2"/>
              </a:rPr>
              <a:t> $s1, 50($s2)  Byte from register to memory</a:t>
            </a:r>
          </a:p>
          <a:p>
            <a:pPr>
              <a:buNone/>
            </a:pPr>
            <a:endParaRPr lang="en-US" dirty="0" smtClean="0">
              <a:sym typeface="Wingdings" pitchFamily="2" charset="2"/>
            </a:endParaRPr>
          </a:p>
          <a:p>
            <a:pPr>
              <a:buNone/>
            </a:pPr>
            <a:r>
              <a:rPr lang="en-US" dirty="0" err="1" smtClean="0">
                <a:sym typeface="Wingdings" pitchFamily="2" charset="2"/>
              </a:rPr>
              <a:t>lui</a:t>
            </a:r>
            <a:r>
              <a:rPr lang="en-US" dirty="0" smtClean="0">
                <a:sym typeface="Wingdings" pitchFamily="2" charset="2"/>
              </a:rPr>
              <a:t> $s1, 50  load constant in upper 16 bits</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Logical Operations</a:t>
            </a:r>
            <a:endParaRPr lang="en-US" dirty="0"/>
          </a:p>
        </p:txBody>
      </p:sp>
      <p:sp>
        <p:nvSpPr>
          <p:cNvPr id="3" name="Content Placeholder 2"/>
          <p:cNvSpPr>
            <a:spLocks noGrp="1"/>
          </p:cNvSpPr>
          <p:nvPr>
            <p:ph idx="1"/>
          </p:nvPr>
        </p:nvSpPr>
        <p:spPr/>
        <p:txBody>
          <a:bodyPr>
            <a:normAutofit lnSpcReduction="10000"/>
          </a:bodyPr>
          <a:lstStyle/>
          <a:p>
            <a:r>
              <a:rPr lang="en-US" b="1" dirty="0" smtClean="0"/>
              <a:t>Instructions:</a:t>
            </a:r>
            <a:r>
              <a:rPr lang="en-US" dirty="0" smtClean="0"/>
              <a:t> and, or, nor, shift left logical, shift 	                  right logical</a:t>
            </a:r>
          </a:p>
          <a:p>
            <a:pPr>
              <a:buNone/>
            </a:pPr>
            <a:r>
              <a:rPr lang="en-US" dirty="0" smtClean="0"/>
              <a:t>and $s1, $s2, $s3  </a:t>
            </a:r>
            <a:r>
              <a:rPr lang="en-US" dirty="0" smtClean="0">
                <a:sym typeface="Wingdings" pitchFamily="2" charset="2"/>
              </a:rPr>
              <a:t> Bit by bit and</a:t>
            </a:r>
          </a:p>
          <a:p>
            <a:pPr>
              <a:buNone/>
            </a:pPr>
            <a:r>
              <a:rPr lang="en-US" dirty="0" smtClean="0"/>
              <a:t>or $s1, $s2, $s3  </a:t>
            </a:r>
            <a:r>
              <a:rPr lang="en-US" dirty="0" smtClean="0">
                <a:sym typeface="Wingdings" pitchFamily="2" charset="2"/>
              </a:rPr>
              <a:t> Bit by bit or</a:t>
            </a:r>
          </a:p>
          <a:p>
            <a:pPr>
              <a:buNone/>
            </a:pPr>
            <a:r>
              <a:rPr lang="en-US" dirty="0" smtClean="0"/>
              <a:t>nor $s1, $s2, $s3  </a:t>
            </a:r>
            <a:r>
              <a:rPr lang="en-US" dirty="0" smtClean="0">
                <a:sym typeface="Wingdings" pitchFamily="2" charset="2"/>
              </a:rPr>
              <a:t> Bit by bit nor</a:t>
            </a:r>
          </a:p>
          <a:p>
            <a:pPr>
              <a:buNone/>
            </a:pPr>
            <a:endParaRPr lang="en-US" dirty="0" smtClean="0">
              <a:sym typeface="Wingdings" pitchFamily="2" charset="2"/>
            </a:endParaRPr>
          </a:p>
          <a:p>
            <a:pPr>
              <a:buNone/>
            </a:pPr>
            <a:r>
              <a:rPr lang="en-US" dirty="0" err="1" smtClean="0">
                <a:sym typeface="Wingdings" pitchFamily="2" charset="2"/>
              </a:rPr>
              <a:t>sll</a:t>
            </a:r>
            <a:r>
              <a:rPr lang="en-US" dirty="0" smtClean="0">
                <a:sym typeface="Wingdings" pitchFamily="2" charset="2"/>
              </a:rPr>
              <a:t> </a:t>
            </a:r>
            <a:r>
              <a:rPr lang="en-US" dirty="0" smtClean="0"/>
              <a:t>$s1, $s2, 10 </a:t>
            </a:r>
            <a:r>
              <a:rPr lang="en-US" dirty="0" smtClean="0">
                <a:sym typeface="Wingdings" pitchFamily="2" charset="2"/>
              </a:rPr>
              <a:t>shift left by constant</a:t>
            </a:r>
          </a:p>
          <a:p>
            <a:pPr>
              <a:buNone/>
            </a:pPr>
            <a:r>
              <a:rPr lang="en-US" dirty="0" err="1" smtClean="0">
                <a:sym typeface="Wingdings" pitchFamily="2" charset="2"/>
              </a:rPr>
              <a:t>srl</a:t>
            </a:r>
            <a:r>
              <a:rPr lang="en-US" dirty="0" smtClean="0"/>
              <a:t> $s1, $s2, 10 </a:t>
            </a:r>
            <a:r>
              <a:rPr lang="en-US" dirty="0" smtClean="0">
                <a:sym typeface="Wingdings" pitchFamily="2" charset="2"/>
              </a:rPr>
              <a:t>shift right by constant</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Conditional Branch</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b="1" dirty="0" smtClean="0"/>
              <a:t>Instructions:</a:t>
            </a:r>
            <a:r>
              <a:rPr lang="en-US" dirty="0" smtClean="0"/>
              <a:t> branch if equal, branch if not 	                 equal, branch if greater than, 	                 branch if less than, branch….</a:t>
            </a:r>
          </a:p>
          <a:p>
            <a:pPr>
              <a:buNone/>
            </a:pPr>
            <a:r>
              <a:rPr lang="en-US" dirty="0" err="1" smtClean="0"/>
              <a:t>beq</a:t>
            </a:r>
            <a:r>
              <a:rPr lang="en-US" dirty="0" smtClean="0"/>
              <a:t> $t1, $t2, next(compares t1 and t2, stores in  				next)</a:t>
            </a:r>
          </a:p>
          <a:p>
            <a:pPr>
              <a:buNone/>
            </a:pPr>
            <a:r>
              <a:rPr lang="en-US" dirty="0" err="1" smtClean="0"/>
              <a:t>bne</a:t>
            </a:r>
            <a:r>
              <a:rPr lang="en-US" dirty="0" smtClean="0"/>
              <a:t> $t1, $t2, else</a:t>
            </a:r>
          </a:p>
          <a:p>
            <a:pPr>
              <a:buNone/>
            </a:pPr>
            <a:r>
              <a:rPr lang="en-US" dirty="0" err="1" smtClean="0"/>
              <a:t>bgt</a:t>
            </a:r>
            <a:r>
              <a:rPr lang="en-US" dirty="0" smtClean="0"/>
              <a:t> $t1, $t2, top</a:t>
            </a:r>
          </a:p>
          <a:p>
            <a:pPr>
              <a:buNone/>
            </a:pPr>
            <a:r>
              <a:rPr lang="en-US" dirty="0" err="1" smtClean="0"/>
              <a:t>blt</a:t>
            </a:r>
            <a:r>
              <a:rPr lang="en-US" dirty="0" smtClean="0"/>
              <a:t> $t1, $t2, two</a:t>
            </a:r>
          </a:p>
          <a:p>
            <a:pPr>
              <a:buNone/>
            </a:pPr>
            <a:r>
              <a:rPr lang="en-US" dirty="0" smtClean="0"/>
              <a:t>b loop</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Unconditional Jump</a:t>
            </a:r>
            <a:endParaRPr lang="en-US" dirty="0"/>
          </a:p>
        </p:txBody>
      </p:sp>
      <p:sp>
        <p:nvSpPr>
          <p:cNvPr id="3" name="Content Placeholder 2"/>
          <p:cNvSpPr>
            <a:spLocks noGrp="1"/>
          </p:cNvSpPr>
          <p:nvPr>
            <p:ph idx="1"/>
          </p:nvPr>
        </p:nvSpPr>
        <p:spPr/>
        <p:txBody>
          <a:bodyPr/>
          <a:lstStyle/>
          <a:p>
            <a:r>
              <a:rPr lang="en-US" b="1" dirty="0" smtClean="0"/>
              <a:t>Instructions:</a:t>
            </a:r>
            <a:r>
              <a:rPr lang="en-US" dirty="0" smtClean="0"/>
              <a:t> jump, jump register</a:t>
            </a:r>
          </a:p>
          <a:p>
            <a:endParaRPr lang="en-US" dirty="0" smtClean="0"/>
          </a:p>
          <a:p>
            <a:pPr>
              <a:buNone/>
            </a:pPr>
            <a:r>
              <a:rPr lang="en-US" dirty="0" smtClean="0"/>
              <a:t>Jump to target </a:t>
            </a:r>
            <a:r>
              <a:rPr lang="en-US" dirty="0" err="1" smtClean="0"/>
              <a:t>address</a:t>
            </a:r>
            <a:r>
              <a:rPr lang="en-US" dirty="0" err="1" smtClean="0">
                <a:sym typeface="Wingdings" pitchFamily="2" charset="2"/>
              </a:rPr>
              <a:t>j</a:t>
            </a:r>
            <a:r>
              <a:rPr lang="en-US" dirty="0" smtClean="0">
                <a:sym typeface="Wingdings" pitchFamily="2" charset="2"/>
              </a:rPr>
              <a:t> 500</a:t>
            </a:r>
          </a:p>
          <a:p>
            <a:pPr>
              <a:buNone/>
            </a:pPr>
            <a:r>
              <a:rPr lang="en-US" dirty="0" err="1" smtClean="0">
                <a:sym typeface="Wingdings" pitchFamily="2" charset="2"/>
              </a:rPr>
              <a:t>jr</a:t>
            </a:r>
            <a:r>
              <a:rPr lang="en-US" dirty="0" smtClean="0">
                <a:sym typeface="Wingdings" pitchFamily="2" charset="2"/>
              </a:rPr>
              <a:t> $</a:t>
            </a:r>
            <a:r>
              <a:rPr lang="en-US" dirty="0" err="1" smtClean="0">
                <a:sym typeface="Wingdings" pitchFamily="2" charset="2"/>
              </a:rPr>
              <a:t>ra</a:t>
            </a:r>
            <a:endParaRPr lang="en-US" dirty="0" smtClean="0">
              <a:sym typeface="Wingdings" pitchFamily="2" charset="2"/>
            </a:endParaRPr>
          </a:p>
          <a:p>
            <a:pPr>
              <a:buNone/>
            </a:pPr>
            <a:endParaRPr lang="en-US" dirty="0" smtClean="0">
              <a:sym typeface="Wingdings" pitchFamily="2" charset="2"/>
            </a:endParaRPr>
          </a:p>
          <a:p>
            <a:pPr>
              <a:buNone/>
            </a:pPr>
            <a:r>
              <a:rPr lang="en-US" dirty="0" smtClean="0">
                <a:sym typeface="Wingdings" pitchFamily="2" charset="2"/>
              </a:rPr>
              <a:t>(for, </a:t>
            </a:r>
            <a:r>
              <a:rPr lang="en-US" dirty="0" err="1" smtClean="0">
                <a:sym typeface="Wingdings" pitchFamily="2" charset="2"/>
              </a:rPr>
              <a:t>switch,procedure</a:t>
            </a:r>
            <a:r>
              <a:rPr lang="en-US" dirty="0" smtClean="0">
                <a:sym typeface="Wingdings" pitchFamily="2" charset="2"/>
              </a:rPr>
              <a:t>)</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ISA</a:t>
            </a:r>
            <a:endParaRPr lang="en-US" dirty="0"/>
          </a:p>
        </p:txBody>
      </p:sp>
      <p:sp>
        <p:nvSpPr>
          <p:cNvPr id="3" name="Content Placeholder 2"/>
          <p:cNvSpPr>
            <a:spLocks noGrp="1"/>
          </p:cNvSpPr>
          <p:nvPr>
            <p:ph idx="1"/>
          </p:nvPr>
        </p:nvSpPr>
        <p:spPr/>
        <p:txBody>
          <a:bodyPr/>
          <a:lstStyle/>
          <a:p>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Memory Operations</a:t>
            </a:r>
            <a:endParaRPr lang="en-US" b="1" dirty="0"/>
          </a:p>
        </p:txBody>
      </p:sp>
      <p:sp>
        <p:nvSpPr>
          <p:cNvPr id="3" name="Content Placeholder 2"/>
          <p:cNvSpPr>
            <a:spLocks noGrp="1"/>
          </p:cNvSpPr>
          <p:nvPr>
            <p:ph idx="1"/>
          </p:nvPr>
        </p:nvSpPr>
        <p:spPr/>
        <p:txBody>
          <a:bodyPr/>
          <a:lstStyle/>
          <a:p>
            <a:r>
              <a:rPr lang="en-US" dirty="0" smtClean="0"/>
              <a:t>Memory ( Program Instructions + Data  	            	           Operands )</a:t>
            </a:r>
            <a:endParaRPr lang="en-US" dirty="0"/>
          </a:p>
        </p:txBody>
      </p:sp>
      <p:pic>
        <p:nvPicPr>
          <p:cNvPr id="1026" name="Picture 2" descr="C:\Users\Ajai\Desktop\Jerusalem\JIT2321_DPCO\Unit-3\Load.JPG"/>
          <p:cNvPicPr>
            <a:picLocks noChangeAspect="1" noChangeArrowheads="1"/>
          </p:cNvPicPr>
          <p:nvPr/>
        </p:nvPicPr>
        <p:blipFill>
          <a:blip r:embed="rId2"/>
          <a:srcRect/>
          <a:stretch>
            <a:fillRect/>
          </a:stretch>
        </p:blipFill>
        <p:spPr bwMode="auto">
          <a:xfrm>
            <a:off x="228600" y="3429000"/>
            <a:ext cx="3733800" cy="2003425"/>
          </a:xfrm>
          <a:prstGeom prst="rect">
            <a:avLst/>
          </a:prstGeom>
          <a:noFill/>
        </p:spPr>
      </p:pic>
      <p:pic>
        <p:nvPicPr>
          <p:cNvPr id="1028" name="Picture 4" descr="C:\Users\Ajai\Desktop\Jerusalem\JIT2321_DPCO\Unit-3\Store.JPG"/>
          <p:cNvPicPr>
            <a:picLocks noChangeAspect="1" noChangeArrowheads="1"/>
          </p:cNvPicPr>
          <p:nvPr/>
        </p:nvPicPr>
        <p:blipFill>
          <a:blip r:embed="rId3"/>
          <a:srcRect/>
          <a:stretch>
            <a:fillRect/>
          </a:stretch>
        </p:blipFill>
        <p:spPr bwMode="auto">
          <a:xfrm>
            <a:off x="4876800" y="3276600"/>
            <a:ext cx="4060825" cy="1912937"/>
          </a:xfrm>
          <a:prstGeom prst="rect">
            <a:avLst/>
          </a:prstGeom>
          <a:noFill/>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Instructions and Instruction Sequencing</a:t>
            </a:r>
            <a:endParaRPr lang="en-US" dirty="0"/>
          </a:p>
        </p:txBody>
      </p:sp>
      <p:sp>
        <p:nvSpPr>
          <p:cNvPr id="3" name="Content Placeholder 2"/>
          <p:cNvSpPr>
            <a:spLocks noGrp="1"/>
          </p:cNvSpPr>
          <p:nvPr>
            <p:ph idx="1"/>
          </p:nvPr>
        </p:nvSpPr>
        <p:spPr/>
        <p:txBody>
          <a:bodyPr>
            <a:normAutofit lnSpcReduction="10000"/>
          </a:bodyPr>
          <a:lstStyle/>
          <a:p>
            <a:r>
              <a:rPr lang="en-US" dirty="0" smtClean="0"/>
              <a:t>Data transfer between memory and process register</a:t>
            </a:r>
          </a:p>
          <a:p>
            <a:endParaRPr lang="en-US" dirty="0" smtClean="0"/>
          </a:p>
          <a:p>
            <a:r>
              <a:rPr lang="en-US" dirty="0" smtClean="0"/>
              <a:t>Arithmetic and logic operation on data</a:t>
            </a:r>
          </a:p>
          <a:p>
            <a:endParaRPr lang="en-US" dirty="0" smtClean="0"/>
          </a:p>
          <a:p>
            <a:r>
              <a:rPr lang="en-US" dirty="0" smtClean="0"/>
              <a:t>Program sequencing and control</a:t>
            </a:r>
          </a:p>
          <a:p>
            <a:endParaRPr lang="en-US" dirty="0" smtClean="0"/>
          </a:p>
          <a:p>
            <a:r>
              <a:rPr lang="en-US" dirty="0" smtClean="0"/>
              <a:t>I/O control</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Register Transfer Notation</a:t>
            </a:r>
            <a:endParaRPr lang="en-US" dirty="0"/>
          </a:p>
        </p:txBody>
      </p:sp>
      <p:sp>
        <p:nvSpPr>
          <p:cNvPr id="3" name="Content Placeholder 2"/>
          <p:cNvSpPr>
            <a:spLocks noGrp="1"/>
          </p:cNvSpPr>
          <p:nvPr>
            <p:ph idx="1"/>
          </p:nvPr>
        </p:nvSpPr>
        <p:spPr/>
        <p:txBody>
          <a:bodyPr/>
          <a:lstStyle/>
          <a:p>
            <a:r>
              <a:rPr lang="en-US" dirty="0" smtClean="0"/>
              <a:t>R2  &lt;- [Loc]  ===== contents of memory location are transferred into processor register</a:t>
            </a:r>
          </a:p>
          <a:p>
            <a:endParaRPr lang="en-US" dirty="0" smtClean="0"/>
          </a:p>
          <a:p>
            <a:r>
              <a:rPr lang="en-US" dirty="0" smtClean="0"/>
              <a:t>R3 &lt;- [R1] + [R2]</a:t>
            </a:r>
          </a:p>
          <a:p>
            <a:pPr>
              <a:buNone/>
            </a:pPr>
            <a:r>
              <a:rPr lang="en-US" dirty="0" smtClean="0"/>
              <a:t>  Contents of processor registers R1 and R2 are added and the result is stored into the processor register</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Assembly Language Notations</a:t>
            </a:r>
            <a:endParaRPr lang="en-US" dirty="0"/>
          </a:p>
        </p:txBody>
      </p:sp>
      <p:sp>
        <p:nvSpPr>
          <p:cNvPr id="3" name="Content Placeholder 2"/>
          <p:cNvSpPr>
            <a:spLocks noGrp="1"/>
          </p:cNvSpPr>
          <p:nvPr>
            <p:ph idx="1"/>
          </p:nvPr>
        </p:nvSpPr>
        <p:spPr/>
        <p:txBody>
          <a:bodyPr/>
          <a:lstStyle/>
          <a:p>
            <a:r>
              <a:rPr lang="en-US" dirty="0" smtClean="0"/>
              <a:t>MOVE  R2, R1</a:t>
            </a:r>
          </a:p>
          <a:p>
            <a:pPr>
              <a:buNone/>
            </a:pPr>
            <a:r>
              <a:rPr lang="en-US" dirty="0" smtClean="0"/>
              <a:t>    </a:t>
            </a:r>
          </a:p>
          <a:p>
            <a:pPr>
              <a:buNone/>
            </a:pPr>
            <a:r>
              <a:rPr lang="en-US" dirty="0" smtClean="0"/>
              <a:t>   Contents of processor register R2 are transferred to processor register R1</a:t>
            </a:r>
          </a:p>
          <a:p>
            <a:pPr>
              <a:buNone/>
            </a:pPr>
            <a:endParaRPr lang="en-US" dirty="0" smtClean="0"/>
          </a:p>
          <a:p>
            <a:pPr>
              <a:buNone/>
            </a:pPr>
            <a:r>
              <a:rPr lang="en-US" dirty="0" smtClean="0"/>
              <a:t>             R2  -  Unchanged    </a:t>
            </a:r>
          </a:p>
          <a:p>
            <a:pPr>
              <a:buNone/>
            </a:pPr>
            <a:r>
              <a:rPr lang="en-US" dirty="0" smtClean="0"/>
              <a:t>             R1 - Overwritten</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normAutofit lnSpcReduction="10000"/>
          </a:bodyPr>
          <a:lstStyle/>
          <a:p>
            <a:r>
              <a:rPr lang="en-US" dirty="0" smtClean="0"/>
              <a:t>ADD R1, R2, R3</a:t>
            </a:r>
          </a:p>
          <a:p>
            <a:endParaRPr lang="en-US" dirty="0" smtClean="0"/>
          </a:p>
          <a:p>
            <a:pPr>
              <a:buNone/>
            </a:pPr>
            <a:r>
              <a:rPr lang="en-US" dirty="0" smtClean="0"/>
              <a:t>   Contents of processor register R1 and R2 are added and transferred to R3</a:t>
            </a:r>
          </a:p>
          <a:p>
            <a:pPr>
              <a:buNone/>
            </a:pPr>
            <a:endParaRPr lang="en-US" dirty="0" smtClean="0"/>
          </a:p>
          <a:p>
            <a:pPr>
              <a:buNone/>
            </a:pPr>
            <a:r>
              <a:rPr lang="en-US" b="1" dirty="0" smtClean="0"/>
              <a:t>Three address instruction</a:t>
            </a:r>
          </a:p>
          <a:p>
            <a:pPr>
              <a:buNone/>
            </a:pPr>
            <a:r>
              <a:rPr lang="en-US" b="1" dirty="0" smtClean="0"/>
              <a:t>			</a:t>
            </a:r>
            <a:r>
              <a:rPr lang="en-US" dirty="0" smtClean="0"/>
              <a:t>ADD   A, B, C</a:t>
            </a:r>
          </a:p>
          <a:p>
            <a:pPr>
              <a:buNone/>
            </a:pPr>
            <a:r>
              <a:rPr lang="en-US" dirty="0" smtClean="0"/>
              <a:t>Operation, Source 1, Source 2, Destination</a:t>
            </a:r>
          </a:p>
          <a:p>
            <a:pPr>
              <a:buNone/>
            </a:pP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buNone/>
            </a:pPr>
            <a:r>
              <a:rPr lang="en-US" b="1" dirty="0" smtClean="0"/>
              <a:t>Two Address Instruction</a:t>
            </a:r>
          </a:p>
          <a:p>
            <a:pPr>
              <a:buNone/>
            </a:pPr>
            <a:r>
              <a:rPr lang="en-US" dirty="0" smtClean="0"/>
              <a:t>    ADD  A, B</a:t>
            </a:r>
          </a:p>
          <a:p>
            <a:pPr>
              <a:buNone/>
            </a:pPr>
            <a:r>
              <a:rPr lang="en-US" sz="2000" dirty="0" smtClean="0"/>
              <a:t>Operation,  Source 1,  Destination</a:t>
            </a:r>
          </a:p>
          <a:p>
            <a:pPr>
              <a:buNone/>
            </a:pPr>
            <a:endParaRPr lang="en-US" dirty="0" smtClean="0"/>
          </a:p>
          <a:p>
            <a:pPr>
              <a:buNone/>
            </a:pPr>
            <a:r>
              <a:rPr lang="en-US" b="1" dirty="0" smtClean="0"/>
              <a:t>One Address Instruction</a:t>
            </a:r>
          </a:p>
          <a:p>
            <a:pPr>
              <a:buNone/>
            </a:pPr>
            <a:r>
              <a:rPr lang="en-US" dirty="0" smtClean="0"/>
              <a:t>  ADD  B</a:t>
            </a:r>
          </a:p>
          <a:p>
            <a:pPr>
              <a:buNone/>
            </a:pPr>
            <a:r>
              <a:rPr lang="en-US" sz="2400" dirty="0" smtClean="0"/>
              <a:t>Operation   Source</a:t>
            </a:r>
            <a:endParaRPr lang="en-US" dirty="0" smtClean="0"/>
          </a:p>
          <a:p>
            <a:pPr>
              <a:buNone/>
            </a:pPr>
            <a:endParaRPr lang="en-US" dirty="0" smtClean="0"/>
          </a:p>
          <a:p>
            <a:pPr>
              <a:buNone/>
            </a:pPr>
            <a:endParaRPr lang="en-US" dirty="0"/>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Instruction Sequencing</a:t>
            </a:r>
            <a:endParaRPr lang="en-US" dirty="0"/>
          </a:p>
        </p:txBody>
      </p:sp>
      <p:sp>
        <p:nvSpPr>
          <p:cNvPr id="3" name="Content Placeholder 2"/>
          <p:cNvSpPr>
            <a:spLocks noGrp="1"/>
          </p:cNvSpPr>
          <p:nvPr>
            <p:ph idx="1"/>
          </p:nvPr>
        </p:nvSpPr>
        <p:spPr/>
        <p:txBody>
          <a:bodyPr/>
          <a:lstStyle/>
          <a:p>
            <a:r>
              <a:rPr lang="en-US" dirty="0" smtClean="0"/>
              <a:t>To perform a particular task – write instructions in a proper sequence</a:t>
            </a:r>
          </a:p>
          <a:p>
            <a:endParaRPr lang="en-US" dirty="0" smtClean="0"/>
          </a:p>
          <a:p>
            <a:r>
              <a:rPr lang="en-US" dirty="0" smtClean="0"/>
              <a:t>Execution done with the help of Program Counter</a:t>
            </a:r>
          </a:p>
          <a:p>
            <a:endParaRPr lang="en-US" dirty="0" smtClean="0"/>
          </a:p>
          <a:p>
            <a:r>
              <a:rPr lang="en-US" dirty="0" smtClean="0"/>
              <a:t>Program Counter holds the address of the instruction to be executed next</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1260</TotalTime>
  <Words>1898</Words>
  <Application>Microsoft Office PowerPoint</Application>
  <PresentationFormat>On-screen Show (4:3)</PresentationFormat>
  <Paragraphs>235</Paragraphs>
  <Slides>44</Slides>
  <Notes>0</Notes>
  <HiddenSlides>0</HiddenSlides>
  <MMClips>0</MMClips>
  <ScaleCrop>false</ScaleCrop>
  <HeadingPairs>
    <vt:vector size="4" baseType="variant">
      <vt:variant>
        <vt:lpstr>Theme</vt:lpstr>
      </vt:variant>
      <vt:variant>
        <vt:i4>1</vt:i4>
      </vt:variant>
      <vt:variant>
        <vt:lpstr>Slide Titles</vt:lpstr>
      </vt:variant>
      <vt:variant>
        <vt:i4>44</vt:i4>
      </vt:variant>
    </vt:vector>
  </HeadingPairs>
  <TitlesOfParts>
    <vt:vector size="45" baseType="lpstr">
      <vt:lpstr>Office Theme</vt:lpstr>
      <vt:lpstr>Unit-3 [Computer Fundamentals] Functional Units of a Digital computer</vt:lpstr>
      <vt:lpstr>Slide 2</vt:lpstr>
      <vt:lpstr>Slide 3</vt:lpstr>
      <vt:lpstr>Input unit  </vt:lpstr>
      <vt:lpstr>Central processing unit  </vt:lpstr>
      <vt:lpstr>Memory unit  </vt:lpstr>
      <vt:lpstr>Slide 7</vt:lpstr>
      <vt:lpstr>Arithmetic &amp; logical unit  </vt:lpstr>
      <vt:lpstr>Control unit  </vt:lpstr>
      <vt:lpstr>Slide 10</vt:lpstr>
      <vt:lpstr> Von Neumann Architecture </vt:lpstr>
      <vt:lpstr>Slide 12</vt:lpstr>
      <vt:lpstr>Slide 13</vt:lpstr>
      <vt:lpstr>CPU (Central Processing Unit)</vt:lpstr>
      <vt:lpstr>CU (Control Unit) &amp;ALU </vt:lpstr>
      <vt:lpstr>Slide 16</vt:lpstr>
      <vt:lpstr> Registers (Main Memory Unit)  </vt:lpstr>
      <vt:lpstr>Slide 18</vt:lpstr>
      <vt:lpstr>Slide 19</vt:lpstr>
      <vt:lpstr>Slide 20</vt:lpstr>
      <vt:lpstr>Memory Unit  </vt:lpstr>
      <vt:lpstr>Instruction Format</vt:lpstr>
      <vt:lpstr>Slide 23</vt:lpstr>
      <vt:lpstr>Types of Instruction Format</vt:lpstr>
      <vt:lpstr>Three Address Instruction</vt:lpstr>
      <vt:lpstr>Two Address Instruction</vt:lpstr>
      <vt:lpstr>Zero Address Instruction</vt:lpstr>
      <vt:lpstr>Operations and Operands</vt:lpstr>
      <vt:lpstr>MIPS Instructions</vt:lpstr>
      <vt:lpstr>Types of Operations</vt:lpstr>
      <vt:lpstr>Arithmetic</vt:lpstr>
      <vt:lpstr>Data Transfer</vt:lpstr>
      <vt:lpstr>Slide 33</vt:lpstr>
      <vt:lpstr>Logical Operations</vt:lpstr>
      <vt:lpstr>Conditional Branch</vt:lpstr>
      <vt:lpstr>Unconditional Jump</vt:lpstr>
      <vt:lpstr>ISA</vt:lpstr>
      <vt:lpstr>Memory Operations</vt:lpstr>
      <vt:lpstr>Instructions and Instruction Sequencing</vt:lpstr>
      <vt:lpstr>Register Transfer Notation</vt:lpstr>
      <vt:lpstr>Assembly Language Notations</vt:lpstr>
      <vt:lpstr>Slide 42</vt:lpstr>
      <vt:lpstr>Slide 43</vt:lpstr>
      <vt:lpstr>Instruction Sequencing</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Preethi</dc:creator>
  <cp:lastModifiedBy>Ajay</cp:lastModifiedBy>
  <cp:revision>86</cp:revision>
  <dcterms:created xsi:type="dcterms:W3CDTF">2006-08-16T00:00:00Z</dcterms:created>
  <dcterms:modified xsi:type="dcterms:W3CDTF">2025-09-02T09:37:31Z</dcterms:modified>
</cp:coreProperties>
</file>
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8.xml"/>
  <Override ContentType="application/vnd.openxmlformats-officedocument.presentationml.slide+xml" PartName="/ppt/slides/slide43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56.xml"/>
  <Override ContentType="application/vnd.openxmlformats-officedocument.presentationml.slide+xml" PartName="/ppt/slides/slide69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47.xml"/>
  <Override ContentType="application/vnd.openxmlformats-officedocument.presentationml.slide+xml" PartName="/ppt/slides/slide46.xml"/>
  <Override ContentType="application/vnd.openxmlformats-officedocument.presentationml.slide+xml" PartName="/ppt/slides/slide51.xml"/>
  <Override ContentType="application/vnd.openxmlformats-officedocument.presentationml.slide+xml" PartName="/ppt/slides/slide38.xml"/>
  <Override ContentType="application/vnd.openxmlformats-officedocument.presentationml.slide+xml" PartName="/ppt/slides/slide64.xml"/>
  <Override ContentType="application/vnd.openxmlformats-officedocument.presentationml.slide+xml" PartName="/ppt/slides/slide55.xml"/>
  <Override ContentType="application/vnd.openxmlformats-officedocument.presentationml.slide+xml" PartName="/ppt/slides/slide68.xml"/>
  <Override ContentType="application/vnd.openxmlformats-officedocument.presentationml.slide+xml" PartName="/ppt/slides/slide59.xml"/>
  <Override ContentType="application/vnd.openxmlformats-officedocument.presentationml.slide+xml" PartName="/ppt/slides/slide62.xml"/>
  <Override ContentType="application/vnd.openxmlformats-officedocument.presentationml.slide+xml" PartName="/ppt/slides/slide37.xml"/>
  <Override ContentType="application/vnd.openxmlformats-officedocument.presentationml.slide+xml" PartName="/ppt/slides/slide63.xml"/>
  <Override ContentType="application/vnd.openxmlformats-officedocument.presentationml.slide+xml" PartName="/ppt/slides/slide58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61.xml"/>
  <Override ContentType="application/vnd.openxmlformats-officedocument.presentationml.slide+xml" PartName="/ppt/slides/slide66.xml"/>
  <Override ContentType="application/vnd.openxmlformats-officedocument.presentationml.slide+xml" PartName="/ppt/slides/slide49.xml"/>
  <Override ContentType="application/vnd.openxmlformats-officedocument.presentationml.slide+xml" PartName="/ppt/slides/slide57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2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57.xml"/><Relationship Id="rId22" Type="http://schemas.openxmlformats.org/officeDocument/2006/relationships/slide" Target="slides/slide59.xml"/><Relationship Id="rId21" Type="http://schemas.openxmlformats.org/officeDocument/2006/relationships/slide" Target="slides/slide58.xml"/><Relationship Id="rId24" Type="http://schemas.openxmlformats.org/officeDocument/2006/relationships/slide" Target="slides/slide61.xml"/><Relationship Id="rId23" Type="http://schemas.openxmlformats.org/officeDocument/2006/relationships/slide" Target="slides/slide60.xml"/><Relationship Id="rId1" Type="http://schemas.openxmlformats.org/officeDocument/2006/relationships/theme" Target="theme/theme1.xml"/><Relationship Id="rId2" Type="http://schemas.openxmlformats.org/officeDocument/2006/relationships/viewProps" Target="viewProps2.xml"/><Relationship Id="rId3" Type="http://schemas.openxmlformats.org/officeDocument/2006/relationships/presProps" Target="presProps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6.xml"/><Relationship Id="rId26" Type="http://schemas.openxmlformats.org/officeDocument/2006/relationships/slide" Target="slides/slide62.xml"/><Relationship Id="rId25" Type="http://schemas.openxmlformats.org/officeDocument/2006/relationships/slide" Target="slides/slide38.xml"/><Relationship Id="rId28" Type="http://schemas.openxmlformats.org/officeDocument/2006/relationships/slide" Target="slides/slide40.xml"/><Relationship Id="rId27" Type="http://schemas.openxmlformats.org/officeDocument/2006/relationships/slide" Target="slides/slide3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41.xml"/><Relationship Id="rId7" Type="http://schemas.openxmlformats.org/officeDocument/2006/relationships/slide" Target="slides/slide37.xml"/><Relationship Id="rId8" Type="http://schemas.openxmlformats.org/officeDocument/2006/relationships/slide" Target="slides/slide45.xml"/><Relationship Id="rId31" Type="http://schemas.openxmlformats.org/officeDocument/2006/relationships/slide" Target="slides/slide43.xml"/><Relationship Id="rId30" Type="http://schemas.openxmlformats.org/officeDocument/2006/relationships/slide" Target="slides/slide42.xml"/><Relationship Id="rId11" Type="http://schemas.openxmlformats.org/officeDocument/2006/relationships/slide" Target="slides/slide48.xml"/><Relationship Id="rId33" Type="http://schemas.openxmlformats.org/officeDocument/2006/relationships/slide" Target="slides/slide64.xml"/><Relationship Id="rId10" Type="http://schemas.openxmlformats.org/officeDocument/2006/relationships/slide" Target="slides/slide47.xml"/><Relationship Id="rId32" Type="http://schemas.openxmlformats.org/officeDocument/2006/relationships/slide" Target="slides/slide63.xml"/><Relationship Id="rId13" Type="http://schemas.openxmlformats.org/officeDocument/2006/relationships/slide" Target="slides/slide50.xml"/><Relationship Id="rId35" Type="http://schemas.openxmlformats.org/officeDocument/2006/relationships/slide" Target="slides/slide66.xml"/><Relationship Id="rId12" Type="http://schemas.openxmlformats.org/officeDocument/2006/relationships/slide" Target="slides/slide49.xml"/><Relationship Id="rId34" Type="http://schemas.openxmlformats.org/officeDocument/2006/relationships/slide" Target="slides/slide65.xml"/><Relationship Id="rId15" Type="http://schemas.openxmlformats.org/officeDocument/2006/relationships/slide" Target="slides/slide52.xml"/><Relationship Id="rId37" Type="http://schemas.openxmlformats.org/officeDocument/2006/relationships/slide" Target="slides/slide68.xml"/><Relationship Id="rId14" Type="http://schemas.openxmlformats.org/officeDocument/2006/relationships/slide" Target="slides/slide51.xml"/><Relationship Id="rId36" Type="http://schemas.openxmlformats.org/officeDocument/2006/relationships/slide" Target="slides/slide67.xml"/><Relationship Id="rId17" Type="http://schemas.openxmlformats.org/officeDocument/2006/relationships/slide" Target="slides/slide54.xml"/><Relationship Id="rId16" Type="http://schemas.openxmlformats.org/officeDocument/2006/relationships/slide" Target="slides/slide53.xml"/><Relationship Id="rId38" Type="http://schemas.openxmlformats.org/officeDocument/2006/relationships/slide" Target="slides/slide69.xml"/><Relationship Id="rId19" Type="http://schemas.openxmlformats.org/officeDocument/2006/relationships/slide" Target="slides/slide56.xml"/><Relationship Id="rId18" Type="http://schemas.openxmlformats.org/officeDocument/2006/relationships/slide" Target="slides/slide5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1" name="Shape 6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Google Shape;6152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3" name="Google Shape;6153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4" name="Shape 6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Google Shape;6155;g3dbcd82c38c5e86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6" name="Google Shape;6156;g3dbcd82c38c5e86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0" name="Shape 6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1" name="Google Shape;6161;g3dbcd82c38c5e865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2" name="Google Shape;6162;g3dbcd82c38c5e86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6" name="Shape 6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7" name="Google Shape;6167;g3dbcd82c38c5e865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8" name="Google Shape;6168;g3dbcd82c38c5e86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2" name="Shape 6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3" name="Google Shape;6173;g3dbcd82c38c5e865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4" name="Google Shape;6174;g3dbcd82c38c5e865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8" name="Shape 6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9" name="Google Shape;6179;g3dbcd82c38c5e865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0" name="Google Shape;6180;g3dbcd82c38c5e86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4" name="Shape 6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5" name="Google Shape;6185;g3dbcd82c38c5e865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6" name="Google Shape;6186;g3dbcd82c38c5e865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0" name="Shape 6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1" name="Google Shape;6191;g3dbcd82c38c5e865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2" name="Google Shape;6192;g3dbcd82c38c5e86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6" name="Shape 6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7" name="Google Shape;6197;g3dbcd82c38c5e865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8" name="Google Shape;6198;g3dbcd82c38c5e865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2" name="Shape 6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3" name="Google Shape;6203;g3dbcd82c38c5e865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4" name="Google Shape;6204;g3dbcd82c38c5e865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8" name="Shape 6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9" name="Google Shape;6209;g3dbcd82c38c5e865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0" name="Google Shape;6210;g3dbcd82c38c5e865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4" name="Shape 6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" name="Google Shape;6215;g3dbcd82c38c5e865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6" name="Google Shape;6216;g3dbcd82c38c5e865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0" name="Shape 6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1" name="Google Shape;6221;g3dbcd82c38c5e865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2" name="Google Shape;6222;g3dbcd82c38c5e865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6" name="Shape 6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7" name="Google Shape;6227;g3dbcd82c38c5e865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8" name="Google Shape;6228;g3dbcd82c38c5e865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2" name="Shape 6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3" name="Google Shape;6233;g3dbcd82c38c5e865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4" name="Google Shape;6234;g3dbcd82c38c5e865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8" name="Shape 6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9" name="Google Shape;6239;g3dbcd82c38c5e865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0" name="Google Shape;6240;g3dbcd82c38c5e86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4" name="Shape 6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5" name="Google Shape;6245;g3dbcd82c38c5e865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6" name="Google Shape;6246;g3dbcd82c38c5e86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0" name="Shape 6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1" name="Google Shape;6251;g3dbcd82c38c5e865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2" name="Google Shape;6252;g3dbcd82c38c5e86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7" name="Shape 6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8" name="Google Shape;6258;g421d5579811301c2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9" name="Google Shape;6259;g421d5579811301c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3" name="Shape 6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4" name="Google Shape;6264;g421d5579811301c2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5" name="Google Shape;6265;g421d5579811301c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9" name="Shape 6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0" name="Google Shape;6270;g421d5579811301c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1" name="Google Shape;6271;g421d5579811301c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5" name="Shape 6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6" name="Google Shape;6276;g421d5579811301c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7" name="Google Shape;6277;g421d5579811301c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1" name="Shape 6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2" name="Google Shape;6282;g421d5579811301c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3" name="Google Shape;6283;g421d5579811301c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7" name="Shape 6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8" name="Google Shape;6288;g421d5579811301c2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9" name="Google Shape;6289;g421d5579811301c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3" name="Shape 6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4" name="Google Shape;6294;g421d5579811301c2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5" name="Google Shape;6295;g421d5579811301c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9" name="Shape 6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0" name="Google Shape;6300;g421d5579811301c2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1" name="Google Shape;6301;g421d5579811301c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02-Sep-25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3432175"/>
          </a:xfrm>
        </p:spPr>
        <p:txBody>
          <a:bodyPr/>
          <a:lstStyle/>
          <a:p>
            <a:r>
              <a:rPr lang="en-CA" u="sng" dirty="0" smtClean="0"/>
              <a:t>Unit-3</a:t>
            </a:r>
            <a:br>
              <a:rPr lang="en-CA" u="sng" dirty="0" smtClean="0"/>
            </a:br>
            <a:r>
              <a:rPr lang="en-CA" u="sng" dirty="0" smtClean="0"/>
              <a:t>[Computer Fundamentals]</a:t>
            </a:r>
            <a:br>
              <a:rPr lang="en-CA" u="sng" dirty="0" smtClean="0"/>
            </a:br>
            <a:r>
              <a:rPr lang="en-CA" dirty="0" smtClean="0"/>
              <a:t>Functional Units of a Digital computer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8" name="Shape 6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Google Shape;6149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INSTRUCTION SET ARCHITECTURE (ISA)</a:t>
            </a:r>
            <a:endParaRPr b="1"/>
          </a:p>
        </p:txBody>
      </p:sp>
      <p:sp>
        <p:nvSpPr>
          <p:cNvPr id="6150" name="Google Shape;6150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between hardware and software.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What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operations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a processor can perform.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How programs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interact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with the CPU.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Think of ISA as the “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language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of the processor”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Memory Operations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Memory ( Program Instructions + Data  	            	           Operands )</a:t>
            </a:r>
            <a:endParaRPr lang="en-US" dirty="0"/>
          </a:p>
        </p:txBody>
      </p:sp>
      <p:pic>
        <p:nvPicPr>
          <p:cNvPr id="1026" name="Picture 2" descr="C:\Users\Ajai\Desktop\Jerusalem\JIT2321_DPCO\Unit-3\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429000"/>
            <a:ext cx="3733800" cy="2003425"/>
          </a:xfrm>
          <a:prstGeom prst="rect">
            <a:avLst/>
          </a:prstGeom>
          <a:noFill/>
        </p:spPr>
      </p:pic>
      <p:pic>
        <p:nvPicPr>
          <p:cNvPr id="1028" name="Picture 4" descr="C:\Users\Ajai\Desktop\Jerusalem\JIT2321_DPCO\Unit-3\Stor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3276600"/>
            <a:ext cx="4060825" cy="19129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Instructions and Instruction Sequencing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Data transfer between memory and process register</a:t>
            </a:r>
          </a:p>
          <a:p>
            <a:endParaRPr lang="en-US" dirty="0" smtClean="0"/>
          </a:p>
          <a:p>
            <a:r>
              <a:rPr lang="en-US" dirty="0" smtClean="0"/>
              <a:t>Arithmetic and logic operation on data</a:t>
            </a:r>
          </a:p>
          <a:p>
            <a:endParaRPr lang="en-US" dirty="0" smtClean="0"/>
          </a:p>
          <a:p>
            <a:r>
              <a:rPr lang="en-US" dirty="0" smtClean="0"/>
              <a:t>Program sequencing and control</a:t>
            </a:r>
          </a:p>
          <a:p>
            <a:endParaRPr lang="en-US" dirty="0" smtClean="0"/>
          </a:p>
          <a:p>
            <a:r>
              <a:rPr lang="en-US" dirty="0" smtClean="0"/>
              <a:t>I/O control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 Transfer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R2  &lt;- [Loc]  ===== contents of memory location are transferred into processor register</a:t>
            </a:r>
          </a:p>
          <a:p>
            <a:endParaRPr lang="en-US" dirty="0" smtClean="0"/>
          </a:p>
          <a:p>
            <a:r>
              <a:rPr lang="en-US" dirty="0" smtClean="0"/>
              <a:t>R3 &lt;- [R1] + [R2]</a:t>
            </a:r>
          </a:p>
          <a:p>
            <a:pPr>
              <a:buNone/>
            </a:pPr>
            <a:r>
              <a:rPr lang="en-US" dirty="0" smtClean="0"/>
              <a:t>  Contents of processor registers R1 and R2 are added and the result is stored into the processor register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Assembly Language Notations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MOVE  R2, R1</a:t>
            </a:r>
          </a:p>
          <a:p>
            <a:pPr>
              <a:buNone/>
            </a:pPr>
            <a:r>
              <a:rPr lang="en-US" dirty="0" smtClean="0"/>
              <a:t>    </a:t>
            </a:r>
          </a:p>
          <a:p>
            <a:pPr>
              <a:buNone/>
            </a:pPr>
            <a:r>
              <a:rPr lang="en-US" dirty="0" smtClean="0"/>
              <a:t>   Contents of processor register R2 are transferred to processor register R1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R2  -  Unchanged    </a:t>
            </a:r>
          </a:p>
          <a:p>
            <a:pPr>
              <a:buNone/>
            </a:pPr>
            <a:r>
              <a:rPr lang="en-US" dirty="0" smtClean="0"/>
              <a:t>             R1 - Overwritten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ADD R1, R2, R3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  Contents of processor register R1 and R2 are added and transferred to R3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Three address instruction</a:t>
            </a:r>
          </a:p>
          <a:p>
            <a:pPr>
              <a:buNone/>
            </a:pPr>
            <a:r>
              <a:rPr lang="en-US" b="1" dirty="0" smtClean="0"/>
              <a:t>			</a:t>
            </a:r>
            <a:r>
              <a:rPr lang="en-US" dirty="0" smtClean="0"/>
              <a:t>ADD   A, B, C</a:t>
            </a:r>
          </a:p>
          <a:p>
            <a:pPr>
              <a:buNone/>
            </a:pPr>
            <a:r>
              <a:rPr lang="en-US" dirty="0" smtClean="0"/>
              <a:t>Operation, Source 1, Source 2, Destination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Two Address Instruction</a:t>
            </a:r>
          </a:p>
          <a:p>
            <a:pPr>
              <a:buNone/>
            </a:pPr>
            <a:r>
              <a:rPr lang="en-US" dirty="0" smtClean="0"/>
              <a:t>    ADD  A, B</a:t>
            </a:r>
          </a:p>
          <a:p>
            <a:pPr>
              <a:buNone/>
            </a:pPr>
            <a:r>
              <a:rPr lang="en-US" sz="2000" dirty="0" smtClean="0"/>
              <a:t>Operation,  Source 1,  Destination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One Address Instruction</a:t>
            </a:r>
          </a:p>
          <a:p>
            <a:pPr>
              <a:buNone/>
            </a:pPr>
            <a:r>
              <a:rPr lang="en-US" dirty="0" smtClean="0"/>
              <a:t>  ADD  B</a:t>
            </a:r>
          </a:p>
          <a:p>
            <a:pPr>
              <a:buNone/>
            </a:pPr>
            <a:r>
              <a:rPr lang="en-US" sz="2400" dirty="0" smtClean="0"/>
              <a:t>Operation   Source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7" name="Shape 6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8" name="Google Shape;6158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COMPONENTS OF ISA</a:t>
            </a:r>
            <a:endParaRPr/>
          </a:p>
        </p:txBody>
      </p:sp>
      <p:sp>
        <p:nvSpPr>
          <p:cNvPr id="6159" name="Google Shape;6159;p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1.INSTRUCTION SET</a:t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Collection of all </a:t>
            </a:r>
            <a:r>
              <a:rPr b="1" lang="en-US"/>
              <a:t>operations</a:t>
            </a:r>
            <a:r>
              <a:rPr lang="en-US"/>
              <a:t> a processor can </a:t>
            </a:r>
            <a:r>
              <a:rPr b="1" lang="en-US"/>
              <a:t>execute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Types of Instructions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Arithmetic &amp; Logical: ADD, SUB, AND, 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Data Transfer: LOAD, STORE, MOVE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Control Transfer: JUMP, BRANCH, CALL, RETURN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I/O Instructions: IN, OUT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3" name="Shape 6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" name="Google Shape;616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</a:t>
            </a:r>
            <a:r>
              <a:rPr lang="en-US"/>
              <a:t> </a:t>
            </a:r>
            <a:r>
              <a:rPr b="1" lang="en-US"/>
              <a:t>OF</a:t>
            </a:r>
            <a:r>
              <a:rPr lang="en-US"/>
              <a:t> </a:t>
            </a:r>
            <a:r>
              <a:rPr b="1" lang="en-US"/>
              <a:t>INSTRUCTIONS</a:t>
            </a:r>
            <a:r>
              <a:rPr lang="en-US"/>
              <a:t> </a:t>
            </a:r>
            <a:r>
              <a:rPr b="1" lang="en-US"/>
              <a:t>in</a:t>
            </a:r>
            <a:r>
              <a:rPr lang="en-US"/>
              <a:t> </a:t>
            </a:r>
            <a:r>
              <a:rPr b="1" lang="en-US"/>
              <a:t>ISA</a:t>
            </a:r>
            <a:endParaRPr b="1"/>
          </a:p>
        </p:txBody>
      </p:sp>
      <p:sp>
        <p:nvSpPr>
          <p:cNvPr id="6165" name="Google Shape;6165;p3"/>
          <p:cNvSpPr txBox="1"/>
          <p:nvPr>
            <p:ph idx="1" type="body"/>
          </p:nvPr>
        </p:nvSpPr>
        <p:spPr>
          <a:xfrm>
            <a:off x="457200" y="1417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Data Transfer Instructions</a:t>
            </a:r>
            <a:endParaRPr b="1"/>
          </a:p>
          <a:p>
            <a:pPr indent="-317182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Move data between registers, memory, and I/O devices.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To load/store values for processing.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LOAD</a:t>
            </a:r>
            <a:r>
              <a:rPr lang="en-US"/>
              <a:t> R1, 1000 → Load value from memory address 1000 into R1.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STORE</a:t>
            </a:r>
            <a:r>
              <a:rPr lang="en-US"/>
              <a:t> R1, 2000 → Store contents of R1 into memory location 2000.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MOV</a:t>
            </a:r>
            <a:r>
              <a:rPr lang="en-US"/>
              <a:t> R1, R2 → Copy contents of R2 into R1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9" name="Shape 6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0" name="Google Shape;617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</a:t>
            </a:r>
            <a:r>
              <a:rPr lang="en-US"/>
              <a:t> </a:t>
            </a:r>
            <a:r>
              <a:rPr b="1" lang="en-US"/>
              <a:t>OF</a:t>
            </a:r>
            <a:r>
              <a:rPr lang="en-US"/>
              <a:t> </a:t>
            </a:r>
            <a:r>
              <a:rPr b="1" lang="en-US"/>
              <a:t>INSTRUCTIONS</a:t>
            </a:r>
            <a:r>
              <a:rPr lang="en-US"/>
              <a:t> </a:t>
            </a:r>
            <a:r>
              <a:rPr b="1" lang="en-US"/>
              <a:t>in</a:t>
            </a:r>
            <a:r>
              <a:rPr lang="en-US"/>
              <a:t> </a:t>
            </a:r>
            <a:r>
              <a:rPr b="1" lang="en-US"/>
              <a:t>ISA</a:t>
            </a:r>
            <a:endParaRPr b="1"/>
          </a:p>
        </p:txBody>
      </p:sp>
      <p:sp>
        <p:nvSpPr>
          <p:cNvPr id="6171" name="Google Shape;6171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Arithmetic &amp; Logical Instructions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Perform mathematical and logical operations on operands.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 carry out computations and decision-making.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ADD</a:t>
            </a:r>
            <a:r>
              <a:rPr lang="en-US"/>
              <a:t> R1, R2 → R1 = R1 + R2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SUB</a:t>
            </a:r>
            <a:r>
              <a:rPr lang="en-US"/>
              <a:t> R3, R4 → R3 = R3 – R4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AND</a:t>
            </a:r>
            <a:r>
              <a:rPr lang="en-US"/>
              <a:t> R1, R2 → Bitwise AND between R1 and R2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OR</a:t>
            </a:r>
            <a:r>
              <a:rPr lang="en-US"/>
              <a:t> R3, R4 → Bitwise OR between R3 and R4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5" name="Shape 6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6" name="Google Shape;617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 OF INSTRUCTIONS in ISA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7" name="Google Shape;6177;p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I/O Instructions</a:t>
            </a:r>
            <a:endParaRPr b="1"/>
          </a:p>
          <a:p>
            <a:pPr indent="-325755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Transfer data between CPU and input/output devices.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Enable communication with external devices like keyboard, printer, etc.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IN</a:t>
            </a:r>
            <a:r>
              <a:rPr lang="en-US"/>
              <a:t> R1, PORT1 → Read data from input port PORT1 into R1.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OUT</a:t>
            </a:r>
            <a:r>
              <a:rPr lang="en-US"/>
              <a:t> PORT2, R2 → Send contents of R2 to output port PORT2.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1" name="Shape 6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2" name="Google Shape;618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</a:t>
            </a:r>
            <a:r>
              <a:rPr lang="en-US"/>
              <a:t> </a:t>
            </a:r>
            <a:r>
              <a:rPr b="1" lang="en-US"/>
              <a:t>OF</a:t>
            </a:r>
            <a:r>
              <a:rPr lang="en-US"/>
              <a:t> </a:t>
            </a:r>
            <a:r>
              <a:rPr b="1" lang="en-US"/>
              <a:t>INSTRUCTIONS</a:t>
            </a:r>
            <a:r>
              <a:rPr lang="en-US"/>
              <a:t> </a:t>
            </a:r>
            <a:r>
              <a:rPr b="1" lang="en-US"/>
              <a:t>in</a:t>
            </a:r>
            <a:r>
              <a:rPr lang="en-US"/>
              <a:t> </a:t>
            </a:r>
            <a:r>
              <a:rPr b="1" lang="en-US"/>
              <a:t>ISA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3" name="Google Shape;6183;p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CONTROL TRANSFER INSTRUCTIONS</a:t>
            </a:r>
            <a:endParaRPr b="1"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Change the sequence of program execution.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Enable branching, looping, and subroutine execution.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JMP</a:t>
            </a:r>
            <a:r>
              <a:rPr lang="en-US"/>
              <a:t> 1000 → Jump to memory address 1000 (unconditional jump).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BRANCH</a:t>
            </a:r>
            <a:r>
              <a:rPr lang="en-US"/>
              <a:t> IF ZERO → If result is zero, branch to target instruction.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CALL</a:t>
            </a:r>
            <a:r>
              <a:rPr lang="en-US"/>
              <a:t> SUBR → Call subroutine at address SUBR (store return address).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RETURN</a:t>
            </a:r>
            <a:r>
              <a:rPr lang="en-US"/>
              <a:t> → Return from subroutine to calling function.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7" name="Shape 6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8" name="Google Shape;618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CONTROL TRANSFER INSTRUCTIONS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9" name="Google Shape;6189;p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1. UNCONDITIONAL JUMP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Transfers control to a specified instruction unconditionally.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JMP</a:t>
            </a:r>
            <a:r>
              <a:rPr lang="en-US"/>
              <a:t> 2000 → Execution jumps directly to memory address 2000.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3" name="Shape 6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4" name="Google Shape;619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CONTROL TRANSFER INSTRUCTIONS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5" name="Google Shape;6195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2. CONDITIONAL JUMP</a:t>
            </a:r>
            <a:endParaRPr b="1"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Conditional instructions change the flow of execution only if a specific condition is true.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If the condition is false, execution continues sequentially.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BEQ</a:t>
            </a:r>
            <a:r>
              <a:rPr lang="en-US"/>
              <a:t> → Branch if equal (zero).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BNE</a:t>
            </a:r>
            <a:r>
              <a:rPr lang="en-US"/>
              <a:t> → Branch if not equal.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BLT</a:t>
            </a:r>
            <a:r>
              <a:rPr lang="en-US"/>
              <a:t> → Branch if less than.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BGT</a:t>
            </a:r>
            <a:r>
              <a:rPr lang="en-US"/>
              <a:t> → Branch if greater than.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9" name="Shape 6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0" name="Google Shape;620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Conditional Control Transfer Instructions</a:t>
            </a:r>
            <a:endParaRPr b="1"/>
          </a:p>
        </p:txBody>
      </p:sp>
      <p:sp>
        <p:nvSpPr>
          <p:cNvPr id="6201" name="Google Shape;6201;p9"/>
          <p:cNvSpPr txBox="1"/>
          <p:nvPr>
            <p:ph idx="1" type="body"/>
          </p:nvPr>
        </p:nvSpPr>
        <p:spPr>
          <a:xfrm>
            <a:off x="457200" y="1417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1. BEQ (Branch if Equal / Zero)</a:t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182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Branch to target if the result of the last operation = 0.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Example: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R1, 5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SUB R1, 5        ; R1 = 0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BEQ</a:t>
            </a:r>
            <a:r>
              <a:rPr lang="en-US"/>
              <a:t> </a:t>
            </a:r>
            <a:r>
              <a:rPr b="1" lang="en-US"/>
              <a:t>TARGET</a:t>
            </a:r>
            <a:r>
              <a:rPr lang="en-US"/>
              <a:t>       ; since R1 = 0 → branch to TARGET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R2, 10       ; (this is skipped)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TARGET</a:t>
            </a:r>
            <a:r>
              <a:rPr lang="en-US"/>
              <a:t>: </a:t>
            </a:r>
            <a:r>
              <a:rPr b="1" lang="en-US"/>
              <a:t>MOV R2, 20</a:t>
            </a:r>
            <a:endParaRPr b="1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✅ R2 will contain 20.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5" name="Shape 6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6" name="Google Shape;620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Conditional Control Transfer Instructions</a:t>
            </a:r>
            <a:endParaRPr b="1"/>
          </a:p>
        </p:txBody>
      </p:sp>
      <p:sp>
        <p:nvSpPr>
          <p:cNvPr id="6207" name="Google Shape;6207;p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2. BNE (Branch if Not Equal)</a:t>
            </a:r>
            <a:endParaRPr b="1"/>
          </a:p>
          <a:p>
            <a:pPr indent="-325755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Branch to target if</a:t>
            </a:r>
            <a:r>
              <a:rPr b="1" lang="en-US"/>
              <a:t> result ≠ 0.</a:t>
            </a:r>
            <a:endParaRPr b="1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25755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Example</a:t>
            </a:r>
            <a:r>
              <a:rPr b="1" lang="en-US"/>
              <a:t>:</a:t>
            </a:r>
            <a:endParaRPr b="1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R1, 7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SUB R1, 5        ; R1 = 2 (not zero)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BNE</a:t>
            </a:r>
            <a:r>
              <a:rPr lang="en-US"/>
              <a:t> </a:t>
            </a:r>
            <a:r>
              <a:rPr b="1" lang="en-US"/>
              <a:t>NEXT</a:t>
            </a:r>
            <a:r>
              <a:rPr lang="en-US"/>
              <a:t>         ; condition true → branch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R2, 10       ; (skipped)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NEXT</a:t>
            </a:r>
            <a:r>
              <a:rPr lang="en-US"/>
              <a:t>: </a:t>
            </a:r>
            <a:r>
              <a:rPr b="1" lang="en-US"/>
              <a:t>MOV R2, 50</a:t>
            </a:r>
            <a:endParaRPr b="1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✅ </a:t>
            </a:r>
            <a:r>
              <a:rPr lang="en-US"/>
              <a:t>R2 will contain 50.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1" name="Shape 6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2" name="Google Shape;621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Conditional Control Transfer Instructions</a:t>
            </a:r>
            <a:endParaRPr b="1"/>
          </a:p>
        </p:txBody>
      </p:sp>
      <p:sp>
        <p:nvSpPr>
          <p:cNvPr id="6213" name="Google Shape;6213;p1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3. BLT (Branch if Less Than)</a:t>
            </a:r>
            <a:endParaRPr b="1"/>
          </a:p>
          <a:p>
            <a:pPr indent="-334327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Branch if one value &lt; another.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Example: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R1, 3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R2, 5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CMP R1, R2       ; compare R1 and R2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BLT SMALL     </a:t>
            </a:r>
            <a:r>
              <a:rPr lang="en-US"/>
              <a:t>   ; since 3 &lt; 5 → branch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R3, 100      ; (skipped)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SMALL: MOV R3, 200</a:t>
            </a:r>
            <a:endParaRPr b="1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✅ R3 will contain 200.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7" name="Shape 6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8" name="Google Shape;621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Conditional Control Transfer Instructions</a:t>
            </a:r>
            <a:endParaRPr b="1"/>
          </a:p>
        </p:txBody>
      </p:sp>
      <p:sp>
        <p:nvSpPr>
          <p:cNvPr id="6219" name="Google Shape;6219;p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4. BGT (Branch if Greater Than)</a:t>
            </a:r>
            <a:endParaRPr b="1"/>
          </a:p>
          <a:p>
            <a:pPr indent="-334327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Branch if one value </a:t>
            </a:r>
            <a:r>
              <a:rPr b="1" lang="en-US"/>
              <a:t>&gt;</a:t>
            </a:r>
            <a:r>
              <a:rPr lang="en-US"/>
              <a:t> another.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Example: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R1, 8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R2, 4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CMP R1, R2       ; compare 8 and 4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BGT LARGE   </a:t>
            </a:r>
            <a:r>
              <a:rPr lang="en-US"/>
              <a:t>     ; condition true → branch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R3, 10       ; (skipped)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LARGE: MOV R3, 99</a:t>
            </a:r>
            <a:endParaRPr b="1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✅ R3 will contain 99.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3" name="Shape 6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4" name="Google Shape;622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Control Transfer Instructions</a:t>
            </a:r>
            <a:endParaRPr b="1"/>
          </a:p>
        </p:txBody>
      </p:sp>
      <p:sp>
        <p:nvSpPr>
          <p:cNvPr id="6225" name="Google Shape;6225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Call (Subroutine Call)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Transfers control to a subroutine (a separate block of instructions).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Saves the return address so the program can continue after the subroutine finishes.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CALL </a:t>
            </a:r>
            <a:r>
              <a:rPr b="1" lang="en-US"/>
              <a:t>ADDITION</a:t>
            </a:r>
            <a:r>
              <a:rPr lang="en-US"/>
              <a:t> → Jump to subroutine named </a:t>
            </a:r>
            <a:r>
              <a:rPr b="1" lang="en-US"/>
              <a:t>ADDITION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9" name="Shape 6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0" name="Google Shape;62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Control Transfer Instructions</a:t>
            </a:r>
            <a:endParaRPr b="1"/>
          </a:p>
        </p:txBody>
      </p:sp>
      <p:sp>
        <p:nvSpPr>
          <p:cNvPr id="6231" name="Google Shape;6231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Return</a:t>
            </a:r>
            <a:endParaRPr b="1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Returns control from a subroutine to the instruction after the call.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RET</a:t>
            </a:r>
            <a:r>
              <a:rPr lang="en-US"/>
              <a:t> → Return from subroutine to caller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5" name="Shape 6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" name="Google Shape;623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CALL&amp; RET</a:t>
            </a:r>
            <a:endParaRPr b="1"/>
          </a:p>
        </p:txBody>
      </p:sp>
      <p:sp>
        <p:nvSpPr>
          <p:cNvPr id="6237" name="Google Shape;6237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R1, 5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R2, 5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CALL</a:t>
            </a:r>
            <a:r>
              <a:rPr lang="en-US"/>
              <a:t> MULTIPLY   ; jumps to subroutine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...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MULTIPLY:       ; subroutine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MUL R1, R2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RET</a:t>
            </a:r>
            <a:r>
              <a:rPr lang="en-US"/>
              <a:t>             ; return to main program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1" name="Shape 6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2" name="Google Shape;624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KEY COMPONENTS OF ISA</a:t>
            </a:r>
            <a:endParaRPr b="1"/>
          </a:p>
        </p:txBody>
      </p:sp>
      <p:sp>
        <p:nvSpPr>
          <p:cNvPr id="6243" name="Google Shape;6243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2. INSTRUCTION FORMAT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spcBef>
                <a:spcPts val="360"/>
              </a:spcBef>
              <a:spcAft>
                <a:spcPts val="0"/>
              </a:spcAft>
              <a:buSzPct val="5625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Structure of an instruction (how it is encoded in memory).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spcBef>
                <a:spcPts val="360"/>
              </a:spcBef>
              <a:spcAft>
                <a:spcPts val="0"/>
              </a:spcAft>
              <a:buSzPct val="5625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Typical Fields: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spcBef>
                <a:spcPts val="360"/>
              </a:spcBef>
              <a:spcAft>
                <a:spcPts val="0"/>
              </a:spcAft>
              <a:buSzPct val="5625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Opcode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→ specifies the operation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5625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Operands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→ data to be operated 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5625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Addressing Mode →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how to interpret operands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7" name="Shape 6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8" name="Google Shape;624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KEY COMPONENTS OF ISA</a:t>
            </a:r>
            <a:endParaRPr b="1"/>
          </a:p>
        </p:txBody>
      </p:sp>
      <p:sp>
        <p:nvSpPr>
          <p:cNvPr id="6249" name="Google Shape;6249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3. OPERANDS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data on which instructions operate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Font typeface="Times New Roman"/>
              <a:buAutoNum type="arabicPeriod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Immediate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Constant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inside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instruction (MOV R1, #10)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Font typeface="Times New Roman"/>
              <a:buAutoNum type="arabicPeriod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Register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Stored in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register (ADD R1, R2)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Font typeface="Times New Roman"/>
              <a:buAutoNum type="arabicPeriod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Accessed from memory address (LOAD R1, 1000)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Font typeface="Times New Roman"/>
              <a:buAutoNum type="arabicPeriod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: Top elements of stack (PUSH 5, then ADD)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3" name="Shape 6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" name="Google Shape;625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KEY COMPONENTS OF ISA</a:t>
            </a:r>
            <a:endParaRPr b="1"/>
          </a:p>
        </p:txBody>
      </p:sp>
      <p:sp>
        <p:nvSpPr>
          <p:cNvPr id="6255" name="Google Shape;6255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REGISTERS</a:t>
            </a:r>
            <a:endParaRPr b="1"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Small, high-speed storage inside CPU.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Types</a:t>
            </a:r>
            <a:r>
              <a:rPr lang="en-US"/>
              <a:t>: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1. General-purpose</a:t>
            </a:r>
            <a:r>
              <a:rPr lang="en-US"/>
              <a:t>: R0, R1, R2…(GPR) : used to temporarily hold data, addresses, or intermediate results during program execution.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2. Special-purpose:</a:t>
            </a:r>
            <a:endParaRPr b="1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PC</a:t>
            </a:r>
            <a:r>
              <a:rPr lang="en-US"/>
              <a:t> (Program Counter): Points to next instruction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IR</a:t>
            </a:r>
            <a:r>
              <a:rPr lang="en-US"/>
              <a:t> (Instruction Register): Holds current instruction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b="1" lang="en-US"/>
              <a:t>SP</a:t>
            </a:r>
            <a:r>
              <a:rPr lang="en-US"/>
              <a:t> (Stack Pointer): Tracks top of stack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0" name="Shape 6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1" name="Google Shape;6261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LOAD &amp; STORE</a:t>
            </a:r>
            <a:endParaRPr b="1"/>
          </a:p>
        </p:txBody>
      </p:sp>
      <p:sp>
        <p:nvSpPr>
          <p:cNvPr id="6262" name="Google Shape;6262;p1"/>
          <p:cNvSpPr txBox="1"/>
          <p:nvPr>
            <p:ph idx="1" type="body"/>
          </p:nvPr>
        </p:nvSpPr>
        <p:spPr>
          <a:xfrm>
            <a:off x="2217932" y="170908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800"/>
              <a:t>Steps (LOAD R1, 1000)</a:t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1. CPU sends address (1000) to Memory.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2. Memory sends the data at location 1000 to CPU.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3. Data is placed into Register R1.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Example (8085 Assembly)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LDA 2050    ; Load the contents of memory[2050] into Accumulator (A)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800"/>
              <a:t>Steps (STORE R1, 1000)</a:t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1. CPU takes the data from Register R1.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2. Sends it to memory location 1000.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3. Memory stores the data at that address.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Example (8085 Assembly)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STA 3050    ; Store the contents of Accumulator (A) into memory[3050]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6" name="Shape 6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7" name="Google Shape;6267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ADDRESSING MODE</a:t>
            </a:r>
            <a:endParaRPr b="1"/>
          </a:p>
        </p:txBody>
      </p:sp>
      <p:sp>
        <p:nvSpPr>
          <p:cNvPr id="6268" name="Google Shape;6268;p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1. ADDRESSING: </a:t>
            </a:r>
            <a:r>
              <a:rPr lang="en-US"/>
              <a:t>specifying the </a:t>
            </a:r>
            <a:r>
              <a:rPr b="1" lang="en-US"/>
              <a:t>location</a:t>
            </a:r>
            <a:r>
              <a:rPr lang="en-US"/>
              <a:t> of the </a:t>
            </a:r>
            <a:r>
              <a:rPr b="1" lang="en-US"/>
              <a:t>operand</a:t>
            </a:r>
            <a:r>
              <a:rPr lang="en-US"/>
              <a:t> (data) that an instruction will use.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Example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LOAD R1, 1000    ; Load value from memory location 1000 into register R1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Here, </a:t>
            </a:r>
            <a:r>
              <a:rPr b="1" lang="en-US"/>
              <a:t>1000</a:t>
            </a:r>
            <a:r>
              <a:rPr lang="en-US"/>
              <a:t> is the </a:t>
            </a:r>
            <a:r>
              <a:rPr b="1" lang="en-US"/>
              <a:t>address</a:t>
            </a:r>
            <a:r>
              <a:rPr lang="en-US"/>
              <a:t> used to fetch the operand.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2" name="Shape 6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3" name="Google Shape;627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ADDRESSING MODE</a:t>
            </a:r>
            <a:endParaRPr b="1"/>
          </a:p>
        </p:txBody>
      </p:sp>
      <p:sp>
        <p:nvSpPr>
          <p:cNvPr id="6274" name="Google Shape;6274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2</a:t>
            </a:r>
            <a:r>
              <a:rPr lang="en-US"/>
              <a:t>. </a:t>
            </a:r>
            <a:r>
              <a:rPr b="1" lang="en-US"/>
              <a:t>Addressing Mode : </a:t>
            </a:r>
            <a:r>
              <a:rPr lang="en-US"/>
              <a:t>the</a:t>
            </a:r>
            <a:r>
              <a:rPr b="1" lang="en-US"/>
              <a:t> </a:t>
            </a:r>
            <a:r>
              <a:rPr lang="en-US"/>
              <a:t>method or rule used by the CPU to </a:t>
            </a:r>
            <a:r>
              <a:rPr b="1" lang="en-US"/>
              <a:t>interpret the operand’s address </a:t>
            </a:r>
            <a:r>
              <a:rPr lang="en-US"/>
              <a:t>in an instruction.</a:t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</a:t>
            </a:r>
            <a:r>
              <a:rPr b="1" lang="en-US"/>
              <a:t> </a:t>
            </a:r>
            <a:r>
              <a:rPr lang="en-US"/>
              <a:t>other words → it defines how to find the </a:t>
            </a:r>
            <a:r>
              <a:rPr b="1" lang="en-US"/>
              <a:t>operand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R1, #20     ; Immediate addressing → Operand = 20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R1, 1000    ; Direct addressing → Operand at memory[1000]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MOV R1, (R2)    ; Register indirect addressing → Operand at address in R2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8" name="Shape 6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9" name="Google Shape;627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 OF ADDRESSING MODE</a:t>
            </a:r>
            <a:endParaRPr b="1"/>
          </a:p>
        </p:txBody>
      </p:sp>
      <p:sp>
        <p:nvSpPr>
          <p:cNvPr id="6280" name="Google Shape;6280;p4"/>
          <p:cNvSpPr txBox="1"/>
          <p:nvPr>
            <p:ph idx="1" type="body"/>
          </p:nvPr>
        </p:nvSpPr>
        <p:spPr>
          <a:xfrm>
            <a:off x="457200" y="23319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 Implied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Operand is implicitly specified in the instruction, no need to mention.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LOAD A (  AC)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 Immediate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Operand is given directly in the instruction.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MOV R1, #25 → Move value 25 into register R1.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4" name="Shape 6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5" name="Google Shape;628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 OF ADDRESSING MODE</a:t>
            </a:r>
            <a:endParaRPr b="1"/>
          </a:p>
        </p:txBody>
      </p:sp>
      <p:sp>
        <p:nvSpPr>
          <p:cNvPr id="6286" name="Google Shape;6286;p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3. Direct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Instruction specifies the memory address of the operand.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LOAD R1, 1000 → Load data from memory[1000] into R1.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4. Indirect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Instruction gives an address, but the actual operand is stored in that address.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LOAD R1, (500) → Go to memory[500], find the address stored there, then load the value from that address into R1.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0" name="Shape 6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1" name="Google Shape;629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 OF ADDRESSING MODE</a:t>
            </a:r>
            <a:endParaRPr b="1"/>
          </a:p>
        </p:txBody>
      </p:sp>
      <p:sp>
        <p:nvSpPr>
          <p:cNvPr id="6292" name="Google Shape;6292;p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5. Register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Operand is stored in a register (fast access).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ADD R1, R2 → R1 = R1 + R2.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6. Register Indirect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register contains the memory address of the operand.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LOAD R1, (R2) → Take the address from R2, load value from that memory into R1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6" name="Shape 6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" name="Google Shape;629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 OF ADDRESSING MODE</a:t>
            </a:r>
            <a:endParaRPr b="1"/>
          </a:p>
        </p:txBody>
      </p:sp>
      <p:sp>
        <p:nvSpPr>
          <p:cNvPr id="6298" name="Google Shape;6298;p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7. Auto Increment / Auto Decrement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Similar to register indirect, but the register is automatically incremented or decremented after/before access.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LOAD R1, (R2)+ → Load value from memory[R2], then increment R2.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LOAD R1, –(R2) → Decrement R2, then load value from memory[R2].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Used in stacks and arrays.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2" name="Shape 6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3" name="Google Shape;630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TYPES OF ADDRESSING MODE</a:t>
            </a:r>
            <a:endParaRPr b="1"/>
          </a:p>
        </p:txBody>
      </p:sp>
      <p:sp>
        <p:nvSpPr>
          <p:cNvPr id="6304" name="Google Shape;6304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8. Relative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effective address = PC (Program Counter) + offset.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Used for branch instructions.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BEQ LABEL → if condition true, jump to (PC + offset to LABEL)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9. Indexed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Effective address = Base Address + Index Register.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LOAD R1, 1000(R2) → Address = 1000 + R2. Load value into R1.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Used in arrays and tables.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10. Base Register Addressing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Effective address = Base Register + Displacement.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Example: LOAD R1, (R2+50) → Address = contents of R2 + 50. Load into R1.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Used for relocatable programs (base register points to start of program).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
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handoutMasterIdLst>
    <p:handoutMasterId r:id="rId7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74" r:id="rId28"/>
    <p:sldId id="313" r:id="rId29"/>
    <p:sldId id="314" r:id="rId30"/>
    <p:sldId id="315" r:id="rId31"/>
    <p:sldId id="316" r:id="rId32"/>
    <p:sldId id="317" r:id="rId33"/>
    <p:sldId id="318" r:id="rId34"/>
    <p:sldId id="320" r:id="rId35"/>
    <p:sldId id="319" r:id="rId36"/>
    <p:sldId id="321" r:id="rId37"/>
    <p:sldId id="322" r:id="rId38"/>
    <p:sldId id="275" r:id="rId39"/>
    <p:sldId id="289" r:id="rId40"/>
    <p:sldId id="290" r:id="rId41"/>
    <p:sldId id="291" r:id="rId42"/>
    <p:sldId id="292" r:id="rId43"/>
    <p:sldId id="293" r:id="rId44"/>
    <p:sldId id="294" r:id="rId45"/>
    <p:sldId id="276" r:id="rId46"/>
    <p:sldId id="295" r:id="rId47"/>
    <p:sldId id="296" r:id="rId48"/>
    <p:sldId id="297" r:id="rId49"/>
    <p:sldId id="298" r:id="rId50"/>
    <p:sldId id="300" r:id="rId51"/>
    <p:sldId id="299" r:id="rId52"/>
    <p:sldId id="301" r:id="rId53"/>
    <p:sldId id="302" r:id="rId54"/>
    <p:sldId id="303" r:id="rId55"/>
    <p:sldId id="277" r:id="rId56"/>
    <p:sldId id="323" r:id="rId57"/>
    <p:sldId id="326" r:id="rId58"/>
    <p:sldId id="327" r:id="rId59"/>
    <p:sldId id="328" r:id="rId60"/>
    <p:sldId id="329" r:id="rId61"/>
    <p:sldId id="330" r:id="rId62"/>
    <p:sldId id="331" r:id="rId63"/>
    <p:sldId id="278" r:id="rId64"/>
    <p:sldId id="279" r:id="rId65"/>
    <p:sldId id="280" r:id="rId66"/>
    <p:sldId id="304" r:id="rId67"/>
    <p:sldId id="306" r:id="rId68"/>
    <p:sldId id="307" r:id="rId69"/>
    <p:sldId id="308" r:id="rId70"/>
    <p:sldId id="309" r:id="rId71"/>
    <p:sldId id="310" r:id="rId72"/>
    <p:sldId id="311" r:id="rId73"/>
    <p:sldId id="312" r:id="rId74"/>
    <p:sldId id="332" r:id="rId75"/>
    <p:sldId id="305" r:id="rId7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85" autoAdjust="0"/>
    <p:restoredTop sz="94660"/>
  </p:normalViewPr>
  <p:slideViewPr>
    <p:cSldViewPr snapToGrid="0">
      <p:cViewPr varScale="1">
        <p:scale>
          <a:sx n="70" d="100"/>
          <a:sy n="70" d="100"/>
        </p:scale>
        <p:origin x="88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3" d="100"/>
          <a:sy n="53" d="100"/>
        </p:scale>
        <p:origin x="284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slide" Target="slides/slide49.xml" /><Relationship Id="rId55" Type="http://schemas.openxmlformats.org/officeDocument/2006/relationships/slide" Target="slides/slide54.xml" /><Relationship Id="rId63" Type="http://schemas.openxmlformats.org/officeDocument/2006/relationships/slide" Target="slides/slide62.xml" /><Relationship Id="rId68" Type="http://schemas.openxmlformats.org/officeDocument/2006/relationships/slide" Target="slides/slide67.xml" /><Relationship Id="rId76" Type="http://schemas.openxmlformats.org/officeDocument/2006/relationships/slide" Target="slides/slide75.xml" /><Relationship Id="rId7" Type="http://schemas.openxmlformats.org/officeDocument/2006/relationships/slide" Target="slides/slide6.xml" /><Relationship Id="rId71" Type="http://schemas.openxmlformats.org/officeDocument/2006/relationships/slide" Target="slides/slide70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9" Type="http://schemas.openxmlformats.org/officeDocument/2006/relationships/slide" Target="slides/slide28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slide" Target="slides/slide52.xml" /><Relationship Id="rId58" Type="http://schemas.openxmlformats.org/officeDocument/2006/relationships/slide" Target="slides/slide57.xml" /><Relationship Id="rId66" Type="http://schemas.openxmlformats.org/officeDocument/2006/relationships/slide" Target="slides/slide65.xml" /><Relationship Id="rId74" Type="http://schemas.openxmlformats.org/officeDocument/2006/relationships/slide" Target="slides/slide73.xml" /><Relationship Id="rId79" Type="http://schemas.openxmlformats.org/officeDocument/2006/relationships/viewProps" Target="viewProps.xml" /><Relationship Id="rId5" Type="http://schemas.openxmlformats.org/officeDocument/2006/relationships/slide" Target="slides/slide4.xml" /><Relationship Id="rId61" Type="http://schemas.openxmlformats.org/officeDocument/2006/relationships/slide" Target="slides/slide60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slide" Target="slides/slide51.xml" /><Relationship Id="rId60" Type="http://schemas.openxmlformats.org/officeDocument/2006/relationships/slide" Target="slides/slide59.xml" /><Relationship Id="rId65" Type="http://schemas.openxmlformats.org/officeDocument/2006/relationships/slide" Target="slides/slide64.xml" /><Relationship Id="rId73" Type="http://schemas.openxmlformats.org/officeDocument/2006/relationships/slide" Target="slides/slide72.xml" /><Relationship Id="rId78" Type="http://schemas.openxmlformats.org/officeDocument/2006/relationships/presProps" Target="presProps.xml" /><Relationship Id="rId81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slide" Target="slides/slide55.xml" /><Relationship Id="rId64" Type="http://schemas.openxmlformats.org/officeDocument/2006/relationships/slide" Target="slides/slide63.xml" /><Relationship Id="rId69" Type="http://schemas.openxmlformats.org/officeDocument/2006/relationships/slide" Target="slides/slide68.xml" /><Relationship Id="rId77" Type="http://schemas.openxmlformats.org/officeDocument/2006/relationships/handoutMaster" Target="handoutMasters/handoutMaster1.xml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72" Type="http://schemas.openxmlformats.org/officeDocument/2006/relationships/slide" Target="slides/slide71.xml" /><Relationship Id="rId80" Type="http://schemas.openxmlformats.org/officeDocument/2006/relationships/theme" Target="theme/theme1.xml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59" Type="http://schemas.openxmlformats.org/officeDocument/2006/relationships/slide" Target="slides/slide58.xml" /><Relationship Id="rId67" Type="http://schemas.openxmlformats.org/officeDocument/2006/relationships/slide" Target="slides/slide66.xml" /><Relationship Id="rId20" Type="http://schemas.openxmlformats.org/officeDocument/2006/relationships/slide" Target="slides/slide19.xml" /><Relationship Id="rId41" Type="http://schemas.openxmlformats.org/officeDocument/2006/relationships/slide" Target="slides/slide40.xml" /><Relationship Id="rId54" Type="http://schemas.openxmlformats.org/officeDocument/2006/relationships/slide" Target="slides/slide53.xml" /><Relationship Id="rId62" Type="http://schemas.openxmlformats.org/officeDocument/2006/relationships/slide" Target="slides/slide61.xml" /><Relationship Id="rId70" Type="http://schemas.openxmlformats.org/officeDocument/2006/relationships/slide" Target="slides/slide69.xml" /><Relationship Id="rId75" Type="http://schemas.openxmlformats.org/officeDocument/2006/relationships/slide" Target="slides/slide74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slide" Target="slides/slide56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51415-F434-4DAE-AB2C-AFACD759F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97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223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83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27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837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165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302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469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562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680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477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792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jp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23221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underdata.com/blog/view-all-available-matplotlib-styles" TargetMode="Externa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3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3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3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 /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 /><Relationship Id="rId1" Type="http://schemas.openxmlformats.org/officeDocument/2006/relationships/slideLayout" Target="../slideLayouts/slideLayout3.xml" 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 /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 /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 /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 /><Relationship Id="rId1" Type="http://schemas.openxmlformats.org/officeDocument/2006/relationships/slideLayout" Target="../slideLayouts/slideLayout2.xml" 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 /><Relationship Id="rId1" Type="http://schemas.openxmlformats.org/officeDocument/2006/relationships/slideLayout" Target="../slideLayouts/slideLayout3.xml" 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 /><Relationship Id="rId1" Type="http://schemas.openxmlformats.org/officeDocument/2006/relationships/slideLayout" Target="../slideLayouts/slideLayout2.xml" 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 /><Relationship Id="rId1" Type="http://schemas.openxmlformats.org/officeDocument/2006/relationships/slideLayout" Target="../slideLayouts/slideLayout2.xml" 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 /><Relationship Id="rId1" Type="http://schemas.openxmlformats.org/officeDocument/2006/relationships/slideLayout" Target="../slideLayouts/slideLayout2.xml" 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 /><Relationship Id="rId1" Type="http://schemas.openxmlformats.org/officeDocument/2006/relationships/slideLayout" Target="../slideLayouts/slideLayout2.xml" 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 /><Relationship Id="rId1" Type="http://schemas.openxmlformats.org/officeDocument/2006/relationships/slideLayout" Target="../slideLayouts/slideLayout2.xml" 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 /><Relationship Id="rId1" Type="http://schemas.openxmlformats.org/officeDocument/2006/relationships/slideLayout" Target="../slideLayouts/slideLayout2.xml" 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 /><Relationship Id="rId1" Type="http://schemas.openxmlformats.org/officeDocument/2006/relationships/slideLayout" Target="../slideLayouts/slideLayout3.xml" 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 /><Relationship Id="rId1" Type="http://schemas.openxmlformats.org/officeDocument/2006/relationships/slideLayout" Target="../slideLayouts/slideLayout2.xml" 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 /><Relationship Id="rId1" Type="http://schemas.openxmlformats.org/officeDocument/2006/relationships/slideLayout" Target="../slideLayouts/slideLayout2.xml" 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 /><Relationship Id="rId1" Type="http://schemas.openxmlformats.org/officeDocument/2006/relationships/slideLayout" Target="../slideLayouts/slideLayout2.xml" 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 /><Relationship Id="rId1" Type="http://schemas.openxmlformats.org/officeDocument/2006/relationships/slideLayout" Target="../slideLayouts/slideLayout2.xml" 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 /><Relationship Id="rId1" Type="http://schemas.openxmlformats.org/officeDocument/2006/relationships/slideLayout" Target="../slideLayouts/slideLayout2.xml" 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 /><Relationship Id="rId1" Type="http://schemas.openxmlformats.org/officeDocument/2006/relationships/slideLayout" Target="../slideLayouts/slideLayout2.xml" 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 /><Relationship Id="rId1" Type="http://schemas.openxmlformats.org/officeDocument/2006/relationships/slideLayout" Target="../slideLayouts/slideLayout3.xml" 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 /><Relationship Id="rId1" Type="http://schemas.openxmlformats.org/officeDocument/2006/relationships/slideLayout" Target="../slideLayouts/slideLayout3.xml" 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 /><Relationship Id="rId1" Type="http://schemas.openxmlformats.org/officeDocument/2006/relationships/slideLayout" Target="../slideLayouts/slideLayout3.xml" 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 /><Relationship Id="rId1" Type="http://schemas.openxmlformats.org/officeDocument/2006/relationships/slideLayout" Target="../slideLayouts/slideLayout3.xml" 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 /><Relationship Id="rId1" Type="http://schemas.openxmlformats.org/officeDocument/2006/relationships/slideLayout" Target="../slideLayouts/slideLayout2.xml" 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 /><Relationship Id="rId1" Type="http://schemas.openxmlformats.org/officeDocument/2006/relationships/slideLayout" Target="../slideLayouts/slideLayout2.xml" 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 /><Relationship Id="rId1" Type="http://schemas.openxmlformats.org/officeDocument/2006/relationships/slideLayout" Target="../slideLayouts/slideLayout2.xml" 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 /><Relationship Id="rId1" Type="http://schemas.openxmlformats.org/officeDocument/2006/relationships/slideLayout" Target="../slideLayouts/slideLayout2.xml" 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 /><Relationship Id="rId1" Type="http://schemas.openxmlformats.org/officeDocument/2006/relationships/slideLayout" Target="../slideLayouts/slideLayout2.xml" 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JAL1301 DATA SCIENCE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543" y="3864717"/>
            <a:ext cx="8870831" cy="1071095"/>
          </a:xfrm>
        </p:spPr>
        <p:txBody>
          <a:bodyPr>
            <a:noAutofit/>
          </a:bodyPr>
          <a:lstStyle/>
          <a:p>
            <a:r>
              <a:rPr lang="en-IN" sz="4400" b="1" dirty="0"/>
              <a:t>UNIT   V DATA VISUALIZATION		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868580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640746"/>
            <a:ext cx="9291215" cy="1049235"/>
          </a:xfrm>
        </p:spPr>
        <p:txBody>
          <a:bodyPr/>
          <a:lstStyle/>
          <a:p>
            <a:r>
              <a:rPr lang="en-IN" b="1" dirty="0"/>
              <a:t>UNIT   V DATA VISUALIZATION</a:t>
            </a:r>
            <a:br>
              <a:rPr lang="en-IN" b="1" dirty="0"/>
            </a:br>
            <a:r>
              <a:rPr lang="en-IN" b="1" u="sng" dirty="0"/>
              <a:t>SYLLABUS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093" y="2015732"/>
            <a:ext cx="11122925" cy="390739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3200" dirty="0"/>
              <a:t>Importing </a:t>
            </a:r>
            <a:r>
              <a:rPr lang="en-IN" sz="3200" dirty="0" err="1"/>
              <a:t>Matplotlib</a:t>
            </a:r>
            <a:r>
              <a:rPr lang="en-IN" sz="3200" dirty="0"/>
              <a:t> – Line plots – Scatter plots </a:t>
            </a:r>
            <a:r>
              <a:rPr lang="en-IN" sz="3200"/>
              <a:t>– Visualizing </a:t>
            </a:r>
            <a:r>
              <a:rPr lang="en-IN" sz="3200" dirty="0"/>
              <a:t>errors – Density and contour plots – Histograms – Plot legends – </a:t>
            </a:r>
            <a:r>
              <a:rPr lang="en-IN" sz="3200" dirty="0" err="1"/>
              <a:t>Colors</a:t>
            </a:r>
            <a:r>
              <a:rPr lang="en-IN" sz="3200" dirty="0"/>
              <a:t> – Subplots – Text and annotation – Customization – Three-dimensional plotting - Geographic Data with </a:t>
            </a:r>
            <a:r>
              <a:rPr lang="en-IN" sz="3200" dirty="0" err="1"/>
              <a:t>Basemap</a:t>
            </a:r>
            <a:r>
              <a:rPr lang="en-IN" sz="3200" dirty="0"/>
              <a:t> - Visualization with </a:t>
            </a:r>
            <a:r>
              <a:rPr lang="en-IN" sz="3200" dirty="0" err="1"/>
              <a:t>Seaborn</a:t>
            </a:r>
            <a:r>
              <a:rPr lang="en-IN" sz="3200" dirty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16956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9603275" cy="602521"/>
          </a:xfrm>
        </p:spPr>
        <p:txBody>
          <a:bodyPr/>
          <a:lstStyle/>
          <a:p>
            <a:r>
              <a:rPr lang="en-IN" b="1" dirty="0"/>
              <a:t>Importing </a:t>
            </a:r>
            <a:r>
              <a:rPr lang="en-IN" b="1" dirty="0" err="1"/>
              <a:t>Matplotlib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842" y="1023583"/>
            <a:ext cx="11518710" cy="4107976"/>
          </a:xfrm>
        </p:spPr>
        <p:txBody>
          <a:bodyPr>
            <a:normAutofit/>
          </a:bodyPr>
          <a:lstStyle/>
          <a:p>
            <a:pPr algn="just"/>
            <a:r>
              <a:rPr lang="en-US" sz="2800" dirty="0" err="1"/>
              <a:t>Matplotlib</a:t>
            </a:r>
            <a:r>
              <a:rPr lang="en-US" sz="2800" dirty="0"/>
              <a:t> is a multiplatform data visualization library built on </a:t>
            </a:r>
            <a:r>
              <a:rPr lang="en-US" sz="2800" dirty="0" err="1"/>
              <a:t>NumPy</a:t>
            </a:r>
            <a:r>
              <a:rPr lang="en-US" sz="2800" dirty="0"/>
              <a:t> arrays, and designed to work with the broader </a:t>
            </a:r>
            <a:r>
              <a:rPr lang="en-US" sz="2800" dirty="0" err="1"/>
              <a:t>SciPy</a:t>
            </a:r>
            <a:r>
              <a:rPr lang="en-US" sz="2800" dirty="0"/>
              <a:t> stack.</a:t>
            </a:r>
          </a:p>
          <a:p>
            <a:pPr algn="just"/>
            <a:r>
              <a:rPr lang="en-US" sz="2800" dirty="0"/>
              <a:t>Has the ability to play well with many operating systems and graphics </a:t>
            </a:r>
            <a:r>
              <a:rPr lang="en-US" sz="2800" dirty="0" err="1"/>
              <a:t>backends</a:t>
            </a:r>
            <a:r>
              <a:rPr lang="en-US" sz="2800" dirty="0"/>
              <a:t>. </a:t>
            </a:r>
          </a:p>
          <a:p>
            <a:pPr algn="just"/>
            <a:r>
              <a:rPr lang="en-US" sz="2800" dirty="0"/>
              <a:t>Supports dozens of </a:t>
            </a:r>
            <a:r>
              <a:rPr lang="en-US" sz="2800" dirty="0" err="1"/>
              <a:t>backends</a:t>
            </a:r>
            <a:r>
              <a:rPr lang="en-US" sz="2800" dirty="0"/>
              <a:t> and output types.</a:t>
            </a:r>
          </a:p>
          <a:p>
            <a:pPr algn="just"/>
            <a:r>
              <a:rPr lang="en-US" sz="2800" dirty="0"/>
              <a:t>To use it in a Python program, import it:</a:t>
            </a:r>
          </a:p>
          <a:p>
            <a:pPr algn="just"/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791569" y="4694830"/>
            <a:ext cx="6455392" cy="1125941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import </a:t>
            </a:r>
            <a:r>
              <a:rPr lang="en-US" sz="3200" b="1" dirty="0" err="1"/>
              <a:t>matplotlib</a:t>
            </a:r>
            <a:r>
              <a:rPr lang="en-US" sz="3200" b="1" dirty="0"/>
              <a:t> as </a:t>
            </a:r>
            <a:r>
              <a:rPr lang="en-US" sz="3200" b="1" dirty="0" err="1"/>
              <a:t>mpl</a:t>
            </a:r>
            <a:endParaRPr lang="en-US" sz="3200" b="1" dirty="0"/>
          </a:p>
          <a:p>
            <a:r>
              <a:rPr lang="en-US" sz="3200" b="1" dirty="0"/>
              <a:t>import </a:t>
            </a:r>
            <a:r>
              <a:rPr lang="en-US" sz="3200" b="1" dirty="0" err="1"/>
              <a:t>matplotlib.pyplot</a:t>
            </a:r>
            <a:r>
              <a:rPr lang="en-US" sz="3200" b="1" dirty="0"/>
              <a:t> as </a:t>
            </a:r>
            <a:r>
              <a:rPr lang="en-US" sz="3200" b="1" dirty="0" err="1"/>
              <a:t>plt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16407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9603275" cy="602521"/>
          </a:xfrm>
        </p:spPr>
        <p:txBody>
          <a:bodyPr/>
          <a:lstStyle/>
          <a:p>
            <a:r>
              <a:rPr lang="en-IN" b="1" dirty="0"/>
              <a:t>Importing </a:t>
            </a:r>
            <a:r>
              <a:rPr lang="en-IN" b="1" dirty="0" err="1"/>
              <a:t>Matplotlib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842" y="1023582"/>
            <a:ext cx="11518710" cy="5049672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800" dirty="0"/>
              <a:t>To choose appropriate aesthetic styles for the figures: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Other styles available:</a:t>
            </a:r>
          </a:p>
          <a:p>
            <a:pPr algn="just"/>
            <a:r>
              <a:rPr lang="en-US" sz="2800" dirty="0">
                <a:hlinkClick r:id="rId2"/>
              </a:rPr>
              <a:t>https://www.dunderdata.com/blog/view-all-available-matplotlib-styles</a:t>
            </a:r>
            <a:endParaRPr lang="en-US" sz="2800" dirty="0"/>
          </a:p>
          <a:p>
            <a:pPr algn="just"/>
            <a:r>
              <a:rPr lang="en-US" sz="2800" dirty="0"/>
              <a:t>To Plot y versus x as lines and/or markers.</a:t>
            </a:r>
          </a:p>
          <a:p>
            <a:pPr algn="just"/>
            <a:r>
              <a:rPr lang="en-US" sz="2800" dirty="0"/>
              <a:t>To view the </a:t>
            </a:r>
            <a:r>
              <a:rPr lang="en-US" sz="2800" dirty="0" err="1"/>
              <a:t>Matplotlib</a:t>
            </a:r>
            <a:r>
              <a:rPr lang="en-US" sz="2800" dirty="0"/>
              <a:t> plots:</a:t>
            </a:r>
          </a:p>
          <a:p>
            <a:pPr algn="just"/>
            <a:r>
              <a:rPr lang="en-US" sz="2800" dirty="0"/>
              <a:t>Should be used only once per Python session, and is most often seen at the very end of the script.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23331" y="1624083"/>
            <a:ext cx="3725840" cy="64144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/>
              <a:t>plt.style.use</a:t>
            </a:r>
            <a:r>
              <a:rPr lang="en-US" sz="2400" b="1" dirty="0"/>
              <a:t>('classic')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5256661" y="4067032"/>
            <a:ext cx="2167721" cy="64144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/>
              <a:t>plt.show</a:t>
            </a:r>
            <a:r>
              <a:rPr lang="en-US" sz="2400" b="1" dirty="0"/>
              <a:t>( )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7642746" y="3425587"/>
            <a:ext cx="2388358" cy="64144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/>
              <a:t>plt.plot</a:t>
            </a:r>
            <a:r>
              <a:rPr lang="en-US" sz="2400" b="1" dirty="0"/>
              <a:t>(x, y)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93528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9603275" cy="602521"/>
          </a:xfrm>
        </p:spPr>
        <p:txBody>
          <a:bodyPr/>
          <a:lstStyle/>
          <a:p>
            <a:r>
              <a:rPr lang="en-IN" b="1" dirty="0"/>
              <a:t>Importing </a:t>
            </a:r>
            <a:r>
              <a:rPr lang="en-IN" b="1" dirty="0" err="1"/>
              <a:t>Matplotlib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955" y="792934"/>
            <a:ext cx="11518710" cy="4107976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Example plots:</a:t>
            </a:r>
          </a:p>
        </p:txBody>
      </p:sp>
      <p:sp>
        <p:nvSpPr>
          <p:cNvPr id="4" name="Rectangle 3"/>
          <p:cNvSpPr/>
          <p:nvPr/>
        </p:nvSpPr>
        <p:spPr>
          <a:xfrm>
            <a:off x="532261" y="1392071"/>
            <a:ext cx="5650175" cy="244567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/>
              <a:t>x = </a:t>
            </a:r>
            <a:r>
              <a:rPr lang="en-US" sz="2800" b="1" dirty="0" err="1"/>
              <a:t>np.linspace</a:t>
            </a:r>
            <a:r>
              <a:rPr lang="en-US" sz="2800" b="1" dirty="0"/>
              <a:t>(0, 10, 100)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(x))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  <a:endParaRPr lang="en-US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840" y="3974228"/>
            <a:ext cx="5852160" cy="278823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4046" y="4044514"/>
            <a:ext cx="5688390" cy="264766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/>
              <a:t>x = </a:t>
            </a:r>
            <a:r>
              <a:rPr lang="en-US" sz="2800" b="1" dirty="0" err="1"/>
              <a:t>np.linspace</a:t>
            </a:r>
            <a:r>
              <a:rPr lang="en-US" sz="2800" b="1" dirty="0"/>
              <a:t>(0, 10, 100)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(x))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np.cos</a:t>
            </a:r>
            <a:r>
              <a:rPr lang="en-US" sz="2800" b="1" dirty="0"/>
              <a:t>(x))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  <a:endParaRPr lang="en-US" sz="28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742" y="736980"/>
            <a:ext cx="5852172" cy="311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48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9603275" cy="602521"/>
          </a:xfrm>
        </p:spPr>
        <p:txBody>
          <a:bodyPr/>
          <a:lstStyle/>
          <a:p>
            <a:r>
              <a:rPr lang="en-IN" b="1" dirty="0"/>
              <a:t>Importing </a:t>
            </a:r>
            <a:r>
              <a:rPr lang="en-IN" b="1" dirty="0" err="1"/>
              <a:t>Matplotlib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270" y="900753"/>
            <a:ext cx="11518710" cy="4107976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An example: to save the plot generated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331" y="1624082"/>
            <a:ext cx="5500049" cy="418303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/>
              <a:t>x = </a:t>
            </a:r>
            <a:r>
              <a:rPr lang="en-US" sz="2800" b="1" dirty="0" err="1"/>
              <a:t>np.linspace</a:t>
            </a:r>
            <a:r>
              <a:rPr lang="en-US" sz="2800" b="1" dirty="0"/>
              <a:t>(0, 10, 100)</a:t>
            </a:r>
          </a:p>
          <a:p>
            <a:r>
              <a:rPr lang="en-US" sz="2800" b="1" dirty="0"/>
              <a:t>fig = </a:t>
            </a:r>
            <a:r>
              <a:rPr lang="en-US" sz="2800" b="1" dirty="0" err="1"/>
              <a:t>plt.figure</a:t>
            </a:r>
            <a:r>
              <a:rPr lang="en-US" sz="2800" b="1" dirty="0"/>
              <a:t>()</a:t>
            </a:r>
          </a:p>
          <a:p>
            <a:r>
              <a:rPr lang="en-US" sz="2800" b="1" dirty="0" err="1"/>
              <a:t>fig.savefig</a:t>
            </a:r>
            <a:r>
              <a:rPr lang="en-US" sz="2800" b="1" dirty="0"/>
              <a:t>('my_figure.png')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'-')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np.cos</a:t>
            </a:r>
            <a:r>
              <a:rPr lang="en-US" sz="2800" b="1" dirty="0"/>
              <a:t>(x), '--')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869" y="1521035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20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19" y="193248"/>
            <a:ext cx="5854889" cy="1035052"/>
          </a:xfrm>
        </p:spPr>
        <p:txBody>
          <a:bodyPr>
            <a:normAutofit/>
          </a:bodyPr>
          <a:lstStyle/>
          <a:p>
            <a:r>
              <a:rPr lang="en-IN" sz="6600" b="1" dirty="0"/>
              <a:t>Line Plots </a:t>
            </a:r>
            <a:endParaRPr lang="en-US" sz="4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309" y="1480568"/>
            <a:ext cx="5633398" cy="4169604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832513" y="1228300"/>
            <a:ext cx="5854889" cy="53336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857250" indent="-8572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2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plt.figure</a:t>
            </a:r>
            <a:r>
              <a:rPr lang="en-IN" sz="2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( )</a:t>
            </a:r>
          </a:p>
          <a:p>
            <a:pPr marL="857250" indent="-8572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2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plt.axes</a:t>
            </a:r>
            <a:r>
              <a:rPr lang="en-IN" sz="2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( )</a:t>
            </a:r>
          </a:p>
          <a:p>
            <a:pPr marL="857250" indent="-8572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2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ax.plot</a:t>
            </a:r>
            <a:r>
              <a:rPr lang="en-IN" sz="2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( )</a:t>
            </a:r>
          </a:p>
          <a:p>
            <a:pPr marL="857250" indent="-8572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2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plt.plot</a:t>
            </a:r>
            <a:r>
              <a:rPr lang="en-IN" sz="2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( )</a:t>
            </a:r>
          </a:p>
          <a:p>
            <a:pPr marL="857250" indent="-8572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2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plt.show</a:t>
            </a:r>
            <a:r>
              <a:rPr lang="en-IN" sz="2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( )</a:t>
            </a:r>
          </a:p>
          <a:p>
            <a:pPr marL="857250" indent="-8572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2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plt.xlim</a:t>
            </a:r>
            <a:r>
              <a:rPr lang="en-IN" sz="2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( )</a:t>
            </a:r>
          </a:p>
          <a:p>
            <a:pPr marL="857250" indent="-8572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2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plt.ylim</a:t>
            </a:r>
            <a:r>
              <a:rPr lang="en-IN" sz="2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( )</a:t>
            </a:r>
          </a:p>
          <a:p>
            <a:pPr marL="857250" indent="-8572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2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plt.axis</a:t>
            </a:r>
            <a:r>
              <a:rPr lang="en-IN" sz="2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( )</a:t>
            </a:r>
          </a:p>
          <a:p>
            <a:pPr marL="857250" indent="-8572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2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plt.title</a:t>
            </a:r>
            <a:r>
              <a:rPr lang="en-IN" sz="2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( )</a:t>
            </a:r>
          </a:p>
          <a:p>
            <a:pPr marL="857250" indent="-8572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2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plt.xlabel</a:t>
            </a:r>
            <a:r>
              <a:rPr lang="en-IN" sz="2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( )</a:t>
            </a:r>
          </a:p>
          <a:p>
            <a:pPr marL="857250" indent="-8572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2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plt.ylabel</a:t>
            </a:r>
            <a:r>
              <a:rPr lang="en-IN" sz="2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( )</a:t>
            </a:r>
          </a:p>
          <a:p>
            <a:pPr marL="857250" indent="-8572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2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plt.legend</a:t>
            </a:r>
            <a:r>
              <a:rPr lang="en-IN" sz="2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( )</a:t>
            </a:r>
          </a:p>
          <a:p>
            <a:pPr marL="857250" indent="-8572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2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plt.show</a:t>
            </a:r>
            <a:r>
              <a:rPr lang="en-IN" sz="2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( ) </a:t>
            </a:r>
            <a:endParaRPr lang="en-US" sz="2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416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9603275" cy="602521"/>
          </a:xfrm>
        </p:spPr>
        <p:txBody>
          <a:bodyPr/>
          <a:lstStyle/>
          <a:p>
            <a:r>
              <a:rPr lang="en-IN" b="1" dirty="0"/>
              <a:t>Line Plots 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842" y="1023583"/>
            <a:ext cx="11518710" cy="474942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The simplest of all plots is the visualization of a single function y = f (x).</a:t>
            </a:r>
          </a:p>
          <a:p>
            <a:pPr algn="just"/>
            <a:r>
              <a:rPr lang="en-US" sz="2400" dirty="0"/>
              <a:t>A figure and axes can be created: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In </a:t>
            </a:r>
            <a:r>
              <a:rPr lang="en-US" sz="2400" dirty="0" err="1"/>
              <a:t>Matplotlib</a:t>
            </a:r>
            <a:r>
              <a:rPr lang="en-US" sz="2400" dirty="0"/>
              <a:t>, the figure (an instance of the class </a:t>
            </a:r>
            <a:r>
              <a:rPr lang="en-US" sz="2400" dirty="0" err="1"/>
              <a:t>plt.Figure</a:t>
            </a:r>
            <a:r>
              <a:rPr lang="en-US" sz="2400" dirty="0"/>
              <a:t>): a single container that contains all the objects representing axes, graphics, text, and labels. </a:t>
            </a:r>
          </a:p>
          <a:p>
            <a:pPr algn="just"/>
            <a:r>
              <a:rPr lang="en-US" sz="2400" dirty="0"/>
              <a:t>The axes (an instance of the class </a:t>
            </a:r>
            <a:r>
              <a:rPr lang="en-US" sz="2400" dirty="0" err="1"/>
              <a:t>plt.Axes</a:t>
            </a:r>
            <a:r>
              <a:rPr lang="en-US" sz="2400" dirty="0"/>
              <a:t>): a bounding box with ticks and labels, which will eventually contain the plot elements that make up our visualization.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4148" y="2047163"/>
            <a:ext cx="3466533" cy="900753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fig = </a:t>
            </a:r>
            <a:r>
              <a:rPr lang="en-US" sz="2800" b="1" dirty="0" err="1"/>
              <a:t>plt.figure</a:t>
            </a:r>
            <a:r>
              <a:rPr lang="en-US" sz="2800" b="1" dirty="0"/>
              <a:t>()</a:t>
            </a:r>
          </a:p>
          <a:p>
            <a:r>
              <a:rPr lang="en-US" sz="2800" b="1" dirty="0"/>
              <a:t>ax = </a:t>
            </a:r>
            <a:r>
              <a:rPr lang="en-US" sz="2800" b="1" dirty="0" err="1"/>
              <a:t>plt.axes</a:t>
            </a:r>
            <a:r>
              <a:rPr lang="en-US" sz="2800" b="1" dirty="0"/>
              <a:t>()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7016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9603275" cy="602521"/>
          </a:xfrm>
        </p:spPr>
        <p:txBody>
          <a:bodyPr/>
          <a:lstStyle/>
          <a:p>
            <a:r>
              <a:rPr lang="en-IN" b="1" dirty="0"/>
              <a:t>Line Plots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842" y="1023583"/>
            <a:ext cx="11518710" cy="4107976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An example: A simple sinusoid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464024" y="1624082"/>
            <a:ext cx="5759355" cy="389030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/>
              <a:t>fig = </a:t>
            </a:r>
            <a:r>
              <a:rPr lang="en-US" sz="2800" b="1" dirty="0" err="1"/>
              <a:t>plt.figure</a:t>
            </a:r>
            <a:r>
              <a:rPr lang="en-US" sz="2800" b="1" dirty="0"/>
              <a:t>()</a:t>
            </a:r>
          </a:p>
          <a:p>
            <a:r>
              <a:rPr lang="en-US" sz="2800" b="1" dirty="0"/>
              <a:t>ax = </a:t>
            </a:r>
            <a:r>
              <a:rPr lang="en-US" sz="2800" b="1" dirty="0" err="1"/>
              <a:t>plt.axes</a:t>
            </a:r>
            <a:r>
              <a:rPr lang="en-US" sz="2800" b="1" dirty="0"/>
              <a:t>()</a:t>
            </a:r>
          </a:p>
          <a:p>
            <a:r>
              <a:rPr lang="en-US" sz="2800" b="1" dirty="0"/>
              <a:t>x = </a:t>
            </a:r>
            <a:r>
              <a:rPr lang="en-US" sz="2800" b="1" dirty="0" err="1"/>
              <a:t>np.linspace</a:t>
            </a:r>
            <a:r>
              <a:rPr lang="en-US" sz="2800" b="1" dirty="0"/>
              <a:t>(0, 10, 1000)</a:t>
            </a:r>
          </a:p>
          <a:p>
            <a:r>
              <a:rPr lang="en-US" sz="2800" b="1" dirty="0" err="1"/>
              <a:t>ax.plot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(x)); # blue line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np.cos</a:t>
            </a:r>
            <a:r>
              <a:rPr lang="en-US" sz="2800" b="1" dirty="0"/>
              <a:t>(x)) #orange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  <a:endParaRPr lang="en-US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828" y="1125253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63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Line Plots - </a:t>
            </a:r>
            <a:r>
              <a:rPr lang="en-US" b="1" dirty="0"/>
              <a:t>Adjusting the Plot: Line Colors and Styles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842" y="1023583"/>
            <a:ext cx="11518710" cy="4107976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To control the line colors and styles. The </a:t>
            </a:r>
            <a:r>
              <a:rPr lang="en-US" sz="2800" dirty="0" err="1"/>
              <a:t>plt.plot</a:t>
            </a:r>
            <a:r>
              <a:rPr lang="en-US" sz="2800" dirty="0"/>
              <a:t>() function takes additional arguments that can be used to specify these.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The line </a:t>
            </a:r>
            <a:r>
              <a:rPr lang="en-US" sz="2800" b="1" dirty="0"/>
              <a:t>color</a:t>
            </a:r>
            <a:r>
              <a:rPr lang="en-US" sz="2800" dirty="0"/>
              <a:t> can be specified in a variety of ways using the ‘color’ keyword: RGB (Red/Green/Blue) and CMYK (Cyan /Magenta/ Yellow/ </a:t>
            </a:r>
            <a:r>
              <a:rPr lang="en-US" sz="2800" dirty="0" err="1"/>
              <a:t>blacK</a:t>
            </a:r>
            <a:r>
              <a:rPr lang="en-US" sz="2800" dirty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119920" y="3493826"/>
            <a:ext cx="12072079" cy="3082173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color='blue') # specify color by name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color='g') # short color code (</a:t>
            </a:r>
            <a:r>
              <a:rPr lang="en-US" sz="2800" b="1" dirty="0" err="1"/>
              <a:t>rgbcmyk</a:t>
            </a:r>
            <a:r>
              <a:rPr lang="en-US" sz="2800" b="1" dirty="0"/>
              <a:t>)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color='0.75') # Grayscale between 0 and 1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color='#FFDD44') # Hex code </a:t>
            </a:r>
            <a:r>
              <a:rPr lang="en-US" sz="2000" b="1" dirty="0"/>
              <a:t>(RRGGBB from 00 to FF)</a:t>
            </a:r>
            <a:endParaRPr lang="en-US" sz="2800" b="1" dirty="0"/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color=(1.0,0.2,0.3)) # RGB tuple, values 0 and 1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color='chartreuse'); # all HTML color names supported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90419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Line Plots - </a:t>
            </a:r>
            <a:r>
              <a:rPr lang="en-US" b="1" dirty="0"/>
              <a:t>Adjusting the Plot: Line Colors and Styles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842" y="1023583"/>
            <a:ext cx="11518710" cy="4107976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</a:t>
            </a:r>
            <a:r>
              <a:rPr lang="en-US" sz="2800" b="1" dirty="0"/>
              <a:t>line style </a:t>
            </a:r>
            <a:r>
              <a:rPr lang="en-US" sz="2800" dirty="0"/>
              <a:t>of a line plot can be adjusted using the ‘</a:t>
            </a:r>
            <a:r>
              <a:rPr lang="en-US" sz="2800" dirty="0" err="1"/>
              <a:t>linestyle</a:t>
            </a:r>
            <a:r>
              <a:rPr lang="en-US" sz="2800" dirty="0"/>
              <a:t>’ keyword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394" y="2365633"/>
            <a:ext cx="7988490" cy="449236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</a:t>
            </a:r>
            <a:r>
              <a:rPr lang="en-US" sz="2800" b="1" dirty="0" err="1"/>
              <a:t>linestyle</a:t>
            </a:r>
            <a:r>
              <a:rPr lang="en-US" sz="2800" b="1" dirty="0"/>
              <a:t>='solid')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</a:t>
            </a:r>
            <a:r>
              <a:rPr lang="en-US" sz="2800" b="1" dirty="0" err="1"/>
              <a:t>linestyle</a:t>
            </a:r>
            <a:r>
              <a:rPr lang="en-US" sz="2800" b="1" dirty="0"/>
              <a:t>='dashed')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</a:t>
            </a:r>
            <a:r>
              <a:rPr lang="en-US" sz="2800" b="1" dirty="0" err="1"/>
              <a:t>linestyle</a:t>
            </a:r>
            <a:r>
              <a:rPr lang="en-US" sz="2800" b="1" dirty="0"/>
              <a:t>='</a:t>
            </a:r>
            <a:r>
              <a:rPr lang="en-US" sz="2800" b="1" dirty="0" err="1"/>
              <a:t>dashdot</a:t>
            </a:r>
            <a:r>
              <a:rPr lang="en-US" sz="2800" b="1" dirty="0"/>
              <a:t>')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</a:t>
            </a:r>
            <a:r>
              <a:rPr lang="en-US" sz="2800" b="1" dirty="0" err="1"/>
              <a:t>linestyle</a:t>
            </a:r>
            <a:r>
              <a:rPr lang="en-US" sz="2800" b="1" dirty="0"/>
              <a:t>='dotted');</a:t>
            </a:r>
          </a:p>
          <a:p>
            <a:endParaRPr lang="en-US" sz="2800" b="1" dirty="0"/>
          </a:p>
          <a:p>
            <a:r>
              <a:rPr lang="en-US" sz="2800" b="1" dirty="0"/>
              <a:t># For short, the following codes can be used: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</a:t>
            </a:r>
            <a:r>
              <a:rPr lang="en-US" sz="2800" b="1" dirty="0" err="1"/>
              <a:t>linestyle</a:t>
            </a:r>
            <a:r>
              <a:rPr lang="en-US" sz="2800" b="1" dirty="0"/>
              <a:t>='-') # solid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</a:t>
            </a:r>
            <a:r>
              <a:rPr lang="en-US" sz="2800" b="1" dirty="0" err="1"/>
              <a:t>linestyle</a:t>
            </a:r>
            <a:r>
              <a:rPr lang="en-US" sz="2800" b="1" dirty="0"/>
              <a:t>='--') # dashed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</a:t>
            </a:r>
            <a:r>
              <a:rPr lang="en-US" sz="2800" b="1" dirty="0" err="1"/>
              <a:t>linestyle</a:t>
            </a:r>
            <a:r>
              <a:rPr lang="en-US" sz="2800" b="1" dirty="0"/>
              <a:t>='-.') # </a:t>
            </a:r>
            <a:r>
              <a:rPr lang="en-US" sz="2800" b="1" dirty="0" err="1"/>
              <a:t>dashdot</a:t>
            </a:r>
            <a:endParaRPr lang="en-US" sz="2800" b="1" dirty="0"/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</a:t>
            </a:r>
            <a:r>
              <a:rPr lang="en-US" sz="2800" b="1" dirty="0" err="1"/>
              <a:t>linestyle</a:t>
            </a:r>
            <a:r>
              <a:rPr lang="en-US" sz="2800" b="1" dirty="0"/>
              <a:t>=':'); # dotted</a:t>
            </a: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5822" y="2456597"/>
            <a:ext cx="4346178" cy="354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47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Line Plots - </a:t>
            </a:r>
            <a:r>
              <a:rPr lang="en-US" b="1" dirty="0"/>
              <a:t>Adjusting the Plot: Line Colors and Styles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842" y="1023583"/>
            <a:ext cx="11518710" cy="4107976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color and line style</a:t>
            </a:r>
            <a:r>
              <a:rPr lang="en-US" sz="2800" b="1" dirty="0"/>
              <a:t> </a:t>
            </a:r>
            <a:r>
              <a:rPr lang="en-US" sz="2800" dirty="0"/>
              <a:t>of a line plot can be combined as below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394" y="2083633"/>
            <a:ext cx="5750257" cy="3430063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/>
              <a:t>x = </a:t>
            </a:r>
            <a:r>
              <a:rPr lang="en-US" sz="2800" b="1" dirty="0" err="1"/>
              <a:t>np.linspace</a:t>
            </a:r>
            <a:r>
              <a:rPr lang="en-US" sz="2800" b="1" dirty="0"/>
              <a:t>(0, 10, 1000)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'--r') 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4197" y="1604099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13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Line Plots - </a:t>
            </a:r>
            <a:r>
              <a:rPr lang="en-US" b="1" dirty="0"/>
              <a:t>Adjusting the Plot: Axes Limits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842" y="1023583"/>
            <a:ext cx="11518710" cy="4107976"/>
          </a:xfrm>
        </p:spPr>
        <p:txBody>
          <a:bodyPr>
            <a:normAutofit/>
          </a:bodyPr>
          <a:lstStyle/>
          <a:p>
            <a:pPr algn="just"/>
            <a:r>
              <a:rPr lang="en-US" sz="2800" dirty="0" err="1"/>
              <a:t>Matplotlib</a:t>
            </a:r>
            <a:r>
              <a:rPr lang="en-US" sz="2800" dirty="0"/>
              <a:t> chooses default axes limits for a plot</a:t>
            </a:r>
          </a:p>
          <a:p>
            <a:pPr algn="just"/>
            <a:r>
              <a:rPr lang="en-US" sz="2800" dirty="0"/>
              <a:t>But to have finer control, the most basic way to adjust axis limits is to use the </a:t>
            </a:r>
            <a:r>
              <a:rPr lang="en-US" sz="2800" b="1" dirty="0" err="1"/>
              <a:t>plt.xlim</a:t>
            </a:r>
            <a:r>
              <a:rPr lang="en-US" sz="2800" b="1" dirty="0"/>
              <a:t>() </a:t>
            </a:r>
            <a:r>
              <a:rPr lang="en-US" sz="2800" dirty="0"/>
              <a:t>and </a:t>
            </a:r>
            <a:r>
              <a:rPr lang="en-US" sz="2800" b="1" dirty="0" err="1"/>
              <a:t>plt.ylim</a:t>
            </a:r>
            <a:r>
              <a:rPr lang="en-US" sz="2800" b="1" dirty="0"/>
              <a:t>()</a:t>
            </a:r>
            <a:r>
              <a:rPr lang="en-US" sz="2800" dirty="0"/>
              <a:t>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54842" y="3077571"/>
            <a:ext cx="5750257" cy="3430063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/>
              <a:t>x = </a:t>
            </a:r>
            <a:r>
              <a:rPr lang="en-US" sz="2800" b="1" dirty="0" err="1"/>
              <a:t>np.linspace</a:t>
            </a:r>
            <a:r>
              <a:rPr lang="en-US" sz="2800" b="1" dirty="0"/>
              <a:t>(0, 10, 1000)</a:t>
            </a:r>
          </a:p>
          <a:p>
            <a:r>
              <a:rPr lang="en-US" sz="2800" b="1" dirty="0" err="1"/>
              <a:t>plt.xlim</a:t>
            </a:r>
            <a:r>
              <a:rPr lang="en-US" sz="2800" b="1" dirty="0"/>
              <a:t>(-1, 11)</a:t>
            </a:r>
          </a:p>
          <a:p>
            <a:r>
              <a:rPr lang="en-US" sz="2800" b="1" dirty="0" err="1"/>
              <a:t>plt.ylim</a:t>
            </a:r>
            <a:r>
              <a:rPr lang="en-US" sz="2800" b="1" dirty="0"/>
              <a:t>(-1.5, 1.5);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'--r') 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60" y="2837804"/>
            <a:ext cx="5852172" cy="390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730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Line Plots - </a:t>
            </a:r>
            <a:r>
              <a:rPr lang="en-US" b="1" dirty="0"/>
              <a:t>Adjusting the Plot: Axes Limits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842" y="1023583"/>
            <a:ext cx="11518710" cy="4107976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Instead of using </a:t>
            </a:r>
            <a:r>
              <a:rPr lang="en-US" sz="2800" b="1" dirty="0" err="1"/>
              <a:t>plt.xlim</a:t>
            </a:r>
            <a:r>
              <a:rPr lang="en-US" sz="2800" b="1" dirty="0"/>
              <a:t>() </a:t>
            </a:r>
            <a:r>
              <a:rPr lang="en-US" sz="2800" dirty="0"/>
              <a:t>and </a:t>
            </a:r>
            <a:r>
              <a:rPr lang="en-US" sz="2800" b="1" dirty="0" err="1"/>
              <a:t>plt.ylim</a:t>
            </a:r>
            <a:r>
              <a:rPr lang="en-US" sz="2800" b="1" dirty="0"/>
              <a:t>()</a:t>
            </a:r>
            <a:r>
              <a:rPr lang="en-US" sz="2800" dirty="0"/>
              <a:t> methods, the </a:t>
            </a:r>
            <a:r>
              <a:rPr lang="en-US" sz="2800" b="1" dirty="0" err="1"/>
              <a:t>plt.axis</a:t>
            </a:r>
            <a:r>
              <a:rPr lang="en-US" sz="2800" b="1" dirty="0"/>
              <a:t>() </a:t>
            </a:r>
            <a:r>
              <a:rPr lang="en-US" sz="2800" dirty="0"/>
              <a:t>method allows to set the x and y limits with a single call, by passing a list that specifies [</a:t>
            </a:r>
            <a:r>
              <a:rPr lang="en-US" sz="2800" dirty="0" err="1"/>
              <a:t>xmin</a:t>
            </a:r>
            <a:r>
              <a:rPr lang="en-US" sz="2800" dirty="0"/>
              <a:t>, </a:t>
            </a:r>
            <a:r>
              <a:rPr lang="en-US" sz="2800" dirty="0" err="1"/>
              <a:t>xmax</a:t>
            </a:r>
            <a:r>
              <a:rPr lang="en-US" sz="2800" dirty="0"/>
              <a:t>, </a:t>
            </a:r>
            <a:r>
              <a:rPr lang="en-US" sz="2800" dirty="0" err="1"/>
              <a:t>ymin</a:t>
            </a:r>
            <a:r>
              <a:rPr lang="en-US" sz="2800" dirty="0"/>
              <a:t>, </a:t>
            </a:r>
            <a:r>
              <a:rPr lang="en-US" sz="2800" dirty="0" err="1"/>
              <a:t>ymax</a:t>
            </a:r>
            <a:r>
              <a:rPr lang="en-US" sz="2800" dirty="0"/>
              <a:t>]</a:t>
            </a:r>
          </a:p>
        </p:txBody>
      </p:sp>
      <p:sp>
        <p:nvSpPr>
          <p:cNvPr id="4" name="Rectangle 3"/>
          <p:cNvSpPr/>
          <p:nvPr/>
        </p:nvSpPr>
        <p:spPr>
          <a:xfrm>
            <a:off x="354842" y="3077571"/>
            <a:ext cx="5750257" cy="3430063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/>
              <a:t>x = </a:t>
            </a:r>
            <a:r>
              <a:rPr lang="en-US" sz="2800" b="1" dirty="0" err="1"/>
              <a:t>np.linspace</a:t>
            </a:r>
            <a:r>
              <a:rPr lang="en-US" sz="2800" b="1" dirty="0"/>
              <a:t>(0, 10, 1000)</a:t>
            </a:r>
          </a:p>
          <a:p>
            <a:r>
              <a:rPr lang="en-US" sz="2800" b="1" dirty="0" err="1"/>
              <a:t>plt.axis</a:t>
            </a:r>
            <a:r>
              <a:rPr lang="en-US" sz="2800" b="1" dirty="0"/>
              <a:t>([-1, 11, -1.5, 1.5])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'--r') 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60" y="2837804"/>
            <a:ext cx="5852172" cy="390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583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Line Plots - </a:t>
            </a:r>
            <a:r>
              <a:rPr lang="en-US" b="1" dirty="0"/>
              <a:t>Adjusting the Plot: Axes Limits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842" y="1023583"/>
            <a:ext cx="11518710" cy="4107976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To set axis as one unit in x is equal to one unit in y, use ‘equal’ keyword in </a:t>
            </a:r>
            <a:r>
              <a:rPr lang="en-US" sz="2800" dirty="0" err="1"/>
              <a:t>plt.axis</a:t>
            </a:r>
            <a:r>
              <a:rPr lang="en-US" sz="2800" dirty="0"/>
              <a:t>()</a:t>
            </a:r>
          </a:p>
        </p:txBody>
      </p:sp>
      <p:sp>
        <p:nvSpPr>
          <p:cNvPr id="4" name="Rectangle 3"/>
          <p:cNvSpPr/>
          <p:nvPr/>
        </p:nvSpPr>
        <p:spPr>
          <a:xfrm>
            <a:off x="354842" y="2258705"/>
            <a:ext cx="5750257" cy="3430063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/>
              <a:t>x = </a:t>
            </a:r>
            <a:r>
              <a:rPr lang="en-US" sz="2800" b="1" dirty="0" err="1"/>
              <a:t>np.linspace</a:t>
            </a:r>
            <a:r>
              <a:rPr lang="en-US" sz="2800" b="1" dirty="0"/>
              <a:t>(0, 10, 1000)</a:t>
            </a:r>
          </a:p>
          <a:p>
            <a:r>
              <a:rPr lang="en-US" sz="2800" b="1" dirty="0" err="1"/>
              <a:t>plt.axis</a:t>
            </a:r>
            <a:r>
              <a:rPr lang="en-US" sz="2800" b="1" dirty="0"/>
              <a:t>(‘equal’)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‘-.k') 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885" y="1643868"/>
            <a:ext cx="5852172" cy="486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Line Plots - </a:t>
            </a:r>
            <a:r>
              <a:rPr lang="en-US" b="1" dirty="0"/>
              <a:t>Labeling Plots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842" y="1023583"/>
            <a:ext cx="11518710" cy="4107976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Titles and axis labels are the simplest such labels – method that can be used to quickly set them </a:t>
            </a:r>
            <a:r>
              <a:rPr lang="en-US" sz="2800" dirty="0" err="1"/>
              <a:t>plt.title</a:t>
            </a:r>
            <a:r>
              <a:rPr lang="en-US" sz="2800" dirty="0"/>
              <a:t>( ), </a:t>
            </a:r>
            <a:r>
              <a:rPr lang="en-US" sz="2800" dirty="0" err="1"/>
              <a:t>plt.xlabel</a:t>
            </a:r>
            <a:r>
              <a:rPr lang="en-US" sz="2800" dirty="0"/>
              <a:t>( ) and </a:t>
            </a:r>
            <a:r>
              <a:rPr lang="en-US" sz="2800" dirty="0" err="1"/>
              <a:t>plt.ylabel</a:t>
            </a:r>
            <a:r>
              <a:rPr lang="en-US" sz="2800" dirty="0"/>
              <a:t>( );</a:t>
            </a:r>
          </a:p>
        </p:txBody>
      </p:sp>
      <p:sp>
        <p:nvSpPr>
          <p:cNvPr id="4" name="Rectangle 3"/>
          <p:cNvSpPr/>
          <p:nvPr/>
        </p:nvSpPr>
        <p:spPr>
          <a:xfrm>
            <a:off x="328431" y="2913798"/>
            <a:ext cx="5750257" cy="365077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/>
              <a:t>x = </a:t>
            </a:r>
            <a:r>
              <a:rPr lang="en-US" sz="2800" b="1" dirty="0" err="1"/>
              <a:t>np.linspace</a:t>
            </a:r>
            <a:r>
              <a:rPr lang="en-US" sz="2800" b="1" dirty="0"/>
              <a:t>(0, 10, 1000)</a:t>
            </a:r>
          </a:p>
          <a:p>
            <a:r>
              <a:rPr lang="en-US" sz="2800" b="1" dirty="0" err="1"/>
              <a:t>plt.title</a:t>
            </a:r>
            <a:r>
              <a:rPr lang="en-US" sz="2800" b="1" dirty="0"/>
              <a:t>("A Sine Curve")</a:t>
            </a:r>
          </a:p>
          <a:p>
            <a:r>
              <a:rPr lang="en-US" sz="2800" b="1" dirty="0" err="1"/>
              <a:t>plt.xlabel</a:t>
            </a:r>
            <a:r>
              <a:rPr lang="en-US" sz="2800" b="1" dirty="0"/>
              <a:t>("x")</a:t>
            </a:r>
          </a:p>
          <a:p>
            <a:r>
              <a:rPr lang="en-US" sz="2800" b="1" dirty="0" err="1"/>
              <a:t>plt.ylabel</a:t>
            </a:r>
            <a:r>
              <a:rPr lang="en-US" sz="2800" b="1" dirty="0"/>
              <a:t>("sin(x)");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':m') 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012" y="2326257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58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Line Plots - </a:t>
            </a:r>
            <a:r>
              <a:rPr lang="en-US" b="1" dirty="0"/>
              <a:t>Labeling the Plots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774" y="736980"/>
            <a:ext cx="11518710" cy="4107976"/>
          </a:xfrm>
        </p:spPr>
        <p:txBody>
          <a:bodyPr>
            <a:normAutofit/>
          </a:bodyPr>
          <a:lstStyle/>
          <a:p>
            <a:r>
              <a:rPr lang="en-US" sz="2800" dirty="0"/>
              <a:t>When multiple lines are being shown within a single axes, it can be useful to create a plot legend that labels each line type using </a:t>
            </a:r>
            <a:r>
              <a:rPr lang="en-US" sz="2800" dirty="0" err="1"/>
              <a:t>plt.legend</a:t>
            </a:r>
            <a:r>
              <a:rPr lang="en-US" sz="2800" dirty="0"/>
              <a:t>() method </a:t>
            </a:r>
            <a:r>
              <a:rPr lang="en-US" sz="2800" dirty="0">
                <a:sym typeface="Wingdings" panose="05000000000000000000" pitchFamily="2" charset="2"/>
              </a:rPr>
              <a:t> it </a:t>
            </a:r>
            <a:r>
              <a:rPr lang="en-US" sz="2800" dirty="0"/>
              <a:t>keeps track of the line style and color, and matches these with the correct label.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06973"/>
            <a:ext cx="7192370" cy="395102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/>
              <a:t>x = </a:t>
            </a:r>
            <a:r>
              <a:rPr lang="en-US" sz="2800" b="1" dirty="0" err="1"/>
              <a:t>np.linspace</a:t>
            </a:r>
            <a:r>
              <a:rPr lang="en-US" sz="2800" b="1" dirty="0"/>
              <a:t>(0, 10, 1000)</a:t>
            </a:r>
          </a:p>
          <a:p>
            <a:r>
              <a:rPr lang="en-US" sz="2800" b="1" dirty="0" err="1"/>
              <a:t>plt.title</a:t>
            </a:r>
            <a:r>
              <a:rPr lang="en-US" sz="2800" b="1" dirty="0"/>
              <a:t>("A Sine Curve")</a:t>
            </a:r>
          </a:p>
          <a:p>
            <a:r>
              <a:rPr lang="en-US" sz="2800" b="1" dirty="0" err="1"/>
              <a:t>plt.xlabel</a:t>
            </a:r>
            <a:r>
              <a:rPr lang="en-US" sz="2800" b="1" dirty="0"/>
              <a:t>("x")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'-g', label = 'sin(x)')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np.cos</a:t>
            </a:r>
            <a:r>
              <a:rPr lang="en-US" sz="2800" b="1" dirty="0"/>
              <a:t>(x), ':r', label = 'cos(x)')</a:t>
            </a:r>
          </a:p>
          <a:p>
            <a:r>
              <a:rPr lang="en-US" sz="2800" b="1" dirty="0" err="1"/>
              <a:t>plt.legend</a:t>
            </a:r>
            <a:r>
              <a:rPr lang="en-US" sz="2800" b="1" dirty="0"/>
              <a:t>()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6" y="2797791"/>
            <a:ext cx="5099714" cy="406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74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7" y="1019151"/>
            <a:ext cx="5854889" cy="1969007"/>
          </a:xfrm>
        </p:spPr>
        <p:txBody>
          <a:bodyPr>
            <a:normAutofit/>
          </a:bodyPr>
          <a:lstStyle/>
          <a:p>
            <a:r>
              <a:rPr lang="en-IN" sz="6600" b="1" dirty="0"/>
              <a:t>Scatter Plots </a:t>
            </a:r>
            <a:endParaRPr lang="en-US" sz="4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050" y="110319"/>
            <a:ext cx="5390865" cy="453604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29819" y="3316406"/>
            <a:ext cx="5854889" cy="16407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IN" b="1" dirty="0" err="1"/>
              <a:t>plt.plot</a:t>
            </a:r>
            <a:r>
              <a:rPr lang="en-IN" b="1" dirty="0"/>
              <a:t>( )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IN" b="1" dirty="0" err="1"/>
              <a:t>plt.scatter</a:t>
            </a:r>
            <a:r>
              <a:rPr lang="en-IN" b="1" dirty="0"/>
              <a:t>( )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IN" b="1" dirty="0" err="1"/>
              <a:t>plt.colorbar</a:t>
            </a:r>
            <a:r>
              <a:rPr lang="en-IN" b="1" dirty="0"/>
              <a:t>( )</a:t>
            </a:r>
          </a:p>
        </p:txBody>
      </p:sp>
    </p:spTree>
    <p:extLst>
      <p:ext uri="{BB962C8B-B14F-4D97-AF65-F5344CB8AC3E}">
        <p14:creationId xmlns:p14="http://schemas.microsoft.com/office/powerpoint/2010/main" val="91892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9603275" cy="602521"/>
          </a:xfrm>
        </p:spPr>
        <p:txBody>
          <a:bodyPr/>
          <a:lstStyle/>
          <a:p>
            <a:r>
              <a:rPr lang="en-IN" b="1" dirty="0"/>
              <a:t>scatter Plots 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898" y="736980"/>
            <a:ext cx="11518710" cy="4940489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Similar to line plots.</a:t>
            </a:r>
          </a:p>
          <a:p>
            <a:pPr algn="just"/>
            <a:r>
              <a:rPr lang="en-US" sz="2800" dirty="0"/>
              <a:t>Instead of points being joined by line segments, here the points are represented individually with a dot, circle, or other shape</a:t>
            </a:r>
          </a:p>
          <a:p>
            <a:pPr algn="just"/>
            <a:r>
              <a:rPr lang="en-US" sz="2800" dirty="0"/>
              <a:t>Import the following functions: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Scatter plots can be produced using the 2 methods: </a:t>
            </a:r>
            <a:r>
              <a:rPr lang="en-US" sz="2800" dirty="0" err="1"/>
              <a:t>plt.plot</a:t>
            </a:r>
            <a:r>
              <a:rPr lang="en-US" sz="2800" dirty="0"/>
              <a:t>() and </a:t>
            </a:r>
            <a:r>
              <a:rPr lang="en-US" sz="2800" dirty="0" err="1"/>
              <a:t>plt.scatter</a:t>
            </a:r>
            <a:r>
              <a:rPr lang="en-US" sz="2800" dirty="0"/>
              <a:t>()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586852" y="3493826"/>
            <a:ext cx="7096837" cy="154219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  <a:endParaRPr lang="en-US" sz="2800" dirty="0"/>
          </a:p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 err="1"/>
              <a:t>plt.style.use</a:t>
            </a:r>
            <a:r>
              <a:rPr lang="en-US" sz="2800" b="1" dirty="0"/>
              <a:t>('</a:t>
            </a:r>
            <a:r>
              <a:rPr lang="en-US" sz="2800" b="1" dirty="0" err="1"/>
              <a:t>seaborn-whitegrid</a:t>
            </a:r>
            <a:r>
              <a:rPr lang="en-US" sz="2800" b="1" dirty="0"/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3336139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Scatter Plots with </a:t>
            </a:r>
            <a:r>
              <a:rPr lang="en-IN" b="1" dirty="0" err="1"/>
              <a:t>plt.plot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774" y="736979"/>
            <a:ext cx="5231641" cy="5977719"/>
          </a:xfrm>
        </p:spPr>
        <p:txBody>
          <a:bodyPr>
            <a:noAutofit/>
          </a:bodyPr>
          <a:lstStyle/>
          <a:p>
            <a:pPr algn="just"/>
            <a:r>
              <a:rPr lang="en-US" sz="2800" dirty="0" err="1"/>
              <a:t>plt.plot</a:t>
            </a:r>
            <a:r>
              <a:rPr lang="en-US" sz="2800" dirty="0"/>
              <a:t> used to produce line plots can produce scatter plots as well</a:t>
            </a:r>
          </a:p>
          <a:p>
            <a:pPr algn="just"/>
            <a:r>
              <a:rPr lang="en-US" sz="2800" dirty="0"/>
              <a:t>The 3</a:t>
            </a:r>
            <a:r>
              <a:rPr lang="en-US" sz="2800" baseline="30000" dirty="0"/>
              <a:t>rd</a:t>
            </a:r>
            <a:r>
              <a:rPr lang="en-US" sz="2800" dirty="0"/>
              <a:t> parameter </a:t>
            </a:r>
            <a:r>
              <a:rPr lang="en-US" sz="2800" dirty="0">
                <a:sym typeface="Wingdings" panose="05000000000000000000" pitchFamily="2" charset="2"/>
              </a:rPr>
              <a:t></a:t>
            </a:r>
            <a:r>
              <a:rPr lang="en-US" sz="2800" dirty="0"/>
              <a:t> character that  represents the type of symbol used for the plotting. </a:t>
            </a:r>
          </a:p>
          <a:p>
            <a:pPr algn="just"/>
            <a:r>
              <a:rPr lang="en-US" sz="2800" dirty="0"/>
              <a:t>Instead of ‘o’, other markers that can be used are 	.	, 	x	+	v	^	&lt;	&gt;	s	d</a:t>
            </a:r>
          </a:p>
          <a:p>
            <a:pPr algn="just"/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5759355" y="730842"/>
            <a:ext cx="6432645" cy="2476381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/>
              <a:t>x = </a:t>
            </a:r>
            <a:r>
              <a:rPr lang="en-US" sz="2800" b="1" dirty="0" err="1"/>
              <a:t>np.linspace</a:t>
            </a:r>
            <a:r>
              <a:rPr lang="en-US" sz="2800" b="1" dirty="0"/>
              <a:t>(0, 10, 30)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'o', color='k')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355" y="3207224"/>
            <a:ext cx="6432645" cy="365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1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Scatter Plots with </a:t>
            </a:r>
            <a:r>
              <a:rPr lang="en-IN" b="1" dirty="0" err="1"/>
              <a:t>plt.plot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774" y="736979"/>
            <a:ext cx="5231641" cy="5977719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These character codes can be used together with line and color codes to plot points along with a line connecting them</a:t>
            </a:r>
          </a:p>
          <a:p>
            <a:pPr algn="just"/>
            <a:r>
              <a:rPr lang="en-US" sz="2800" dirty="0" err="1"/>
              <a:t>Eg</a:t>
            </a:r>
            <a:r>
              <a:rPr lang="en-US" sz="2800" dirty="0"/>
              <a:t>. </a:t>
            </a:r>
          </a:p>
          <a:p>
            <a:pPr algn="just"/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'-</a:t>
            </a:r>
            <a:r>
              <a:rPr lang="en-US" sz="2800" b="1" dirty="0" err="1"/>
              <a:t>dk</a:t>
            </a:r>
            <a:r>
              <a:rPr lang="en-US" sz="2800" b="1" dirty="0"/>
              <a:t>')</a:t>
            </a:r>
          </a:p>
          <a:p>
            <a:pPr algn="just"/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5759355" y="730842"/>
            <a:ext cx="6432645" cy="2476381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/>
              <a:t>x = </a:t>
            </a:r>
            <a:r>
              <a:rPr lang="en-US" sz="2800" b="1" dirty="0" err="1"/>
              <a:t>np.linspace</a:t>
            </a:r>
            <a:r>
              <a:rPr lang="en-US" sz="2800" b="1" dirty="0"/>
              <a:t>(0, 10, 30)</a:t>
            </a:r>
          </a:p>
          <a:p>
            <a:r>
              <a:rPr lang="en-US" sz="2800" b="1" dirty="0" err="1"/>
              <a:t>plt.plot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'-</a:t>
            </a:r>
            <a:r>
              <a:rPr lang="en-US" sz="2800" b="1" dirty="0" err="1"/>
              <a:t>dk</a:t>
            </a:r>
            <a:r>
              <a:rPr lang="en-US" sz="2800" b="1" dirty="0"/>
              <a:t>')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355" y="3207223"/>
            <a:ext cx="6432645" cy="365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1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Scatter Plots with </a:t>
            </a:r>
            <a:r>
              <a:rPr lang="en-IN" b="1" dirty="0" err="1"/>
              <a:t>plt.scatter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774" y="736979"/>
            <a:ext cx="11614244" cy="5977719"/>
          </a:xfrm>
        </p:spPr>
        <p:txBody>
          <a:bodyPr>
            <a:noAutofit/>
          </a:bodyPr>
          <a:lstStyle/>
          <a:p>
            <a:pPr algn="just"/>
            <a:r>
              <a:rPr lang="en-US" sz="2800" dirty="0" err="1"/>
              <a:t>plt.scatter</a:t>
            </a:r>
            <a:r>
              <a:rPr lang="en-US" sz="2800" dirty="0"/>
              <a:t> function can be used very similarly to the </a:t>
            </a:r>
            <a:r>
              <a:rPr lang="en-US" sz="2800" dirty="0" err="1"/>
              <a:t>plt.plot</a:t>
            </a:r>
            <a:r>
              <a:rPr lang="en-US" sz="2800" dirty="0"/>
              <a:t> function.</a:t>
            </a:r>
          </a:p>
          <a:p>
            <a:pPr algn="just"/>
            <a:endParaRPr lang="en-US" sz="2800" b="1" dirty="0"/>
          </a:p>
          <a:p>
            <a:pPr algn="just"/>
            <a:endParaRPr lang="en-US" sz="2800" b="1" dirty="0"/>
          </a:p>
          <a:p>
            <a:pPr algn="just"/>
            <a:endParaRPr lang="en-US" sz="2800" b="1" dirty="0"/>
          </a:p>
          <a:p>
            <a:pPr algn="just"/>
            <a:endParaRPr lang="en-US" sz="2800" b="1" dirty="0"/>
          </a:p>
          <a:p>
            <a:pPr algn="just"/>
            <a:endParaRPr lang="en-US" sz="2800" b="1" dirty="0"/>
          </a:p>
          <a:p>
            <a:pPr algn="just"/>
            <a:r>
              <a:rPr lang="en-US" sz="2800" b="1" dirty="0"/>
              <a:t>The primary difference of </a:t>
            </a:r>
            <a:r>
              <a:rPr lang="en-US" sz="2800" b="1" dirty="0" err="1"/>
              <a:t>plt.scatter</a:t>
            </a:r>
            <a:r>
              <a:rPr lang="en-US" sz="2800" b="1" dirty="0"/>
              <a:t> from </a:t>
            </a:r>
            <a:r>
              <a:rPr lang="en-US" sz="2800" b="1" dirty="0" err="1"/>
              <a:t>plt.plot</a:t>
            </a:r>
            <a:r>
              <a:rPr lang="en-US" sz="2800" b="1" dirty="0"/>
              <a:t> </a:t>
            </a:r>
            <a:r>
              <a:rPr lang="en-US" sz="2800" b="1" dirty="0">
                <a:sym typeface="Wingdings" panose="05000000000000000000" pitchFamily="2" charset="2"/>
              </a:rPr>
              <a:t> </a:t>
            </a:r>
            <a:r>
              <a:rPr lang="en-US" sz="2800" b="1" dirty="0"/>
              <a:t>it can be used to create scatter plots where the properties of each individual point (size, face color, edge color, etc.) can be individually controlled or mapped to data.</a:t>
            </a:r>
          </a:p>
          <a:p>
            <a:pPr algn="just"/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58225" y="1658890"/>
            <a:ext cx="6387152" cy="2476381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/>
              <a:t>x = </a:t>
            </a:r>
            <a:r>
              <a:rPr lang="en-US" sz="2800" b="1" dirty="0" err="1"/>
              <a:t>np.linspace</a:t>
            </a:r>
            <a:r>
              <a:rPr lang="en-US" sz="2800" b="1" dirty="0"/>
              <a:t>(0, 10, 30)</a:t>
            </a:r>
          </a:p>
          <a:p>
            <a:r>
              <a:rPr lang="en-US" sz="2800" b="1" dirty="0" err="1"/>
              <a:t>plt.scatter</a:t>
            </a:r>
            <a:r>
              <a:rPr lang="en-US" sz="2800" b="1" dirty="0"/>
              <a:t>(x, </a:t>
            </a:r>
            <a:r>
              <a:rPr lang="en-US" sz="2800" b="1" dirty="0" err="1"/>
              <a:t>np.sin</a:t>
            </a:r>
            <a:r>
              <a:rPr lang="en-US" sz="2800" b="1" dirty="0"/>
              <a:t>(x), marker='o')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377" y="1363403"/>
            <a:ext cx="5852172" cy="333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699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Scatter Plots with </a:t>
            </a:r>
            <a:r>
              <a:rPr lang="en-IN" b="1" dirty="0" err="1"/>
              <a:t>plt.scatter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5719"/>
            <a:ext cx="6634429" cy="5977719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Color</a:t>
            </a:r>
            <a:r>
              <a:rPr lang="en-US" sz="2800" dirty="0"/>
              <a:t> argument is automatically mapped to a color scale (shown here by the </a:t>
            </a:r>
            <a:r>
              <a:rPr lang="en-US" sz="2800" dirty="0" err="1"/>
              <a:t>colorbar</a:t>
            </a:r>
            <a:r>
              <a:rPr lang="en-US" sz="2800" dirty="0"/>
              <a:t>() command), and the </a:t>
            </a:r>
            <a:r>
              <a:rPr lang="en-US" sz="2800" b="1" dirty="0"/>
              <a:t>size</a:t>
            </a:r>
            <a:r>
              <a:rPr lang="en-US" sz="2800" dirty="0"/>
              <a:t> argument is given in pixels.</a:t>
            </a: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0" y="2298275"/>
            <a:ext cx="8075841" cy="45597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 err="1"/>
              <a:t>rng</a:t>
            </a:r>
            <a:r>
              <a:rPr lang="en-US" sz="2800" b="1" dirty="0"/>
              <a:t> = </a:t>
            </a:r>
            <a:r>
              <a:rPr lang="en-US" sz="2800" b="1" dirty="0" err="1"/>
              <a:t>np.random.RandomState</a:t>
            </a:r>
            <a:r>
              <a:rPr lang="en-US" sz="2800" b="1" dirty="0"/>
              <a:t>(0)</a:t>
            </a:r>
          </a:p>
          <a:p>
            <a:r>
              <a:rPr lang="en-US" sz="2800" b="1" dirty="0"/>
              <a:t>x = </a:t>
            </a:r>
            <a:r>
              <a:rPr lang="en-US" sz="2800" b="1" dirty="0" err="1"/>
              <a:t>rng.randn</a:t>
            </a:r>
            <a:r>
              <a:rPr lang="en-US" sz="2800" b="1" dirty="0"/>
              <a:t>(100)</a:t>
            </a:r>
          </a:p>
          <a:p>
            <a:r>
              <a:rPr lang="en-US" sz="2800" b="1" dirty="0"/>
              <a:t>y = </a:t>
            </a:r>
            <a:r>
              <a:rPr lang="en-US" sz="2800" b="1" dirty="0" err="1"/>
              <a:t>rng.randn</a:t>
            </a:r>
            <a:r>
              <a:rPr lang="en-US" sz="2800" b="1" dirty="0"/>
              <a:t>(100)</a:t>
            </a:r>
          </a:p>
          <a:p>
            <a:r>
              <a:rPr lang="en-US" sz="2800" b="1" dirty="0"/>
              <a:t>colors = </a:t>
            </a:r>
            <a:r>
              <a:rPr lang="en-US" sz="2800" b="1" dirty="0" err="1"/>
              <a:t>rng.rand</a:t>
            </a:r>
            <a:r>
              <a:rPr lang="en-US" sz="2800" b="1" dirty="0"/>
              <a:t>(100)</a:t>
            </a:r>
          </a:p>
          <a:p>
            <a:r>
              <a:rPr lang="en-US" sz="2800" b="1" dirty="0"/>
              <a:t>sizes = 1000 * </a:t>
            </a:r>
            <a:r>
              <a:rPr lang="en-US" sz="2800" b="1" dirty="0" err="1"/>
              <a:t>rng.rand</a:t>
            </a:r>
            <a:r>
              <a:rPr lang="en-US" sz="2800" b="1" dirty="0"/>
              <a:t>(100)</a:t>
            </a:r>
          </a:p>
          <a:p>
            <a:r>
              <a:rPr lang="en-US" sz="2800" b="1" dirty="0" err="1"/>
              <a:t>plt.scatter</a:t>
            </a:r>
            <a:r>
              <a:rPr lang="en-US" sz="2800" b="1" dirty="0"/>
              <a:t>(x, y, c=colors, alpha=0.3, s=sizes)</a:t>
            </a:r>
          </a:p>
          <a:p>
            <a:r>
              <a:rPr lang="en-US" sz="2800" b="1" dirty="0" err="1"/>
              <a:t>plt.colorbar</a:t>
            </a:r>
            <a:r>
              <a:rPr lang="en-US" sz="2800" b="1" dirty="0"/>
              <a:t>()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0" t="7012" r="11669" b="1882"/>
          <a:stretch/>
        </p:blipFill>
        <p:spPr>
          <a:xfrm>
            <a:off x="6634429" y="736978"/>
            <a:ext cx="5557571" cy="461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47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Scatter Plots with </a:t>
            </a:r>
            <a:r>
              <a:rPr lang="en-IN" b="1" dirty="0" err="1"/>
              <a:t>plt.scatter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5719"/>
            <a:ext cx="6634429" cy="5977719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Scatter plot for a dataset (like Iris) can be produced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69047" y="1371599"/>
            <a:ext cx="9089409" cy="534309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/>
              <a:t>from </a:t>
            </a:r>
            <a:r>
              <a:rPr lang="en-US" sz="2800" b="1" dirty="0" err="1"/>
              <a:t>sklearn.datasets</a:t>
            </a:r>
            <a:r>
              <a:rPr lang="en-US" sz="2800" b="1" dirty="0"/>
              <a:t> import </a:t>
            </a:r>
            <a:r>
              <a:rPr lang="en-US" sz="2800" b="1" dirty="0" err="1"/>
              <a:t>load_iris</a:t>
            </a:r>
            <a:endParaRPr lang="en-US" sz="2800" b="1" dirty="0"/>
          </a:p>
          <a:p>
            <a:r>
              <a:rPr lang="en-US" sz="2800" b="1" dirty="0"/>
              <a:t>iris = </a:t>
            </a:r>
            <a:r>
              <a:rPr lang="en-US" sz="2800" b="1" dirty="0" err="1"/>
              <a:t>load_iris</a:t>
            </a:r>
            <a:r>
              <a:rPr lang="en-US" sz="2800" b="1" dirty="0"/>
              <a:t>()</a:t>
            </a:r>
          </a:p>
          <a:p>
            <a:r>
              <a:rPr lang="en-US" sz="2800" b="1" dirty="0"/>
              <a:t>features = </a:t>
            </a:r>
            <a:r>
              <a:rPr lang="en-US" sz="2800" b="1" dirty="0" err="1"/>
              <a:t>iris.data.T</a:t>
            </a:r>
            <a:endParaRPr lang="en-US" sz="2800" b="1" dirty="0"/>
          </a:p>
          <a:p>
            <a:r>
              <a:rPr lang="en-US" sz="2800" b="1" dirty="0" err="1"/>
              <a:t>plt.scatter</a:t>
            </a:r>
            <a:r>
              <a:rPr lang="en-US" sz="2800" b="1" dirty="0"/>
              <a:t>(features[0], features[1], alpha=0.2,</a:t>
            </a:r>
          </a:p>
          <a:p>
            <a:r>
              <a:rPr lang="en-US" sz="2800" b="1" dirty="0"/>
              <a:t>s=100*features[3], c=</a:t>
            </a:r>
            <a:r>
              <a:rPr lang="en-US" sz="2800" b="1" dirty="0" err="1"/>
              <a:t>iris.target</a:t>
            </a:r>
            <a:r>
              <a:rPr lang="en-US" sz="2800" b="1" dirty="0"/>
              <a:t>, </a:t>
            </a:r>
            <a:r>
              <a:rPr lang="en-US" sz="2800" b="1" dirty="0" err="1"/>
              <a:t>cmap</a:t>
            </a:r>
            <a:r>
              <a:rPr lang="en-US" sz="2800" b="1" dirty="0"/>
              <a:t>='</a:t>
            </a:r>
            <a:r>
              <a:rPr lang="en-US" sz="2800" b="1" dirty="0" err="1"/>
              <a:t>viridis</a:t>
            </a:r>
            <a:r>
              <a:rPr lang="en-US" sz="2800" b="1" dirty="0"/>
              <a:t>')</a:t>
            </a:r>
          </a:p>
          <a:p>
            <a:r>
              <a:rPr lang="en-US" sz="2800" b="1" dirty="0" err="1"/>
              <a:t>plt.xlabel</a:t>
            </a:r>
            <a:r>
              <a:rPr lang="en-US" sz="2800" b="1" dirty="0"/>
              <a:t>(</a:t>
            </a:r>
            <a:r>
              <a:rPr lang="en-US" sz="2800" b="1" dirty="0" err="1"/>
              <a:t>iris.feature_names</a:t>
            </a:r>
            <a:r>
              <a:rPr lang="en-US" sz="2800" b="1" dirty="0"/>
              <a:t>[0])</a:t>
            </a:r>
          </a:p>
          <a:p>
            <a:r>
              <a:rPr lang="en-US" sz="2800" b="1" dirty="0" err="1"/>
              <a:t>plt.ylabel</a:t>
            </a:r>
            <a:r>
              <a:rPr lang="en-US" sz="2800" b="1" dirty="0"/>
              <a:t>(</a:t>
            </a:r>
            <a:r>
              <a:rPr lang="en-US" sz="2800" b="1" dirty="0" err="1"/>
              <a:t>iris.feature_names</a:t>
            </a:r>
            <a:r>
              <a:rPr lang="en-US" sz="2800" b="1" dirty="0"/>
              <a:t>[1])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7318799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Scatter Plots with </a:t>
            </a:r>
            <a:r>
              <a:rPr lang="en-IN" b="1" dirty="0" err="1"/>
              <a:t>plt.scatter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5719"/>
            <a:ext cx="6634429" cy="5977719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Scatter plot for a dataset (like Iris) can be produced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98" y="1529559"/>
            <a:ext cx="6097831" cy="5185139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6366129" y="1218505"/>
            <a:ext cx="5825871" cy="47427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 </a:t>
            </a:r>
            <a:r>
              <a:rPr lang="en-US" sz="2800" b="1" dirty="0" err="1"/>
              <a:t>colormap</a:t>
            </a:r>
            <a:r>
              <a:rPr lang="en-US" sz="2800" b="1" dirty="0"/>
              <a:t> (or color map) in the context of data visualization refers to the mapping of numerical values to colors - a set of colors arranged in a gradient that represents the range of values in a dataset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Other </a:t>
            </a:r>
            <a:r>
              <a:rPr lang="en-US" sz="2800" b="1" dirty="0" err="1"/>
              <a:t>colormaps</a:t>
            </a:r>
            <a:r>
              <a:rPr lang="en-US" sz="2800" b="1" dirty="0"/>
              <a:t> available: plasma, inferno, magma, </a:t>
            </a:r>
            <a:r>
              <a:rPr lang="en-US" sz="2800" b="1" dirty="0" err="1"/>
              <a:t>cividis</a:t>
            </a:r>
            <a:r>
              <a:rPr lang="en-US" sz="2800" b="1" dirty="0"/>
              <a:t>, jet, </a:t>
            </a:r>
            <a:r>
              <a:rPr lang="en-US" sz="2800" b="1" dirty="0" err="1"/>
              <a:t>coolwarm</a:t>
            </a:r>
            <a:r>
              <a:rPr lang="en-US" sz="2800" b="1" dirty="0"/>
              <a:t>, greys, rainbow, Blues, Reds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78861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 err="1"/>
              <a:t>Plt.Plot</a:t>
            </a:r>
            <a:r>
              <a:rPr lang="en-IN" b="1" dirty="0"/>
              <a:t>        vs         </a:t>
            </a:r>
            <a:r>
              <a:rPr lang="en-IN" b="1" dirty="0" err="1"/>
              <a:t>plt.scatter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182" y="941696"/>
            <a:ext cx="11805314" cy="547174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 err="1"/>
              <a:t>plt.plot</a:t>
            </a:r>
            <a:r>
              <a:rPr lang="en-US" sz="2800" b="1" dirty="0"/>
              <a:t> - noticeably more efficient and it should be preferred over </a:t>
            </a:r>
            <a:r>
              <a:rPr lang="en-US" sz="2800" b="1" dirty="0" err="1"/>
              <a:t>plt.scatter</a:t>
            </a:r>
            <a:r>
              <a:rPr lang="en-US" sz="2800" b="1" dirty="0"/>
              <a:t> for large datasets.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 err="1"/>
              <a:t>plt.scatter</a:t>
            </a:r>
            <a:r>
              <a:rPr lang="en-US" sz="2800" b="1" dirty="0"/>
              <a:t> has the capability to render a different size and/or color for each point, so the renderer must do the extra work of constructing each point individually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 err="1"/>
              <a:t>plt.plot</a:t>
            </a:r>
            <a:r>
              <a:rPr lang="en-US" sz="2800" b="1" dirty="0"/>
              <a:t> - the points are always essentially clones of each other, so the work of determining the appearance of the points is done only once for the entire set of data.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59367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367" y="127520"/>
            <a:ext cx="6200633" cy="449907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7294" y="803834"/>
            <a:ext cx="5964073" cy="19690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sz="6600" b="1" dirty="0"/>
              <a:t>visualizing errors </a:t>
            </a:r>
            <a:endParaRPr lang="en-US" sz="4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64024" y="2932402"/>
            <a:ext cx="6646460" cy="20865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IN" sz="3300" b="1" dirty="0"/>
              <a:t>Basic </a:t>
            </a:r>
            <a:r>
              <a:rPr lang="en-IN" sz="3300" b="1" dirty="0" err="1"/>
              <a:t>errorbars</a:t>
            </a:r>
            <a:endParaRPr lang="en-IN" sz="3300" b="1" dirty="0"/>
          </a:p>
          <a:p>
            <a:pPr marL="1314450" lvl="1" indent="-857250">
              <a:buFont typeface="Wingdings" panose="05000000000000000000" pitchFamily="2" charset="2"/>
              <a:buChar char="Ø"/>
            </a:pPr>
            <a:r>
              <a:rPr lang="en-IN" sz="3300" b="1" cap="all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plt.errorbar</a:t>
            </a:r>
            <a:r>
              <a:rPr lang="en-IN" sz="3300" b="1" cap="all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( )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IN" sz="3200" b="1" dirty="0"/>
              <a:t>continuous errors</a:t>
            </a:r>
          </a:p>
          <a:p>
            <a:pPr marL="1314450" lvl="1" indent="-857250">
              <a:buFont typeface="Wingdings" panose="05000000000000000000" pitchFamily="2" charset="2"/>
              <a:buChar char="Ø"/>
            </a:pPr>
            <a:r>
              <a:rPr lang="en-US" sz="3300" b="1" cap="all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plt.fill_between</a:t>
            </a:r>
            <a:r>
              <a:rPr lang="en-US" sz="3300" b="1" cap="all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( )</a:t>
            </a:r>
          </a:p>
        </p:txBody>
      </p:sp>
    </p:spTree>
    <p:extLst>
      <p:ext uri="{BB962C8B-B14F-4D97-AF65-F5344CB8AC3E}">
        <p14:creationId xmlns:p14="http://schemas.microsoft.com/office/powerpoint/2010/main" val="13078598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visualizing errors 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182" y="941696"/>
            <a:ext cx="11805314" cy="547174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For any scientific measurement, both of the following are important:</a:t>
            </a:r>
          </a:p>
          <a:p>
            <a:pPr lvl="2"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accurate reporting of the number itself</a:t>
            </a:r>
          </a:p>
          <a:p>
            <a:pPr lvl="2"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accurate accounting for errors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Error </a:t>
            </a:r>
            <a:r>
              <a:rPr lang="en-US" sz="2800" b="1" dirty="0">
                <a:sym typeface="Wingdings" panose="05000000000000000000" pitchFamily="2" charset="2"/>
              </a:rPr>
              <a:t> difference between expected value and obtained / observed value.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So usually, a value ‘a’ is expressed as a ± d, where d represents the uncertainty or variability associated with each data point.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For </a:t>
            </a:r>
            <a:r>
              <a:rPr lang="en-US" sz="2800" b="1" dirty="0" err="1"/>
              <a:t>eg</a:t>
            </a:r>
            <a:r>
              <a:rPr lang="en-US" sz="2800" b="1" dirty="0"/>
              <a:t>. if expected value = 75 ± 5, the obtained value can be 72 ± 4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In visualization of data and results, showing these errors effectively can make a plot convey much more complete information.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816448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6622" y="38924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Basic error bars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223" y="340184"/>
            <a:ext cx="11846257" cy="5771993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Initial import statements to generate a plot: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A basic </a:t>
            </a:r>
            <a:r>
              <a:rPr lang="en-US" sz="2800" dirty="0" err="1"/>
              <a:t>errorbar</a:t>
            </a:r>
            <a:r>
              <a:rPr lang="en-US" sz="2800" dirty="0"/>
              <a:t> with vertical </a:t>
            </a:r>
            <a:r>
              <a:rPr lang="en-US" sz="2800" dirty="0" err="1"/>
              <a:t>errorbars</a:t>
            </a:r>
            <a:r>
              <a:rPr lang="en-US" sz="2800" dirty="0"/>
              <a:t> can be created with a single </a:t>
            </a:r>
            <a:r>
              <a:rPr lang="en-US" sz="2800" dirty="0" err="1"/>
              <a:t>Matplotlib</a:t>
            </a:r>
            <a:r>
              <a:rPr lang="en-US" sz="2800" dirty="0"/>
              <a:t> function call</a:t>
            </a: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130223" y="875795"/>
            <a:ext cx="6161396" cy="121465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  <a:endParaRPr lang="en-US" sz="2800" dirty="0"/>
          </a:p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 err="1"/>
              <a:t>plt.style.use</a:t>
            </a:r>
            <a:r>
              <a:rPr lang="en-US" sz="2800" b="1" dirty="0"/>
              <a:t>('</a:t>
            </a:r>
            <a:r>
              <a:rPr lang="en-US" sz="2800" b="1" dirty="0" err="1"/>
              <a:t>seaborn-whitegrid</a:t>
            </a:r>
            <a:r>
              <a:rPr lang="en-US" sz="2800" b="1" dirty="0"/>
              <a:t>')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8560" y="2626055"/>
            <a:ext cx="7383440" cy="222905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x = </a:t>
            </a:r>
            <a:r>
              <a:rPr lang="en-US" sz="2800" b="1" dirty="0" err="1"/>
              <a:t>np.linspace</a:t>
            </a:r>
            <a:r>
              <a:rPr lang="en-US" sz="2800" b="1" dirty="0"/>
              <a:t>(0, 10, 50)</a:t>
            </a:r>
          </a:p>
          <a:p>
            <a:r>
              <a:rPr lang="en-US" sz="2800" b="1" dirty="0" err="1"/>
              <a:t>dy</a:t>
            </a:r>
            <a:r>
              <a:rPr lang="en-US" sz="2800" b="1" dirty="0"/>
              <a:t> = 0.8</a:t>
            </a:r>
          </a:p>
          <a:p>
            <a:r>
              <a:rPr lang="en-US" sz="2800" b="1" dirty="0"/>
              <a:t>y = </a:t>
            </a:r>
            <a:r>
              <a:rPr lang="en-US" sz="2800" b="1" dirty="0" err="1"/>
              <a:t>np.sin</a:t>
            </a:r>
            <a:r>
              <a:rPr lang="en-US" sz="2800" b="1" dirty="0"/>
              <a:t>(x) + </a:t>
            </a:r>
            <a:r>
              <a:rPr lang="en-US" sz="2800" b="1" dirty="0" err="1"/>
              <a:t>dy</a:t>
            </a:r>
            <a:r>
              <a:rPr lang="en-US" sz="2800" b="1" dirty="0"/>
              <a:t> * </a:t>
            </a:r>
            <a:r>
              <a:rPr lang="en-US" sz="2800" b="1" dirty="0" err="1"/>
              <a:t>np.random.randn</a:t>
            </a:r>
            <a:r>
              <a:rPr lang="en-US" sz="2800" b="1" dirty="0"/>
              <a:t>(50)</a:t>
            </a:r>
          </a:p>
          <a:p>
            <a:r>
              <a:rPr lang="en-US" sz="2800" b="1" dirty="0" err="1">
                <a:solidFill>
                  <a:srgbClr val="FFFF00"/>
                </a:solidFill>
              </a:rPr>
              <a:t>plt.errorbar</a:t>
            </a:r>
            <a:r>
              <a:rPr lang="en-US" sz="2800" b="1" dirty="0">
                <a:solidFill>
                  <a:srgbClr val="FFFF00"/>
                </a:solidFill>
              </a:rPr>
              <a:t>(x, y, </a:t>
            </a:r>
            <a:r>
              <a:rPr lang="en-US" sz="2800" b="1" dirty="0" err="1">
                <a:solidFill>
                  <a:srgbClr val="FFFF00"/>
                </a:solidFill>
              </a:rPr>
              <a:t>yerr</a:t>
            </a:r>
            <a:r>
              <a:rPr lang="en-US" sz="2800" b="1" dirty="0">
                <a:solidFill>
                  <a:srgbClr val="FFFF00"/>
                </a:solidFill>
              </a:rPr>
              <a:t> = </a:t>
            </a:r>
            <a:r>
              <a:rPr lang="en-US" sz="2800" b="1" dirty="0" err="1">
                <a:solidFill>
                  <a:srgbClr val="FFFF00"/>
                </a:solidFill>
              </a:rPr>
              <a:t>dy</a:t>
            </a:r>
            <a:r>
              <a:rPr lang="en-US" sz="2800" b="1" dirty="0">
                <a:solidFill>
                  <a:srgbClr val="FFFF00"/>
                </a:solidFill>
              </a:rPr>
              <a:t>, </a:t>
            </a:r>
            <a:r>
              <a:rPr lang="en-US" sz="2800" b="1" dirty="0" err="1">
                <a:solidFill>
                  <a:srgbClr val="FFFF00"/>
                </a:solidFill>
              </a:rPr>
              <a:t>fmt</a:t>
            </a:r>
            <a:r>
              <a:rPr lang="en-US" sz="2800" b="1" dirty="0">
                <a:solidFill>
                  <a:srgbClr val="FFFF00"/>
                </a:solidFill>
              </a:rPr>
              <a:t> = '.m')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21488" y="4919008"/>
            <a:ext cx="68705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randn</a:t>
            </a:r>
            <a:r>
              <a:rPr lang="en-US" sz="2400" b="1" dirty="0"/>
              <a:t> </a:t>
            </a:r>
            <a:r>
              <a:rPr lang="en-US" sz="2400" b="1" dirty="0">
                <a:sym typeface="Wingdings" panose="05000000000000000000" pitchFamily="2" charset="2"/>
              </a:rPr>
              <a:t> generates random numbers from a standard normal distribution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fmt</a:t>
            </a:r>
            <a:r>
              <a:rPr lang="en-US" sz="2400" b="1" dirty="0"/>
              <a:t> </a:t>
            </a:r>
            <a:r>
              <a:rPr lang="en-US" sz="2400" b="1" dirty="0">
                <a:sym typeface="Wingdings" panose="05000000000000000000" pitchFamily="2" charset="2"/>
              </a:rPr>
              <a:t> format  for controlling the appearance of lines and points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ym typeface="Wingdings" panose="05000000000000000000" pitchFamily="2" charset="2"/>
              </a:rPr>
              <a:t>dy</a:t>
            </a:r>
            <a:r>
              <a:rPr lang="en-US" sz="2400" b="1" dirty="0">
                <a:sym typeface="Wingdings" panose="05000000000000000000" pitchFamily="2" charset="2"/>
              </a:rPr>
              <a:t>  the associated uncertainty or error</a:t>
            </a:r>
            <a:endParaRPr lang="en-US" sz="2400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1" t="9188" r="8411" b="4680"/>
          <a:stretch/>
        </p:blipFill>
        <p:spPr>
          <a:xfrm>
            <a:off x="0" y="2990054"/>
            <a:ext cx="4781266" cy="385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64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Basic error bars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478" y="641445"/>
            <a:ext cx="11846257" cy="5771993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 err="1"/>
              <a:t>errorbar</a:t>
            </a:r>
            <a:r>
              <a:rPr lang="en-US" sz="2800" dirty="0"/>
              <a:t> function has many options to </a:t>
            </a:r>
            <a:r>
              <a:rPr lang="en-US" sz="2800" dirty="0" err="1"/>
              <a:t>finetune</a:t>
            </a:r>
            <a:r>
              <a:rPr lang="en-US" sz="2800" dirty="0"/>
              <a:t> the outputs.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Helpful in crowded plots, to make the </a:t>
            </a:r>
            <a:r>
              <a:rPr lang="en-US" sz="2800" dirty="0" err="1"/>
              <a:t>errorbars</a:t>
            </a:r>
            <a:r>
              <a:rPr lang="en-US" sz="2800" dirty="0"/>
              <a:t> lighter than the points themselves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1" y="2026734"/>
            <a:ext cx="6277969" cy="351278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x = </a:t>
            </a:r>
            <a:r>
              <a:rPr lang="en-US" sz="2800" b="1" dirty="0" err="1"/>
              <a:t>np.linspace</a:t>
            </a:r>
            <a:r>
              <a:rPr lang="en-US" sz="2800" b="1" dirty="0"/>
              <a:t>(0, 10, 50)</a:t>
            </a:r>
          </a:p>
          <a:p>
            <a:r>
              <a:rPr lang="en-US" sz="2800" b="1" dirty="0" err="1"/>
              <a:t>dy</a:t>
            </a:r>
            <a:r>
              <a:rPr lang="en-US" sz="2800" b="1" dirty="0"/>
              <a:t> = 0.8</a:t>
            </a:r>
          </a:p>
          <a:p>
            <a:r>
              <a:rPr lang="en-US" sz="2800" b="1" dirty="0"/>
              <a:t>y = </a:t>
            </a:r>
            <a:r>
              <a:rPr lang="en-US" sz="2800" b="1" dirty="0" err="1"/>
              <a:t>np.sin</a:t>
            </a:r>
            <a:r>
              <a:rPr lang="en-US" sz="2800" b="1" dirty="0"/>
              <a:t>(x) + </a:t>
            </a:r>
            <a:r>
              <a:rPr lang="en-US" sz="2800" b="1" dirty="0" err="1"/>
              <a:t>dy</a:t>
            </a:r>
            <a:r>
              <a:rPr lang="en-US" sz="2800" b="1" dirty="0"/>
              <a:t> * </a:t>
            </a:r>
            <a:r>
              <a:rPr lang="en-US" sz="2800" b="1" dirty="0" err="1"/>
              <a:t>np.random.randn</a:t>
            </a:r>
            <a:r>
              <a:rPr lang="en-US" sz="2800" b="1" dirty="0"/>
              <a:t>(50)</a:t>
            </a:r>
          </a:p>
          <a:p>
            <a:r>
              <a:rPr lang="en-US" sz="2800" b="1" dirty="0" err="1">
                <a:solidFill>
                  <a:srgbClr val="FFFF00"/>
                </a:solidFill>
              </a:rPr>
              <a:t>plt.errorbar</a:t>
            </a:r>
            <a:r>
              <a:rPr lang="en-US" sz="2800" b="1" dirty="0">
                <a:solidFill>
                  <a:srgbClr val="FFFF00"/>
                </a:solidFill>
              </a:rPr>
              <a:t>(x, y, </a:t>
            </a:r>
            <a:r>
              <a:rPr lang="en-US" sz="2800" b="1" dirty="0" err="1">
                <a:solidFill>
                  <a:srgbClr val="FFFF00"/>
                </a:solidFill>
              </a:rPr>
              <a:t>yerr</a:t>
            </a:r>
            <a:r>
              <a:rPr lang="en-US" sz="2800" b="1" dirty="0">
                <a:solidFill>
                  <a:srgbClr val="FFFF00"/>
                </a:solidFill>
              </a:rPr>
              <a:t>=</a:t>
            </a:r>
            <a:r>
              <a:rPr lang="en-US" sz="2800" b="1" dirty="0" err="1">
                <a:solidFill>
                  <a:srgbClr val="FFFF00"/>
                </a:solidFill>
              </a:rPr>
              <a:t>dy</a:t>
            </a:r>
            <a:r>
              <a:rPr lang="en-US" sz="2800" b="1" dirty="0">
                <a:solidFill>
                  <a:srgbClr val="FFFF00"/>
                </a:solidFill>
              </a:rPr>
              <a:t>, </a:t>
            </a:r>
            <a:r>
              <a:rPr lang="en-US" sz="2800" b="1" dirty="0" err="1">
                <a:solidFill>
                  <a:srgbClr val="FFFF00"/>
                </a:solidFill>
              </a:rPr>
              <a:t>fmt</a:t>
            </a:r>
            <a:r>
              <a:rPr lang="en-US" sz="2800" b="1" dirty="0">
                <a:solidFill>
                  <a:srgbClr val="FFFF00"/>
                </a:solidFill>
              </a:rPr>
              <a:t>='o', color='black', </a:t>
            </a:r>
            <a:r>
              <a:rPr lang="en-US" sz="2800" b="1" dirty="0" err="1">
                <a:solidFill>
                  <a:srgbClr val="FFFF00"/>
                </a:solidFill>
              </a:rPr>
              <a:t>ecolor</a:t>
            </a:r>
            <a:r>
              <a:rPr lang="en-US" sz="2800" b="1" dirty="0">
                <a:solidFill>
                  <a:srgbClr val="FFFF00"/>
                </a:solidFill>
              </a:rPr>
              <a:t>='</a:t>
            </a:r>
            <a:r>
              <a:rPr lang="en-US" sz="2800" b="1" dirty="0" err="1">
                <a:solidFill>
                  <a:srgbClr val="FFFF00"/>
                </a:solidFill>
              </a:rPr>
              <a:t>lightgray</a:t>
            </a:r>
            <a:r>
              <a:rPr lang="en-US" sz="2800" b="1" dirty="0">
                <a:solidFill>
                  <a:srgbClr val="FFFF00"/>
                </a:solidFill>
              </a:rPr>
              <a:t>', </a:t>
            </a:r>
            <a:r>
              <a:rPr lang="en-US" sz="2800" b="1" dirty="0" err="1">
                <a:solidFill>
                  <a:srgbClr val="FFFF00"/>
                </a:solidFill>
              </a:rPr>
              <a:t>elinewidth</a:t>
            </a:r>
            <a:r>
              <a:rPr lang="en-US" sz="2800" b="1" dirty="0">
                <a:solidFill>
                  <a:srgbClr val="FFFF00"/>
                </a:solidFill>
              </a:rPr>
              <a:t>=3, capsize=0)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4" t="9499" r="7944" b="4991"/>
          <a:stretch/>
        </p:blipFill>
        <p:spPr>
          <a:xfrm>
            <a:off x="6414447" y="1906560"/>
            <a:ext cx="5704765" cy="401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8624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Basic error bars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478" y="641445"/>
            <a:ext cx="11846257" cy="5771993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 err="1"/>
              <a:t>errorbar</a:t>
            </a:r>
            <a:r>
              <a:rPr lang="en-US" sz="2800" dirty="0"/>
              <a:t> function has many options to </a:t>
            </a:r>
            <a:r>
              <a:rPr lang="en-US" sz="2800" dirty="0" err="1"/>
              <a:t>finetune</a:t>
            </a:r>
            <a:r>
              <a:rPr lang="en-US" sz="2800" dirty="0"/>
              <a:t> the outputs.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Helpful in crowded plots, to make the </a:t>
            </a:r>
            <a:r>
              <a:rPr lang="en-US" sz="2800" dirty="0" err="1"/>
              <a:t>errorbars</a:t>
            </a:r>
            <a:r>
              <a:rPr lang="en-US" sz="2800" dirty="0"/>
              <a:t> lighter than the points themselves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1" y="2026734"/>
            <a:ext cx="6277969" cy="351278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x = </a:t>
            </a:r>
            <a:r>
              <a:rPr lang="en-US" sz="2800" b="1" dirty="0" err="1"/>
              <a:t>np.linspace</a:t>
            </a:r>
            <a:r>
              <a:rPr lang="en-US" sz="2800" b="1" dirty="0"/>
              <a:t>(0, 10, 50)</a:t>
            </a:r>
          </a:p>
          <a:p>
            <a:r>
              <a:rPr lang="en-US" sz="2800" b="1" dirty="0" err="1"/>
              <a:t>dy</a:t>
            </a:r>
            <a:r>
              <a:rPr lang="en-US" sz="2800" b="1" dirty="0"/>
              <a:t> = 0.8</a:t>
            </a:r>
          </a:p>
          <a:p>
            <a:r>
              <a:rPr lang="en-US" sz="2800" b="1" dirty="0"/>
              <a:t>y = </a:t>
            </a:r>
            <a:r>
              <a:rPr lang="en-US" sz="2800" b="1" dirty="0" err="1"/>
              <a:t>np.sin</a:t>
            </a:r>
            <a:r>
              <a:rPr lang="en-US" sz="2800" b="1" dirty="0"/>
              <a:t>(x) + </a:t>
            </a:r>
            <a:r>
              <a:rPr lang="en-US" sz="2800" b="1" dirty="0" err="1"/>
              <a:t>dy</a:t>
            </a:r>
            <a:r>
              <a:rPr lang="en-US" sz="2800" b="1" dirty="0"/>
              <a:t> * </a:t>
            </a:r>
            <a:r>
              <a:rPr lang="en-US" sz="2800" b="1" dirty="0" err="1"/>
              <a:t>np.random.randn</a:t>
            </a:r>
            <a:r>
              <a:rPr lang="en-US" sz="2800" b="1" dirty="0"/>
              <a:t>(50)</a:t>
            </a:r>
          </a:p>
          <a:p>
            <a:r>
              <a:rPr lang="en-US" sz="2800" b="1" dirty="0" err="1">
                <a:solidFill>
                  <a:srgbClr val="FFFF00"/>
                </a:solidFill>
              </a:rPr>
              <a:t>plt.errorbar</a:t>
            </a:r>
            <a:r>
              <a:rPr lang="en-US" sz="2800" b="1" dirty="0">
                <a:solidFill>
                  <a:srgbClr val="FFFF00"/>
                </a:solidFill>
              </a:rPr>
              <a:t>(x, y, </a:t>
            </a:r>
            <a:r>
              <a:rPr lang="en-US" sz="2800" b="1" dirty="0" err="1">
                <a:solidFill>
                  <a:srgbClr val="FFFF00"/>
                </a:solidFill>
              </a:rPr>
              <a:t>yerr</a:t>
            </a:r>
            <a:r>
              <a:rPr lang="en-US" sz="2800" b="1" dirty="0">
                <a:solidFill>
                  <a:srgbClr val="FFFF00"/>
                </a:solidFill>
              </a:rPr>
              <a:t>=</a:t>
            </a:r>
            <a:r>
              <a:rPr lang="en-US" sz="2800" b="1" dirty="0" err="1">
                <a:solidFill>
                  <a:srgbClr val="FFFF00"/>
                </a:solidFill>
              </a:rPr>
              <a:t>dy</a:t>
            </a:r>
            <a:r>
              <a:rPr lang="en-US" sz="2800" b="1" dirty="0">
                <a:solidFill>
                  <a:srgbClr val="FFFF00"/>
                </a:solidFill>
              </a:rPr>
              <a:t>, </a:t>
            </a:r>
            <a:r>
              <a:rPr lang="en-US" sz="2800" b="1" dirty="0" err="1">
                <a:solidFill>
                  <a:srgbClr val="FFFF00"/>
                </a:solidFill>
              </a:rPr>
              <a:t>fmt</a:t>
            </a:r>
            <a:r>
              <a:rPr lang="en-US" sz="2800" b="1" dirty="0">
                <a:solidFill>
                  <a:srgbClr val="FFFF00"/>
                </a:solidFill>
              </a:rPr>
              <a:t>='o', color='black', </a:t>
            </a:r>
            <a:r>
              <a:rPr lang="en-US" sz="2800" b="1" dirty="0" err="1">
                <a:solidFill>
                  <a:srgbClr val="FFFF00"/>
                </a:solidFill>
              </a:rPr>
              <a:t>ecolor</a:t>
            </a:r>
            <a:r>
              <a:rPr lang="en-US" sz="2800" b="1" dirty="0">
                <a:solidFill>
                  <a:srgbClr val="FFFF00"/>
                </a:solidFill>
              </a:rPr>
              <a:t>='</a:t>
            </a:r>
            <a:r>
              <a:rPr lang="en-US" sz="2800" b="1" dirty="0" err="1">
                <a:solidFill>
                  <a:srgbClr val="FFFF00"/>
                </a:solidFill>
              </a:rPr>
              <a:t>lightgray</a:t>
            </a:r>
            <a:r>
              <a:rPr lang="en-US" sz="2800" b="1" dirty="0">
                <a:solidFill>
                  <a:srgbClr val="FFFF00"/>
                </a:solidFill>
              </a:rPr>
              <a:t>', </a:t>
            </a:r>
            <a:r>
              <a:rPr lang="en-US" sz="2800" b="1" dirty="0" err="1">
                <a:solidFill>
                  <a:srgbClr val="FFFF00"/>
                </a:solidFill>
              </a:rPr>
              <a:t>elinewidth</a:t>
            </a:r>
            <a:r>
              <a:rPr lang="en-US" sz="2800" b="1" dirty="0">
                <a:solidFill>
                  <a:srgbClr val="FFFF00"/>
                </a:solidFill>
              </a:rPr>
              <a:t>=3, capsize=5)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7" t="7634" r="8116" b="3436"/>
          <a:stretch/>
        </p:blipFill>
        <p:spPr>
          <a:xfrm>
            <a:off x="6353022" y="1636260"/>
            <a:ext cx="5629713" cy="477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7071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Basic error bars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478" y="641445"/>
            <a:ext cx="11846257" cy="5771993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 err="1"/>
              <a:t>errorbar</a:t>
            </a:r>
            <a:r>
              <a:rPr lang="en-US" sz="2800" dirty="0"/>
              <a:t> function has many options to </a:t>
            </a:r>
            <a:r>
              <a:rPr lang="en-US" sz="2800" dirty="0" err="1"/>
              <a:t>finetune</a:t>
            </a:r>
            <a:r>
              <a:rPr lang="en-US" sz="2800" dirty="0"/>
              <a:t> the outputs.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Helpful in crowded plots, to make the </a:t>
            </a:r>
            <a:r>
              <a:rPr lang="en-US" sz="2800" dirty="0" err="1"/>
              <a:t>errorbars</a:t>
            </a:r>
            <a:r>
              <a:rPr lang="en-US" sz="2800" dirty="0"/>
              <a:t> lighter than the points themselves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0" y="2094972"/>
            <a:ext cx="7110484" cy="351278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x = </a:t>
            </a:r>
            <a:r>
              <a:rPr lang="en-US" sz="2800" b="1" dirty="0" err="1"/>
              <a:t>np.linspace</a:t>
            </a:r>
            <a:r>
              <a:rPr lang="en-US" sz="2800" b="1" dirty="0"/>
              <a:t>(0, 10, 50)</a:t>
            </a:r>
          </a:p>
          <a:p>
            <a:r>
              <a:rPr lang="en-US" sz="2800" b="1" dirty="0"/>
              <a:t>dx = 0.7</a:t>
            </a:r>
          </a:p>
          <a:p>
            <a:r>
              <a:rPr lang="en-US" sz="2800" b="1" dirty="0"/>
              <a:t>y = </a:t>
            </a:r>
            <a:r>
              <a:rPr lang="en-US" sz="2800" b="1" dirty="0" err="1"/>
              <a:t>np.sin</a:t>
            </a:r>
            <a:r>
              <a:rPr lang="en-US" sz="2800" b="1" dirty="0"/>
              <a:t>(x) + dx*</a:t>
            </a:r>
            <a:r>
              <a:rPr lang="en-US" sz="2800" b="1" dirty="0" err="1"/>
              <a:t>np.random.randn</a:t>
            </a:r>
            <a:r>
              <a:rPr lang="en-US" sz="2800" b="1" dirty="0"/>
              <a:t>(50)</a:t>
            </a:r>
          </a:p>
          <a:p>
            <a:r>
              <a:rPr lang="en-US" sz="2800" b="1" dirty="0" err="1">
                <a:solidFill>
                  <a:srgbClr val="FFFF00"/>
                </a:solidFill>
              </a:rPr>
              <a:t>plt.errorbar</a:t>
            </a:r>
            <a:r>
              <a:rPr lang="en-US" sz="2800" b="1" dirty="0">
                <a:solidFill>
                  <a:srgbClr val="FFFF00"/>
                </a:solidFill>
              </a:rPr>
              <a:t>(x, y, </a:t>
            </a:r>
            <a:r>
              <a:rPr lang="en-US" sz="2800" b="1" dirty="0" err="1">
                <a:solidFill>
                  <a:srgbClr val="FFFF00"/>
                </a:solidFill>
              </a:rPr>
              <a:t>xerr</a:t>
            </a:r>
            <a:r>
              <a:rPr lang="en-US" sz="2800" b="1" dirty="0">
                <a:solidFill>
                  <a:srgbClr val="FFFF00"/>
                </a:solidFill>
              </a:rPr>
              <a:t>=dx, </a:t>
            </a:r>
            <a:r>
              <a:rPr lang="en-US" sz="2800" b="1" dirty="0" err="1">
                <a:solidFill>
                  <a:srgbClr val="FFFF00"/>
                </a:solidFill>
              </a:rPr>
              <a:t>fmt</a:t>
            </a:r>
            <a:r>
              <a:rPr lang="en-US" sz="2800" b="1" dirty="0">
                <a:solidFill>
                  <a:srgbClr val="FFFF00"/>
                </a:solidFill>
              </a:rPr>
              <a:t>='o', color='black', </a:t>
            </a:r>
            <a:r>
              <a:rPr lang="en-US" sz="2800" b="1" dirty="0" err="1">
                <a:solidFill>
                  <a:srgbClr val="FFFF00"/>
                </a:solidFill>
              </a:rPr>
              <a:t>ecolor</a:t>
            </a:r>
            <a:r>
              <a:rPr lang="en-US" sz="2800" b="1" dirty="0">
                <a:solidFill>
                  <a:srgbClr val="FFFF00"/>
                </a:solidFill>
              </a:rPr>
              <a:t>='</a:t>
            </a:r>
            <a:r>
              <a:rPr lang="en-US" sz="2800" b="1" dirty="0" err="1">
                <a:solidFill>
                  <a:srgbClr val="FFFF00"/>
                </a:solidFill>
              </a:rPr>
              <a:t>lightgray</a:t>
            </a:r>
            <a:r>
              <a:rPr lang="en-US" sz="2800" b="1" dirty="0">
                <a:solidFill>
                  <a:srgbClr val="FFFF00"/>
                </a:solidFill>
              </a:rPr>
              <a:t>', </a:t>
            </a:r>
            <a:r>
              <a:rPr lang="en-US" sz="2800" b="1" dirty="0" err="1">
                <a:solidFill>
                  <a:srgbClr val="FFFF00"/>
                </a:solidFill>
              </a:rPr>
              <a:t>elinewidth</a:t>
            </a:r>
            <a:r>
              <a:rPr lang="en-US" sz="2800" b="1" dirty="0">
                <a:solidFill>
                  <a:srgbClr val="FFFF00"/>
                </a:solidFill>
              </a:rPr>
              <a:t>=3, capsize=5)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0" t="9794" r="8644" b="4696"/>
          <a:stretch/>
        </p:blipFill>
        <p:spPr>
          <a:xfrm>
            <a:off x="7014949" y="1759090"/>
            <a:ext cx="5141805" cy="442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3872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continuous errors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478" y="641445"/>
            <a:ext cx="11846257" cy="5771993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 err="1"/>
              <a:t>Errorbars</a:t>
            </a:r>
            <a:r>
              <a:rPr lang="en-US" sz="2800" dirty="0"/>
              <a:t> may have to be shown on continuous quantities – over a line plot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154101" y="1665027"/>
            <a:ext cx="11828634" cy="4380931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x = </a:t>
            </a:r>
            <a:r>
              <a:rPr lang="en-US" sz="2800" b="1" dirty="0" err="1"/>
              <a:t>np.linspace</a:t>
            </a:r>
            <a:r>
              <a:rPr lang="en-US" sz="2800" b="1" dirty="0"/>
              <a:t>(0, 10, 50)</a:t>
            </a:r>
          </a:p>
          <a:p>
            <a:r>
              <a:rPr lang="en-US" sz="2800" b="1" dirty="0"/>
              <a:t>dx = 0.7</a:t>
            </a:r>
          </a:p>
          <a:p>
            <a:r>
              <a:rPr lang="en-US" sz="2800" b="1" dirty="0"/>
              <a:t>y = </a:t>
            </a:r>
            <a:r>
              <a:rPr lang="en-US" sz="2800" b="1" dirty="0" err="1"/>
              <a:t>np.sin</a:t>
            </a:r>
            <a:r>
              <a:rPr lang="en-US" sz="2800" b="1" dirty="0"/>
              <a:t>(x)</a:t>
            </a:r>
          </a:p>
          <a:p>
            <a:r>
              <a:rPr lang="en-US" sz="2800" b="1" dirty="0"/>
              <a:t>error = 0.2</a:t>
            </a:r>
          </a:p>
          <a:p>
            <a:r>
              <a:rPr lang="en-US" sz="2800" b="1" dirty="0" err="1">
                <a:solidFill>
                  <a:srgbClr val="FFFF00"/>
                </a:solidFill>
              </a:rPr>
              <a:t>plt.errorbar</a:t>
            </a:r>
            <a:r>
              <a:rPr lang="en-US" sz="2800" b="1" dirty="0">
                <a:solidFill>
                  <a:srgbClr val="FFFF00"/>
                </a:solidFill>
              </a:rPr>
              <a:t>(x, y, </a:t>
            </a:r>
            <a:r>
              <a:rPr lang="en-US" sz="2800" b="1" dirty="0" err="1">
                <a:solidFill>
                  <a:srgbClr val="FFFF00"/>
                </a:solidFill>
              </a:rPr>
              <a:t>yerr</a:t>
            </a:r>
            <a:r>
              <a:rPr lang="en-US" sz="2800" b="1" dirty="0">
                <a:solidFill>
                  <a:srgbClr val="FFFF00"/>
                </a:solidFill>
              </a:rPr>
              <a:t>=error, </a:t>
            </a:r>
            <a:r>
              <a:rPr lang="en-US" sz="2800" b="1" dirty="0" err="1">
                <a:solidFill>
                  <a:srgbClr val="FFFF00"/>
                </a:solidFill>
              </a:rPr>
              <a:t>fmt</a:t>
            </a:r>
            <a:r>
              <a:rPr lang="en-US" sz="2800" b="1" dirty="0">
                <a:solidFill>
                  <a:srgbClr val="FFFF00"/>
                </a:solidFill>
              </a:rPr>
              <a:t>='-', color='b', </a:t>
            </a:r>
            <a:r>
              <a:rPr lang="en-US" sz="2800" b="1" dirty="0" err="1">
                <a:solidFill>
                  <a:srgbClr val="FFFF00"/>
                </a:solidFill>
              </a:rPr>
              <a:t>ecolor</a:t>
            </a:r>
            <a:r>
              <a:rPr lang="en-US" sz="2800" b="1" dirty="0">
                <a:solidFill>
                  <a:srgbClr val="FFFF00"/>
                </a:solidFill>
              </a:rPr>
              <a:t>='</a:t>
            </a:r>
            <a:r>
              <a:rPr lang="en-US" sz="2800" b="1" dirty="0" err="1">
                <a:solidFill>
                  <a:srgbClr val="FFFF00"/>
                </a:solidFill>
              </a:rPr>
              <a:t>lightgray</a:t>
            </a:r>
            <a:r>
              <a:rPr lang="en-US" sz="2800" b="1" dirty="0">
                <a:solidFill>
                  <a:srgbClr val="FFFF00"/>
                </a:solidFill>
              </a:rPr>
              <a:t>', capsize=3)</a:t>
            </a:r>
          </a:p>
          <a:p>
            <a:r>
              <a:rPr lang="en-US" sz="2800" b="1" dirty="0" err="1"/>
              <a:t>plt.xlabel</a:t>
            </a:r>
            <a:r>
              <a:rPr lang="en-US" sz="2800" b="1" dirty="0"/>
              <a:t>('X-axis')</a:t>
            </a:r>
          </a:p>
          <a:p>
            <a:r>
              <a:rPr lang="en-US" sz="2800" b="1" dirty="0" err="1"/>
              <a:t>plt.ylabel</a:t>
            </a:r>
            <a:r>
              <a:rPr lang="en-US" sz="2800" b="1" dirty="0"/>
              <a:t>('Y-axis')</a:t>
            </a:r>
          </a:p>
          <a:p>
            <a:r>
              <a:rPr lang="en-US" sz="2800" b="1" dirty="0" err="1"/>
              <a:t>plt.title</a:t>
            </a:r>
            <a:r>
              <a:rPr lang="en-US" sz="2800" b="1" dirty="0"/>
              <a:t>('Line Plot with Continuous Errors')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651482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continuous errors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478" y="641445"/>
            <a:ext cx="11846257" cy="5771993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 err="1"/>
              <a:t>Errorbars</a:t>
            </a:r>
            <a:r>
              <a:rPr lang="en-US" sz="2800" dirty="0"/>
              <a:t> may have to be shown on continuous quantities – over a line plot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154101" y="1665027"/>
            <a:ext cx="11828634" cy="4380931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x = </a:t>
            </a:r>
            <a:r>
              <a:rPr lang="en-US" sz="2800" b="1" dirty="0" err="1"/>
              <a:t>np.linspace</a:t>
            </a:r>
            <a:r>
              <a:rPr lang="en-US" sz="2800" b="1" dirty="0"/>
              <a:t>(0, 10, 50)</a:t>
            </a:r>
          </a:p>
          <a:p>
            <a:r>
              <a:rPr lang="en-US" sz="2800" b="1" dirty="0"/>
              <a:t>dx = 0.7</a:t>
            </a:r>
          </a:p>
          <a:p>
            <a:r>
              <a:rPr lang="en-US" sz="2800" b="1" dirty="0"/>
              <a:t>y = </a:t>
            </a:r>
            <a:r>
              <a:rPr lang="en-US" sz="2800" b="1" dirty="0" err="1"/>
              <a:t>np.sin</a:t>
            </a:r>
            <a:r>
              <a:rPr lang="en-US" sz="2800" b="1" dirty="0"/>
              <a:t>(x)</a:t>
            </a:r>
          </a:p>
          <a:p>
            <a:r>
              <a:rPr lang="en-US" sz="2800" b="1" dirty="0"/>
              <a:t>error = 0.2</a:t>
            </a:r>
          </a:p>
          <a:p>
            <a:r>
              <a:rPr lang="en-US" sz="2800" b="1" dirty="0" err="1">
                <a:solidFill>
                  <a:srgbClr val="FFFF00"/>
                </a:solidFill>
              </a:rPr>
              <a:t>plt.errorbar</a:t>
            </a:r>
            <a:r>
              <a:rPr lang="en-US" sz="2800" b="1" dirty="0">
                <a:solidFill>
                  <a:srgbClr val="FFFF00"/>
                </a:solidFill>
              </a:rPr>
              <a:t>(x, y, </a:t>
            </a:r>
            <a:r>
              <a:rPr lang="en-US" sz="2800" b="1" dirty="0" err="1">
                <a:solidFill>
                  <a:srgbClr val="FFFF00"/>
                </a:solidFill>
              </a:rPr>
              <a:t>yerr</a:t>
            </a:r>
            <a:r>
              <a:rPr lang="en-US" sz="2800" b="1" dirty="0">
                <a:solidFill>
                  <a:srgbClr val="FFFF00"/>
                </a:solidFill>
              </a:rPr>
              <a:t>=error, </a:t>
            </a:r>
            <a:r>
              <a:rPr lang="en-US" sz="2800" b="1" dirty="0" err="1">
                <a:solidFill>
                  <a:srgbClr val="FFFF00"/>
                </a:solidFill>
              </a:rPr>
              <a:t>fmt</a:t>
            </a:r>
            <a:r>
              <a:rPr lang="en-US" sz="2800" b="1" dirty="0">
                <a:solidFill>
                  <a:srgbClr val="FFFF00"/>
                </a:solidFill>
              </a:rPr>
              <a:t>='-', color='b', </a:t>
            </a:r>
            <a:r>
              <a:rPr lang="en-US" sz="2800" b="1" dirty="0" err="1">
                <a:solidFill>
                  <a:srgbClr val="FFFF00"/>
                </a:solidFill>
              </a:rPr>
              <a:t>ecolor</a:t>
            </a:r>
            <a:r>
              <a:rPr lang="en-US" sz="2800" b="1" dirty="0">
                <a:solidFill>
                  <a:srgbClr val="FFFF00"/>
                </a:solidFill>
              </a:rPr>
              <a:t>='</a:t>
            </a:r>
            <a:r>
              <a:rPr lang="en-US" sz="2800" b="1" dirty="0" err="1">
                <a:solidFill>
                  <a:srgbClr val="FFFF00"/>
                </a:solidFill>
              </a:rPr>
              <a:t>lightgray</a:t>
            </a:r>
            <a:r>
              <a:rPr lang="en-US" sz="2800" b="1" dirty="0">
                <a:solidFill>
                  <a:srgbClr val="FFFF00"/>
                </a:solidFill>
              </a:rPr>
              <a:t>', capsize=3)</a:t>
            </a:r>
          </a:p>
          <a:p>
            <a:r>
              <a:rPr lang="en-US" sz="2800" b="1" dirty="0" err="1"/>
              <a:t>plt.xlabel</a:t>
            </a:r>
            <a:r>
              <a:rPr lang="en-US" sz="2800" b="1" dirty="0"/>
              <a:t>('X-axis')</a:t>
            </a:r>
          </a:p>
          <a:p>
            <a:r>
              <a:rPr lang="en-US" sz="2800" b="1" dirty="0" err="1"/>
              <a:t>plt.ylabel</a:t>
            </a:r>
            <a:r>
              <a:rPr lang="en-US" sz="2800" b="1" dirty="0"/>
              <a:t>('Y-axis')</a:t>
            </a:r>
          </a:p>
          <a:p>
            <a:r>
              <a:rPr lang="en-US" sz="2800" b="1" dirty="0" err="1"/>
              <a:t>plt.title</a:t>
            </a:r>
            <a:r>
              <a:rPr lang="en-US" sz="2800" b="1" dirty="0"/>
              <a:t>('Line Plot with Continuous Errors')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083" y="1665027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3724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continuous errors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1" y="559558"/>
            <a:ext cx="3575711" cy="5771993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 err="1"/>
              <a:t>Errorbars</a:t>
            </a:r>
            <a:r>
              <a:rPr lang="en-US" sz="2800" dirty="0"/>
              <a:t> may have to be shown on continuous quantities over a line plot </a:t>
            </a:r>
            <a:r>
              <a:rPr lang="en-US" sz="2800" dirty="0">
                <a:sym typeface="Wingdings" panose="05000000000000000000" pitchFamily="2" charset="2"/>
              </a:rPr>
              <a:t> n</a:t>
            </a:r>
            <a:r>
              <a:rPr lang="en-US" sz="2800" dirty="0"/>
              <a:t>o built-in convenience routine for this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It can be done by combining primitives like </a:t>
            </a:r>
            <a:r>
              <a:rPr lang="en-US" sz="2800" b="1" u="sng" dirty="0" err="1">
                <a:solidFill>
                  <a:srgbClr val="FFFF00"/>
                </a:solidFill>
              </a:rPr>
              <a:t>plt.plot</a:t>
            </a:r>
            <a:r>
              <a:rPr lang="en-US" sz="2800" dirty="0"/>
              <a:t> and </a:t>
            </a:r>
            <a:r>
              <a:rPr lang="en-US" sz="2800" b="1" u="sng" dirty="0" err="1">
                <a:solidFill>
                  <a:srgbClr val="FFFF00"/>
                </a:solidFill>
              </a:rPr>
              <a:t>plt.fill_between</a:t>
            </a:r>
            <a:r>
              <a:rPr lang="en-US" sz="2800" dirty="0"/>
              <a:t> for a useful result.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3698543" y="1187355"/>
            <a:ext cx="8493457" cy="46938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x = </a:t>
            </a:r>
            <a:r>
              <a:rPr lang="en-US" sz="2800" b="1" dirty="0" err="1"/>
              <a:t>np.linspace</a:t>
            </a:r>
            <a:r>
              <a:rPr lang="en-US" sz="2800" b="1" dirty="0"/>
              <a:t>(0, 10, 50)</a:t>
            </a:r>
          </a:p>
          <a:p>
            <a:r>
              <a:rPr lang="en-US" sz="2800" b="1" dirty="0"/>
              <a:t>dx = 0.7</a:t>
            </a:r>
          </a:p>
          <a:p>
            <a:r>
              <a:rPr lang="en-US" sz="2800" b="1" dirty="0"/>
              <a:t>y = </a:t>
            </a:r>
            <a:r>
              <a:rPr lang="en-US" sz="2800" b="1" dirty="0" err="1"/>
              <a:t>np.sin</a:t>
            </a:r>
            <a:r>
              <a:rPr lang="en-US" sz="2800" b="1" dirty="0"/>
              <a:t>(x)</a:t>
            </a:r>
          </a:p>
          <a:p>
            <a:r>
              <a:rPr lang="en-US" sz="2800" b="1" dirty="0"/>
              <a:t>error = 0.2</a:t>
            </a:r>
          </a:p>
          <a:p>
            <a:r>
              <a:rPr lang="en-US" sz="2800" b="1" dirty="0" err="1">
                <a:solidFill>
                  <a:srgbClr val="FFFF00"/>
                </a:solidFill>
              </a:rPr>
              <a:t>plt.plot</a:t>
            </a:r>
            <a:r>
              <a:rPr lang="en-US" sz="2800" b="1" dirty="0">
                <a:solidFill>
                  <a:srgbClr val="FFFF00"/>
                </a:solidFill>
              </a:rPr>
              <a:t>(x, y, label='Function')</a:t>
            </a:r>
          </a:p>
          <a:p>
            <a:r>
              <a:rPr lang="en-US" sz="2800" b="1" dirty="0" err="1">
                <a:solidFill>
                  <a:srgbClr val="FFFF00"/>
                </a:solidFill>
              </a:rPr>
              <a:t>plt.fill_between</a:t>
            </a:r>
            <a:r>
              <a:rPr lang="en-US" sz="2800" b="1" dirty="0">
                <a:solidFill>
                  <a:srgbClr val="FFFF00"/>
                </a:solidFill>
              </a:rPr>
              <a:t>(x, y - error, y + error, color='</a:t>
            </a:r>
            <a:r>
              <a:rPr lang="en-US" sz="2800" b="1" dirty="0" err="1">
                <a:solidFill>
                  <a:srgbClr val="FFFF00"/>
                </a:solidFill>
              </a:rPr>
              <a:t>skyblue</a:t>
            </a:r>
            <a:r>
              <a:rPr lang="en-US" sz="2800" b="1" dirty="0">
                <a:solidFill>
                  <a:srgbClr val="FFFF00"/>
                </a:solidFill>
              </a:rPr>
              <a:t>', alpha=0.3, label='Error Band')</a:t>
            </a:r>
          </a:p>
          <a:p>
            <a:r>
              <a:rPr lang="en-US" sz="2800" b="1" dirty="0" err="1"/>
              <a:t>plt.xlabel</a:t>
            </a:r>
            <a:r>
              <a:rPr lang="en-US" sz="2800" b="1" dirty="0"/>
              <a:t>('X')</a:t>
            </a:r>
          </a:p>
          <a:p>
            <a:r>
              <a:rPr lang="en-US" sz="2800" b="1" dirty="0" err="1"/>
              <a:t>plt.ylabel</a:t>
            </a:r>
            <a:r>
              <a:rPr lang="en-US" sz="2800" b="1" dirty="0"/>
              <a:t>(‘SIN(X)')</a:t>
            </a:r>
          </a:p>
          <a:p>
            <a:r>
              <a:rPr lang="en-US" sz="2800" b="1" dirty="0" err="1"/>
              <a:t>plt.title</a:t>
            </a:r>
            <a:r>
              <a:rPr lang="en-US" sz="2800" b="1" dirty="0"/>
              <a:t>('Line Plot with Continuous Errors')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76723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continuous errors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1" y="929914"/>
            <a:ext cx="3957850" cy="5771993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 err="1"/>
              <a:t>Errorbars</a:t>
            </a:r>
            <a:r>
              <a:rPr lang="en-US" sz="2800" dirty="0"/>
              <a:t> may have to be shown on continuous quantities over a line plot </a:t>
            </a:r>
            <a:r>
              <a:rPr lang="en-US" sz="2800" dirty="0">
                <a:sym typeface="Wingdings" panose="05000000000000000000" pitchFamily="2" charset="2"/>
              </a:rPr>
              <a:t> n</a:t>
            </a:r>
            <a:r>
              <a:rPr lang="en-US" sz="2800" dirty="0"/>
              <a:t>o built-in convenience routine for this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It can be done by combining primitives like </a:t>
            </a:r>
            <a:r>
              <a:rPr lang="en-US" sz="2800" b="1" u="sng" dirty="0" err="1">
                <a:solidFill>
                  <a:srgbClr val="FFFF00"/>
                </a:solidFill>
              </a:rPr>
              <a:t>plt.plot</a:t>
            </a:r>
            <a:r>
              <a:rPr lang="en-US" sz="2800" dirty="0"/>
              <a:t> and </a:t>
            </a:r>
            <a:r>
              <a:rPr lang="en-US" sz="2800" b="1" u="sng" dirty="0" err="1">
                <a:solidFill>
                  <a:srgbClr val="FFFF00"/>
                </a:solidFill>
              </a:rPr>
              <a:t>plt.fill_between</a:t>
            </a:r>
            <a:r>
              <a:rPr lang="en-US" sz="2800" dirty="0"/>
              <a:t> for a useful result.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7158" y="893241"/>
            <a:ext cx="7793788" cy="584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742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continuous errors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929914"/>
            <a:ext cx="5854889" cy="4965919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u="sng" dirty="0" err="1">
                <a:solidFill>
                  <a:srgbClr val="FFFF00"/>
                </a:solidFill>
              </a:rPr>
              <a:t>plt.fill_between</a:t>
            </a:r>
            <a:r>
              <a:rPr lang="en-US" sz="2800" dirty="0"/>
              <a:t> function </a:t>
            </a:r>
            <a:r>
              <a:rPr lang="en-US" sz="2800" dirty="0">
                <a:sym typeface="Wingdings" panose="05000000000000000000" pitchFamily="2" charset="2"/>
              </a:rPr>
              <a:t> we pass an x value, then the lower y-bound, then the upper y-bound, and the result  is that the area between these regions is filled.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ym typeface="Wingdings" panose="05000000000000000000" pitchFamily="2" charset="2"/>
              </a:rPr>
              <a:t>This method can be used to model the errors in any data distributions like Gaussian distributions, Poisson distribution, Normal distribution, etc.</a:t>
            </a:r>
            <a:endParaRPr lang="en-US" sz="28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492" y="893240"/>
            <a:ext cx="5869453" cy="518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6783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069" y="1020414"/>
            <a:ext cx="5964073" cy="2578724"/>
          </a:xfrm>
        </p:spPr>
        <p:txBody>
          <a:bodyPr>
            <a:normAutofit fontScale="90000"/>
          </a:bodyPr>
          <a:lstStyle/>
          <a:p>
            <a:r>
              <a:rPr lang="en-IN" sz="6600" b="1" dirty="0"/>
              <a:t>Density and contour plots </a:t>
            </a:r>
            <a:endParaRPr lang="en-US" sz="4400" dirty="0"/>
          </a:p>
        </p:txBody>
      </p:sp>
      <p:pic>
        <p:nvPicPr>
          <p:cNvPr id="8194" name="Picture 2" descr="Contour Plots using Plotly in Python - GeeksforGee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392" y="127354"/>
            <a:ext cx="5593966" cy="404499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191069" y="3712191"/>
            <a:ext cx="5964073" cy="20865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IN" sz="3300" b="1" dirty="0" err="1"/>
              <a:t>np.meshgrid</a:t>
            </a:r>
            <a:r>
              <a:rPr lang="en-IN" sz="3300" b="1" dirty="0"/>
              <a:t>( )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IN" sz="3300" b="1" dirty="0" err="1"/>
              <a:t>plt.contour</a:t>
            </a:r>
            <a:r>
              <a:rPr lang="en-IN" sz="3300" b="1" dirty="0"/>
              <a:t>( )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IN" sz="3300" b="1" dirty="0" err="1"/>
              <a:t>plt.contourf</a:t>
            </a:r>
            <a:r>
              <a:rPr lang="en-IN" sz="3300" b="1" dirty="0"/>
              <a:t>( )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IN" sz="3300" b="1" dirty="0" err="1"/>
              <a:t>plt.imshow</a:t>
            </a:r>
            <a:r>
              <a:rPr lang="en-IN" sz="3300" b="1" dirty="0"/>
              <a:t>()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0863108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Density and contour plots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478" y="736980"/>
            <a:ext cx="11846257" cy="56764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Used to display three-dimensional data in two dimensions using contours or color-coded regions.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Three </a:t>
            </a:r>
            <a:r>
              <a:rPr lang="en-US" sz="2800" dirty="0" err="1"/>
              <a:t>Matplotlib</a:t>
            </a:r>
            <a:r>
              <a:rPr lang="en-US" sz="2800" dirty="0"/>
              <a:t> functions used: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 err="1"/>
              <a:t>plt.contour</a:t>
            </a:r>
            <a:r>
              <a:rPr lang="en-US" sz="2800" dirty="0"/>
              <a:t> for contour plots, 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 err="1"/>
              <a:t>plt.contourf</a:t>
            </a:r>
            <a:r>
              <a:rPr lang="en-US" sz="2800" dirty="0"/>
              <a:t> for filled contour plots, and 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 err="1"/>
              <a:t>plt.imshow</a:t>
            </a:r>
            <a:r>
              <a:rPr lang="en-US" sz="2800" dirty="0"/>
              <a:t> for showing images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3000" dirty="0"/>
              <a:t>Initial import statements: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30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491318" y="4107975"/>
            <a:ext cx="7096837" cy="154219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  <a:endParaRPr lang="en-US" sz="2800" dirty="0"/>
          </a:p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 err="1"/>
              <a:t>plt.style.use</a:t>
            </a:r>
            <a:r>
              <a:rPr lang="en-US" sz="2800" b="1" dirty="0"/>
              <a:t>('</a:t>
            </a:r>
            <a:r>
              <a:rPr lang="en-US" sz="2800" b="1" dirty="0" err="1"/>
              <a:t>seaborn-whitegrid</a:t>
            </a:r>
            <a:r>
              <a:rPr lang="en-US" sz="2800" b="1" dirty="0"/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31205150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Visualizing a Three-Dimensional Function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478" y="600502"/>
            <a:ext cx="11682484" cy="56764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Consider the function z = f (x, y)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A contour plot can be created with the </a:t>
            </a:r>
            <a:r>
              <a:rPr lang="en-US" sz="2800" dirty="0" err="1"/>
              <a:t>plt.contour</a:t>
            </a:r>
            <a:r>
              <a:rPr lang="en-US" sz="2800" dirty="0"/>
              <a:t> function.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It takes three arguments: a grid of x values, a grid of y values, and a grid of z values.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 err="1"/>
              <a:t>np.meshgrid</a:t>
            </a:r>
            <a:r>
              <a:rPr lang="en-US" sz="2800" dirty="0"/>
              <a:t> function </a:t>
            </a: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/>
              <a:t>builds two-dimensional grids from one-dimensional arrays: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  <p:pic>
        <p:nvPicPr>
          <p:cNvPr id="19458" name="Picture 2" descr="Numpy Meshgrid function - GeeksforGee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769" y="3046268"/>
            <a:ext cx="4935040" cy="332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1550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Visualizing a Three-Dimensional Function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478" y="600502"/>
            <a:ext cx="11682484" cy="567645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 u="sng" dirty="0"/>
              <a:t>Using </a:t>
            </a:r>
            <a:r>
              <a:rPr lang="en-US" sz="2800" b="1" u="sng" dirty="0" err="1"/>
              <a:t>plt.contour</a:t>
            </a:r>
            <a:r>
              <a:rPr lang="en-US" sz="2800" b="1" u="sng" dirty="0"/>
              <a:t> function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Dashed lines </a:t>
            </a:r>
            <a:r>
              <a:rPr lang="en-US" sz="2800" dirty="0">
                <a:sym typeface="Wingdings" panose="05000000000000000000" pitchFamily="2" charset="2"/>
              </a:rPr>
              <a:t> -</a:t>
            </a:r>
            <a:r>
              <a:rPr lang="en-US" sz="2800" dirty="0" err="1">
                <a:sym typeface="Wingdings" panose="05000000000000000000" pitchFamily="2" charset="2"/>
              </a:rPr>
              <a:t>ve</a:t>
            </a:r>
            <a:r>
              <a:rPr lang="en-US" sz="2800" dirty="0">
                <a:sym typeface="Wingdings" panose="05000000000000000000" pitchFamily="2" charset="2"/>
              </a:rPr>
              <a:t> values, solid lines  +</a:t>
            </a:r>
            <a:r>
              <a:rPr lang="en-US" sz="2800" dirty="0" err="1">
                <a:sym typeface="Wingdings" panose="05000000000000000000" pitchFamily="2" charset="2"/>
              </a:rPr>
              <a:t>ve</a:t>
            </a:r>
            <a:r>
              <a:rPr lang="en-US" sz="2800" dirty="0">
                <a:sym typeface="Wingdings" panose="05000000000000000000" pitchFamily="2" charset="2"/>
              </a:rPr>
              <a:t> values.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ym typeface="Wingdings" panose="05000000000000000000" pitchFamily="2" charset="2"/>
              </a:rPr>
              <a:t>Single color or </a:t>
            </a:r>
            <a:r>
              <a:rPr lang="en-US" sz="2800" dirty="0" err="1">
                <a:sym typeface="Wingdings" panose="05000000000000000000" pitchFamily="2" charset="2"/>
              </a:rPr>
              <a:t>colormap</a:t>
            </a:r>
            <a:r>
              <a:rPr lang="en-US" sz="2800" dirty="0">
                <a:sym typeface="Wingdings" panose="05000000000000000000" pitchFamily="2" charset="2"/>
              </a:rPr>
              <a:t> can be used</a:t>
            </a:r>
            <a:r>
              <a:rPr lang="en-US" sz="2800" dirty="0"/>
              <a:t>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0" y="2282083"/>
            <a:ext cx="7083188" cy="389643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import </a:t>
            </a:r>
            <a:r>
              <a:rPr lang="en-US" sz="2400" b="1" dirty="0" err="1"/>
              <a:t>matplotlib.pyplot</a:t>
            </a:r>
            <a:r>
              <a:rPr lang="en-US" sz="2400" b="1" dirty="0"/>
              <a:t> as </a:t>
            </a:r>
            <a:r>
              <a:rPr lang="en-US" sz="2400" b="1" dirty="0" err="1"/>
              <a:t>plt</a:t>
            </a:r>
            <a:endParaRPr lang="en-US" sz="2400" b="1" dirty="0"/>
          </a:p>
          <a:p>
            <a:r>
              <a:rPr lang="en-US" sz="2400" b="1" dirty="0"/>
              <a:t>import </a:t>
            </a:r>
            <a:r>
              <a:rPr lang="en-US" sz="2400" b="1" dirty="0" err="1"/>
              <a:t>numpy</a:t>
            </a:r>
            <a:r>
              <a:rPr lang="en-US" sz="2400" b="1" dirty="0"/>
              <a:t> as np</a:t>
            </a:r>
          </a:p>
          <a:p>
            <a:r>
              <a:rPr lang="es-ES" sz="2400" b="1" dirty="0" err="1"/>
              <a:t>def</a:t>
            </a:r>
            <a:r>
              <a:rPr lang="es-ES" sz="2400" b="1" dirty="0"/>
              <a:t> f(x, y):</a:t>
            </a:r>
          </a:p>
          <a:p>
            <a:r>
              <a:rPr lang="es-ES" sz="2400" b="1" dirty="0"/>
              <a:t>	</a:t>
            </a:r>
            <a:r>
              <a:rPr lang="es-ES" sz="2400" b="1" dirty="0" err="1"/>
              <a:t>return</a:t>
            </a:r>
            <a:r>
              <a:rPr lang="es-ES" sz="2400" b="1" dirty="0"/>
              <a:t> </a:t>
            </a:r>
            <a:r>
              <a:rPr lang="es-ES" sz="2400" b="1" dirty="0" err="1"/>
              <a:t>np.sin</a:t>
            </a:r>
            <a:r>
              <a:rPr lang="es-ES" sz="2400" b="1" dirty="0"/>
              <a:t>(x) ** 10 + </a:t>
            </a:r>
            <a:r>
              <a:rPr lang="es-ES" sz="2400" b="1" dirty="0" err="1"/>
              <a:t>np.cos</a:t>
            </a:r>
            <a:r>
              <a:rPr lang="es-ES" sz="2400" b="1" dirty="0"/>
              <a:t>(10 + y * x) * 											</a:t>
            </a:r>
            <a:r>
              <a:rPr lang="es-ES" sz="2400" b="1" dirty="0" err="1"/>
              <a:t>np.cos</a:t>
            </a:r>
            <a:r>
              <a:rPr lang="es-ES" sz="2400" b="1" dirty="0"/>
              <a:t>(x)</a:t>
            </a:r>
          </a:p>
          <a:p>
            <a:r>
              <a:rPr lang="en-US" sz="2400" b="1" dirty="0"/>
              <a:t>x = </a:t>
            </a:r>
            <a:r>
              <a:rPr lang="en-US" sz="2400" b="1" dirty="0" err="1"/>
              <a:t>np.linspace</a:t>
            </a:r>
            <a:r>
              <a:rPr lang="en-US" sz="2400" b="1" dirty="0"/>
              <a:t>(0, 5, 50)</a:t>
            </a:r>
          </a:p>
          <a:p>
            <a:r>
              <a:rPr lang="en-US" sz="2400" b="1" dirty="0"/>
              <a:t>y = </a:t>
            </a:r>
            <a:r>
              <a:rPr lang="en-US" sz="2400" b="1" dirty="0" err="1"/>
              <a:t>np.linspace</a:t>
            </a:r>
            <a:r>
              <a:rPr lang="en-US" sz="2400" b="1" dirty="0"/>
              <a:t>(0, 5, 40)</a:t>
            </a:r>
          </a:p>
          <a:p>
            <a:r>
              <a:rPr lang="en-US" sz="2400" b="1" dirty="0"/>
              <a:t>X, Y = </a:t>
            </a:r>
            <a:r>
              <a:rPr lang="en-US" sz="2400" b="1" dirty="0" err="1"/>
              <a:t>np.meshgrid</a:t>
            </a:r>
            <a:r>
              <a:rPr lang="en-US" sz="2400" b="1" dirty="0"/>
              <a:t>(x, y)</a:t>
            </a:r>
          </a:p>
          <a:p>
            <a:r>
              <a:rPr lang="en-US" sz="2400" b="1" dirty="0"/>
              <a:t>Z = f(X, Y)</a:t>
            </a:r>
          </a:p>
          <a:p>
            <a:r>
              <a:rPr lang="fr-FR" sz="2400" b="1" dirty="0" err="1"/>
              <a:t>plt.contour</a:t>
            </a:r>
            <a:r>
              <a:rPr lang="fr-FR" sz="2400" b="1" dirty="0"/>
              <a:t>(X, Y, Z, </a:t>
            </a:r>
            <a:r>
              <a:rPr lang="fr-FR" sz="2400" b="1" dirty="0" err="1"/>
              <a:t>colors</a:t>
            </a:r>
            <a:r>
              <a:rPr lang="fr-FR" sz="2400" b="1" dirty="0"/>
              <a:t>='black')</a:t>
            </a:r>
            <a:endParaRPr lang="es-ES" sz="2400" b="1" dirty="0"/>
          </a:p>
          <a:p>
            <a:r>
              <a:rPr lang="en-US" sz="2400" b="1" dirty="0" err="1"/>
              <a:t>plt.show</a:t>
            </a:r>
            <a:r>
              <a:rPr lang="en-US" sz="2400" b="1" dirty="0"/>
              <a:t>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0" t="9671" r="7183" b="5442"/>
          <a:stretch/>
        </p:blipFill>
        <p:spPr>
          <a:xfrm>
            <a:off x="7215116" y="3183341"/>
            <a:ext cx="4976884" cy="367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8498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Visualizing a Three-Dimensional Function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478" y="600502"/>
            <a:ext cx="11682484" cy="567645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 u="sng" dirty="0"/>
              <a:t>Using </a:t>
            </a:r>
            <a:r>
              <a:rPr lang="en-US" sz="2800" b="1" u="sng" dirty="0" err="1"/>
              <a:t>plt.contour</a:t>
            </a:r>
            <a:r>
              <a:rPr lang="en-US" sz="2800" b="1" u="sng" dirty="0"/>
              <a:t> function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Using </a:t>
            </a:r>
            <a:r>
              <a:rPr lang="en-US" sz="2800" dirty="0" err="1"/>
              <a:t>colormap</a:t>
            </a:r>
            <a:r>
              <a:rPr lang="en-US" sz="2800" dirty="0"/>
              <a:t>, </a:t>
            </a:r>
            <a:r>
              <a:rPr lang="en-US" sz="2800" dirty="0" err="1"/>
              <a:t>eg</a:t>
            </a:r>
            <a:r>
              <a:rPr lang="en-US" sz="2800" dirty="0"/>
              <a:t>. </a:t>
            </a:r>
            <a:r>
              <a:rPr lang="en-US" sz="2800" dirty="0" err="1"/>
              <a:t>RdGr</a:t>
            </a:r>
            <a:r>
              <a:rPr lang="en-US" sz="2800" dirty="0"/>
              <a:t> (Red-Gray) </a:t>
            </a:r>
            <a:r>
              <a:rPr lang="en-US" sz="2800" dirty="0" err="1"/>
              <a:t>colormap</a:t>
            </a:r>
            <a:endParaRPr lang="en-US" sz="28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0" y="1754745"/>
            <a:ext cx="7083188" cy="389643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import </a:t>
            </a:r>
            <a:r>
              <a:rPr lang="en-US" sz="2400" b="1" dirty="0" err="1"/>
              <a:t>matplotlib.pyplot</a:t>
            </a:r>
            <a:r>
              <a:rPr lang="en-US" sz="2400" b="1" dirty="0"/>
              <a:t> as </a:t>
            </a:r>
            <a:r>
              <a:rPr lang="en-US" sz="2400" b="1" dirty="0" err="1"/>
              <a:t>plt</a:t>
            </a:r>
            <a:endParaRPr lang="en-US" sz="2400" b="1" dirty="0"/>
          </a:p>
          <a:p>
            <a:r>
              <a:rPr lang="en-US" sz="2400" b="1" dirty="0"/>
              <a:t>import </a:t>
            </a:r>
            <a:r>
              <a:rPr lang="en-US" sz="2400" b="1" dirty="0" err="1"/>
              <a:t>numpy</a:t>
            </a:r>
            <a:r>
              <a:rPr lang="en-US" sz="2400" b="1" dirty="0"/>
              <a:t> as np</a:t>
            </a:r>
          </a:p>
          <a:p>
            <a:r>
              <a:rPr lang="es-ES" sz="2400" b="1" dirty="0" err="1"/>
              <a:t>def</a:t>
            </a:r>
            <a:r>
              <a:rPr lang="es-ES" sz="2400" b="1" dirty="0"/>
              <a:t> f(x, y):</a:t>
            </a:r>
          </a:p>
          <a:p>
            <a:r>
              <a:rPr lang="es-ES" sz="2400" b="1" dirty="0"/>
              <a:t>	</a:t>
            </a:r>
            <a:r>
              <a:rPr lang="es-ES" sz="2400" b="1" dirty="0" err="1"/>
              <a:t>return</a:t>
            </a:r>
            <a:r>
              <a:rPr lang="es-ES" sz="2400" b="1" dirty="0"/>
              <a:t> </a:t>
            </a:r>
            <a:r>
              <a:rPr lang="es-ES" sz="2400" b="1" dirty="0" err="1"/>
              <a:t>np.sin</a:t>
            </a:r>
            <a:r>
              <a:rPr lang="es-ES" sz="2400" b="1" dirty="0"/>
              <a:t>(x) ** 10 + </a:t>
            </a:r>
            <a:r>
              <a:rPr lang="es-ES" sz="2400" b="1" dirty="0" err="1"/>
              <a:t>np.cos</a:t>
            </a:r>
            <a:r>
              <a:rPr lang="es-ES" sz="2400" b="1" dirty="0"/>
              <a:t>(10 + y * x) * 											</a:t>
            </a:r>
            <a:r>
              <a:rPr lang="es-ES" sz="2400" b="1" dirty="0" err="1"/>
              <a:t>np.cos</a:t>
            </a:r>
            <a:r>
              <a:rPr lang="es-ES" sz="2400" b="1" dirty="0"/>
              <a:t>(x)</a:t>
            </a:r>
          </a:p>
          <a:p>
            <a:r>
              <a:rPr lang="en-US" sz="2400" b="1" dirty="0"/>
              <a:t>x = </a:t>
            </a:r>
            <a:r>
              <a:rPr lang="en-US" sz="2400" b="1" dirty="0" err="1"/>
              <a:t>np.linspace</a:t>
            </a:r>
            <a:r>
              <a:rPr lang="en-US" sz="2400" b="1" dirty="0"/>
              <a:t>(0, 5, 50)</a:t>
            </a:r>
          </a:p>
          <a:p>
            <a:r>
              <a:rPr lang="en-US" sz="2400" b="1" dirty="0"/>
              <a:t>y = </a:t>
            </a:r>
            <a:r>
              <a:rPr lang="en-US" sz="2400" b="1" dirty="0" err="1"/>
              <a:t>np.linspace</a:t>
            </a:r>
            <a:r>
              <a:rPr lang="en-US" sz="2400" b="1" dirty="0"/>
              <a:t>(0, 5, 40)</a:t>
            </a:r>
          </a:p>
          <a:p>
            <a:r>
              <a:rPr lang="en-US" sz="2400" b="1" dirty="0"/>
              <a:t>X, Y = </a:t>
            </a:r>
            <a:r>
              <a:rPr lang="en-US" sz="2400" b="1" dirty="0" err="1"/>
              <a:t>np.meshgrid</a:t>
            </a:r>
            <a:r>
              <a:rPr lang="en-US" sz="2400" b="1" dirty="0"/>
              <a:t>(x, y)</a:t>
            </a:r>
          </a:p>
          <a:p>
            <a:r>
              <a:rPr lang="en-US" sz="2400" b="1" dirty="0"/>
              <a:t>Z = f(X, Y)</a:t>
            </a:r>
          </a:p>
          <a:p>
            <a:r>
              <a:rPr lang="fr-FR" sz="2400" b="1" dirty="0" err="1"/>
              <a:t>plt</a:t>
            </a:r>
            <a:r>
              <a:rPr lang="fr-FR" sz="2400" b="1" dirty="0"/>
              <a:t>. contour(X, Y, Z, 20, </a:t>
            </a:r>
            <a:r>
              <a:rPr lang="fr-FR" sz="2400" b="1" dirty="0" err="1"/>
              <a:t>cmap</a:t>
            </a:r>
            <a:r>
              <a:rPr lang="fr-FR" sz="2400" b="1" dirty="0"/>
              <a:t>='</a:t>
            </a:r>
            <a:r>
              <a:rPr lang="fr-FR" sz="2400" b="1" dirty="0" err="1"/>
              <a:t>RdGy</a:t>
            </a:r>
            <a:r>
              <a:rPr lang="fr-FR" sz="2400" b="1" dirty="0"/>
              <a:t>')</a:t>
            </a:r>
            <a:endParaRPr lang="es-ES" sz="2400" b="1" dirty="0"/>
          </a:p>
          <a:p>
            <a:r>
              <a:rPr lang="en-US" sz="2400" b="1" dirty="0" err="1"/>
              <a:t>plt.show</a:t>
            </a:r>
            <a:r>
              <a:rPr lang="en-US" sz="2400" b="1" dirty="0"/>
              <a:t>()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2" t="8473" r="6841" b="4463"/>
          <a:stretch/>
        </p:blipFill>
        <p:spPr>
          <a:xfrm>
            <a:off x="7154729" y="2966369"/>
            <a:ext cx="4967786" cy="382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5216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Visualizing a Three-Dimensional Function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478" y="600502"/>
            <a:ext cx="11682484" cy="567645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 u="sng" dirty="0"/>
              <a:t>Using </a:t>
            </a:r>
            <a:r>
              <a:rPr lang="en-US" sz="2800" b="1" u="sng" dirty="0" err="1"/>
              <a:t>plt.contourf</a:t>
            </a:r>
            <a:r>
              <a:rPr lang="en-US" sz="2800" b="1" u="sng" dirty="0"/>
              <a:t> function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The spaces between the lines may be filled using this function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Gives a peak – valley appearance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0" y="2054994"/>
            <a:ext cx="7083188" cy="468800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import </a:t>
            </a:r>
            <a:r>
              <a:rPr lang="en-US" sz="2400" b="1" dirty="0" err="1"/>
              <a:t>matplotlib.pyplot</a:t>
            </a:r>
            <a:r>
              <a:rPr lang="en-US" sz="2400" b="1" dirty="0"/>
              <a:t> as </a:t>
            </a:r>
            <a:r>
              <a:rPr lang="en-US" sz="2400" b="1" dirty="0" err="1"/>
              <a:t>plt</a:t>
            </a:r>
            <a:endParaRPr lang="en-US" sz="2400" b="1" dirty="0"/>
          </a:p>
          <a:p>
            <a:r>
              <a:rPr lang="en-US" sz="2400" b="1" dirty="0"/>
              <a:t>import </a:t>
            </a:r>
            <a:r>
              <a:rPr lang="en-US" sz="2400" b="1" dirty="0" err="1"/>
              <a:t>numpy</a:t>
            </a:r>
            <a:r>
              <a:rPr lang="en-US" sz="2400" b="1" dirty="0"/>
              <a:t> as np</a:t>
            </a:r>
          </a:p>
          <a:p>
            <a:r>
              <a:rPr lang="es-ES" sz="2400" b="1" dirty="0" err="1"/>
              <a:t>def</a:t>
            </a:r>
            <a:r>
              <a:rPr lang="es-ES" sz="2400" b="1" dirty="0"/>
              <a:t> f(x, y):</a:t>
            </a:r>
          </a:p>
          <a:p>
            <a:r>
              <a:rPr lang="es-ES" sz="2400" b="1" dirty="0"/>
              <a:t>	</a:t>
            </a:r>
            <a:r>
              <a:rPr lang="es-ES" sz="2400" b="1" dirty="0" err="1"/>
              <a:t>return</a:t>
            </a:r>
            <a:r>
              <a:rPr lang="es-ES" sz="2400" b="1" dirty="0"/>
              <a:t> </a:t>
            </a:r>
            <a:r>
              <a:rPr lang="es-ES" sz="2400" b="1" dirty="0" err="1"/>
              <a:t>np.sin</a:t>
            </a:r>
            <a:r>
              <a:rPr lang="es-ES" sz="2400" b="1" dirty="0"/>
              <a:t>(x) ** 10 + </a:t>
            </a:r>
            <a:r>
              <a:rPr lang="es-ES" sz="2400" b="1" dirty="0" err="1"/>
              <a:t>np.cos</a:t>
            </a:r>
            <a:r>
              <a:rPr lang="es-ES" sz="2400" b="1" dirty="0"/>
              <a:t>(10 + y * x) * 											</a:t>
            </a:r>
            <a:r>
              <a:rPr lang="es-ES" sz="2400" b="1" dirty="0" err="1"/>
              <a:t>np.cos</a:t>
            </a:r>
            <a:r>
              <a:rPr lang="es-ES" sz="2400" b="1" dirty="0"/>
              <a:t>(x)</a:t>
            </a:r>
          </a:p>
          <a:p>
            <a:r>
              <a:rPr lang="en-US" sz="2400" b="1" dirty="0"/>
              <a:t>x = </a:t>
            </a:r>
            <a:r>
              <a:rPr lang="en-US" sz="2400" b="1" dirty="0" err="1"/>
              <a:t>np.linspace</a:t>
            </a:r>
            <a:r>
              <a:rPr lang="en-US" sz="2400" b="1" dirty="0"/>
              <a:t>(0, 5, 50)</a:t>
            </a:r>
          </a:p>
          <a:p>
            <a:r>
              <a:rPr lang="en-US" sz="2400" b="1" dirty="0"/>
              <a:t>y = </a:t>
            </a:r>
            <a:r>
              <a:rPr lang="en-US" sz="2400" b="1" dirty="0" err="1"/>
              <a:t>np.linspace</a:t>
            </a:r>
            <a:r>
              <a:rPr lang="en-US" sz="2400" b="1" dirty="0"/>
              <a:t>(0, 5, 40)</a:t>
            </a:r>
          </a:p>
          <a:p>
            <a:r>
              <a:rPr lang="en-US" sz="2400" b="1" dirty="0"/>
              <a:t>X, Y = </a:t>
            </a:r>
            <a:r>
              <a:rPr lang="en-US" sz="2400" b="1" dirty="0" err="1"/>
              <a:t>np.meshgrid</a:t>
            </a:r>
            <a:r>
              <a:rPr lang="en-US" sz="2400" b="1" dirty="0"/>
              <a:t>(x, y)</a:t>
            </a:r>
          </a:p>
          <a:p>
            <a:r>
              <a:rPr lang="en-US" sz="2400" b="1" dirty="0"/>
              <a:t>Z = f(X, Y)</a:t>
            </a:r>
          </a:p>
          <a:p>
            <a:r>
              <a:rPr lang="en-US" sz="2400" b="1" dirty="0" err="1"/>
              <a:t>plt.contourf</a:t>
            </a:r>
            <a:r>
              <a:rPr lang="en-US" sz="2400" b="1" dirty="0"/>
              <a:t>(X, Y, Z, 20, </a:t>
            </a:r>
            <a:r>
              <a:rPr lang="en-US" sz="2400" b="1" dirty="0" err="1"/>
              <a:t>cmap</a:t>
            </a:r>
            <a:r>
              <a:rPr lang="en-US" sz="2400" b="1" dirty="0"/>
              <a:t>='</a:t>
            </a:r>
            <a:r>
              <a:rPr lang="en-US" sz="2400" b="1" dirty="0" err="1"/>
              <a:t>RdGy</a:t>
            </a:r>
            <a:r>
              <a:rPr lang="en-US" sz="2400" b="1" dirty="0"/>
              <a:t>')</a:t>
            </a:r>
          </a:p>
          <a:p>
            <a:r>
              <a:rPr lang="en-US" sz="2400" b="1" dirty="0" err="1"/>
              <a:t>plt.colorbar</a:t>
            </a:r>
            <a:r>
              <a:rPr lang="en-US" sz="2400" b="1" dirty="0"/>
              <a:t>()</a:t>
            </a:r>
            <a:endParaRPr lang="es-ES" sz="2400" b="1" dirty="0"/>
          </a:p>
          <a:p>
            <a:r>
              <a:rPr lang="en-US" sz="2400" b="1" dirty="0" err="1"/>
              <a:t>plt.show</a:t>
            </a:r>
            <a:r>
              <a:rPr lang="en-US" sz="2400" b="1" dirty="0"/>
              <a:t>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5" t="7494" r="11038" b="4820"/>
          <a:stretch/>
        </p:blipFill>
        <p:spPr>
          <a:xfrm>
            <a:off x="7219666" y="2828695"/>
            <a:ext cx="4972334" cy="402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0741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Visualizing a Three-Dimensional Function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494" y="614150"/>
            <a:ext cx="11682484" cy="567645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 u="sng" dirty="0"/>
              <a:t>Using </a:t>
            </a:r>
            <a:r>
              <a:rPr lang="en-US" sz="2800" b="1" u="sng" dirty="0" err="1"/>
              <a:t>plt.imshow</a:t>
            </a:r>
            <a:r>
              <a:rPr lang="en-US" sz="2800" b="1" u="sng" dirty="0"/>
              <a:t> function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Instead of new polygon for each step in the level and filling the color steps continuously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extent [</a:t>
            </a:r>
            <a:r>
              <a:rPr lang="en-US" sz="2800" dirty="0" err="1"/>
              <a:t>xmin</a:t>
            </a:r>
            <a:r>
              <a:rPr lang="en-US" sz="2800" dirty="0"/>
              <a:t>, </a:t>
            </a:r>
            <a:r>
              <a:rPr lang="en-US" sz="2800" dirty="0" err="1"/>
              <a:t>xmax</a:t>
            </a:r>
            <a:r>
              <a:rPr lang="en-US" sz="2800" dirty="0"/>
              <a:t>, </a:t>
            </a:r>
            <a:r>
              <a:rPr lang="en-US" sz="2800" dirty="0" err="1"/>
              <a:t>ymin</a:t>
            </a:r>
            <a:r>
              <a:rPr lang="en-US" sz="2800" dirty="0"/>
              <a:t>, </a:t>
            </a:r>
            <a:r>
              <a:rPr lang="en-US" sz="2800" dirty="0" err="1"/>
              <a:t>ymax</a:t>
            </a:r>
            <a:r>
              <a:rPr lang="en-US" sz="2800" dirty="0"/>
              <a:t>] of the image on the plot </a:t>
            </a:r>
            <a:r>
              <a:rPr lang="en-US" sz="2800" dirty="0">
                <a:sym typeface="Wingdings" panose="05000000000000000000" pitchFamily="2" charset="2"/>
              </a:rPr>
              <a:t> must be specified manually</a:t>
            </a: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3357349" y="2483893"/>
            <a:ext cx="8834651" cy="437410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/>
              <a:t>import </a:t>
            </a:r>
            <a:r>
              <a:rPr lang="en-US" sz="2200" b="1" dirty="0" err="1"/>
              <a:t>matplotlib.pyplot</a:t>
            </a:r>
            <a:r>
              <a:rPr lang="en-US" sz="2200" b="1" dirty="0"/>
              <a:t> as </a:t>
            </a:r>
            <a:r>
              <a:rPr lang="en-US" sz="2200" b="1" dirty="0" err="1"/>
              <a:t>plt</a:t>
            </a:r>
            <a:endParaRPr lang="en-US" sz="2200" b="1" dirty="0"/>
          </a:p>
          <a:p>
            <a:r>
              <a:rPr lang="en-US" sz="2200" b="1" dirty="0"/>
              <a:t>import </a:t>
            </a:r>
            <a:r>
              <a:rPr lang="en-US" sz="2200" b="1" dirty="0" err="1"/>
              <a:t>numpy</a:t>
            </a:r>
            <a:r>
              <a:rPr lang="en-US" sz="2200" b="1" dirty="0"/>
              <a:t> as np</a:t>
            </a:r>
          </a:p>
          <a:p>
            <a:r>
              <a:rPr lang="es-ES" sz="2200" b="1" dirty="0" err="1"/>
              <a:t>def</a:t>
            </a:r>
            <a:r>
              <a:rPr lang="es-ES" sz="2200" b="1" dirty="0"/>
              <a:t> f(x, y):</a:t>
            </a:r>
          </a:p>
          <a:p>
            <a:r>
              <a:rPr lang="es-ES" sz="2200" b="1" dirty="0"/>
              <a:t>	</a:t>
            </a:r>
            <a:r>
              <a:rPr lang="es-ES" sz="2200" b="1" dirty="0" err="1"/>
              <a:t>return</a:t>
            </a:r>
            <a:r>
              <a:rPr lang="es-ES" sz="2200" b="1" dirty="0"/>
              <a:t> </a:t>
            </a:r>
            <a:r>
              <a:rPr lang="es-ES" sz="2200" b="1" dirty="0" err="1"/>
              <a:t>np.sin</a:t>
            </a:r>
            <a:r>
              <a:rPr lang="es-ES" sz="2200" b="1" dirty="0"/>
              <a:t>(x) ** 10 + </a:t>
            </a:r>
            <a:r>
              <a:rPr lang="es-ES" sz="2200" b="1" dirty="0" err="1"/>
              <a:t>np.cos</a:t>
            </a:r>
            <a:r>
              <a:rPr lang="es-ES" sz="2200" b="1" dirty="0"/>
              <a:t>(10 + y * x) * </a:t>
            </a:r>
            <a:r>
              <a:rPr lang="es-ES" sz="2200" b="1" dirty="0" err="1"/>
              <a:t>np.cos</a:t>
            </a:r>
            <a:r>
              <a:rPr lang="es-ES" sz="2200" b="1" dirty="0"/>
              <a:t>(x)</a:t>
            </a:r>
          </a:p>
          <a:p>
            <a:r>
              <a:rPr lang="en-US" sz="2200" b="1" dirty="0"/>
              <a:t>x = </a:t>
            </a:r>
            <a:r>
              <a:rPr lang="en-US" sz="2200" b="1" dirty="0" err="1"/>
              <a:t>np.linspace</a:t>
            </a:r>
            <a:r>
              <a:rPr lang="en-US" sz="2200" b="1" dirty="0"/>
              <a:t>(0, 5, 50)</a:t>
            </a:r>
          </a:p>
          <a:p>
            <a:r>
              <a:rPr lang="en-US" sz="2200" b="1" dirty="0"/>
              <a:t>y = </a:t>
            </a:r>
            <a:r>
              <a:rPr lang="en-US" sz="2200" b="1" dirty="0" err="1"/>
              <a:t>np.linspace</a:t>
            </a:r>
            <a:r>
              <a:rPr lang="en-US" sz="2200" b="1" dirty="0"/>
              <a:t>(0, 5, 40)</a:t>
            </a:r>
          </a:p>
          <a:p>
            <a:r>
              <a:rPr lang="en-US" sz="2200" b="1" dirty="0"/>
              <a:t>X, Y = </a:t>
            </a:r>
            <a:r>
              <a:rPr lang="en-US" sz="2200" b="1" dirty="0" err="1"/>
              <a:t>np.meshgrid</a:t>
            </a:r>
            <a:r>
              <a:rPr lang="en-US" sz="2200" b="1" dirty="0"/>
              <a:t>(x, y)</a:t>
            </a:r>
          </a:p>
          <a:p>
            <a:r>
              <a:rPr lang="en-US" sz="2200" b="1" dirty="0" err="1"/>
              <a:t>plt.contourf</a:t>
            </a:r>
            <a:r>
              <a:rPr lang="en-US" sz="2200" b="1" dirty="0"/>
              <a:t>(X, Y, Z, 20, </a:t>
            </a:r>
            <a:r>
              <a:rPr lang="en-US" sz="2200" b="1" dirty="0" err="1"/>
              <a:t>cmap</a:t>
            </a:r>
            <a:r>
              <a:rPr lang="en-US" sz="2200" b="1" dirty="0"/>
              <a:t>='</a:t>
            </a:r>
            <a:r>
              <a:rPr lang="en-US" sz="2200" b="1" dirty="0" err="1"/>
              <a:t>RdGy</a:t>
            </a:r>
            <a:r>
              <a:rPr lang="en-US" sz="2200" b="1" dirty="0"/>
              <a:t>')</a:t>
            </a:r>
          </a:p>
          <a:p>
            <a:r>
              <a:rPr lang="en-US" sz="2200" b="1" dirty="0" err="1"/>
              <a:t>plt.colorbar</a:t>
            </a:r>
            <a:r>
              <a:rPr lang="en-US" sz="2200" b="1" dirty="0"/>
              <a:t>()</a:t>
            </a:r>
          </a:p>
          <a:p>
            <a:r>
              <a:rPr lang="en-US" sz="2200" b="1" dirty="0" err="1"/>
              <a:t>plt.imshow</a:t>
            </a:r>
            <a:r>
              <a:rPr lang="en-US" sz="2200" b="1" dirty="0"/>
              <a:t>(Z, extent=[0, 5, 0, 5], origin='lower', </a:t>
            </a:r>
            <a:r>
              <a:rPr lang="en-US" sz="2200" b="1" dirty="0" err="1"/>
              <a:t>cmap</a:t>
            </a:r>
            <a:r>
              <a:rPr lang="en-US" sz="2200" b="1" dirty="0"/>
              <a:t>='</a:t>
            </a:r>
            <a:r>
              <a:rPr lang="en-US" sz="2200" b="1" dirty="0" err="1"/>
              <a:t>RdGy</a:t>
            </a:r>
            <a:r>
              <a:rPr lang="en-US" sz="2200" b="1" dirty="0"/>
              <a:t>')</a:t>
            </a:r>
          </a:p>
          <a:p>
            <a:r>
              <a:rPr lang="en-US" sz="2200" b="1" dirty="0" err="1"/>
              <a:t>plt.show</a:t>
            </a:r>
            <a:r>
              <a:rPr lang="en-US" sz="2200" b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456558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23080"/>
            <a:ext cx="6127846" cy="1255595"/>
          </a:xfrm>
        </p:spPr>
        <p:txBody>
          <a:bodyPr>
            <a:normAutofit/>
          </a:bodyPr>
          <a:lstStyle/>
          <a:p>
            <a:r>
              <a:rPr lang="en-IN" sz="6600" b="1" dirty="0"/>
              <a:t>Histograms</a:t>
            </a:r>
            <a:endParaRPr lang="en-US" sz="4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632" y="491319"/>
            <a:ext cx="6284368" cy="3867303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23081" y="2970880"/>
            <a:ext cx="5964071" cy="2256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IN" sz="6600" b="1" dirty="0" err="1"/>
              <a:t>plt.hist</a:t>
            </a:r>
            <a:r>
              <a:rPr lang="en-IN" sz="6600" b="1" dirty="0"/>
              <a:t>( )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IN" sz="6600" b="1" dirty="0" err="1"/>
              <a:t>np.histogram</a:t>
            </a:r>
            <a:r>
              <a:rPr lang="en-IN" sz="6600" b="1" dirty="0"/>
              <a:t>( )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IN" sz="6600" b="1" dirty="0"/>
              <a:t>plt.hist2d( )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IN" sz="6600" b="1" dirty="0"/>
              <a:t>np.histogram2d( )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IN" sz="6600" b="1" dirty="0" err="1"/>
              <a:t>plt.hexbin</a:t>
            </a:r>
            <a:r>
              <a:rPr lang="en-IN" sz="6600" b="1" dirty="0"/>
              <a:t>( )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4372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histograms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494" y="614150"/>
            <a:ext cx="11682484" cy="56764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A simple histogram can be a great first step in understanding a dataset.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Using </a:t>
            </a:r>
            <a:r>
              <a:rPr lang="en-US" sz="2800" dirty="0" err="1"/>
              <a:t>plt.hist</a:t>
            </a:r>
            <a:r>
              <a:rPr lang="en-US" sz="2800" dirty="0"/>
              <a:t>() function – to create a 1-d histogram for the given data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163773" y="2593075"/>
            <a:ext cx="5063319" cy="249753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import </a:t>
            </a:r>
            <a:r>
              <a:rPr lang="en-US" sz="2400" b="1" dirty="0" err="1"/>
              <a:t>matplotlib.pyplot</a:t>
            </a:r>
            <a:r>
              <a:rPr lang="en-US" sz="2400" b="1" dirty="0"/>
              <a:t> as </a:t>
            </a:r>
            <a:r>
              <a:rPr lang="en-US" sz="2400" b="1" dirty="0" err="1"/>
              <a:t>plt</a:t>
            </a:r>
            <a:endParaRPr lang="en-US" sz="2400" b="1" dirty="0"/>
          </a:p>
          <a:p>
            <a:r>
              <a:rPr lang="en-US" sz="2400" b="1" dirty="0"/>
              <a:t>import </a:t>
            </a:r>
            <a:r>
              <a:rPr lang="en-US" sz="2400" b="1" dirty="0" err="1"/>
              <a:t>numpy</a:t>
            </a:r>
            <a:r>
              <a:rPr lang="en-US" sz="2400" b="1" dirty="0"/>
              <a:t> as np</a:t>
            </a:r>
          </a:p>
          <a:p>
            <a:r>
              <a:rPr lang="en-US" sz="2400" b="1" dirty="0" err="1"/>
              <a:t>plt.style.use</a:t>
            </a:r>
            <a:r>
              <a:rPr lang="en-US" sz="2400" b="1" dirty="0"/>
              <a:t>('classic')</a:t>
            </a:r>
          </a:p>
          <a:p>
            <a:r>
              <a:rPr lang="en-US" sz="2400" b="1" dirty="0"/>
              <a:t>data = </a:t>
            </a:r>
            <a:r>
              <a:rPr lang="en-US" sz="2400" b="1" dirty="0" err="1"/>
              <a:t>np.random.randn</a:t>
            </a:r>
            <a:r>
              <a:rPr lang="en-US" sz="2400" b="1" dirty="0"/>
              <a:t>(1000)</a:t>
            </a:r>
          </a:p>
          <a:p>
            <a:r>
              <a:rPr lang="en-US" sz="2400" b="1" dirty="0" err="1"/>
              <a:t>plt.hist</a:t>
            </a:r>
            <a:r>
              <a:rPr lang="en-US" sz="2400" b="1" dirty="0"/>
              <a:t>(data)</a:t>
            </a:r>
          </a:p>
          <a:p>
            <a:r>
              <a:rPr lang="en-US" sz="2400" b="1" dirty="0" err="1"/>
              <a:t>plt.show</a:t>
            </a:r>
            <a:r>
              <a:rPr lang="en-US" sz="2400" b="1" dirty="0"/>
              <a:t>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6892" y="2150526"/>
            <a:ext cx="6159698" cy="461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5722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histograms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494" y="614150"/>
            <a:ext cx="11682484" cy="56764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The </a:t>
            </a:r>
            <a:r>
              <a:rPr lang="en-US" sz="2800" dirty="0" err="1"/>
              <a:t>hist</a:t>
            </a:r>
            <a:r>
              <a:rPr lang="en-US" sz="2800" dirty="0"/>
              <a:t>() function has many options to tune both the calculation and the display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178668" y="1682093"/>
            <a:ext cx="11502569" cy="343581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 err="1"/>
              <a:t>plt.style.use</a:t>
            </a:r>
            <a:r>
              <a:rPr lang="en-US" sz="2800" b="1" dirty="0"/>
              <a:t>('classic')</a:t>
            </a:r>
          </a:p>
          <a:p>
            <a:r>
              <a:rPr lang="en-US" sz="2800" b="1" dirty="0"/>
              <a:t>data = </a:t>
            </a:r>
            <a:r>
              <a:rPr lang="en-US" sz="2800" b="1" dirty="0" err="1"/>
              <a:t>np.random.randn</a:t>
            </a:r>
            <a:r>
              <a:rPr lang="en-US" sz="2800" b="1" dirty="0"/>
              <a:t>(1000)</a:t>
            </a:r>
          </a:p>
          <a:p>
            <a:pPr algn="just"/>
            <a:r>
              <a:rPr lang="en-US" sz="2800" b="1" dirty="0" err="1"/>
              <a:t>plt.hist</a:t>
            </a:r>
            <a:r>
              <a:rPr lang="en-US" sz="2800" b="1" dirty="0"/>
              <a:t>(data, bins=30, normed=True, alpha=0.5, </a:t>
            </a:r>
            <a:r>
              <a:rPr lang="en-US" sz="2800" b="1" dirty="0" err="1"/>
              <a:t>histtype</a:t>
            </a:r>
            <a:r>
              <a:rPr lang="en-US" sz="2800" b="1" dirty="0"/>
              <a:t>='</a:t>
            </a:r>
            <a:r>
              <a:rPr lang="en-US" sz="2800" b="1" dirty="0" err="1"/>
              <a:t>stepfilled</a:t>
            </a:r>
            <a:r>
              <a:rPr lang="en-US" sz="2800" b="1" dirty="0"/>
              <a:t>', color='</a:t>
            </a:r>
            <a:r>
              <a:rPr lang="en-US" sz="2800" b="1" dirty="0" err="1"/>
              <a:t>steelblue</a:t>
            </a:r>
            <a:r>
              <a:rPr lang="en-US" sz="2800" b="1" dirty="0"/>
              <a:t>', </a:t>
            </a:r>
            <a:r>
              <a:rPr lang="en-US" sz="2800" b="1" dirty="0" err="1"/>
              <a:t>edgecolor</a:t>
            </a:r>
            <a:r>
              <a:rPr lang="en-US" sz="2800" b="1" dirty="0"/>
              <a:t>='none');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905745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histograms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494" y="614150"/>
            <a:ext cx="11682484" cy="56764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The </a:t>
            </a:r>
            <a:r>
              <a:rPr lang="en-US" sz="2800" dirty="0" err="1"/>
              <a:t>hist</a:t>
            </a:r>
            <a:r>
              <a:rPr lang="en-US" sz="2800" dirty="0"/>
              <a:t>() function has many options to tune both the calculation and the display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178668" y="1682093"/>
            <a:ext cx="11502569" cy="249753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import </a:t>
            </a:r>
            <a:r>
              <a:rPr lang="en-US" sz="2400" b="1" dirty="0" err="1"/>
              <a:t>matplotlib.pyplot</a:t>
            </a:r>
            <a:r>
              <a:rPr lang="en-US" sz="2400" b="1" dirty="0"/>
              <a:t> as </a:t>
            </a:r>
            <a:r>
              <a:rPr lang="en-US" sz="2400" b="1" dirty="0" err="1"/>
              <a:t>plt</a:t>
            </a:r>
            <a:endParaRPr lang="en-US" sz="2400" b="1" dirty="0"/>
          </a:p>
          <a:p>
            <a:r>
              <a:rPr lang="en-US" sz="2400" b="1" dirty="0"/>
              <a:t>import </a:t>
            </a:r>
            <a:r>
              <a:rPr lang="en-US" sz="2400" b="1" dirty="0" err="1"/>
              <a:t>numpy</a:t>
            </a:r>
            <a:r>
              <a:rPr lang="en-US" sz="2400" b="1" dirty="0"/>
              <a:t> as np</a:t>
            </a:r>
          </a:p>
          <a:p>
            <a:r>
              <a:rPr lang="en-US" sz="2400" b="1" dirty="0" err="1"/>
              <a:t>plt.style.use</a:t>
            </a:r>
            <a:r>
              <a:rPr lang="en-US" sz="2400" b="1" dirty="0"/>
              <a:t>('classic')</a:t>
            </a:r>
          </a:p>
          <a:p>
            <a:r>
              <a:rPr lang="en-US" sz="2400" b="1" dirty="0"/>
              <a:t>data = </a:t>
            </a:r>
            <a:r>
              <a:rPr lang="en-US" sz="2400" b="1" dirty="0" err="1"/>
              <a:t>np.random.randn</a:t>
            </a:r>
            <a:r>
              <a:rPr lang="en-US" sz="2400" b="1" dirty="0"/>
              <a:t>(1000)</a:t>
            </a:r>
          </a:p>
          <a:p>
            <a:pPr algn="just"/>
            <a:r>
              <a:rPr lang="en-US" sz="2400" b="1" dirty="0" err="1"/>
              <a:t>plt.hist</a:t>
            </a:r>
            <a:r>
              <a:rPr lang="en-US" sz="2400" b="1" dirty="0"/>
              <a:t>(data, bins=30, normed=True, alpha=0.5, </a:t>
            </a:r>
            <a:r>
              <a:rPr lang="en-US" sz="2400" b="1" dirty="0" err="1"/>
              <a:t>histtype</a:t>
            </a:r>
            <a:r>
              <a:rPr lang="en-US" sz="2400" b="1" dirty="0"/>
              <a:t>='</a:t>
            </a:r>
            <a:r>
              <a:rPr lang="en-US" sz="2400" b="1" dirty="0" err="1"/>
              <a:t>stepfilled</a:t>
            </a:r>
            <a:r>
              <a:rPr lang="en-US" sz="2400" b="1" dirty="0"/>
              <a:t>', color='</a:t>
            </a:r>
            <a:r>
              <a:rPr lang="en-US" sz="2400" b="1" dirty="0" err="1"/>
              <a:t>steelblue</a:t>
            </a:r>
            <a:r>
              <a:rPr lang="en-US" sz="2400" b="1" dirty="0"/>
              <a:t>', </a:t>
            </a:r>
            <a:r>
              <a:rPr lang="en-US" sz="2400" b="1" dirty="0" err="1"/>
              <a:t>edgecolor</a:t>
            </a:r>
            <a:r>
              <a:rPr lang="en-US" sz="2400" b="1" dirty="0"/>
              <a:t>='none');</a:t>
            </a:r>
          </a:p>
          <a:p>
            <a:r>
              <a:rPr lang="en-US" sz="2400" b="1" dirty="0" err="1"/>
              <a:t>plt.show</a:t>
            </a:r>
            <a:r>
              <a:rPr lang="en-US" sz="2400" b="1" dirty="0"/>
              <a:t>()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785" y="1371589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6405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histograms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494" y="614150"/>
            <a:ext cx="11682484" cy="56764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Parameter ‘alpha’ </a:t>
            </a:r>
            <a:r>
              <a:rPr lang="en-US" sz="2800" dirty="0">
                <a:sym typeface="Wingdings" panose="05000000000000000000" pitchFamily="2" charset="2"/>
              </a:rPr>
              <a:t> used to adjust transparency of the bars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**</a:t>
            </a:r>
            <a:r>
              <a:rPr lang="en-US" sz="2800" dirty="0" err="1"/>
              <a:t>kwargs</a:t>
            </a:r>
            <a:r>
              <a:rPr lang="en-US" sz="2800" dirty="0"/>
              <a:t> </a:t>
            </a: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/>
              <a:t>This syntax allows to pass additional keyword arguments to the </a:t>
            </a:r>
            <a:r>
              <a:rPr lang="en-US" sz="2800" dirty="0" err="1"/>
              <a:t>hist</a:t>
            </a:r>
            <a:r>
              <a:rPr lang="en-US" sz="2800" dirty="0"/>
              <a:t> function. These arguments can include parameters like bins, color, alpha, etc., which control the appearance and behavior of the histogram.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7" t="8427" r="6545" b="4509"/>
          <a:stretch/>
        </p:blipFill>
        <p:spPr>
          <a:xfrm>
            <a:off x="8639034" y="2968389"/>
            <a:ext cx="3552966" cy="382137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792" y="2971806"/>
            <a:ext cx="8514956" cy="388619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import </a:t>
            </a:r>
            <a:r>
              <a:rPr lang="en-US" sz="2400" b="1" dirty="0" err="1"/>
              <a:t>matplotlib.pyplot</a:t>
            </a:r>
            <a:r>
              <a:rPr lang="en-US" sz="2400" b="1" dirty="0"/>
              <a:t> as </a:t>
            </a:r>
            <a:r>
              <a:rPr lang="en-US" sz="2400" b="1" dirty="0" err="1"/>
              <a:t>plt</a:t>
            </a:r>
            <a:endParaRPr lang="en-US" sz="2400" b="1" dirty="0"/>
          </a:p>
          <a:p>
            <a:r>
              <a:rPr lang="en-US" sz="2400" b="1" dirty="0"/>
              <a:t>import </a:t>
            </a:r>
            <a:r>
              <a:rPr lang="en-US" sz="2400" b="1" dirty="0" err="1"/>
              <a:t>numpy</a:t>
            </a:r>
            <a:r>
              <a:rPr lang="en-US" sz="2400" b="1" dirty="0"/>
              <a:t> as np</a:t>
            </a:r>
          </a:p>
          <a:p>
            <a:r>
              <a:rPr lang="en-US" sz="2400" b="1" dirty="0"/>
              <a:t>x1 = </a:t>
            </a:r>
            <a:r>
              <a:rPr lang="en-US" sz="2400" b="1" dirty="0" err="1"/>
              <a:t>np.random.normal</a:t>
            </a:r>
            <a:r>
              <a:rPr lang="en-US" sz="2400" b="1" dirty="0"/>
              <a:t>(0, 0.8, 1000)</a:t>
            </a:r>
          </a:p>
          <a:p>
            <a:r>
              <a:rPr lang="en-US" sz="2400" b="1" dirty="0"/>
              <a:t>x2 = </a:t>
            </a:r>
            <a:r>
              <a:rPr lang="en-US" sz="2400" b="1" dirty="0" err="1"/>
              <a:t>np.random.normal</a:t>
            </a:r>
            <a:r>
              <a:rPr lang="en-US" sz="2400" b="1" dirty="0"/>
              <a:t>(-2, 1, 1000)</a:t>
            </a:r>
          </a:p>
          <a:p>
            <a:r>
              <a:rPr lang="en-US" sz="2400" b="1" dirty="0"/>
              <a:t>x3 = </a:t>
            </a:r>
            <a:r>
              <a:rPr lang="en-US" sz="2400" b="1" dirty="0" err="1"/>
              <a:t>np.random.normal</a:t>
            </a:r>
            <a:r>
              <a:rPr lang="en-US" sz="2400" b="1" dirty="0"/>
              <a:t>(3, 2, 1000)</a:t>
            </a:r>
          </a:p>
          <a:p>
            <a:r>
              <a:rPr lang="en-US" sz="2400" b="1" dirty="0" err="1"/>
              <a:t>kwargs</a:t>
            </a:r>
            <a:r>
              <a:rPr lang="en-US" sz="2400" b="1" dirty="0"/>
              <a:t> = </a:t>
            </a:r>
            <a:r>
              <a:rPr lang="en-US" sz="2400" b="1" dirty="0" err="1"/>
              <a:t>dict</a:t>
            </a:r>
            <a:r>
              <a:rPr lang="en-US" sz="2400" b="1" dirty="0"/>
              <a:t>(</a:t>
            </a:r>
            <a:r>
              <a:rPr lang="en-US" sz="2400" b="1" dirty="0" err="1"/>
              <a:t>histtype</a:t>
            </a:r>
            <a:r>
              <a:rPr lang="en-US" sz="2400" b="1" dirty="0"/>
              <a:t>='</a:t>
            </a:r>
            <a:r>
              <a:rPr lang="en-US" sz="2400" b="1" dirty="0" err="1"/>
              <a:t>stepfilled</a:t>
            </a:r>
            <a:r>
              <a:rPr lang="en-US" sz="2400" b="1" dirty="0"/>
              <a:t>', alpha=0.3, bins=40)</a:t>
            </a:r>
          </a:p>
          <a:p>
            <a:r>
              <a:rPr lang="en-US" sz="2400" b="1" dirty="0" err="1"/>
              <a:t>plt.hist</a:t>
            </a:r>
            <a:r>
              <a:rPr lang="en-US" sz="2400" b="1" dirty="0"/>
              <a:t>(x1, **</a:t>
            </a:r>
            <a:r>
              <a:rPr lang="en-US" sz="2400" b="1" dirty="0" err="1"/>
              <a:t>kwargs</a:t>
            </a:r>
            <a:r>
              <a:rPr lang="en-US" sz="2400" b="1" dirty="0"/>
              <a:t>)</a:t>
            </a:r>
          </a:p>
          <a:p>
            <a:r>
              <a:rPr lang="en-US" sz="2400" b="1" dirty="0" err="1"/>
              <a:t>plt.hist</a:t>
            </a:r>
            <a:r>
              <a:rPr lang="en-US" sz="2400" b="1" dirty="0"/>
              <a:t>(x2, **</a:t>
            </a:r>
            <a:r>
              <a:rPr lang="en-US" sz="2400" b="1" dirty="0" err="1"/>
              <a:t>kwargs</a:t>
            </a:r>
            <a:r>
              <a:rPr lang="en-US" sz="2400" b="1" dirty="0"/>
              <a:t>)</a:t>
            </a:r>
          </a:p>
          <a:p>
            <a:r>
              <a:rPr lang="en-US" sz="2400" b="1" dirty="0" err="1"/>
              <a:t>plt.hist</a:t>
            </a:r>
            <a:r>
              <a:rPr lang="en-US" sz="2400" b="1" dirty="0"/>
              <a:t>(x3, **</a:t>
            </a:r>
            <a:r>
              <a:rPr lang="en-US" sz="2400" b="1" dirty="0" err="1"/>
              <a:t>kwargs</a:t>
            </a:r>
            <a:r>
              <a:rPr lang="en-US" sz="2400" b="1" dirty="0"/>
              <a:t>)</a:t>
            </a:r>
          </a:p>
          <a:p>
            <a:r>
              <a:rPr lang="en-US" sz="2400" b="1" dirty="0" err="1"/>
              <a:t>plt.show</a:t>
            </a:r>
            <a:r>
              <a:rPr lang="en-US" sz="2400" b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9955494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histograms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494" y="614150"/>
            <a:ext cx="11682484" cy="56764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 err="1"/>
              <a:t>np.histogram</a:t>
            </a:r>
            <a:r>
              <a:rPr lang="en-US" sz="2800" dirty="0"/>
              <a:t>() </a:t>
            </a:r>
            <a:r>
              <a:rPr lang="en-US" sz="2800" dirty="0">
                <a:sym typeface="Wingdings" panose="05000000000000000000" pitchFamily="2" charset="2"/>
              </a:rPr>
              <a:t> used i</a:t>
            </a:r>
            <a:r>
              <a:rPr lang="en-US" sz="2800" dirty="0"/>
              <a:t>f the number of points that would be in a given bin has to be counted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Number of bins can be altered as per user’s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0792" y="2316714"/>
            <a:ext cx="7704784" cy="1914093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import </a:t>
            </a:r>
            <a:r>
              <a:rPr lang="en-US" sz="2400" b="1" dirty="0" err="1"/>
              <a:t>numpy</a:t>
            </a:r>
            <a:r>
              <a:rPr lang="en-US" sz="2400" b="1" dirty="0"/>
              <a:t> as np</a:t>
            </a:r>
          </a:p>
          <a:p>
            <a:r>
              <a:rPr lang="en-US" sz="2400" b="1" dirty="0"/>
              <a:t>data = </a:t>
            </a:r>
            <a:r>
              <a:rPr lang="en-US" sz="2400" b="1" dirty="0" err="1"/>
              <a:t>np.random.randn</a:t>
            </a:r>
            <a:r>
              <a:rPr lang="en-US" sz="2400" b="1" dirty="0"/>
              <a:t>(1000)</a:t>
            </a:r>
          </a:p>
          <a:p>
            <a:r>
              <a:rPr lang="en-US" sz="2400" b="1" dirty="0"/>
              <a:t>counts, </a:t>
            </a:r>
            <a:r>
              <a:rPr lang="en-US" sz="2400" b="1" dirty="0" err="1"/>
              <a:t>bin_edges</a:t>
            </a:r>
            <a:r>
              <a:rPr lang="en-US" sz="2400" b="1" dirty="0"/>
              <a:t> = </a:t>
            </a:r>
            <a:r>
              <a:rPr lang="en-US" sz="2400" b="1" dirty="0" err="1"/>
              <a:t>np.histogram</a:t>
            </a:r>
            <a:r>
              <a:rPr lang="en-US" sz="2400" b="1" dirty="0"/>
              <a:t>(data, bins=5)</a:t>
            </a:r>
          </a:p>
          <a:p>
            <a:r>
              <a:rPr lang="en-US" sz="2400" b="1" dirty="0"/>
              <a:t>print(counts)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0792" y="4449369"/>
            <a:ext cx="7704784" cy="19140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u="sng" dirty="0"/>
              <a:t>OUTPUT:</a:t>
            </a:r>
          </a:p>
          <a:p>
            <a:r>
              <a:rPr lang="en-US" sz="2800" b="1" dirty="0"/>
              <a:t>[ 77 374 435 106   8]</a:t>
            </a:r>
          </a:p>
        </p:txBody>
      </p:sp>
    </p:spTree>
    <p:extLst>
      <p:ext uri="{BB962C8B-B14F-4D97-AF65-F5344CB8AC3E}">
        <p14:creationId xmlns:p14="http://schemas.microsoft.com/office/powerpoint/2010/main" val="39663484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Two-dimensional histograms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494" y="614150"/>
            <a:ext cx="11682484" cy="56764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histograms in two dimensions can be created by dividing points among two-dimensional bins.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Using plt.hist2d()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2003"/>
            <a:ext cx="10609298" cy="285578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/>
              <a:t>mean = [0, 0]</a:t>
            </a:r>
          </a:p>
          <a:p>
            <a:r>
              <a:rPr lang="en-US" sz="2800" b="1" dirty="0" err="1"/>
              <a:t>cov</a:t>
            </a:r>
            <a:r>
              <a:rPr lang="en-US" sz="2800" b="1" dirty="0"/>
              <a:t> = [[1, 1], [1, 2]]</a:t>
            </a:r>
          </a:p>
          <a:p>
            <a:r>
              <a:rPr lang="en-US" sz="2800" b="1" dirty="0"/>
              <a:t>x, y = </a:t>
            </a:r>
            <a:r>
              <a:rPr lang="en-US" sz="2800" b="1" dirty="0" err="1"/>
              <a:t>np.random.multivariate_normal</a:t>
            </a:r>
            <a:r>
              <a:rPr lang="en-US" sz="2800" b="1" dirty="0"/>
              <a:t>(mean, </a:t>
            </a:r>
            <a:r>
              <a:rPr lang="en-US" sz="2800" b="1" dirty="0" err="1"/>
              <a:t>cov</a:t>
            </a:r>
            <a:r>
              <a:rPr lang="en-US" sz="2800" b="1" dirty="0"/>
              <a:t>, 10000).T</a:t>
            </a:r>
          </a:p>
          <a:p>
            <a:r>
              <a:rPr lang="en-US" sz="2800" b="1" dirty="0"/>
              <a:t>plt.hist2d(x, y, bins=30, </a:t>
            </a:r>
            <a:r>
              <a:rPr lang="en-US" sz="2800" b="1" dirty="0" err="1"/>
              <a:t>cmap</a:t>
            </a:r>
            <a:r>
              <a:rPr lang="en-US" sz="2800" b="1" dirty="0"/>
              <a:t>='Blues')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828" y="1216671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995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Two-dimensional histograms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494" y="614150"/>
            <a:ext cx="6990148" cy="56764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Histograms in two dimensions can be created by dividing points among two-dimensional bins.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Using plt.hist2d() function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0" y="3029803"/>
            <a:ext cx="10609298" cy="379798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/>
              <a:t>mean = [0, 0]</a:t>
            </a:r>
          </a:p>
          <a:p>
            <a:r>
              <a:rPr lang="en-US" sz="2800" b="1" dirty="0" err="1"/>
              <a:t>cov</a:t>
            </a:r>
            <a:r>
              <a:rPr lang="en-US" sz="2800" b="1" dirty="0"/>
              <a:t> = [[1, 1], [1, 2]]</a:t>
            </a:r>
          </a:p>
          <a:p>
            <a:r>
              <a:rPr lang="en-US" sz="2800" b="1" dirty="0"/>
              <a:t>x, y = </a:t>
            </a:r>
            <a:r>
              <a:rPr lang="en-US" sz="2800" b="1" dirty="0" err="1"/>
              <a:t>np.random.multivariate_normal</a:t>
            </a:r>
            <a:r>
              <a:rPr lang="en-US" sz="2800" b="1" dirty="0"/>
              <a:t>(mean, </a:t>
            </a:r>
            <a:r>
              <a:rPr lang="en-US" sz="2800" b="1" dirty="0" err="1"/>
              <a:t>cov</a:t>
            </a:r>
            <a:r>
              <a:rPr lang="en-US" sz="2800" b="1" dirty="0"/>
              <a:t>, 10000).T</a:t>
            </a:r>
          </a:p>
          <a:p>
            <a:r>
              <a:rPr lang="en-US" sz="2800" b="1" dirty="0"/>
              <a:t>plt.hist2d(x, y, bins=30, </a:t>
            </a:r>
            <a:r>
              <a:rPr lang="en-US" sz="2800" b="1" dirty="0" err="1"/>
              <a:t>cmap</a:t>
            </a:r>
            <a:r>
              <a:rPr lang="en-US" sz="2800" b="1" dirty="0"/>
              <a:t>='Blues')</a:t>
            </a:r>
          </a:p>
          <a:p>
            <a:r>
              <a:rPr lang="en-US" sz="2800" b="1" dirty="0" err="1"/>
              <a:t>cb</a:t>
            </a:r>
            <a:r>
              <a:rPr lang="en-US" sz="2800" b="1" dirty="0"/>
              <a:t> = </a:t>
            </a:r>
            <a:r>
              <a:rPr lang="en-US" sz="2800" b="1" dirty="0" err="1"/>
              <a:t>plt.colorbar</a:t>
            </a:r>
            <a:r>
              <a:rPr lang="en-US" sz="2800" b="1" dirty="0"/>
              <a:t>()</a:t>
            </a:r>
          </a:p>
          <a:p>
            <a:r>
              <a:rPr lang="en-US" sz="2800" b="1" dirty="0" err="1"/>
              <a:t>cb.set_label</a:t>
            </a:r>
            <a:r>
              <a:rPr lang="en-US" sz="2800" b="1" dirty="0"/>
              <a:t>('counts in bin')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7" t="6795" r="9111" b="3653"/>
          <a:stretch/>
        </p:blipFill>
        <p:spPr>
          <a:xfrm>
            <a:off x="7110484" y="736980"/>
            <a:ext cx="4899546" cy="393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9321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Two-dimensional histograms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494" y="614150"/>
            <a:ext cx="11682484" cy="56764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np.histogram2d() </a:t>
            </a:r>
            <a:r>
              <a:rPr lang="en-US" sz="2800" dirty="0">
                <a:sym typeface="Wingdings" panose="05000000000000000000" pitchFamily="2" charset="2"/>
              </a:rPr>
              <a:t> used i</a:t>
            </a:r>
            <a:r>
              <a:rPr lang="en-US" sz="2800" dirty="0"/>
              <a:t>f the number of points in a given bin has to be counted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Number of bins can be altered as per user’s need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 err="1"/>
              <a:t>xedges</a:t>
            </a:r>
            <a:r>
              <a:rPr lang="en-US" sz="2800" dirty="0"/>
              <a:t> and </a:t>
            </a:r>
            <a:r>
              <a:rPr lang="en-US" sz="2800" dirty="0" err="1"/>
              <a:t>yedges</a:t>
            </a:r>
            <a:r>
              <a:rPr lang="en-US" sz="2800" dirty="0"/>
              <a:t> – gives the bin edge points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/>
              <a:t>along the x-axis and y-axis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86603" y="2111487"/>
            <a:ext cx="10290412" cy="1914093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/>
              <a:t>data = </a:t>
            </a:r>
            <a:r>
              <a:rPr lang="en-US" sz="2800" b="1" dirty="0" err="1"/>
              <a:t>np.random.randn</a:t>
            </a:r>
            <a:r>
              <a:rPr lang="en-US" sz="2800" b="1" dirty="0"/>
              <a:t>(1000)</a:t>
            </a:r>
          </a:p>
          <a:p>
            <a:r>
              <a:rPr lang="en-US" sz="2800" b="1" dirty="0"/>
              <a:t>counts, </a:t>
            </a:r>
            <a:r>
              <a:rPr lang="en-US" sz="2800" b="1" dirty="0" err="1"/>
              <a:t>xedges</a:t>
            </a:r>
            <a:r>
              <a:rPr lang="en-US" sz="2800" b="1" dirty="0"/>
              <a:t>, </a:t>
            </a:r>
            <a:r>
              <a:rPr lang="en-US" sz="2800" b="1" dirty="0" err="1"/>
              <a:t>yedges</a:t>
            </a:r>
            <a:r>
              <a:rPr lang="en-US" sz="2800" b="1" dirty="0"/>
              <a:t> = np.histogram2d(x, y, bins=6)</a:t>
            </a:r>
          </a:p>
          <a:p>
            <a:r>
              <a:rPr lang="en-US" sz="2800" b="1" dirty="0"/>
              <a:t>print(counts)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8553002" y="3846961"/>
            <a:ext cx="3638998" cy="300611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u="sng" dirty="0"/>
              <a:t>OUTPUT:</a:t>
            </a:r>
          </a:p>
          <a:p>
            <a:r>
              <a:rPr lang="en-US" sz="2800" b="1" dirty="0"/>
              <a:t>[[ 1.  2.  0.  0.  0.  0.]</a:t>
            </a:r>
          </a:p>
          <a:p>
            <a:r>
              <a:rPr lang="en-US" sz="2800" b="1" dirty="0"/>
              <a:t> [ 1.  6.  2.  0.  0.  0.]</a:t>
            </a:r>
          </a:p>
          <a:p>
            <a:r>
              <a:rPr lang="en-US" sz="2800" b="1" dirty="0"/>
              <a:t> [ 1.  9. 13.  8.  1.  0.]</a:t>
            </a:r>
          </a:p>
          <a:p>
            <a:r>
              <a:rPr lang="en-US" sz="2800" b="1" dirty="0"/>
              <a:t> [ 0.  3.  7.  7.  8.  0.]</a:t>
            </a:r>
          </a:p>
          <a:p>
            <a:r>
              <a:rPr lang="en-US" sz="2800" b="1" dirty="0"/>
              <a:t> [ 0.  0.  6.  9.  7.  1.]</a:t>
            </a:r>
          </a:p>
          <a:p>
            <a:r>
              <a:rPr lang="en-US" sz="2800" b="1" dirty="0"/>
              <a:t> [ 0.  0.  0.  1.  2.  5.]]</a:t>
            </a:r>
          </a:p>
        </p:txBody>
      </p:sp>
    </p:spTree>
    <p:extLst>
      <p:ext uri="{BB962C8B-B14F-4D97-AF65-F5344CB8AC3E}">
        <p14:creationId xmlns:p14="http://schemas.microsoft.com/office/powerpoint/2010/main" val="35170344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Two-dimensional histograms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494" y="600502"/>
            <a:ext cx="6990148" cy="56764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Histograms in two dimensions can be created by a two-dimensional dataset binned within a grid of hexagons.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Using </a:t>
            </a:r>
            <a:r>
              <a:rPr lang="en-US" sz="2800" dirty="0" err="1"/>
              <a:t>plt.hexbin</a:t>
            </a:r>
            <a:r>
              <a:rPr lang="en-US" sz="2800" dirty="0"/>
              <a:t>() function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0" y="3029803"/>
            <a:ext cx="10609298" cy="379798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/>
              <a:t>mean = [0, 0]</a:t>
            </a:r>
          </a:p>
          <a:p>
            <a:r>
              <a:rPr lang="en-US" sz="2800" b="1" dirty="0" err="1"/>
              <a:t>cov</a:t>
            </a:r>
            <a:r>
              <a:rPr lang="en-US" sz="2800" b="1" dirty="0"/>
              <a:t> = [[1, 1], [1, 2]]</a:t>
            </a:r>
          </a:p>
          <a:p>
            <a:r>
              <a:rPr lang="en-US" sz="2800" b="1" dirty="0"/>
              <a:t>x, y = </a:t>
            </a:r>
            <a:r>
              <a:rPr lang="en-US" sz="2800" b="1" dirty="0" err="1"/>
              <a:t>np.random.multivariate_normal</a:t>
            </a:r>
            <a:r>
              <a:rPr lang="en-US" sz="2800" b="1" dirty="0"/>
              <a:t>(mean, </a:t>
            </a:r>
            <a:r>
              <a:rPr lang="en-US" sz="2800" b="1" dirty="0" err="1"/>
              <a:t>cov</a:t>
            </a:r>
            <a:r>
              <a:rPr lang="en-US" sz="2800" b="1" dirty="0"/>
              <a:t>, 10000).T</a:t>
            </a:r>
          </a:p>
          <a:p>
            <a:r>
              <a:rPr lang="en-US" sz="2800" b="1" dirty="0" err="1"/>
              <a:t>plt.hexbin</a:t>
            </a:r>
            <a:r>
              <a:rPr lang="en-US" sz="2800" b="1" dirty="0"/>
              <a:t>(x, y, </a:t>
            </a:r>
            <a:r>
              <a:rPr lang="en-US" sz="2800" b="1" dirty="0" err="1"/>
              <a:t>gridsize</a:t>
            </a:r>
            <a:r>
              <a:rPr lang="en-US" sz="2800" b="1" dirty="0"/>
              <a:t>=30, </a:t>
            </a:r>
            <a:r>
              <a:rPr lang="en-US" sz="2800" b="1" dirty="0" err="1"/>
              <a:t>cmap</a:t>
            </a:r>
            <a:r>
              <a:rPr lang="en-US" sz="2800" b="1" dirty="0"/>
              <a:t>='Blues')</a:t>
            </a:r>
          </a:p>
          <a:p>
            <a:r>
              <a:rPr lang="en-US" sz="2800" b="1" dirty="0" err="1"/>
              <a:t>cb</a:t>
            </a:r>
            <a:r>
              <a:rPr lang="en-US" sz="2800" b="1" dirty="0"/>
              <a:t> = </a:t>
            </a:r>
            <a:r>
              <a:rPr lang="en-US" sz="2800" b="1" dirty="0" err="1"/>
              <a:t>plt.colorbar</a:t>
            </a:r>
            <a:r>
              <a:rPr lang="en-US" sz="2800" b="1" dirty="0"/>
              <a:t>(label = 'counts in bin')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5" t="8085" r="9173" b="3296"/>
          <a:stretch/>
        </p:blipFill>
        <p:spPr>
          <a:xfrm>
            <a:off x="7151426" y="682388"/>
            <a:ext cx="4940489" cy="388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449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15869"/>
            <a:ext cx="5964073" cy="2023037"/>
          </a:xfrm>
        </p:spPr>
        <p:txBody>
          <a:bodyPr>
            <a:normAutofit/>
          </a:bodyPr>
          <a:lstStyle/>
          <a:p>
            <a:r>
              <a:rPr lang="en-IN" sz="6600" b="1" dirty="0"/>
              <a:t>Plot legends  </a:t>
            </a:r>
            <a:endParaRPr lang="en-US" sz="4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4896" t="6296" b="40255"/>
          <a:stretch/>
        </p:blipFill>
        <p:spPr>
          <a:xfrm>
            <a:off x="6045668" y="289906"/>
            <a:ext cx="5850134" cy="327546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-1" y="2856376"/>
            <a:ext cx="5964073" cy="202303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FFFF00"/>
                </a:solidFill>
              </a:rPr>
              <a:t>Customizing Plot legends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00"/>
                </a:solidFill>
              </a:rPr>
              <a:t>Choosing Elements for the Legend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00"/>
                </a:solidFill>
              </a:rPr>
              <a:t>Legend for Size of Points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FFFF00"/>
                </a:solidFill>
              </a:rPr>
              <a:t>Multiple Legends</a:t>
            </a:r>
            <a:endParaRPr lang="en-US" sz="1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1259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Plot legends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983" y="641445"/>
            <a:ext cx="11889694" cy="56764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Plot legends </a:t>
            </a:r>
            <a:r>
              <a:rPr lang="en-US" sz="2800" dirty="0">
                <a:sym typeface="Wingdings" panose="05000000000000000000" pitchFamily="2" charset="2"/>
              </a:rPr>
              <a:t> used to </a:t>
            </a:r>
            <a:r>
              <a:rPr lang="en-US" sz="2800" dirty="0"/>
              <a:t>give meaning to a visualization by assigning labels to the various plot elements.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The simplest legend can be created with the </a:t>
            </a:r>
            <a:r>
              <a:rPr lang="en-US" sz="2800" dirty="0" err="1"/>
              <a:t>plt.legend</a:t>
            </a:r>
            <a:r>
              <a:rPr lang="en-US" sz="2800" dirty="0"/>
              <a:t>() command, which automatically creates a legend for any labeled plot elements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6377" y="1280232"/>
            <a:ext cx="5259378" cy="93967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import </a:t>
            </a:r>
            <a:r>
              <a:rPr lang="en-US" sz="2800" dirty="0" err="1"/>
              <a:t>matplotlib.pyplot</a:t>
            </a:r>
            <a:r>
              <a:rPr lang="en-US" sz="2800" dirty="0"/>
              <a:t> as </a:t>
            </a:r>
            <a:r>
              <a:rPr lang="en-US" sz="2800" dirty="0" err="1"/>
              <a:t>plt</a:t>
            </a:r>
            <a:endParaRPr lang="en-US" sz="2800" dirty="0"/>
          </a:p>
          <a:p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983" y="3702837"/>
            <a:ext cx="6714697" cy="312205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x = </a:t>
            </a:r>
            <a:r>
              <a:rPr lang="en-US" sz="2800" dirty="0" err="1"/>
              <a:t>np.linspace</a:t>
            </a:r>
            <a:r>
              <a:rPr lang="en-US" sz="2800" dirty="0"/>
              <a:t>(0, 10, 1000)</a:t>
            </a:r>
          </a:p>
          <a:p>
            <a:r>
              <a:rPr lang="en-US" sz="2800" dirty="0" err="1"/>
              <a:t>plt.plot</a:t>
            </a:r>
            <a:r>
              <a:rPr lang="en-US" sz="2800" dirty="0"/>
              <a:t>(x, </a:t>
            </a:r>
            <a:r>
              <a:rPr lang="en-US" sz="2800" dirty="0" err="1"/>
              <a:t>np.sin</a:t>
            </a:r>
            <a:r>
              <a:rPr lang="en-US" sz="2800" dirty="0"/>
              <a:t>(x), '-b', label='Sine')</a:t>
            </a:r>
          </a:p>
          <a:p>
            <a:r>
              <a:rPr lang="en-US" sz="2800" dirty="0" err="1"/>
              <a:t>plt.plot</a:t>
            </a:r>
            <a:r>
              <a:rPr lang="en-US" sz="2800" dirty="0"/>
              <a:t>(x, </a:t>
            </a:r>
            <a:r>
              <a:rPr lang="en-US" sz="2800" dirty="0" err="1"/>
              <a:t>np.cos</a:t>
            </a:r>
            <a:r>
              <a:rPr lang="en-US" sz="2800" dirty="0"/>
              <a:t>(x), '--r', label='Cosine')</a:t>
            </a:r>
          </a:p>
          <a:p>
            <a:r>
              <a:rPr lang="en-US" sz="2800" b="1" dirty="0" err="1">
                <a:solidFill>
                  <a:srgbClr val="FFFF00"/>
                </a:solidFill>
              </a:rPr>
              <a:t>plt.legend</a:t>
            </a:r>
            <a:r>
              <a:rPr lang="en-US" sz="2800" b="1" dirty="0">
                <a:solidFill>
                  <a:srgbClr val="FFFF00"/>
                </a:solidFill>
              </a:rPr>
              <a:t>()</a:t>
            </a:r>
          </a:p>
          <a:p>
            <a:r>
              <a:rPr lang="en-US" sz="2800" dirty="0" err="1"/>
              <a:t>plt.show</a:t>
            </a:r>
            <a:r>
              <a:rPr lang="en-US" sz="2800" dirty="0"/>
              <a:t>()</a:t>
            </a:r>
            <a:endParaRPr lang="en-US" sz="400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8427" r="8240" b="4509"/>
          <a:stretch/>
        </p:blipFill>
        <p:spPr>
          <a:xfrm>
            <a:off x="6843104" y="3237995"/>
            <a:ext cx="5186149" cy="382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4028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Customizing Plot legends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983" y="641445"/>
            <a:ext cx="11889694" cy="56764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3200" dirty="0"/>
              <a:t>A legend can be customized in location, border shape, etc.</a:t>
            </a:r>
          </a:p>
          <a:p>
            <a:pPr marL="5730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/>
              <a:t>specify the location </a:t>
            </a:r>
            <a:r>
              <a:rPr lang="en-US" sz="3200" dirty="0">
                <a:sym typeface="Wingdings" panose="05000000000000000000" pitchFamily="2" charset="2"/>
              </a:rPr>
              <a:t> using ‘</a:t>
            </a:r>
            <a:r>
              <a:rPr lang="en-US" sz="3200" dirty="0" err="1">
                <a:sym typeface="Wingdings" panose="05000000000000000000" pitchFamily="2" charset="2"/>
              </a:rPr>
              <a:t>loc</a:t>
            </a:r>
            <a:r>
              <a:rPr lang="en-US" sz="3200" dirty="0">
                <a:sym typeface="Wingdings" panose="05000000000000000000" pitchFamily="2" charset="2"/>
              </a:rPr>
              <a:t>’ (‘upper right’, ‘lower left’, </a:t>
            </a:r>
            <a:endParaRPr lang="en-US" sz="3200" dirty="0"/>
          </a:p>
          <a:p>
            <a:pPr marL="5730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/>
              <a:t>turn off the frame </a:t>
            </a:r>
            <a:r>
              <a:rPr lang="en-US" sz="3200" dirty="0">
                <a:sym typeface="Wingdings" panose="05000000000000000000" pitchFamily="2" charset="2"/>
              </a:rPr>
              <a:t> using ‘</a:t>
            </a:r>
            <a:r>
              <a:rPr lang="en-US" sz="3200" dirty="0" err="1">
                <a:sym typeface="Wingdings" panose="05000000000000000000" pitchFamily="2" charset="2"/>
              </a:rPr>
              <a:t>frameon</a:t>
            </a:r>
            <a:r>
              <a:rPr lang="en-US" sz="3200" dirty="0">
                <a:sym typeface="Wingdings" panose="05000000000000000000" pitchFamily="2" charset="2"/>
              </a:rPr>
              <a:t>’</a:t>
            </a:r>
            <a:endParaRPr lang="en-US" sz="3200" dirty="0"/>
          </a:p>
          <a:p>
            <a:pPr marL="5730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/>
              <a:t>specify the number of columns in the legend </a:t>
            </a:r>
            <a:r>
              <a:rPr lang="en-US" sz="3200" dirty="0">
                <a:sym typeface="Wingdings" panose="05000000000000000000" pitchFamily="2" charset="2"/>
              </a:rPr>
              <a:t> using ‘</a:t>
            </a:r>
            <a:r>
              <a:rPr lang="en-US" sz="3200" dirty="0" err="1">
                <a:sym typeface="Wingdings" panose="05000000000000000000" pitchFamily="2" charset="2"/>
              </a:rPr>
              <a:t>ncol</a:t>
            </a:r>
            <a:r>
              <a:rPr lang="en-US" sz="3200" dirty="0">
                <a:sym typeface="Wingdings" panose="05000000000000000000" pitchFamily="2" charset="2"/>
              </a:rPr>
              <a:t>’ command</a:t>
            </a:r>
            <a:endParaRPr lang="en-US" sz="3200" dirty="0"/>
          </a:p>
          <a:p>
            <a:pPr marL="5730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/>
              <a:t>specify a rounded box </a:t>
            </a:r>
            <a:r>
              <a:rPr lang="en-US" sz="3200" dirty="0">
                <a:sym typeface="Wingdings" panose="05000000000000000000" pitchFamily="2" charset="2"/>
              </a:rPr>
              <a:t> using </a:t>
            </a:r>
            <a:r>
              <a:rPr lang="en-US" sz="3200" dirty="0" err="1"/>
              <a:t>fancybox</a:t>
            </a:r>
            <a:endParaRPr lang="en-US" sz="3200" dirty="0"/>
          </a:p>
          <a:p>
            <a:pPr marL="5730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/>
              <a:t>add a shadow </a:t>
            </a:r>
            <a:r>
              <a:rPr lang="en-US" sz="3200" dirty="0">
                <a:sym typeface="Wingdings" panose="05000000000000000000" pitchFamily="2" charset="2"/>
              </a:rPr>
              <a:t> using shadow</a:t>
            </a:r>
            <a:r>
              <a:rPr lang="en-US" sz="3200" dirty="0"/>
              <a:t> </a:t>
            </a:r>
          </a:p>
          <a:p>
            <a:pPr marL="5730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/>
              <a:t>change the transparency (alpha value) of the frame </a:t>
            </a:r>
            <a:r>
              <a:rPr lang="en-US" sz="3200" dirty="0">
                <a:sym typeface="Wingdings" panose="05000000000000000000" pitchFamily="2" charset="2"/>
              </a:rPr>
              <a:t> using </a:t>
            </a:r>
            <a:r>
              <a:rPr lang="en-US" sz="3200" dirty="0" err="1">
                <a:sym typeface="Wingdings" panose="05000000000000000000" pitchFamily="2" charset="2"/>
              </a:rPr>
              <a:t>framealpha</a:t>
            </a:r>
            <a:r>
              <a:rPr lang="en-US" sz="3200" dirty="0"/>
              <a:t> </a:t>
            </a:r>
          </a:p>
          <a:p>
            <a:pPr marL="5730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/>
              <a:t>change the padding around the text </a:t>
            </a:r>
            <a:r>
              <a:rPr lang="en-US" sz="3200" dirty="0">
                <a:sym typeface="Wingdings" panose="05000000000000000000" pitchFamily="2" charset="2"/>
              </a:rPr>
              <a:t> using </a:t>
            </a:r>
            <a:r>
              <a:rPr lang="en-US" sz="3200" dirty="0" err="1">
                <a:sym typeface="Wingdings" panose="05000000000000000000" pitchFamily="2" charset="2"/>
              </a:rPr>
              <a:t>borderpad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448984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Customizing Plot legends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983" y="641445"/>
            <a:ext cx="11889694" cy="56764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u="sng" dirty="0"/>
              <a:t>Customizing a legend: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983" y="2934396"/>
            <a:ext cx="11013744" cy="338350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x = </a:t>
            </a:r>
            <a:r>
              <a:rPr lang="en-US" sz="2800" dirty="0" err="1"/>
              <a:t>np.linspace</a:t>
            </a:r>
            <a:r>
              <a:rPr lang="en-US" sz="2800" dirty="0"/>
              <a:t>(0, 10, 1000)</a:t>
            </a:r>
          </a:p>
          <a:p>
            <a:r>
              <a:rPr lang="en-US" sz="2800" dirty="0" err="1"/>
              <a:t>plt.plot</a:t>
            </a:r>
            <a:r>
              <a:rPr lang="en-US" sz="2800" dirty="0"/>
              <a:t>(x, </a:t>
            </a:r>
            <a:r>
              <a:rPr lang="en-US" sz="2800" dirty="0" err="1"/>
              <a:t>np.sin</a:t>
            </a:r>
            <a:r>
              <a:rPr lang="en-US" sz="2800" dirty="0"/>
              <a:t>(x), '-b', label='Sine')</a:t>
            </a:r>
          </a:p>
          <a:p>
            <a:r>
              <a:rPr lang="en-US" sz="2800" dirty="0" err="1"/>
              <a:t>plt.plot</a:t>
            </a:r>
            <a:r>
              <a:rPr lang="en-US" sz="2800" dirty="0"/>
              <a:t>(x, </a:t>
            </a:r>
            <a:r>
              <a:rPr lang="en-US" sz="2800" dirty="0" err="1"/>
              <a:t>np.cos</a:t>
            </a:r>
            <a:r>
              <a:rPr lang="en-US" sz="2800" dirty="0"/>
              <a:t>(x), '--r', label='Cosine')</a:t>
            </a:r>
          </a:p>
          <a:p>
            <a:r>
              <a:rPr lang="en-US" sz="2800" dirty="0" err="1"/>
              <a:t>plt.axis</a:t>
            </a:r>
            <a:r>
              <a:rPr lang="en-US" sz="2800" dirty="0"/>
              <a:t>([-1, 11, -1.5, 1.5])</a:t>
            </a:r>
          </a:p>
          <a:p>
            <a:r>
              <a:rPr lang="en-US" sz="2800" b="1" dirty="0" err="1">
                <a:solidFill>
                  <a:srgbClr val="FFFF00"/>
                </a:solidFill>
              </a:rPr>
              <a:t>plt.legend</a:t>
            </a:r>
            <a:r>
              <a:rPr lang="en-US" sz="2800" b="1" dirty="0">
                <a:solidFill>
                  <a:srgbClr val="FFFF00"/>
                </a:solidFill>
              </a:rPr>
              <a:t>(</a:t>
            </a:r>
            <a:r>
              <a:rPr lang="en-US" sz="2800" b="1" dirty="0" err="1">
                <a:solidFill>
                  <a:srgbClr val="FFFF00"/>
                </a:solidFill>
              </a:rPr>
              <a:t>loc</a:t>
            </a:r>
            <a:r>
              <a:rPr lang="en-US" sz="2800" b="1" dirty="0">
                <a:solidFill>
                  <a:srgbClr val="FFFF00"/>
                </a:solidFill>
              </a:rPr>
              <a:t>='upper right', </a:t>
            </a:r>
            <a:r>
              <a:rPr lang="en-US" sz="2800" b="1" dirty="0" err="1">
                <a:solidFill>
                  <a:srgbClr val="FFFF00"/>
                </a:solidFill>
              </a:rPr>
              <a:t>fancybox</a:t>
            </a:r>
            <a:r>
              <a:rPr lang="en-US" sz="2800" b="1" dirty="0">
                <a:solidFill>
                  <a:srgbClr val="FFFF00"/>
                </a:solidFill>
              </a:rPr>
              <a:t>=True, shadow=True, </a:t>
            </a:r>
            <a:r>
              <a:rPr lang="en-US" sz="2800" b="1" dirty="0" err="1">
                <a:solidFill>
                  <a:srgbClr val="FFFF00"/>
                </a:solidFill>
              </a:rPr>
              <a:t>framealpha</a:t>
            </a:r>
            <a:r>
              <a:rPr lang="en-US" sz="2800" b="1" dirty="0">
                <a:solidFill>
                  <a:srgbClr val="FFFF00"/>
                </a:solidFill>
              </a:rPr>
              <a:t>=1, </a:t>
            </a:r>
            <a:r>
              <a:rPr lang="en-US" sz="2800" b="1" dirty="0" err="1">
                <a:solidFill>
                  <a:srgbClr val="FFFF00"/>
                </a:solidFill>
              </a:rPr>
              <a:t>borderpad</a:t>
            </a:r>
            <a:r>
              <a:rPr lang="en-US" sz="2800" b="1" dirty="0">
                <a:solidFill>
                  <a:srgbClr val="FFFF00"/>
                </a:solidFill>
              </a:rPr>
              <a:t>=1)</a:t>
            </a:r>
          </a:p>
          <a:p>
            <a:r>
              <a:rPr lang="en-US" sz="2800" dirty="0"/>
              <a:t>#</a:t>
            </a:r>
            <a:r>
              <a:rPr lang="en-US" sz="2800" dirty="0" err="1"/>
              <a:t>plt.legend</a:t>
            </a:r>
            <a:r>
              <a:rPr lang="en-US" sz="2800" dirty="0"/>
              <a:t>(</a:t>
            </a:r>
            <a:r>
              <a:rPr lang="en-US" sz="2800" dirty="0" err="1"/>
              <a:t>frameon</a:t>
            </a:r>
            <a:r>
              <a:rPr lang="en-US" sz="2800" dirty="0"/>
              <a:t>=False, </a:t>
            </a:r>
            <a:r>
              <a:rPr lang="en-US" sz="2800" dirty="0" err="1"/>
              <a:t>loc</a:t>
            </a:r>
            <a:r>
              <a:rPr lang="en-US" sz="2800" dirty="0"/>
              <a:t>='lower center', </a:t>
            </a:r>
            <a:r>
              <a:rPr lang="en-US" sz="2800" dirty="0" err="1"/>
              <a:t>ncol</a:t>
            </a:r>
            <a:r>
              <a:rPr lang="en-US" sz="2800" dirty="0"/>
              <a:t>=2)</a:t>
            </a:r>
          </a:p>
          <a:p>
            <a:r>
              <a:rPr lang="en-US" sz="2800" dirty="0" err="1"/>
              <a:t>plt.show</a:t>
            </a:r>
            <a:r>
              <a:rPr lang="en-US" sz="2800" dirty="0"/>
              <a:t>()</a:t>
            </a:r>
            <a:endParaRPr lang="en-US" sz="4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5" t="9811" r="8411" b="4058"/>
          <a:stretch/>
        </p:blipFill>
        <p:spPr>
          <a:xfrm>
            <a:off x="6946710" y="710821"/>
            <a:ext cx="5076967" cy="378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8937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Customizing Plot legends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983" y="641445"/>
            <a:ext cx="11889694" cy="56764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u="sng" dirty="0"/>
              <a:t>Customizing a legend: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983" y="3208361"/>
            <a:ext cx="11013744" cy="338350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x = </a:t>
            </a:r>
            <a:r>
              <a:rPr lang="en-US" sz="2800" dirty="0" err="1"/>
              <a:t>np.linspace</a:t>
            </a:r>
            <a:r>
              <a:rPr lang="en-US" sz="2800" dirty="0"/>
              <a:t>(0, 10, 1000)</a:t>
            </a:r>
          </a:p>
          <a:p>
            <a:r>
              <a:rPr lang="en-US" sz="2800" dirty="0" err="1"/>
              <a:t>plt.plot</a:t>
            </a:r>
            <a:r>
              <a:rPr lang="en-US" sz="2800" dirty="0"/>
              <a:t>(x, </a:t>
            </a:r>
            <a:r>
              <a:rPr lang="en-US" sz="2800" dirty="0" err="1"/>
              <a:t>np.sin</a:t>
            </a:r>
            <a:r>
              <a:rPr lang="en-US" sz="2800" dirty="0"/>
              <a:t>(x), '-b', label='Sine')</a:t>
            </a:r>
          </a:p>
          <a:p>
            <a:r>
              <a:rPr lang="en-US" sz="2800" dirty="0" err="1"/>
              <a:t>plt.plot</a:t>
            </a:r>
            <a:r>
              <a:rPr lang="en-US" sz="2800" dirty="0"/>
              <a:t>(x, </a:t>
            </a:r>
            <a:r>
              <a:rPr lang="en-US" sz="2800" dirty="0" err="1"/>
              <a:t>np.cos</a:t>
            </a:r>
            <a:r>
              <a:rPr lang="en-US" sz="2800" dirty="0"/>
              <a:t>(x), '--r', label='Cosine')</a:t>
            </a:r>
          </a:p>
          <a:p>
            <a:r>
              <a:rPr lang="en-US" sz="2800" dirty="0" err="1"/>
              <a:t>plt.axis</a:t>
            </a:r>
            <a:r>
              <a:rPr lang="en-US" sz="2800" dirty="0"/>
              <a:t>([-1, 11, -1.5, 1.5])</a:t>
            </a:r>
          </a:p>
          <a:p>
            <a:r>
              <a:rPr lang="en-US" sz="2800" dirty="0"/>
              <a:t>#</a:t>
            </a:r>
            <a:r>
              <a:rPr lang="en-US" sz="2800" dirty="0" err="1"/>
              <a:t>plt.legend</a:t>
            </a:r>
            <a:r>
              <a:rPr lang="en-US" sz="2800" dirty="0"/>
              <a:t>(</a:t>
            </a:r>
            <a:r>
              <a:rPr lang="en-US" sz="2800" dirty="0" err="1"/>
              <a:t>loc</a:t>
            </a:r>
            <a:r>
              <a:rPr lang="en-US" sz="2800" dirty="0"/>
              <a:t>='upper right', </a:t>
            </a:r>
            <a:r>
              <a:rPr lang="en-US" sz="2800" dirty="0" err="1"/>
              <a:t>fancybox</a:t>
            </a:r>
            <a:r>
              <a:rPr lang="en-US" sz="2800" dirty="0"/>
              <a:t>=True, shadow=True, </a:t>
            </a:r>
            <a:r>
              <a:rPr lang="en-US" sz="2800" dirty="0" err="1"/>
              <a:t>framealpha</a:t>
            </a:r>
            <a:r>
              <a:rPr lang="en-US" sz="2800" dirty="0"/>
              <a:t>=1, </a:t>
            </a:r>
            <a:r>
              <a:rPr lang="en-US" sz="2800" dirty="0" err="1"/>
              <a:t>borderpad</a:t>
            </a:r>
            <a:r>
              <a:rPr lang="en-US" sz="2800" dirty="0"/>
              <a:t>=1)</a:t>
            </a:r>
          </a:p>
          <a:p>
            <a:r>
              <a:rPr lang="en-US" sz="2800" b="1" dirty="0" err="1">
                <a:solidFill>
                  <a:srgbClr val="FFFF00"/>
                </a:solidFill>
              </a:rPr>
              <a:t>plt.legend</a:t>
            </a:r>
            <a:r>
              <a:rPr lang="en-US" sz="2800" b="1" dirty="0">
                <a:solidFill>
                  <a:srgbClr val="FFFF00"/>
                </a:solidFill>
              </a:rPr>
              <a:t>(</a:t>
            </a:r>
            <a:r>
              <a:rPr lang="en-US" sz="2800" b="1" dirty="0" err="1">
                <a:solidFill>
                  <a:srgbClr val="FFFF00"/>
                </a:solidFill>
              </a:rPr>
              <a:t>frameon</a:t>
            </a:r>
            <a:r>
              <a:rPr lang="en-US" sz="2800" b="1" dirty="0">
                <a:solidFill>
                  <a:srgbClr val="FFFF00"/>
                </a:solidFill>
              </a:rPr>
              <a:t>=False, </a:t>
            </a:r>
            <a:r>
              <a:rPr lang="en-US" sz="2800" b="1" dirty="0" err="1">
                <a:solidFill>
                  <a:srgbClr val="FFFF00"/>
                </a:solidFill>
              </a:rPr>
              <a:t>loc</a:t>
            </a:r>
            <a:r>
              <a:rPr lang="en-US" sz="2800" b="1" dirty="0">
                <a:solidFill>
                  <a:srgbClr val="FFFF00"/>
                </a:solidFill>
              </a:rPr>
              <a:t>='lower center', </a:t>
            </a:r>
            <a:r>
              <a:rPr lang="en-US" sz="2800" b="1" dirty="0" err="1">
                <a:solidFill>
                  <a:srgbClr val="FFFF00"/>
                </a:solidFill>
              </a:rPr>
              <a:t>ncol</a:t>
            </a:r>
            <a:r>
              <a:rPr lang="en-US" sz="2800" b="1" dirty="0">
                <a:solidFill>
                  <a:srgbClr val="FFFF00"/>
                </a:solidFill>
              </a:rPr>
              <a:t>=2)</a:t>
            </a:r>
          </a:p>
          <a:p>
            <a:r>
              <a:rPr lang="en-US" sz="2800" dirty="0" err="1"/>
              <a:t>plt.show</a:t>
            </a:r>
            <a:r>
              <a:rPr lang="en-US" sz="2800" dirty="0"/>
              <a:t>()</a:t>
            </a:r>
            <a:endParaRPr lang="en-US" sz="4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2" t="7323" r="7944" b="3125"/>
          <a:stretch/>
        </p:blipFill>
        <p:spPr>
          <a:xfrm>
            <a:off x="6905767" y="736980"/>
            <a:ext cx="5117910" cy="393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0587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US" b="1" dirty="0"/>
              <a:t>Choosing Elements for the Legend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983" y="641445"/>
            <a:ext cx="11889694" cy="56764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u="sng" dirty="0"/>
              <a:t>Customizing a legend: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983" y="3208361"/>
            <a:ext cx="11013744" cy="338350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x = </a:t>
            </a:r>
            <a:r>
              <a:rPr lang="en-US" sz="2800" dirty="0" err="1"/>
              <a:t>np.linspace</a:t>
            </a:r>
            <a:r>
              <a:rPr lang="en-US" sz="2800" dirty="0"/>
              <a:t>(0, 10, 1000)</a:t>
            </a:r>
          </a:p>
          <a:p>
            <a:r>
              <a:rPr lang="en-US" sz="2800" dirty="0" err="1"/>
              <a:t>plt.plot</a:t>
            </a:r>
            <a:r>
              <a:rPr lang="en-US" sz="2800" dirty="0"/>
              <a:t>(x, </a:t>
            </a:r>
            <a:r>
              <a:rPr lang="en-US" sz="2800" dirty="0" err="1"/>
              <a:t>np.sin</a:t>
            </a:r>
            <a:r>
              <a:rPr lang="en-US" sz="2800" dirty="0"/>
              <a:t>(x), '-b', label='Sine')</a:t>
            </a:r>
          </a:p>
          <a:p>
            <a:r>
              <a:rPr lang="en-US" sz="2800" dirty="0" err="1"/>
              <a:t>plt.plot</a:t>
            </a:r>
            <a:r>
              <a:rPr lang="en-US" sz="2800" dirty="0"/>
              <a:t>(x, </a:t>
            </a:r>
            <a:r>
              <a:rPr lang="en-US" sz="2800" dirty="0" err="1"/>
              <a:t>np.cos</a:t>
            </a:r>
            <a:r>
              <a:rPr lang="en-US" sz="2800" dirty="0"/>
              <a:t>(x), '--r', label='Cosine')</a:t>
            </a:r>
          </a:p>
          <a:p>
            <a:r>
              <a:rPr lang="en-US" sz="2800" dirty="0" err="1"/>
              <a:t>plt.axis</a:t>
            </a:r>
            <a:r>
              <a:rPr lang="en-US" sz="2800" dirty="0"/>
              <a:t>([-1, 11, -1.5, 1.5])</a:t>
            </a:r>
          </a:p>
          <a:p>
            <a:r>
              <a:rPr lang="en-US" sz="2800" dirty="0"/>
              <a:t>#</a:t>
            </a:r>
            <a:r>
              <a:rPr lang="en-US" sz="2800" dirty="0" err="1"/>
              <a:t>plt.legend</a:t>
            </a:r>
            <a:r>
              <a:rPr lang="en-US" sz="2800" dirty="0"/>
              <a:t>(</a:t>
            </a:r>
            <a:r>
              <a:rPr lang="en-US" sz="2800" dirty="0" err="1"/>
              <a:t>loc</a:t>
            </a:r>
            <a:r>
              <a:rPr lang="en-US" sz="2800" dirty="0"/>
              <a:t>='upper right', </a:t>
            </a:r>
            <a:r>
              <a:rPr lang="en-US" sz="2800" dirty="0" err="1"/>
              <a:t>fancybox</a:t>
            </a:r>
            <a:r>
              <a:rPr lang="en-US" sz="2800" dirty="0"/>
              <a:t>=True, shadow=True, </a:t>
            </a:r>
            <a:r>
              <a:rPr lang="en-US" sz="2800" dirty="0" err="1"/>
              <a:t>framealpha</a:t>
            </a:r>
            <a:r>
              <a:rPr lang="en-US" sz="2800" dirty="0"/>
              <a:t>=1, </a:t>
            </a:r>
            <a:r>
              <a:rPr lang="en-US" sz="2800" dirty="0" err="1"/>
              <a:t>borderpad</a:t>
            </a:r>
            <a:r>
              <a:rPr lang="en-US" sz="2800" dirty="0"/>
              <a:t>=1)</a:t>
            </a:r>
          </a:p>
          <a:p>
            <a:r>
              <a:rPr lang="en-US" sz="2800" b="1" dirty="0" err="1">
                <a:solidFill>
                  <a:srgbClr val="FFFF00"/>
                </a:solidFill>
              </a:rPr>
              <a:t>plt.legend</a:t>
            </a:r>
            <a:r>
              <a:rPr lang="en-US" sz="2800" b="1" dirty="0">
                <a:solidFill>
                  <a:srgbClr val="FFFF00"/>
                </a:solidFill>
              </a:rPr>
              <a:t>(</a:t>
            </a:r>
            <a:r>
              <a:rPr lang="en-US" sz="2800" b="1" dirty="0" err="1">
                <a:solidFill>
                  <a:srgbClr val="FFFF00"/>
                </a:solidFill>
              </a:rPr>
              <a:t>frameon</a:t>
            </a:r>
            <a:r>
              <a:rPr lang="en-US" sz="2800" b="1" dirty="0">
                <a:solidFill>
                  <a:srgbClr val="FFFF00"/>
                </a:solidFill>
              </a:rPr>
              <a:t>=False, </a:t>
            </a:r>
            <a:r>
              <a:rPr lang="en-US" sz="2800" b="1" dirty="0" err="1">
                <a:solidFill>
                  <a:srgbClr val="FFFF00"/>
                </a:solidFill>
              </a:rPr>
              <a:t>loc</a:t>
            </a:r>
            <a:r>
              <a:rPr lang="en-US" sz="2800" b="1" dirty="0">
                <a:solidFill>
                  <a:srgbClr val="FFFF00"/>
                </a:solidFill>
              </a:rPr>
              <a:t>='lower center', </a:t>
            </a:r>
            <a:r>
              <a:rPr lang="en-US" sz="2800" b="1" dirty="0" err="1">
                <a:solidFill>
                  <a:srgbClr val="FFFF00"/>
                </a:solidFill>
              </a:rPr>
              <a:t>ncol</a:t>
            </a:r>
            <a:r>
              <a:rPr lang="en-US" sz="2800" b="1" dirty="0">
                <a:solidFill>
                  <a:srgbClr val="FFFF00"/>
                </a:solidFill>
              </a:rPr>
              <a:t>=2)</a:t>
            </a:r>
          </a:p>
          <a:p>
            <a:r>
              <a:rPr lang="en-US" sz="2800" dirty="0" err="1"/>
              <a:t>plt.show</a:t>
            </a:r>
            <a:r>
              <a:rPr lang="en-US" sz="2800" dirty="0"/>
              <a:t>()</a:t>
            </a:r>
            <a:endParaRPr lang="en-US" sz="4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2" t="7323" r="7944" b="3125"/>
          <a:stretch/>
        </p:blipFill>
        <p:spPr>
          <a:xfrm>
            <a:off x="6905767" y="736980"/>
            <a:ext cx="5117910" cy="393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1404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US" b="1" dirty="0"/>
              <a:t>Legend for Size of Points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983" y="641445"/>
            <a:ext cx="11889694" cy="56764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u="sng" dirty="0"/>
              <a:t>Customizing a legend: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983" y="3208361"/>
            <a:ext cx="11013744" cy="338350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x = </a:t>
            </a:r>
            <a:r>
              <a:rPr lang="en-US" sz="2800" dirty="0" err="1"/>
              <a:t>np.linspace</a:t>
            </a:r>
            <a:r>
              <a:rPr lang="en-US" sz="2800" dirty="0"/>
              <a:t>(0, 10, 1000)</a:t>
            </a:r>
          </a:p>
          <a:p>
            <a:r>
              <a:rPr lang="en-US" sz="2800" dirty="0" err="1"/>
              <a:t>plt.plot</a:t>
            </a:r>
            <a:r>
              <a:rPr lang="en-US" sz="2800" dirty="0"/>
              <a:t>(x, </a:t>
            </a:r>
            <a:r>
              <a:rPr lang="en-US" sz="2800" dirty="0" err="1"/>
              <a:t>np.sin</a:t>
            </a:r>
            <a:r>
              <a:rPr lang="en-US" sz="2800" dirty="0"/>
              <a:t>(x), '-b', label='Sine')</a:t>
            </a:r>
          </a:p>
          <a:p>
            <a:r>
              <a:rPr lang="en-US" sz="2800" dirty="0" err="1"/>
              <a:t>plt.plot</a:t>
            </a:r>
            <a:r>
              <a:rPr lang="en-US" sz="2800" dirty="0"/>
              <a:t>(x, </a:t>
            </a:r>
            <a:r>
              <a:rPr lang="en-US" sz="2800" dirty="0" err="1"/>
              <a:t>np.cos</a:t>
            </a:r>
            <a:r>
              <a:rPr lang="en-US" sz="2800" dirty="0"/>
              <a:t>(x), '--r', label='Cosine')</a:t>
            </a:r>
          </a:p>
          <a:p>
            <a:r>
              <a:rPr lang="en-US" sz="2800" dirty="0" err="1"/>
              <a:t>plt.axis</a:t>
            </a:r>
            <a:r>
              <a:rPr lang="en-US" sz="2800" dirty="0"/>
              <a:t>([-1, 11, -1.5, 1.5])</a:t>
            </a:r>
          </a:p>
          <a:p>
            <a:r>
              <a:rPr lang="en-US" sz="2800" dirty="0"/>
              <a:t>#</a:t>
            </a:r>
            <a:r>
              <a:rPr lang="en-US" sz="2800" dirty="0" err="1"/>
              <a:t>plt.legend</a:t>
            </a:r>
            <a:r>
              <a:rPr lang="en-US" sz="2800" dirty="0"/>
              <a:t>(</a:t>
            </a:r>
            <a:r>
              <a:rPr lang="en-US" sz="2800" dirty="0" err="1"/>
              <a:t>loc</a:t>
            </a:r>
            <a:r>
              <a:rPr lang="en-US" sz="2800" dirty="0"/>
              <a:t>='upper right', </a:t>
            </a:r>
            <a:r>
              <a:rPr lang="en-US" sz="2800" dirty="0" err="1"/>
              <a:t>fancybox</a:t>
            </a:r>
            <a:r>
              <a:rPr lang="en-US" sz="2800" dirty="0"/>
              <a:t>=True, shadow=True, </a:t>
            </a:r>
            <a:r>
              <a:rPr lang="en-US" sz="2800" dirty="0" err="1"/>
              <a:t>framealpha</a:t>
            </a:r>
            <a:r>
              <a:rPr lang="en-US" sz="2800" dirty="0"/>
              <a:t>=1, </a:t>
            </a:r>
            <a:r>
              <a:rPr lang="en-US" sz="2800" dirty="0" err="1"/>
              <a:t>borderpad</a:t>
            </a:r>
            <a:r>
              <a:rPr lang="en-US" sz="2800" dirty="0"/>
              <a:t>=1)</a:t>
            </a:r>
          </a:p>
          <a:p>
            <a:r>
              <a:rPr lang="en-US" sz="2800" b="1" dirty="0" err="1">
                <a:solidFill>
                  <a:srgbClr val="FFFF00"/>
                </a:solidFill>
              </a:rPr>
              <a:t>plt.legend</a:t>
            </a:r>
            <a:r>
              <a:rPr lang="en-US" sz="2800" b="1" dirty="0">
                <a:solidFill>
                  <a:srgbClr val="FFFF00"/>
                </a:solidFill>
              </a:rPr>
              <a:t>(</a:t>
            </a:r>
            <a:r>
              <a:rPr lang="en-US" sz="2800" b="1" dirty="0" err="1">
                <a:solidFill>
                  <a:srgbClr val="FFFF00"/>
                </a:solidFill>
              </a:rPr>
              <a:t>frameon</a:t>
            </a:r>
            <a:r>
              <a:rPr lang="en-US" sz="2800" b="1" dirty="0">
                <a:solidFill>
                  <a:srgbClr val="FFFF00"/>
                </a:solidFill>
              </a:rPr>
              <a:t>=False, </a:t>
            </a:r>
            <a:r>
              <a:rPr lang="en-US" sz="2800" b="1" dirty="0" err="1">
                <a:solidFill>
                  <a:srgbClr val="FFFF00"/>
                </a:solidFill>
              </a:rPr>
              <a:t>loc</a:t>
            </a:r>
            <a:r>
              <a:rPr lang="en-US" sz="2800" b="1" dirty="0">
                <a:solidFill>
                  <a:srgbClr val="FFFF00"/>
                </a:solidFill>
              </a:rPr>
              <a:t>='lower center', </a:t>
            </a:r>
            <a:r>
              <a:rPr lang="en-US" sz="2800" b="1" dirty="0" err="1">
                <a:solidFill>
                  <a:srgbClr val="FFFF00"/>
                </a:solidFill>
              </a:rPr>
              <a:t>ncol</a:t>
            </a:r>
            <a:r>
              <a:rPr lang="en-US" sz="2800" b="1" dirty="0">
                <a:solidFill>
                  <a:srgbClr val="FFFF00"/>
                </a:solidFill>
              </a:rPr>
              <a:t>=2)</a:t>
            </a:r>
          </a:p>
          <a:p>
            <a:r>
              <a:rPr lang="en-US" sz="2800" dirty="0" err="1"/>
              <a:t>plt.show</a:t>
            </a:r>
            <a:r>
              <a:rPr lang="en-US" sz="2800" dirty="0"/>
              <a:t>()</a:t>
            </a:r>
            <a:endParaRPr lang="en-US" sz="4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2" t="7323" r="7944" b="3125"/>
          <a:stretch/>
        </p:blipFill>
        <p:spPr>
          <a:xfrm>
            <a:off x="6905767" y="736980"/>
            <a:ext cx="5117910" cy="393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8674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US" b="1" dirty="0"/>
              <a:t>Multiple Legends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983" y="641445"/>
            <a:ext cx="11889694" cy="56764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u="sng" dirty="0"/>
              <a:t>Customizing a legend: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983" y="3208361"/>
            <a:ext cx="11013744" cy="338350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x = </a:t>
            </a:r>
            <a:r>
              <a:rPr lang="en-US" sz="2800" dirty="0" err="1"/>
              <a:t>np.linspace</a:t>
            </a:r>
            <a:r>
              <a:rPr lang="en-US" sz="2800" dirty="0"/>
              <a:t>(0, 10, 1000)</a:t>
            </a:r>
          </a:p>
          <a:p>
            <a:r>
              <a:rPr lang="en-US" sz="2800" dirty="0" err="1"/>
              <a:t>plt.plot</a:t>
            </a:r>
            <a:r>
              <a:rPr lang="en-US" sz="2800" dirty="0"/>
              <a:t>(x, </a:t>
            </a:r>
            <a:r>
              <a:rPr lang="en-US" sz="2800" dirty="0" err="1"/>
              <a:t>np.sin</a:t>
            </a:r>
            <a:r>
              <a:rPr lang="en-US" sz="2800" dirty="0"/>
              <a:t>(x), '-b', label='Sine')</a:t>
            </a:r>
          </a:p>
          <a:p>
            <a:r>
              <a:rPr lang="en-US" sz="2800" dirty="0" err="1"/>
              <a:t>plt.plot</a:t>
            </a:r>
            <a:r>
              <a:rPr lang="en-US" sz="2800" dirty="0"/>
              <a:t>(x, </a:t>
            </a:r>
            <a:r>
              <a:rPr lang="en-US" sz="2800" dirty="0" err="1"/>
              <a:t>np.cos</a:t>
            </a:r>
            <a:r>
              <a:rPr lang="en-US" sz="2800" dirty="0"/>
              <a:t>(x), '--r', label='Cosine')</a:t>
            </a:r>
          </a:p>
          <a:p>
            <a:r>
              <a:rPr lang="en-US" sz="2800" dirty="0" err="1"/>
              <a:t>plt.axis</a:t>
            </a:r>
            <a:r>
              <a:rPr lang="en-US" sz="2800" dirty="0"/>
              <a:t>([-1, 11, -1.5, 1.5])</a:t>
            </a:r>
          </a:p>
          <a:p>
            <a:r>
              <a:rPr lang="en-US" sz="2800" dirty="0"/>
              <a:t>#</a:t>
            </a:r>
            <a:r>
              <a:rPr lang="en-US" sz="2800" dirty="0" err="1"/>
              <a:t>plt.legend</a:t>
            </a:r>
            <a:r>
              <a:rPr lang="en-US" sz="2800" dirty="0"/>
              <a:t>(</a:t>
            </a:r>
            <a:r>
              <a:rPr lang="en-US" sz="2800" dirty="0" err="1"/>
              <a:t>loc</a:t>
            </a:r>
            <a:r>
              <a:rPr lang="en-US" sz="2800" dirty="0"/>
              <a:t>='upper right', </a:t>
            </a:r>
            <a:r>
              <a:rPr lang="en-US" sz="2800" dirty="0" err="1"/>
              <a:t>fancybox</a:t>
            </a:r>
            <a:r>
              <a:rPr lang="en-US" sz="2800" dirty="0"/>
              <a:t>=True, shadow=True, </a:t>
            </a:r>
            <a:r>
              <a:rPr lang="en-US" sz="2800" dirty="0" err="1"/>
              <a:t>framealpha</a:t>
            </a:r>
            <a:r>
              <a:rPr lang="en-US" sz="2800" dirty="0"/>
              <a:t>=1, </a:t>
            </a:r>
            <a:r>
              <a:rPr lang="en-US" sz="2800" dirty="0" err="1"/>
              <a:t>borderpad</a:t>
            </a:r>
            <a:r>
              <a:rPr lang="en-US" sz="2800" dirty="0"/>
              <a:t>=1)</a:t>
            </a:r>
          </a:p>
          <a:p>
            <a:r>
              <a:rPr lang="en-US" sz="2800" b="1" dirty="0" err="1">
                <a:solidFill>
                  <a:srgbClr val="FFFF00"/>
                </a:solidFill>
              </a:rPr>
              <a:t>plt.legend</a:t>
            </a:r>
            <a:r>
              <a:rPr lang="en-US" sz="2800" b="1" dirty="0">
                <a:solidFill>
                  <a:srgbClr val="FFFF00"/>
                </a:solidFill>
              </a:rPr>
              <a:t>(</a:t>
            </a:r>
            <a:r>
              <a:rPr lang="en-US" sz="2800" b="1" dirty="0" err="1">
                <a:solidFill>
                  <a:srgbClr val="FFFF00"/>
                </a:solidFill>
              </a:rPr>
              <a:t>frameon</a:t>
            </a:r>
            <a:r>
              <a:rPr lang="en-US" sz="2800" b="1" dirty="0">
                <a:solidFill>
                  <a:srgbClr val="FFFF00"/>
                </a:solidFill>
              </a:rPr>
              <a:t>=False, </a:t>
            </a:r>
            <a:r>
              <a:rPr lang="en-US" sz="2800" b="1" dirty="0" err="1">
                <a:solidFill>
                  <a:srgbClr val="FFFF00"/>
                </a:solidFill>
              </a:rPr>
              <a:t>loc</a:t>
            </a:r>
            <a:r>
              <a:rPr lang="en-US" sz="2800" b="1" dirty="0">
                <a:solidFill>
                  <a:srgbClr val="FFFF00"/>
                </a:solidFill>
              </a:rPr>
              <a:t>='lower center', </a:t>
            </a:r>
            <a:r>
              <a:rPr lang="en-US" sz="2800" b="1" dirty="0" err="1">
                <a:solidFill>
                  <a:srgbClr val="FFFF00"/>
                </a:solidFill>
              </a:rPr>
              <a:t>ncol</a:t>
            </a:r>
            <a:r>
              <a:rPr lang="en-US" sz="2800" b="1" dirty="0">
                <a:solidFill>
                  <a:srgbClr val="FFFF00"/>
                </a:solidFill>
              </a:rPr>
              <a:t>=2)</a:t>
            </a:r>
          </a:p>
          <a:p>
            <a:r>
              <a:rPr lang="en-US" sz="2800" dirty="0" err="1"/>
              <a:t>plt.show</a:t>
            </a:r>
            <a:r>
              <a:rPr lang="en-US" sz="2800" dirty="0"/>
              <a:t>()</a:t>
            </a:r>
            <a:endParaRPr lang="en-US" sz="4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2" t="7323" r="7944" b="3125"/>
          <a:stretch/>
        </p:blipFill>
        <p:spPr>
          <a:xfrm>
            <a:off x="6905767" y="736980"/>
            <a:ext cx="5117910" cy="393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3020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2553851"/>
            <a:ext cx="5964073" cy="1444943"/>
          </a:xfrm>
        </p:spPr>
        <p:txBody>
          <a:bodyPr>
            <a:normAutofit/>
          </a:bodyPr>
          <a:lstStyle/>
          <a:p>
            <a:r>
              <a:rPr lang="en-US" sz="6600" b="1" dirty="0"/>
              <a:t>Colors</a:t>
            </a:r>
            <a:endParaRPr lang="en-US" sz="4400" dirty="0"/>
          </a:p>
        </p:txBody>
      </p:sp>
      <p:pic>
        <p:nvPicPr>
          <p:cNvPr id="5122" name="Picture 2" descr="python - Named colors in matplotlib - Stack Overflow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54" r="4348"/>
          <a:stretch/>
        </p:blipFill>
        <p:spPr bwMode="auto">
          <a:xfrm>
            <a:off x="6332561" y="107029"/>
            <a:ext cx="5663821" cy="433784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31559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910" y="3823094"/>
            <a:ext cx="5964073" cy="1144692"/>
          </a:xfrm>
        </p:spPr>
        <p:txBody>
          <a:bodyPr>
            <a:normAutofit/>
          </a:bodyPr>
          <a:lstStyle/>
          <a:p>
            <a:r>
              <a:rPr lang="en-US" sz="6600" b="1" dirty="0"/>
              <a:t>Subplots</a:t>
            </a:r>
            <a:endParaRPr lang="en-US" sz="4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756" y="116715"/>
            <a:ext cx="5259790" cy="392461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378580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2101755"/>
            <a:ext cx="5964073" cy="2475133"/>
          </a:xfrm>
        </p:spPr>
        <p:txBody>
          <a:bodyPr>
            <a:normAutofit fontScale="90000"/>
          </a:bodyPr>
          <a:lstStyle/>
          <a:p>
            <a:r>
              <a:rPr lang="en-US" sz="6600" b="1" dirty="0"/>
              <a:t>Text </a:t>
            </a:r>
            <a:br>
              <a:rPr lang="en-US" sz="6600" b="1" dirty="0"/>
            </a:br>
            <a:r>
              <a:rPr lang="en-US" sz="6600" b="1" dirty="0"/>
              <a:t>and annotation </a:t>
            </a:r>
            <a:r>
              <a:rPr lang="en-IN" sz="6600" b="1" dirty="0"/>
              <a:t>  </a:t>
            </a:r>
            <a:endParaRPr lang="en-US" sz="4400" dirty="0"/>
          </a:p>
        </p:txBody>
      </p:sp>
      <p:pic>
        <p:nvPicPr>
          <p:cNvPr id="3074" name="Picture 2" descr="Annotating Plots — Matplotlib 3.8.1 documentatio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5" t="8882" r="4717"/>
          <a:stretch/>
        </p:blipFill>
        <p:spPr bwMode="auto">
          <a:xfrm>
            <a:off x="6318913" y="1009934"/>
            <a:ext cx="5445457" cy="416593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4464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012" y="617767"/>
            <a:ext cx="5964073" cy="2739582"/>
          </a:xfrm>
        </p:spPr>
        <p:txBody>
          <a:bodyPr>
            <a:normAutofit fontScale="90000"/>
          </a:bodyPr>
          <a:lstStyle/>
          <a:p>
            <a:r>
              <a:rPr lang="en-US" sz="6600" b="1" dirty="0"/>
              <a:t>Three-dimensional plotting</a:t>
            </a:r>
            <a:endParaRPr lang="en-US" sz="44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98142" y="3357349"/>
            <a:ext cx="5964073" cy="325499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</a:rPr>
              <a:t>plt.axes</a:t>
            </a:r>
            <a:r>
              <a:rPr lang="en-US" sz="2400" b="1" dirty="0">
                <a:solidFill>
                  <a:srgbClr val="FFFF00"/>
                </a:solidFill>
              </a:rPr>
              <a:t>(projection = ‘3D’)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 sz="2400" b="1" dirty="0" err="1">
                <a:solidFill>
                  <a:srgbClr val="FFFF00"/>
                </a:solidFill>
              </a:rPr>
              <a:t>plt.figure</a:t>
            </a:r>
            <a:r>
              <a:rPr lang="es-ES" sz="2400" b="1" dirty="0">
                <a:solidFill>
                  <a:srgbClr val="FFFF00"/>
                </a:solidFill>
              </a:rPr>
              <a:t>( )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</a:rPr>
              <a:t>ax.plot3D( )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</a:rPr>
              <a:t>ax.scatter3D( )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</a:rPr>
              <a:t>ax.contour3D( )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 sz="2400" b="1" dirty="0" err="1">
                <a:solidFill>
                  <a:srgbClr val="FFFF00"/>
                </a:solidFill>
              </a:rPr>
              <a:t>ax.plot_wireframe</a:t>
            </a:r>
            <a:r>
              <a:rPr lang="es-ES" sz="2400" b="1" dirty="0">
                <a:solidFill>
                  <a:srgbClr val="FFFF00"/>
                </a:solidFill>
              </a:rPr>
              <a:t>( )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 sz="2400" b="1" dirty="0" err="1">
                <a:solidFill>
                  <a:srgbClr val="FFFF00"/>
                </a:solidFill>
              </a:rPr>
              <a:t>np.meshgrid</a:t>
            </a:r>
            <a:r>
              <a:rPr lang="es-ES" sz="2400" b="1" dirty="0">
                <a:solidFill>
                  <a:srgbClr val="FFFF00"/>
                </a:solidFill>
              </a:rPr>
              <a:t>( )</a:t>
            </a:r>
            <a:endParaRPr lang="en-US" sz="2400" b="1" dirty="0">
              <a:solidFill>
                <a:srgbClr val="FFFF00"/>
              </a:solidFill>
            </a:endParaRP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 sz="2400" b="1" dirty="0" err="1">
                <a:solidFill>
                  <a:srgbClr val="FFFF00"/>
                </a:solidFill>
              </a:rPr>
              <a:t>ax.plot_surface</a:t>
            </a:r>
            <a:r>
              <a:rPr lang="es-ES" sz="2400" b="1" dirty="0">
                <a:solidFill>
                  <a:srgbClr val="FFFF00"/>
                </a:solidFill>
              </a:rPr>
              <a:t>(</a:t>
            </a:r>
            <a:endParaRPr lang="en-US" sz="4400" dirty="0">
              <a:solidFill>
                <a:srgbClr val="FFFF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252" y="1028273"/>
            <a:ext cx="5998326" cy="41169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076245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Three-dimensional plotting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494" y="1119116"/>
            <a:ext cx="12194494" cy="515784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Three-dimensional plots can be created by importing the mplot3d toolkit, included with the main </a:t>
            </a:r>
            <a:r>
              <a:rPr lang="en-US" sz="2800" dirty="0" err="1"/>
              <a:t>Matplotlib</a:t>
            </a:r>
            <a:r>
              <a:rPr lang="en-US" sz="2800" dirty="0"/>
              <a:t> installation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1313" y="2253103"/>
            <a:ext cx="6864824" cy="342949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from </a:t>
            </a:r>
            <a:r>
              <a:rPr lang="en-US" sz="2800" b="1" dirty="0" err="1"/>
              <a:t>mpl_toolkits</a:t>
            </a:r>
            <a:r>
              <a:rPr lang="en-US" sz="2800" b="1" dirty="0"/>
              <a:t> import mplot3d</a:t>
            </a:r>
          </a:p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/>
              <a:t>fig = </a:t>
            </a:r>
            <a:r>
              <a:rPr lang="en-US" sz="2800" b="1" dirty="0" err="1"/>
              <a:t>plt.figure</a:t>
            </a:r>
            <a:r>
              <a:rPr lang="en-US" sz="2800" b="1" dirty="0"/>
              <a:t>()</a:t>
            </a:r>
          </a:p>
          <a:p>
            <a:r>
              <a:rPr lang="en-US" sz="2800" b="1" dirty="0"/>
              <a:t>ax = </a:t>
            </a:r>
            <a:r>
              <a:rPr lang="en-US" sz="2800" b="1" dirty="0" err="1"/>
              <a:t>plt.axes</a:t>
            </a:r>
            <a:r>
              <a:rPr lang="en-US" sz="2800" b="1" dirty="0"/>
              <a:t>(projection='3d')</a:t>
            </a:r>
          </a:p>
        </p:txBody>
      </p:sp>
    </p:spTree>
    <p:extLst>
      <p:ext uri="{BB962C8B-B14F-4D97-AF65-F5344CB8AC3E}">
        <p14:creationId xmlns:p14="http://schemas.microsoft.com/office/powerpoint/2010/main" val="5004467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Three-dimensional points and lines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494" y="600502"/>
            <a:ext cx="6990148" cy="56764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Three-dimensional plots can be created from sets of (</a:t>
            </a:r>
            <a:r>
              <a:rPr lang="en-US" sz="2800" dirty="0" err="1"/>
              <a:t>x,y</a:t>
            </a:r>
            <a:r>
              <a:rPr lang="en-US" sz="2800" dirty="0"/>
              <a:t>, z) triples.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 err="1"/>
              <a:t>Eg</a:t>
            </a:r>
            <a:r>
              <a:rPr lang="en-US" sz="2800" dirty="0"/>
              <a:t>. Data for a three-dimensional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22830" y="2210938"/>
            <a:ext cx="6864824" cy="430295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from </a:t>
            </a:r>
            <a:r>
              <a:rPr lang="en-US" sz="2800" b="1" dirty="0" err="1"/>
              <a:t>mpl_toolkits</a:t>
            </a:r>
            <a:r>
              <a:rPr lang="en-US" sz="2800" b="1" dirty="0"/>
              <a:t> import mplot3d</a:t>
            </a:r>
          </a:p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/>
              <a:t>fig = </a:t>
            </a:r>
            <a:r>
              <a:rPr lang="en-US" sz="2800" b="1" dirty="0" err="1"/>
              <a:t>plt.figure</a:t>
            </a:r>
            <a:r>
              <a:rPr lang="en-US" sz="2800" b="1" dirty="0"/>
              <a:t>()</a:t>
            </a:r>
          </a:p>
          <a:p>
            <a:r>
              <a:rPr lang="en-US" sz="2800" b="1" dirty="0"/>
              <a:t>ax = </a:t>
            </a:r>
            <a:r>
              <a:rPr lang="en-US" sz="2800" b="1" dirty="0" err="1"/>
              <a:t>plt.axes</a:t>
            </a:r>
            <a:r>
              <a:rPr lang="en-US" sz="2800" b="1" dirty="0"/>
              <a:t>(projection='3d')</a:t>
            </a:r>
          </a:p>
          <a:p>
            <a:r>
              <a:rPr lang="en-US" sz="2800" b="1" dirty="0" err="1"/>
              <a:t>zline</a:t>
            </a:r>
            <a:r>
              <a:rPr lang="en-US" sz="2800" b="1" dirty="0"/>
              <a:t> = </a:t>
            </a:r>
            <a:r>
              <a:rPr lang="en-US" sz="2800" b="1" dirty="0" err="1"/>
              <a:t>np.linspace</a:t>
            </a:r>
            <a:r>
              <a:rPr lang="en-US" sz="2800" b="1" dirty="0"/>
              <a:t>(0, 15, 1000)</a:t>
            </a:r>
          </a:p>
          <a:p>
            <a:r>
              <a:rPr lang="en-US" sz="2800" b="1" dirty="0" err="1"/>
              <a:t>xline</a:t>
            </a:r>
            <a:r>
              <a:rPr lang="en-US" sz="2800" b="1" dirty="0"/>
              <a:t> = </a:t>
            </a:r>
            <a:r>
              <a:rPr lang="en-US" sz="2800" b="1" dirty="0" err="1"/>
              <a:t>np.sin</a:t>
            </a:r>
            <a:r>
              <a:rPr lang="en-US" sz="2800" b="1" dirty="0"/>
              <a:t>(</a:t>
            </a:r>
            <a:r>
              <a:rPr lang="en-US" sz="2800" b="1" dirty="0" err="1"/>
              <a:t>zline</a:t>
            </a:r>
            <a:r>
              <a:rPr lang="en-US" sz="2800" b="1" dirty="0"/>
              <a:t>)</a:t>
            </a:r>
          </a:p>
          <a:p>
            <a:r>
              <a:rPr lang="en-US" sz="2800" b="1" dirty="0" err="1"/>
              <a:t>yline</a:t>
            </a:r>
            <a:r>
              <a:rPr lang="en-US" sz="2800" b="1" dirty="0"/>
              <a:t> = </a:t>
            </a:r>
            <a:r>
              <a:rPr lang="en-US" sz="2800" b="1" dirty="0" err="1"/>
              <a:t>np.cos</a:t>
            </a:r>
            <a:r>
              <a:rPr lang="en-US" sz="2800" b="1" dirty="0"/>
              <a:t>(</a:t>
            </a:r>
            <a:r>
              <a:rPr lang="en-US" sz="2800" b="1" dirty="0" err="1"/>
              <a:t>zline</a:t>
            </a:r>
            <a:r>
              <a:rPr lang="en-US" sz="2800" b="1" dirty="0"/>
              <a:t>)</a:t>
            </a:r>
          </a:p>
          <a:p>
            <a:r>
              <a:rPr lang="en-US" sz="2800" b="1" u="sng" dirty="0"/>
              <a:t>ax.plot3D(</a:t>
            </a:r>
            <a:r>
              <a:rPr lang="en-US" sz="2800" b="1" u="sng" dirty="0" err="1"/>
              <a:t>xline</a:t>
            </a:r>
            <a:r>
              <a:rPr lang="en-US" sz="2800" b="1" u="sng" dirty="0"/>
              <a:t>, </a:t>
            </a:r>
            <a:r>
              <a:rPr lang="en-US" sz="2800" b="1" u="sng" dirty="0" err="1"/>
              <a:t>yline</a:t>
            </a:r>
            <a:r>
              <a:rPr lang="en-US" sz="2800" b="1" u="sng" dirty="0"/>
              <a:t>, </a:t>
            </a:r>
            <a:r>
              <a:rPr lang="en-US" sz="2800" b="1" u="sng" dirty="0" err="1"/>
              <a:t>zline</a:t>
            </a:r>
            <a:r>
              <a:rPr lang="en-US" sz="2800" b="1" u="sng" dirty="0"/>
              <a:t>, 'gray')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94" t="15079" r="12609" b="6563"/>
          <a:stretch/>
        </p:blipFill>
        <p:spPr>
          <a:xfrm>
            <a:off x="7301551" y="2524836"/>
            <a:ext cx="4735774" cy="408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26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Three-dimensional points and lines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495" y="600502"/>
            <a:ext cx="8273037" cy="56764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Three-dimensional plots can be created from sets of (</a:t>
            </a:r>
            <a:r>
              <a:rPr lang="en-US" sz="2800" dirty="0" err="1"/>
              <a:t>x,y</a:t>
            </a:r>
            <a:r>
              <a:rPr lang="en-US" sz="2800" dirty="0"/>
              <a:t>, z) triples.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 err="1"/>
              <a:t>Eg</a:t>
            </a:r>
            <a:r>
              <a:rPr lang="en-US" sz="2800" dirty="0"/>
              <a:t>. Data for three-dimensional scattered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167" y="2265528"/>
            <a:ext cx="10953575" cy="45622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from </a:t>
            </a:r>
            <a:r>
              <a:rPr lang="en-US" sz="2800" b="1" dirty="0" err="1"/>
              <a:t>mpl_toolkits</a:t>
            </a:r>
            <a:r>
              <a:rPr lang="en-US" sz="2800" b="1" dirty="0"/>
              <a:t> import mplot3d</a:t>
            </a:r>
          </a:p>
          <a:p>
            <a:r>
              <a:rPr lang="en-US" sz="2800" b="1" dirty="0"/>
              <a:t>import </a:t>
            </a:r>
            <a:r>
              <a:rPr lang="en-US" sz="2800" b="1" dirty="0" err="1"/>
              <a:t>numpy</a:t>
            </a:r>
            <a:r>
              <a:rPr lang="en-US" sz="2800" b="1" dirty="0"/>
              <a:t> as np</a:t>
            </a:r>
          </a:p>
          <a:p>
            <a:r>
              <a:rPr lang="en-US" sz="2800" b="1" dirty="0"/>
              <a:t>import </a:t>
            </a:r>
            <a:r>
              <a:rPr lang="en-US" sz="2800" b="1" dirty="0" err="1"/>
              <a:t>matplotlib.pyplot</a:t>
            </a:r>
            <a:r>
              <a:rPr lang="en-US" sz="2800" b="1" dirty="0"/>
              <a:t> as </a:t>
            </a:r>
            <a:r>
              <a:rPr lang="en-US" sz="2800" b="1" dirty="0" err="1"/>
              <a:t>plt</a:t>
            </a:r>
            <a:endParaRPr lang="en-US" sz="2800" b="1" dirty="0"/>
          </a:p>
          <a:p>
            <a:r>
              <a:rPr lang="en-US" sz="2800" b="1" dirty="0"/>
              <a:t>fig = </a:t>
            </a:r>
            <a:r>
              <a:rPr lang="en-US" sz="2800" b="1" dirty="0" err="1"/>
              <a:t>plt.figure</a:t>
            </a:r>
            <a:r>
              <a:rPr lang="en-US" sz="2800" b="1" dirty="0"/>
              <a:t>()</a:t>
            </a:r>
          </a:p>
          <a:p>
            <a:r>
              <a:rPr lang="en-US" sz="2800" b="1" dirty="0"/>
              <a:t>ax = </a:t>
            </a:r>
            <a:r>
              <a:rPr lang="en-US" sz="2800" b="1" dirty="0" err="1"/>
              <a:t>plt.axes</a:t>
            </a:r>
            <a:r>
              <a:rPr lang="en-US" sz="2800" b="1" dirty="0"/>
              <a:t>(projection='3d')</a:t>
            </a:r>
          </a:p>
          <a:p>
            <a:r>
              <a:rPr lang="en-US" sz="2800" b="1" dirty="0" err="1"/>
              <a:t>zdata</a:t>
            </a:r>
            <a:r>
              <a:rPr lang="en-US" sz="2800" b="1" dirty="0"/>
              <a:t> = 15 * </a:t>
            </a:r>
            <a:r>
              <a:rPr lang="en-US" sz="2800" b="1" dirty="0" err="1"/>
              <a:t>np.random.random</a:t>
            </a:r>
            <a:r>
              <a:rPr lang="en-US" sz="2800" b="1" dirty="0"/>
              <a:t>(100)</a:t>
            </a:r>
          </a:p>
          <a:p>
            <a:r>
              <a:rPr lang="en-US" sz="2800" b="1" dirty="0" err="1"/>
              <a:t>xdata</a:t>
            </a:r>
            <a:r>
              <a:rPr lang="en-US" sz="2800" b="1" dirty="0"/>
              <a:t> = </a:t>
            </a:r>
            <a:r>
              <a:rPr lang="en-US" sz="2800" b="1" dirty="0" err="1"/>
              <a:t>np.sin</a:t>
            </a:r>
            <a:r>
              <a:rPr lang="en-US" sz="2800" b="1" dirty="0"/>
              <a:t>(</a:t>
            </a:r>
            <a:r>
              <a:rPr lang="en-US" sz="2800" b="1" dirty="0" err="1"/>
              <a:t>zdata</a:t>
            </a:r>
            <a:r>
              <a:rPr lang="en-US" sz="2800" b="1" dirty="0"/>
              <a:t>) + 0.1 * </a:t>
            </a:r>
            <a:r>
              <a:rPr lang="en-US" sz="2800" b="1" dirty="0" err="1"/>
              <a:t>np.random.randn</a:t>
            </a:r>
            <a:r>
              <a:rPr lang="en-US" sz="2800" b="1" dirty="0"/>
              <a:t>(100)</a:t>
            </a:r>
          </a:p>
          <a:p>
            <a:r>
              <a:rPr lang="en-US" sz="2800" b="1" dirty="0" err="1"/>
              <a:t>ydata</a:t>
            </a:r>
            <a:r>
              <a:rPr lang="en-US" sz="2800" b="1" dirty="0"/>
              <a:t> = </a:t>
            </a:r>
            <a:r>
              <a:rPr lang="en-US" sz="2800" b="1" dirty="0" err="1"/>
              <a:t>np.cos</a:t>
            </a:r>
            <a:r>
              <a:rPr lang="en-US" sz="2800" b="1" dirty="0"/>
              <a:t>(</a:t>
            </a:r>
            <a:r>
              <a:rPr lang="en-US" sz="2800" b="1" dirty="0" err="1"/>
              <a:t>zdata</a:t>
            </a:r>
            <a:r>
              <a:rPr lang="en-US" sz="2800" b="1" dirty="0"/>
              <a:t>) + 0.1 * </a:t>
            </a:r>
            <a:r>
              <a:rPr lang="en-US" sz="2800" b="1" dirty="0" err="1"/>
              <a:t>np.random.randn</a:t>
            </a:r>
            <a:r>
              <a:rPr lang="en-US" sz="2800" b="1" dirty="0"/>
              <a:t>(100)</a:t>
            </a:r>
          </a:p>
          <a:p>
            <a:r>
              <a:rPr lang="en-US" sz="2800" b="1" u="sng" dirty="0"/>
              <a:t>ax.scatter3D(</a:t>
            </a:r>
            <a:r>
              <a:rPr lang="en-US" sz="2800" b="1" u="sng" dirty="0" err="1"/>
              <a:t>xdata</a:t>
            </a:r>
            <a:r>
              <a:rPr lang="en-US" sz="2800" b="1" u="sng" dirty="0"/>
              <a:t>, </a:t>
            </a:r>
            <a:r>
              <a:rPr lang="en-US" sz="2800" b="1" u="sng" dirty="0" err="1"/>
              <a:t>ydata</a:t>
            </a:r>
            <a:r>
              <a:rPr lang="en-US" sz="2800" b="1" u="sng" dirty="0"/>
              <a:t>, </a:t>
            </a:r>
            <a:r>
              <a:rPr lang="en-US" sz="2800" b="1" u="sng" dirty="0" err="1"/>
              <a:t>zdata</a:t>
            </a:r>
            <a:r>
              <a:rPr lang="en-US" sz="2800" b="1" u="sng" dirty="0"/>
              <a:t>, c=</a:t>
            </a:r>
            <a:r>
              <a:rPr lang="en-US" sz="2800" b="1" u="sng" dirty="0" err="1"/>
              <a:t>zdata</a:t>
            </a:r>
            <a:r>
              <a:rPr lang="en-US" sz="2800" b="1" u="sng" dirty="0"/>
              <a:t>, </a:t>
            </a:r>
            <a:r>
              <a:rPr lang="en-US" sz="2800" b="1" u="sng" dirty="0" err="1"/>
              <a:t>cmap</a:t>
            </a:r>
            <a:r>
              <a:rPr lang="en-US" sz="2800" b="1" u="sng" dirty="0"/>
              <a:t>='Greens')</a:t>
            </a:r>
          </a:p>
          <a:p>
            <a:r>
              <a:rPr lang="en-US" sz="2800" b="1" dirty="0" err="1"/>
              <a:t>plt.show</a:t>
            </a:r>
            <a:r>
              <a:rPr lang="en-US" sz="2800" b="1" dirty="0"/>
              <a:t>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94" t="13541" r="14940" b="9033"/>
          <a:stretch/>
        </p:blipFill>
        <p:spPr>
          <a:xfrm>
            <a:off x="8333204" y="736980"/>
            <a:ext cx="3725839" cy="339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62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Three-dimensional contour plots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495" y="600502"/>
            <a:ext cx="8273037" cy="56764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Three-dimensional plots can be created from sets of (</a:t>
            </a:r>
            <a:r>
              <a:rPr lang="en-US" sz="2800" dirty="0" err="1"/>
              <a:t>x,y</a:t>
            </a:r>
            <a:r>
              <a:rPr lang="en-US" sz="2800" dirty="0"/>
              <a:t>, z) triples.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 err="1"/>
              <a:t>Eg</a:t>
            </a:r>
            <a:r>
              <a:rPr lang="en-US" sz="2800" dirty="0"/>
              <a:t>. Data for three-dimensional scattered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295736"/>
            <a:ext cx="10953575" cy="45622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800" b="1" dirty="0"/>
              <a:t>x = </a:t>
            </a:r>
            <a:r>
              <a:rPr lang="es-ES" sz="2800" b="1" dirty="0" err="1"/>
              <a:t>np.linspace</a:t>
            </a:r>
            <a:r>
              <a:rPr lang="es-ES" sz="2800" b="1" dirty="0"/>
              <a:t>(-6, 6, 30)</a:t>
            </a:r>
          </a:p>
          <a:p>
            <a:r>
              <a:rPr lang="es-ES" sz="2800" b="1" dirty="0"/>
              <a:t>y = </a:t>
            </a:r>
            <a:r>
              <a:rPr lang="es-ES" sz="2800" b="1" dirty="0" err="1"/>
              <a:t>np.linspace</a:t>
            </a:r>
            <a:r>
              <a:rPr lang="es-ES" sz="2800" b="1" dirty="0"/>
              <a:t>(-6, 6, 30)</a:t>
            </a:r>
          </a:p>
          <a:p>
            <a:r>
              <a:rPr lang="es-ES" sz="2800" b="1" dirty="0"/>
              <a:t>X, Y = </a:t>
            </a:r>
            <a:r>
              <a:rPr lang="es-ES" sz="2800" b="1" dirty="0" err="1"/>
              <a:t>np.meshgrid</a:t>
            </a:r>
            <a:r>
              <a:rPr lang="es-ES" sz="2800" b="1" dirty="0"/>
              <a:t>(x, y)</a:t>
            </a:r>
          </a:p>
          <a:p>
            <a:r>
              <a:rPr lang="es-ES" sz="2800" b="1" dirty="0"/>
              <a:t>Z = </a:t>
            </a:r>
            <a:r>
              <a:rPr lang="es-ES" sz="2800" b="1" dirty="0" err="1"/>
              <a:t>np.sin</a:t>
            </a:r>
            <a:r>
              <a:rPr lang="es-ES" sz="2800" b="1" dirty="0"/>
              <a:t>(</a:t>
            </a:r>
            <a:r>
              <a:rPr lang="es-ES" sz="2800" b="1" dirty="0" err="1"/>
              <a:t>np.sqrt</a:t>
            </a:r>
            <a:r>
              <a:rPr lang="es-ES" sz="2800" b="1" dirty="0"/>
              <a:t>(X ** 2 + Y ** 2))</a:t>
            </a:r>
          </a:p>
          <a:p>
            <a:r>
              <a:rPr lang="en-US" sz="2800" b="1" dirty="0"/>
              <a:t>fig = </a:t>
            </a:r>
            <a:r>
              <a:rPr lang="en-US" sz="2800" b="1" dirty="0" err="1"/>
              <a:t>plt.figure</a:t>
            </a:r>
            <a:r>
              <a:rPr lang="en-US" sz="2800" b="1" dirty="0"/>
              <a:t>()</a:t>
            </a:r>
          </a:p>
          <a:p>
            <a:r>
              <a:rPr lang="en-US" sz="2800" b="1" dirty="0"/>
              <a:t>ax = </a:t>
            </a:r>
            <a:r>
              <a:rPr lang="en-US" sz="2800" b="1" dirty="0" err="1"/>
              <a:t>plt.axes</a:t>
            </a:r>
            <a:r>
              <a:rPr lang="en-US" sz="2800" b="1" dirty="0"/>
              <a:t>(projection='3d')</a:t>
            </a:r>
          </a:p>
          <a:p>
            <a:r>
              <a:rPr lang="en-US" sz="2800" b="1" dirty="0"/>
              <a:t>ax.contour3D(X, Y, Z, 50, </a:t>
            </a:r>
            <a:r>
              <a:rPr lang="en-US" sz="2800" b="1" dirty="0" err="1"/>
              <a:t>cmap</a:t>
            </a:r>
            <a:r>
              <a:rPr lang="en-US" sz="2800" b="1" dirty="0"/>
              <a:t>='binary')</a:t>
            </a:r>
          </a:p>
          <a:p>
            <a:r>
              <a:rPr lang="en-US" sz="2800" b="1" dirty="0" err="1"/>
              <a:t>ax.set_xlabel</a:t>
            </a:r>
            <a:r>
              <a:rPr lang="en-US" sz="2800" b="1" dirty="0"/>
              <a:t>('x')</a:t>
            </a:r>
          </a:p>
          <a:p>
            <a:r>
              <a:rPr lang="en-US" sz="2800" b="1" dirty="0" err="1"/>
              <a:t>ax.set_ylabel</a:t>
            </a:r>
            <a:r>
              <a:rPr lang="en-US" sz="2800" b="1" dirty="0"/>
              <a:t>('y')</a:t>
            </a:r>
          </a:p>
          <a:p>
            <a:r>
              <a:rPr lang="en-US" sz="2800" b="1" dirty="0" err="1"/>
              <a:t>ax.set_zlabel</a:t>
            </a:r>
            <a:r>
              <a:rPr lang="en-US" sz="2800" b="1" dirty="0"/>
              <a:t>('z')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859" y="2295736"/>
            <a:ext cx="4747058" cy="444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410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Wireframes and Surface Plots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275" y="1201003"/>
            <a:ext cx="10699844" cy="48030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Two other types of three-dimensional plots that work on gridded data are wireframes and surface plots.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These take a grid of values and project it onto the specified three-dimensional surface, and can make the resulting three-dimensional forms quite easy to visualize.</a:t>
            </a:r>
          </a:p>
        </p:txBody>
      </p:sp>
    </p:spTree>
    <p:extLst>
      <p:ext uri="{BB962C8B-B14F-4D97-AF65-F5344CB8AC3E}">
        <p14:creationId xmlns:p14="http://schemas.microsoft.com/office/powerpoint/2010/main" val="27991584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Wireframes and Surface Plots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148"/>
            <a:ext cx="11985229" cy="538985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Wireframes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624082"/>
            <a:ext cx="10953575" cy="393737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800" b="1" dirty="0"/>
              <a:t>x = </a:t>
            </a:r>
            <a:r>
              <a:rPr lang="es-ES" sz="2800" b="1" dirty="0" err="1"/>
              <a:t>np.linspace</a:t>
            </a:r>
            <a:r>
              <a:rPr lang="es-ES" sz="2800" b="1" dirty="0"/>
              <a:t>(-6, 6, 30)</a:t>
            </a:r>
          </a:p>
          <a:p>
            <a:r>
              <a:rPr lang="es-ES" sz="2800" b="1" dirty="0"/>
              <a:t>y = </a:t>
            </a:r>
            <a:r>
              <a:rPr lang="es-ES" sz="2800" b="1" dirty="0" err="1"/>
              <a:t>np.linspace</a:t>
            </a:r>
            <a:r>
              <a:rPr lang="es-ES" sz="2800" b="1" dirty="0"/>
              <a:t>(-6, 6, 30)</a:t>
            </a:r>
          </a:p>
          <a:p>
            <a:r>
              <a:rPr lang="es-ES" sz="2800" b="1" dirty="0"/>
              <a:t>X, Y = </a:t>
            </a:r>
            <a:r>
              <a:rPr lang="es-ES" sz="2800" b="1" dirty="0" err="1"/>
              <a:t>np.meshgrid</a:t>
            </a:r>
            <a:r>
              <a:rPr lang="es-ES" sz="2800" b="1" dirty="0"/>
              <a:t>(x, y)</a:t>
            </a:r>
          </a:p>
          <a:p>
            <a:r>
              <a:rPr lang="es-ES" sz="2800" b="1" dirty="0"/>
              <a:t>Z = </a:t>
            </a:r>
            <a:r>
              <a:rPr lang="es-ES" sz="2800" b="1" dirty="0" err="1"/>
              <a:t>np.sin</a:t>
            </a:r>
            <a:r>
              <a:rPr lang="es-ES" sz="2800" b="1" dirty="0"/>
              <a:t>(</a:t>
            </a:r>
            <a:r>
              <a:rPr lang="es-ES" sz="2800" b="1" dirty="0" err="1"/>
              <a:t>np.sqrt</a:t>
            </a:r>
            <a:r>
              <a:rPr lang="es-ES" sz="2800" b="1" dirty="0"/>
              <a:t>(X ** 2 + Y ** 2))</a:t>
            </a:r>
          </a:p>
          <a:p>
            <a:r>
              <a:rPr lang="es-ES" sz="2800" b="1" dirty="0" err="1"/>
              <a:t>fig</a:t>
            </a:r>
            <a:r>
              <a:rPr lang="es-ES" sz="2800" b="1" dirty="0"/>
              <a:t> = </a:t>
            </a:r>
            <a:r>
              <a:rPr lang="es-ES" sz="2800" b="1" dirty="0" err="1"/>
              <a:t>plt.figure</a:t>
            </a:r>
            <a:r>
              <a:rPr lang="es-ES" sz="2800" b="1" dirty="0"/>
              <a:t>()</a:t>
            </a:r>
          </a:p>
          <a:p>
            <a:r>
              <a:rPr lang="es-ES" sz="2800" b="1" dirty="0" err="1"/>
              <a:t>ax</a:t>
            </a:r>
            <a:r>
              <a:rPr lang="es-ES" sz="2800" b="1" dirty="0"/>
              <a:t> = </a:t>
            </a:r>
            <a:r>
              <a:rPr lang="es-ES" sz="2800" b="1" dirty="0" err="1"/>
              <a:t>plt.axes</a:t>
            </a:r>
            <a:r>
              <a:rPr lang="es-ES" sz="2800" b="1" dirty="0"/>
              <a:t>(</a:t>
            </a:r>
            <a:r>
              <a:rPr lang="es-ES" sz="2800" b="1" dirty="0" err="1"/>
              <a:t>projection</a:t>
            </a:r>
            <a:r>
              <a:rPr lang="es-ES" sz="2800" b="1" dirty="0"/>
              <a:t>='3d')</a:t>
            </a:r>
          </a:p>
          <a:p>
            <a:r>
              <a:rPr lang="es-ES" sz="2800" b="1" dirty="0" err="1"/>
              <a:t>ax.plot_wireframe</a:t>
            </a:r>
            <a:r>
              <a:rPr lang="es-ES" sz="2800" b="1" dirty="0"/>
              <a:t>(X, Y, Z, color='</a:t>
            </a:r>
            <a:r>
              <a:rPr lang="es-ES" sz="2800" b="1" dirty="0" err="1"/>
              <a:t>black</a:t>
            </a:r>
            <a:r>
              <a:rPr lang="es-ES" sz="2800" b="1" dirty="0"/>
              <a:t>')</a:t>
            </a:r>
          </a:p>
          <a:p>
            <a:r>
              <a:rPr lang="es-ES" sz="2800" b="1" dirty="0" err="1"/>
              <a:t>ax.set_title</a:t>
            </a:r>
            <a:r>
              <a:rPr lang="es-ES" sz="2800" b="1" dirty="0"/>
              <a:t>('</a:t>
            </a:r>
            <a:r>
              <a:rPr lang="es-ES" sz="2800" b="1" dirty="0" err="1"/>
              <a:t>wireframe</a:t>
            </a:r>
            <a:r>
              <a:rPr lang="es-ES" sz="2800" b="1" dirty="0"/>
              <a:t>')</a:t>
            </a:r>
          </a:p>
          <a:p>
            <a:r>
              <a:rPr lang="es-ES" sz="2800" b="1" dirty="0" err="1"/>
              <a:t>plt.show</a:t>
            </a:r>
            <a:r>
              <a:rPr lang="es-ES" sz="2800" b="1" dirty="0"/>
              <a:t>()</a:t>
            </a:r>
            <a:endParaRPr lang="en-US" sz="28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7" t="13853" r="12609" b="8411"/>
          <a:stretch/>
        </p:blipFill>
        <p:spPr>
          <a:xfrm>
            <a:off x="7369792" y="1439000"/>
            <a:ext cx="4615438" cy="400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8417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134459"/>
            <a:ext cx="10552214" cy="602521"/>
          </a:xfrm>
        </p:spPr>
        <p:txBody>
          <a:bodyPr>
            <a:normAutofit/>
          </a:bodyPr>
          <a:lstStyle/>
          <a:p>
            <a:r>
              <a:rPr lang="en-IN" b="1" dirty="0"/>
              <a:t>Wireframes and Surface Plots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614148"/>
            <a:ext cx="8470710" cy="538985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Surface plots – it is like a wireframe plot, but each face of the wireframe is a filled polygon. 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182" y="2797791"/>
            <a:ext cx="11969086" cy="393737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800" b="1" dirty="0"/>
              <a:t>x = </a:t>
            </a:r>
            <a:r>
              <a:rPr lang="es-ES" sz="2800" b="1" dirty="0" err="1"/>
              <a:t>np.linspace</a:t>
            </a:r>
            <a:r>
              <a:rPr lang="es-ES" sz="2800" b="1" dirty="0"/>
              <a:t>(-6, 6, 30)</a:t>
            </a:r>
          </a:p>
          <a:p>
            <a:r>
              <a:rPr lang="es-ES" sz="2800" b="1" dirty="0"/>
              <a:t>y = </a:t>
            </a:r>
            <a:r>
              <a:rPr lang="es-ES" sz="2800" b="1" dirty="0" err="1"/>
              <a:t>np.linspace</a:t>
            </a:r>
            <a:r>
              <a:rPr lang="es-ES" sz="2800" b="1" dirty="0"/>
              <a:t>(-6, 6, 30)</a:t>
            </a:r>
          </a:p>
          <a:p>
            <a:r>
              <a:rPr lang="es-ES" sz="2800" b="1" dirty="0"/>
              <a:t>X, Y = </a:t>
            </a:r>
            <a:r>
              <a:rPr lang="es-ES" sz="2800" b="1" dirty="0" err="1"/>
              <a:t>np.meshgrid</a:t>
            </a:r>
            <a:r>
              <a:rPr lang="es-ES" sz="2800" b="1" dirty="0"/>
              <a:t>(x, y)</a:t>
            </a:r>
          </a:p>
          <a:p>
            <a:r>
              <a:rPr lang="es-ES" sz="2800" b="1" dirty="0"/>
              <a:t>Z = </a:t>
            </a:r>
            <a:r>
              <a:rPr lang="es-ES" sz="2800" b="1" dirty="0" err="1"/>
              <a:t>np.sin</a:t>
            </a:r>
            <a:r>
              <a:rPr lang="es-ES" sz="2800" b="1" dirty="0"/>
              <a:t>(</a:t>
            </a:r>
            <a:r>
              <a:rPr lang="es-ES" sz="2800" b="1" dirty="0" err="1"/>
              <a:t>np.sqrt</a:t>
            </a:r>
            <a:r>
              <a:rPr lang="es-ES" sz="2800" b="1" dirty="0"/>
              <a:t>(X ** 2 + Y ** 2))</a:t>
            </a:r>
          </a:p>
          <a:p>
            <a:r>
              <a:rPr lang="es-ES" sz="2800" b="1" dirty="0" err="1"/>
              <a:t>fig</a:t>
            </a:r>
            <a:r>
              <a:rPr lang="es-ES" sz="2800" b="1" dirty="0"/>
              <a:t> = </a:t>
            </a:r>
            <a:r>
              <a:rPr lang="es-ES" sz="2800" b="1" dirty="0" err="1"/>
              <a:t>plt.figure</a:t>
            </a:r>
            <a:r>
              <a:rPr lang="es-ES" sz="2800" b="1" dirty="0"/>
              <a:t>()</a:t>
            </a:r>
          </a:p>
          <a:p>
            <a:r>
              <a:rPr lang="es-ES" sz="2800" b="1" dirty="0" err="1"/>
              <a:t>ax</a:t>
            </a:r>
            <a:r>
              <a:rPr lang="es-ES" sz="2800" b="1" dirty="0"/>
              <a:t> = </a:t>
            </a:r>
            <a:r>
              <a:rPr lang="es-ES" sz="2800" b="1" dirty="0" err="1"/>
              <a:t>plt.axes</a:t>
            </a:r>
            <a:r>
              <a:rPr lang="es-ES" sz="2800" b="1" dirty="0"/>
              <a:t>(</a:t>
            </a:r>
            <a:r>
              <a:rPr lang="es-ES" sz="2800" b="1" dirty="0" err="1"/>
              <a:t>projection</a:t>
            </a:r>
            <a:r>
              <a:rPr lang="es-ES" sz="2800" b="1" dirty="0"/>
              <a:t>='3d')</a:t>
            </a:r>
          </a:p>
          <a:p>
            <a:r>
              <a:rPr lang="es-ES" sz="2800" b="1" dirty="0" err="1"/>
              <a:t>ax.plot_surface</a:t>
            </a:r>
            <a:r>
              <a:rPr lang="es-ES" sz="2800" b="1" dirty="0"/>
              <a:t>(X, Y, Z, </a:t>
            </a:r>
            <a:r>
              <a:rPr lang="es-ES" sz="2800" b="1" dirty="0" err="1"/>
              <a:t>rstride</a:t>
            </a:r>
            <a:r>
              <a:rPr lang="es-ES" sz="2800" b="1" dirty="0"/>
              <a:t>=1, </a:t>
            </a:r>
            <a:r>
              <a:rPr lang="es-ES" sz="2800" b="1" dirty="0" err="1"/>
              <a:t>cstride</a:t>
            </a:r>
            <a:r>
              <a:rPr lang="es-ES" sz="2800" b="1" dirty="0"/>
              <a:t>=1, </a:t>
            </a:r>
            <a:r>
              <a:rPr lang="es-ES" sz="2800" b="1" dirty="0" err="1"/>
              <a:t>cmap</a:t>
            </a:r>
            <a:r>
              <a:rPr lang="es-ES" sz="2800" b="1" dirty="0"/>
              <a:t>='</a:t>
            </a:r>
            <a:r>
              <a:rPr lang="es-ES" sz="2800" b="1" dirty="0" err="1"/>
              <a:t>viridis</a:t>
            </a:r>
            <a:r>
              <a:rPr lang="es-ES" sz="2800" b="1" dirty="0"/>
              <a:t>', </a:t>
            </a:r>
            <a:r>
              <a:rPr lang="es-ES" sz="2800" b="1" dirty="0" err="1"/>
              <a:t>edgecolor</a:t>
            </a:r>
            <a:r>
              <a:rPr lang="es-ES" sz="2800" b="1" dirty="0"/>
              <a:t>='</a:t>
            </a:r>
            <a:r>
              <a:rPr lang="es-ES" sz="2800" b="1" dirty="0" err="1"/>
              <a:t>none</a:t>
            </a:r>
            <a:r>
              <a:rPr lang="es-ES" sz="2800" b="1" dirty="0"/>
              <a:t>')</a:t>
            </a:r>
          </a:p>
          <a:p>
            <a:r>
              <a:rPr lang="es-ES" sz="2800" b="1" dirty="0" err="1"/>
              <a:t>ax.set_title</a:t>
            </a:r>
            <a:r>
              <a:rPr lang="es-ES" sz="2800" b="1" dirty="0"/>
              <a:t>('</a:t>
            </a:r>
            <a:r>
              <a:rPr lang="es-ES" sz="2800" b="1" dirty="0" err="1"/>
              <a:t>surface</a:t>
            </a:r>
            <a:r>
              <a:rPr lang="es-ES" sz="2800" b="1" dirty="0"/>
              <a:t>');</a:t>
            </a:r>
            <a:r>
              <a:rPr lang="es-ES" sz="2800" b="1" dirty="0" err="1"/>
              <a:t>plt.show</a:t>
            </a:r>
            <a:r>
              <a:rPr lang="es-ES" sz="2800" b="1" dirty="0"/>
              <a:t>()</a:t>
            </a:r>
            <a:endParaRPr lang="en-US" sz="28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94" t="5457" r="14707" b="9033"/>
          <a:stretch/>
        </p:blipFill>
        <p:spPr>
          <a:xfrm>
            <a:off x="7833815" y="1179102"/>
            <a:ext cx="4244453" cy="425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3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511189"/>
            <a:ext cx="6032310" cy="1064526"/>
          </a:xfrm>
        </p:spPr>
        <p:txBody>
          <a:bodyPr>
            <a:normAutofit/>
          </a:bodyPr>
          <a:lstStyle/>
          <a:p>
            <a:r>
              <a:rPr lang="en-US" sz="6600" b="1" dirty="0" err="1"/>
              <a:t>matplotlib</a:t>
            </a:r>
            <a:endParaRPr lang="en-US" sz="44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841243" y="327546"/>
            <a:ext cx="6168788" cy="5676457"/>
          </a:xfrm>
          <a:prstGeom prst="rect">
            <a:avLst/>
          </a:prstGeom>
        </p:spPr>
        <p:txBody>
          <a:bodyPr vert="horz" lIns="91440" tIns="9144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COMPLAINTS</a:t>
            </a:r>
            <a:r>
              <a:rPr lang="en-US" sz="2800" dirty="0"/>
              <a:t>: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Prior to version 2.0, </a:t>
            </a:r>
            <a:r>
              <a:rPr lang="en-US" sz="2800" dirty="0" err="1"/>
              <a:t>Matplotlib’s</a:t>
            </a:r>
            <a:r>
              <a:rPr lang="en-US" sz="2800" dirty="0"/>
              <a:t> defaults are not </a:t>
            </a:r>
            <a:r>
              <a:rPr lang="en-US" sz="2800" dirty="0" err="1"/>
              <a:t>not</a:t>
            </a:r>
            <a:r>
              <a:rPr lang="en-US" sz="2800" dirty="0"/>
              <a:t> so effective in visualization.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 err="1"/>
              <a:t>Matplotlib’s</a:t>
            </a:r>
            <a:r>
              <a:rPr lang="en-US" sz="2800" dirty="0"/>
              <a:t> API is relatively low level. Doing sophisticated statistical visualization is possible, but often requires a lot of complicated code. 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 err="1"/>
              <a:t>Matplotlib</a:t>
            </a:r>
            <a:r>
              <a:rPr lang="en-US" sz="2800" dirty="0"/>
              <a:t> is not designed for use with Pandas </a:t>
            </a:r>
            <a:r>
              <a:rPr lang="en-US" sz="2800" dirty="0" err="1"/>
              <a:t>DataFrames</a:t>
            </a:r>
            <a:r>
              <a:rPr lang="en-US" sz="2800" dirty="0"/>
              <a:t>. So a plotting library that can use the </a:t>
            </a:r>
            <a:r>
              <a:rPr lang="en-US" sz="2800" dirty="0" err="1"/>
              <a:t>DataFrame</a:t>
            </a:r>
            <a:r>
              <a:rPr lang="en-US" sz="2800" dirty="0"/>
              <a:t> labels in a plot.</a:t>
            </a:r>
          </a:p>
        </p:txBody>
      </p:sp>
    </p:spTree>
    <p:extLst>
      <p:ext uri="{BB962C8B-B14F-4D97-AF65-F5344CB8AC3E}">
        <p14:creationId xmlns:p14="http://schemas.microsoft.com/office/powerpoint/2010/main" val="1864506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511189"/>
            <a:ext cx="6032310" cy="1064526"/>
          </a:xfrm>
        </p:spPr>
        <p:txBody>
          <a:bodyPr>
            <a:normAutofit/>
          </a:bodyPr>
          <a:lstStyle/>
          <a:p>
            <a:r>
              <a:rPr lang="en-US" sz="6600" b="1" dirty="0" err="1"/>
              <a:t>seaborn</a:t>
            </a:r>
            <a:endParaRPr lang="en-US" sz="44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841243" y="327546"/>
            <a:ext cx="6168788" cy="5676457"/>
          </a:xfrm>
          <a:prstGeom prst="rect">
            <a:avLst/>
          </a:prstGeom>
        </p:spPr>
        <p:txBody>
          <a:bodyPr vert="horz" lIns="91440" tIns="9144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Complaints with </a:t>
            </a:r>
            <a:r>
              <a:rPr lang="en-US" sz="2800" dirty="0" err="1"/>
              <a:t>Matplotlib</a:t>
            </a:r>
            <a:r>
              <a:rPr lang="en-US" sz="2800" dirty="0"/>
              <a:t> overcome by </a:t>
            </a:r>
            <a:r>
              <a:rPr lang="en-US" sz="2800" dirty="0" err="1"/>
              <a:t>Seaborn</a:t>
            </a:r>
            <a:r>
              <a:rPr lang="en-US" sz="2800" dirty="0"/>
              <a:t>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 err="1"/>
              <a:t>Seaborn</a:t>
            </a:r>
            <a:r>
              <a:rPr lang="en-US" sz="2800" dirty="0"/>
              <a:t> provides an API on top of </a:t>
            </a:r>
            <a:r>
              <a:rPr lang="en-US" sz="2800" dirty="0" err="1"/>
              <a:t>Matplotlib</a:t>
            </a:r>
            <a:r>
              <a:rPr lang="en-US" sz="2800" dirty="0"/>
              <a:t> that offers healthy choices for plot style and color defaults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 err="1"/>
              <a:t>Seaborn</a:t>
            </a:r>
            <a:r>
              <a:rPr lang="en-US" sz="2800" dirty="0"/>
              <a:t> defines simple high-level functions for common statistical plot types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 err="1"/>
              <a:t>Seaborn</a:t>
            </a:r>
            <a:r>
              <a:rPr lang="en-US" sz="2800" dirty="0"/>
              <a:t> integrates with the functionality provided by Pandas </a:t>
            </a:r>
            <a:r>
              <a:rPr lang="en-US" sz="2800" dirty="0" err="1"/>
              <a:t>DataFrames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519150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3699</TotalTime>
  <Words>4772</Words>
  <Application>Microsoft Office PowerPoint</Application>
  <PresentationFormat>Widescreen</PresentationFormat>
  <Paragraphs>709</Paragraphs>
  <Slides>75</Slides>
  <Notes>0</Notes>
  <HiddenSlides>3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6" baseType="lpstr">
      <vt:lpstr>Gallery</vt:lpstr>
      <vt:lpstr>JAL1301 DATA SCIENCE USING PYTHON</vt:lpstr>
      <vt:lpstr>UNIT   V DATA VISUALIZATION SYLLABUS</vt:lpstr>
      <vt:lpstr>Importing Matplotlib</vt:lpstr>
      <vt:lpstr>Importing Matplotlib</vt:lpstr>
      <vt:lpstr>Importing Matplotlib</vt:lpstr>
      <vt:lpstr>Importing Matplotlib</vt:lpstr>
      <vt:lpstr>Line Plots </vt:lpstr>
      <vt:lpstr>Line Plots </vt:lpstr>
      <vt:lpstr>Line Plots</vt:lpstr>
      <vt:lpstr>Line Plots - Adjusting the Plot: Line Colors and Styles</vt:lpstr>
      <vt:lpstr>Line Plots - Adjusting the Plot: Line Colors and Styles</vt:lpstr>
      <vt:lpstr>Line Plots - Adjusting the Plot: Line Colors and Styles</vt:lpstr>
      <vt:lpstr>Line Plots - Adjusting the Plot: Axes Limits</vt:lpstr>
      <vt:lpstr>Line Plots - Adjusting the Plot: Axes Limits</vt:lpstr>
      <vt:lpstr>Line Plots - Adjusting the Plot: Axes Limits</vt:lpstr>
      <vt:lpstr>Line Plots - Labeling Plots</vt:lpstr>
      <vt:lpstr>Line Plots - Labeling the Plots</vt:lpstr>
      <vt:lpstr>Scatter Plots </vt:lpstr>
      <vt:lpstr>scatter Plots </vt:lpstr>
      <vt:lpstr>Scatter Plots with plt.plot</vt:lpstr>
      <vt:lpstr>Scatter Plots with plt.plot</vt:lpstr>
      <vt:lpstr>Scatter Plots with plt.scatter</vt:lpstr>
      <vt:lpstr>Scatter Plots with plt.scatter</vt:lpstr>
      <vt:lpstr>Scatter Plots with plt.scatter</vt:lpstr>
      <vt:lpstr>Scatter Plots with plt.scatter</vt:lpstr>
      <vt:lpstr>Plt.Plot        vs         plt.scatter</vt:lpstr>
      <vt:lpstr>PowerPoint Presentation</vt:lpstr>
      <vt:lpstr>visualizing errors </vt:lpstr>
      <vt:lpstr>Basic error bars</vt:lpstr>
      <vt:lpstr>Basic error bars</vt:lpstr>
      <vt:lpstr>Basic error bars</vt:lpstr>
      <vt:lpstr>Basic error bars</vt:lpstr>
      <vt:lpstr>continuous errors</vt:lpstr>
      <vt:lpstr>continuous errors</vt:lpstr>
      <vt:lpstr>continuous errors</vt:lpstr>
      <vt:lpstr>continuous errors</vt:lpstr>
      <vt:lpstr>continuous errors</vt:lpstr>
      <vt:lpstr>Density and contour plots </vt:lpstr>
      <vt:lpstr>Density and contour plots</vt:lpstr>
      <vt:lpstr>Visualizing a Three-Dimensional Function</vt:lpstr>
      <vt:lpstr>Visualizing a Three-Dimensional Function</vt:lpstr>
      <vt:lpstr>Visualizing a Three-Dimensional Function</vt:lpstr>
      <vt:lpstr>Visualizing a Three-Dimensional Function</vt:lpstr>
      <vt:lpstr>Visualizing a Three-Dimensional Function</vt:lpstr>
      <vt:lpstr>Histograms</vt:lpstr>
      <vt:lpstr>histograms</vt:lpstr>
      <vt:lpstr>histograms</vt:lpstr>
      <vt:lpstr>histograms</vt:lpstr>
      <vt:lpstr>histograms</vt:lpstr>
      <vt:lpstr>histograms</vt:lpstr>
      <vt:lpstr>Two-dimensional histograms</vt:lpstr>
      <vt:lpstr>Two-dimensional histograms</vt:lpstr>
      <vt:lpstr>Two-dimensional histograms</vt:lpstr>
      <vt:lpstr>Two-dimensional histograms</vt:lpstr>
      <vt:lpstr>Plot legends  </vt:lpstr>
      <vt:lpstr>Plot legends</vt:lpstr>
      <vt:lpstr>Customizing Plot legends</vt:lpstr>
      <vt:lpstr>Customizing Plot legends</vt:lpstr>
      <vt:lpstr>Customizing Plot legends</vt:lpstr>
      <vt:lpstr>Choosing Elements for the Legend</vt:lpstr>
      <vt:lpstr>Legend for Size of Points</vt:lpstr>
      <vt:lpstr>Multiple Legends</vt:lpstr>
      <vt:lpstr>Colors</vt:lpstr>
      <vt:lpstr>Subplots</vt:lpstr>
      <vt:lpstr>Text  and annotation   </vt:lpstr>
      <vt:lpstr>Three-dimensional plotting</vt:lpstr>
      <vt:lpstr>Three-dimensional plotting</vt:lpstr>
      <vt:lpstr>Three-dimensional points and lines</vt:lpstr>
      <vt:lpstr>Three-dimensional points and lines</vt:lpstr>
      <vt:lpstr>Three-dimensional contour plots</vt:lpstr>
      <vt:lpstr>Wireframes and Surface Plots</vt:lpstr>
      <vt:lpstr>Wireframes and Surface Plots</vt:lpstr>
      <vt:lpstr>Wireframes and Surface Plots</vt:lpstr>
      <vt:lpstr>matplotlib</vt:lpstr>
      <vt:lpstr>seaborn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JAL1301 DATA SCIENCE USING PYTHON</dc:title>
  <dc:creator>HP</dc:creator>
  <cp:lastModifiedBy>lakshya sree</cp:lastModifiedBy>
  <cp:revision>136</cp:revision>
  <dcterms:created xsi:type="dcterms:W3CDTF">2023-11-13T16:28:39Z</dcterms:created>
  <dcterms:modified xsi:type="dcterms:W3CDTF">2024-05-07T12:12:26Z</dcterms:modified>
</cp:coreProperties>
</file>
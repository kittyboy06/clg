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1"/>
  </p:notesMasterIdLst>
  <p:sldIdLst>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10/5/2022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10/5/2022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10/5/2022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10/5/2022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10/5/2022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10/5/2022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10/5/2022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10/5/2022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10/5/2022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10/5/2022</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10/5/2022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10/5/2022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10/5/2022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10/5/2022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10/5/2022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10/5/2022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10/5/2022</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2639682"/>
            <a:ext cx="3617344" cy="2260122"/>
          </a:xfrm>
        </p:spPr>
        <p:txBody>
          <a:bodyPr>
            <a:normAutofit fontScale="90000"/>
          </a:bodyPr>
          <a:lstStyle/>
          <a:p>
            <a:pPr algn="l"/>
            <a:r>
              <a:rPr lang="en-US" sz="4000" dirty="0"/>
              <a:t>FILE ORGANISATION</a:t>
            </a:r>
            <a:br>
              <a:rPr lang="en-US" sz="4000" dirty="0"/>
            </a:br>
            <a:br>
              <a:rPr lang="en-US" sz="4000" dirty="0"/>
            </a:br>
            <a:r>
              <a:rPr lang="en-US" sz="4000" dirty="0"/>
              <a:t>in Data Base Management System</a:t>
            </a: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3" y="609600"/>
            <a:ext cx="4538124" cy="770626"/>
          </a:xfrm>
        </p:spPr>
        <p:txBody>
          <a:bodyPr anchor="b">
            <a:normAutofit/>
          </a:bodyPr>
          <a:lstStyle/>
          <a:p>
            <a:pPr algn="l"/>
            <a:r>
              <a:rPr lang="en-US" sz="4000" dirty="0"/>
              <a:t>File Organization</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3" y="1604513"/>
            <a:ext cx="4676156" cy="4494362"/>
          </a:xfrm>
        </p:spPr>
        <p:txBody>
          <a:bodyPr anchor="t">
            <a:normAutofit fontScale="85000" lnSpcReduction="20000"/>
          </a:bodyPr>
          <a:lstStyle/>
          <a:p>
            <a:pPr marL="36900" indent="0" algn="just">
              <a:buNone/>
            </a:pPr>
            <a:r>
              <a:rPr lang="en-US" sz="2400" dirty="0"/>
              <a:t>Introduction</a:t>
            </a:r>
          </a:p>
          <a:p>
            <a:pPr marL="36900" indent="0" algn="just">
              <a:buNone/>
            </a:pPr>
            <a:r>
              <a:rPr lang="en-US" sz="2400" dirty="0"/>
              <a:t>What is File Organization?</a:t>
            </a:r>
          </a:p>
          <a:p>
            <a:pPr marL="36900" indent="0" algn="just">
              <a:buNone/>
            </a:pPr>
            <a:r>
              <a:rPr lang="en-US" sz="2400" dirty="0"/>
              <a:t>Objective</a:t>
            </a:r>
          </a:p>
          <a:p>
            <a:pPr marL="36900" indent="0" algn="just">
              <a:buNone/>
            </a:pPr>
            <a:r>
              <a:rPr lang="en-US" sz="2400" dirty="0"/>
              <a:t>Types</a:t>
            </a:r>
          </a:p>
          <a:p>
            <a:pPr marL="494100" indent="-457200" algn="just">
              <a:buAutoNum type="arabicPeriod"/>
            </a:pPr>
            <a:r>
              <a:rPr lang="en-US" sz="2400" dirty="0"/>
              <a:t>Sequential</a:t>
            </a:r>
          </a:p>
          <a:p>
            <a:pPr marL="494100" indent="-457200" algn="just">
              <a:buAutoNum type="arabicPeriod"/>
            </a:pPr>
            <a:r>
              <a:rPr lang="en-US" sz="2400" dirty="0"/>
              <a:t>Heap</a:t>
            </a:r>
          </a:p>
          <a:p>
            <a:pPr marL="494100" indent="-457200" algn="just">
              <a:buAutoNum type="arabicPeriod"/>
            </a:pPr>
            <a:r>
              <a:rPr lang="en-US" sz="2400" dirty="0"/>
              <a:t>Hash</a:t>
            </a:r>
          </a:p>
          <a:p>
            <a:pPr marL="494100" indent="-457200" algn="just">
              <a:buAutoNum type="arabicPeriod"/>
            </a:pPr>
            <a:r>
              <a:rPr lang="en-US" sz="2400" dirty="0"/>
              <a:t>B+</a:t>
            </a:r>
          </a:p>
          <a:p>
            <a:pPr marL="494100" indent="-457200" algn="just">
              <a:buAutoNum type="arabicPeriod"/>
            </a:pPr>
            <a:r>
              <a:rPr lang="en-US" sz="2400" dirty="0"/>
              <a:t>Indexed Sequential Access Method (ISAM)</a:t>
            </a:r>
          </a:p>
          <a:p>
            <a:pPr marL="494100" indent="-457200" algn="just">
              <a:buAutoNum type="arabicPeriod"/>
            </a:pPr>
            <a:r>
              <a:rPr lang="en-US" sz="2400" dirty="0"/>
              <a:t>Cluster</a:t>
            </a:r>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5BABF-1D0B-8620-54B8-3DED1B497FF3}"/>
              </a:ext>
            </a:extLst>
          </p:cNvPr>
          <p:cNvSpPr>
            <a:spLocks noGrp="1"/>
          </p:cNvSpPr>
          <p:nvPr>
            <p:ph type="title"/>
          </p:nvPr>
        </p:nvSpPr>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E8DA2ADF-3854-32BA-3CE3-60D0093EE14F}"/>
              </a:ext>
            </a:extLst>
          </p:cNvPr>
          <p:cNvSpPr>
            <a:spLocks noGrp="1"/>
          </p:cNvSpPr>
          <p:nvPr>
            <p:ph idx="1"/>
          </p:nvPr>
        </p:nvSpPr>
        <p:spPr/>
        <p:txBody>
          <a:bodyPr/>
          <a:lstStyle/>
          <a:p>
            <a:pPr algn="l" fontAlgn="base"/>
            <a:r>
              <a:rPr lang="en-US" b="0" i="0" dirty="0">
                <a:solidFill>
                  <a:srgbClr val="FFFFFF"/>
                </a:solidFill>
                <a:effectLst/>
                <a:latin typeface="urw-din"/>
              </a:rPr>
              <a:t>A database consist of a huge amount of data. The data is grouped within a table in RDBMS, and each table have related records. A user can see that the data is stored in form of tables, but in actual this huge amount of data is stored in physical memory in form of files. </a:t>
            </a:r>
          </a:p>
          <a:p>
            <a:pPr algn="l" fontAlgn="base"/>
            <a:r>
              <a:rPr lang="en-US" b="1" i="0" u="sng" dirty="0">
                <a:solidFill>
                  <a:srgbClr val="FFFFFF"/>
                </a:solidFill>
                <a:effectLst/>
                <a:latin typeface="urw-din"/>
              </a:rPr>
              <a:t>File</a:t>
            </a:r>
            <a:r>
              <a:rPr lang="en-US" b="1" i="0" dirty="0">
                <a:solidFill>
                  <a:srgbClr val="FFFFFF"/>
                </a:solidFill>
                <a:effectLst/>
                <a:latin typeface="urw-din"/>
              </a:rPr>
              <a:t> –</a:t>
            </a:r>
            <a:r>
              <a:rPr lang="en-US" b="0" i="0" dirty="0">
                <a:solidFill>
                  <a:srgbClr val="FFFFFF"/>
                </a:solidFill>
                <a:effectLst/>
                <a:latin typeface="urw-din"/>
              </a:rPr>
              <a:t> A file is named collection of related information that is recorded on secondary storage such as magnetic disks, magnetic tapes and optical disks.</a:t>
            </a:r>
          </a:p>
          <a:p>
            <a:r>
              <a:rPr lang="en-IN" b="1" u="sng" dirty="0">
                <a:solidFill>
                  <a:schemeClr val="tx1"/>
                </a:solidFill>
              </a:rPr>
              <a:t>RDBMS</a:t>
            </a:r>
            <a:r>
              <a:rPr lang="en-IN" dirty="0">
                <a:solidFill>
                  <a:schemeClr val="tx1"/>
                </a:solidFill>
              </a:rPr>
              <a:t> - </a:t>
            </a:r>
            <a:r>
              <a:rPr lang="en-US" b="0" i="0" dirty="0">
                <a:solidFill>
                  <a:schemeClr val="tx1"/>
                </a:solidFill>
                <a:effectLst/>
                <a:latin typeface="Roboto" panose="02000000000000000000" pitchFamily="2" charset="0"/>
              </a:rPr>
              <a:t>It is called </a:t>
            </a:r>
            <a:r>
              <a:rPr lang="en-US" b="1" i="1" dirty="0">
                <a:solidFill>
                  <a:schemeClr val="tx1"/>
                </a:solidFill>
                <a:effectLst/>
                <a:latin typeface="Roboto" panose="02000000000000000000" pitchFamily="2" charset="0"/>
              </a:rPr>
              <a:t>Relational Data Base Management System</a:t>
            </a:r>
            <a:r>
              <a:rPr lang="en-US" b="0" i="0" dirty="0">
                <a:solidFill>
                  <a:schemeClr val="tx1"/>
                </a:solidFill>
                <a:effectLst/>
                <a:latin typeface="Roboto" panose="02000000000000000000" pitchFamily="2" charset="0"/>
              </a:rPr>
              <a:t> (RDBMS) because it is based on relational model introduced by E.F. Codd.</a:t>
            </a:r>
            <a:endParaRPr lang="en-IN" dirty="0">
              <a:solidFill>
                <a:schemeClr val="tx1"/>
              </a:solidFill>
            </a:endParaRPr>
          </a:p>
        </p:txBody>
      </p:sp>
    </p:spTree>
    <p:extLst>
      <p:ext uri="{BB962C8B-B14F-4D97-AF65-F5344CB8AC3E}">
        <p14:creationId xmlns:p14="http://schemas.microsoft.com/office/powerpoint/2010/main" val="685309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E8335-9DE9-F7CB-9224-E1434F5D43FC}"/>
              </a:ext>
            </a:extLst>
          </p:cNvPr>
          <p:cNvSpPr>
            <a:spLocks noGrp="1"/>
          </p:cNvSpPr>
          <p:nvPr>
            <p:ph type="title"/>
          </p:nvPr>
        </p:nvSpPr>
        <p:spPr/>
        <p:txBody>
          <a:bodyPr/>
          <a:lstStyle/>
          <a:p>
            <a:r>
              <a:rPr lang="en-US" b="1" i="1" dirty="0"/>
              <a:t>What is File Organization?</a:t>
            </a:r>
            <a:endParaRPr lang="en-IN" b="1" i="1" dirty="0"/>
          </a:p>
        </p:txBody>
      </p:sp>
      <p:sp>
        <p:nvSpPr>
          <p:cNvPr id="3" name="Content Placeholder 2">
            <a:extLst>
              <a:ext uri="{FF2B5EF4-FFF2-40B4-BE49-F238E27FC236}">
                <a16:creationId xmlns:a16="http://schemas.microsoft.com/office/drawing/2014/main" id="{18B0FDE9-F52C-36B6-C8E6-BE80CB79095E}"/>
              </a:ext>
            </a:extLst>
          </p:cNvPr>
          <p:cNvSpPr>
            <a:spLocks noGrp="1"/>
          </p:cNvSpPr>
          <p:nvPr>
            <p:ph idx="1"/>
          </p:nvPr>
        </p:nvSpPr>
        <p:spPr/>
        <p:txBody>
          <a:bodyPr/>
          <a:lstStyle/>
          <a:p>
            <a:r>
              <a:rPr lang="en-US" b="0" i="0" dirty="0">
                <a:solidFill>
                  <a:srgbClr val="FFFFFF"/>
                </a:solidFill>
                <a:effectLst/>
                <a:latin typeface="urw-din"/>
              </a:rPr>
              <a:t>File Organization refers to the logical relationships among various records that constitute the file, particularly with respect to the means of identification and access to any specific record.</a:t>
            </a:r>
          </a:p>
          <a:p>
            <a:r>
              <a:rPr lang="en-US" b="0" i="0" dirty="0">
                <a:solidFill>
                  <a:srgbClr val="FFFFFF"/>
                </a:solidFill>
                <a:effectLst/>
                <a:latin typeface="urw-din"/>
              </a:rPr>
              <a:t>In simple terms, Storing the files in certain order is called file Organization.</a:t>
            </a:r>
          </a:p>
          <a:p>
            <a:r>
              <a:rPr lang="en-US" b="1" i="0" dirty="0">
                <a:solidFill>
                  <a:srgbClr val="FFFFFF"/>
                </a:solidFill>
                <a:effectLst/>
                <a:latin typeface="urw-din"/>
              </a:rPr>
              <a:t>File Structure</a:t>
            </a:r>
            <a:r>
              <a:rPr lang="en-US" b="0" i="0" dirty="0">
                <a:solidFill>
                  <a:srgbClr val="FFFFFF"/>
                </a:solidFill>
                <a:effectLst/>
                <a:latin typeface="urw-din"/>
              </a:rPr>
              <a:t> refers to the format of the label and data blocks and of any logical control record. </a:t>
            </a:r>
            <a:endParaRPr lang="en-IN" dirty="0"/>
          </a:p>
        </p:txBody>
      </p:sp>
    </p:spTree>
    <p:extLst>
      <p:ext uri="{BB962C8B-B14F-4D97-AF65-F5344CB8AC3E}">
        <p14:creationId xmlns:p14="http://schemas.microsoft.com/office/powerpoint/2010/main" val="3310446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2BDC0-5949-BD89-A339-141F6CE4FCD0}"/>
              </a:ext>
            </a:extLst>
          </p:cNvPr>
          <p:cNvSpPr>
            <a:spLocks noGrp="1"/>
          </p:cNvSpPr>
          <p:nvPr>
            <p:ph type="title"/>
          </p:nvPr>
        </p:nvSpPr>
        <p:spPr/>
        <p:txBody>
          <a:bodyPr/>
          <a:lstStyle/>
          <a:p>
            <a:r>
              <a:rPr lang="en-US" b="1" dirty="0"/>
              <a:t>OBJECTIVE</a:t>
            </a:r>
            <a:endParaRPr lang="en-IN" b="1" dirty="0"/>
          </a:p>
        </p:txBody>
      </p:sp>
      <p:sp>
        <p:nvSpPr>
          <p:cNvPr id="3" name="Content Placeholder 2">
            <a:extLst>
              <a:ext uri="{FF2B5EF4-FFF2-40B4-BE49-F238E27FC236}">
                <a16:creationId xmlns:a16="http://schemas.microsoft.com/office/drawing/2014/main" id="{FF4AEEF7-824E-89A6-17BE-A62DC6EA8F86}"/>
              </a:ext>
            </a:extLst>
          </p:cNvPr>
          <p:cNvSpPr>
            <a:spLocks noGrp="1"/>
          </p:cNvSpPr>
          <p:nvPr>
            <p:ph idx="1"/>
          </p:nvPr>
        </p:nvSpPr>
        <p:spPr/>
        <p:txBody>
          <a:bodyPr/>
          <a:lstStyle/>
          <a:p>
            <a:pPr algn="just">
              <a:buFont typeface="Arial" panose="020B0604020202020204" pitchFamily="34" charset="0"/>
              <a:buChar char="•"/>
            </a:pPr>
            <a:r>
              <a:rPr lang="en-US" b="0" i="0" dirty="0">
                <a:solidFill>
                  <a:schemeClr val="tx1"/>
                </a:solidFill>
                <a:effectLst/>
                <a:latin typeface="inter-regular"/>
              </a:rPr>
              <a:t>It contains an optimal selection of records, i.e., records can be selected as fast as possible.</a:t>
            </a:r>
          </a:p>
          <a:p>
            <a:pPr algn="just">
              <a:buFont typeface="Arial" panose="020B0604020202020204" pitchFamily="34" charset="0"/>
              <a:buChar char="•"/>
            </a:pPr>
            <a:r>
              <a:rPr lang="en-US" b="0" i="0" dirty="0">
                <a:solidFill>
                  <a:schemeClr val="tx1"/>
                </a:solidFill>
                <a:effectLst/>
                <a:latin typeface="inter-regular"/>
              </a:rPr>
              <a:t>To perform insert, delete or update transaction on the records should be quick and easy.</a:t>
            </a:r>
          </a:p>
          <a:p>
            <a:pPr algn="just">
              <a:buFont typeface="Arial" panose="020B0604020202020204" pitchFamily="34" charset="0"/>
              <a:buChar char="•"/>
            </a:pPr>
            <a:r>
              <a:rPr lang="en-US" b="0" i="0" dirty="0">
                <a:solidFill>
                  <a:schemeClr val="tx1"/>
                </a:solidFill>
                <a:effectLst/>
                <a:latin typeface="inter-regular"/>
              </a:rPr>
              <a:t>The duplicate records cannot be induced as a result of insert, update or delete.</a:t>
            </a:r>
          </a:p>
          <a:p>
            <a:pPr algn="just">
              <a:buFont typeface="Arial" panose="020B0604020202020204" pitchFamily="34" charset="0"/>
              <a:buChar char="•"/>
            </a:pPr>
            <a:r>
              <a:rPr lang="en-US" b="0" i="0" dirty="0">
                <a:solidFill>
                  <a:schemeClr val="tx1"/>
                </a:solidFill>
                <a:effectLst/>
                <a:latin typeface="inter-regular"/>
              </a:rPr>
              <a:t>For the minimal cost of storage, records should be stored efficiently.</a:t>
            </a:r>
          </a:p>
          <a:p>
            <a:endParaRPr lang="en-IN" dirty="0"/>
          </a:p>
        </p:txBody>
      </p:sp>
    </p:spTree>
    <p:extLst>
      <p:ext uri="{BB962C8B-B14F-4D97-AF65-F5344CB8AC3E}">
        <p14:creationId xmlns:p14="http://schemas.microsoft.com/office/powerpoint/2010/main" val="723242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56B8F-8B13-DDAE-8879-D36A56B83FA9}"/>
              </a:ext>
            </a:extLst>
          </p:cNvPr>
          <p:cNvSpPr>
            <a:spLocks noGrp="1"/>
          </p:cNvSpPr>
          <p:nvPr>
            <p:ph type="title"/>
          </p:nvPr>
        </p:nvSpPr>
        <p:spPr/>
        <p:txBody>
          <a:bodyPr/>
          <a:lstStyle/>
          <a:p>
            <a:r>
              <a:rPr lang="en-US" b="1" dirty="0"/>
              <a:t>TYPES</a:t>
            </a:r>
            <a:endParaRPr lang="en-IN" b="1" dirty="0"/>
          </a:p>
        </p:txBody>
      </p:sp>
      <p:sp>
        <p:nvSpPr>
          <p:cNvPr id="3" name="Content Placeholder 2">
            <a:extLst>
              <a:ext uri="{FF2B5EF4-FFF2-40B4-BE49-F238E27FC236}">
                <a16:creationId xmlns:a16="http://schemas.microsoft.com/office/drawing/2014/main" id="{259F6665-5765-6622-8CA5-5A73E7096982}"/>
              </a:ext>
            </a:extLst>
          </p:cNvPr>
          <p:cNvSpPr>
            <a:spLocks noGrp="1"/>
          </p:cNvSpPr>
          <p:nvPr>
            <p:ph idx="1"/>
          </p:nvPr>
        </p:nvSpPr>
        <p:spPr/>
        <p:txBody>
          <a:bodyPr/>
          <a:lstStyle/>
          <a:p>
            <a:r>
              <a:rPr lang="en-US" b="0" i="0" dirty="0">
                <a:solidFill>
                  <a:schemeClr val="tx1"/>
                </a:solidFill>
                <a:effectLst/>
                <a:latin typeface="inter-regular"/>
              </a:rPr>
              <a:t>File organization contains various methods.</a:t>
            </a:r>
          </a:p>
          <a:p>
            <a:r>
              <a:rPr lang="en-US" b="0" i="0" dirty="0">
                <a:solidFill>
                  <a:schemeClr val="tx1"/>
                </a:solidFill>
                <a:effectLst/>
                <a:latin typeface="inter-regular"/>
              </a:rPr>
              <a:t>These particular methods have pros and cons on the basis of access or selection. </a:t>
            </a:r>
          </a:p>
          <a:p>
            <a:r>
              <a:rPr lang="en-US" b="0" i="0" dirty="0">
                <a:solidFill>
                  <a:schemeClr val="tx1"/>
                </a:solidFill>
                <a:effectLst/>
                <a:latin typeface="inter-regular"/>
              </a:rPr>
              <a:t>In the file organization, the </a:t>
            </a:r>
            <a:r>
              <a:rPr lang="en-US" i="1" u="sng" dirty="0">
                <a:solidFill>
                  <a:schemeClr val="tx1"/>
                </a:solidFill>
                <a:effectLst/>
                <a:latin typeface="inter-regular"/>
              </a:rPr>
              <a:t>programmer decides the best-suited file organization method according to his requirement</a:t>
            </a:r>
            <a:r>
              <a:rPr lang="en-US" b="0" i="0" dirty="0">
                <a:solidFill>
                  <a:schemeClr val="tx1"/>
                </a:solidFill>
                <a:effectLst/>
                <a:latin typeface="inter-regular"/>
              </a:rPr>
              <a:t>.</a:t>
            </a:r>
            <a:endParaRPr lang="en-IN" dirty="0">
              <a:solidFill>
                <a:schemeClr val="tx1"/>
              </a:solidFill>
            </a:endParaRPr>
          </a:p>
        </p:txBody>
      </p:sp>
    </p:spTree>
    <p:extLst>
      <p:ext uri="{BB962C8B-B14F-4D97-AF65-F5344CB8AC3E}">
        <p14:creationId xmlns:p14="http://schemas.microsoft.com/office/powerpoint/2010/main" val="3484890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BMS File Organization">
            <a:extLst>
              <a:ext uri="{FF2B5EF4-FFF2-40B4-BE49-F238E27FC236}">
                <a16:creationId xmlns:a16="http://schemas.microsoft.com/office/drawing/2014/main" id="{F9525550-8225-86FA-AEFB-0CC5BF27090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9448" y="1119244"/>
            <a:ext cx="10533104" cy="4619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822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82575-44E0-FE1D-58D5-E853744B9490}"/>
              </a:ext>
            </a:extLst>
          </p:cNvPr>
          <p:cNvSpPr>
            <a:spLocks noGrp="1"/>
          </p:cNvSpPr>
          <p:nvPr>
            <p:ph type="title"/>
          </p:nvPr>
        </p:nvSpPr>
        <p:spPr/>
        <p:txBody>
          <a:bodyPr/>
          <a:lstStyle/>
          <a:p>
            <a:r>
              <a:rPr lang="en-US" b="1" u="sng" dirty="0"/>
              <a:t>Sequential File Organization</a:t>
            </a:r>
            <a:endParaRPr lang="en-IN" b="1" u="sng" dirty="0"/>
          </a:p>
        </p:txBody>
      </p:sp>
      <p:sp>
        <p:nvSpPr>
          <p:cNvPr id="3" name="Content Placeholder 2">
            <a:extLst>
              <a:ext uri="{FF2B5EF4-FFF2-40B4-BE49-F238E27FC236}">
                <a16:creationId xmlns:a16="http://schemas.microsoft.com/office/drawing/2014/main" id="{DB91D595-B5CD-CFA7-A6E6-9968D0C529C8}"/>
              </a:ext>
            </a:extLst>
          </p:cNvPr>
          <p:cNvSpPr>
            <a:spLocks noGrp="1"/>
          </p:cNvSpPr>
          <p:nvPr>
            <p:ph idx="1"/>
          </p:nvPr>
        </p:nvSpPr>
        <p:spPr/>
        <p:txBody>
          <a:bodyPr/>
          <a:lstStyle/>
          <a:p>
            <a:r>
              <a:rPr lang="en-US" b="0" i="0" dirty="0">
                <a:solidFill>
                  <a:schemeClr val="tx1"/>
                </a:solidFill>
                <a:effectLst/>
                <a:latin typeface="inter-regular"/>
              </a:rPr>
              <a:t>This method is the </a:t>
            </a:r>
            <a:r>
              <a:rPr lang="en-US" b="1" i="1" u="sng" dirty="0">
                <a:solidFill>
                  <a:schemeClr val="tx1"/>
                </a:solidFill>
                <a:effectLst/>
                <a:latin typeface="inter-regular"/>
              </a:rPr>
              <a:t>easiest method </a:t>
            </a:r>
            <a:r>
              <a:rPr lang="en-US" b="0" i="0" dirty="0">
                <a:solidFill>
                  <a:schemeClr val="tx1"/>
                </a:solidFill>
                <a:effectLst/>
                <a:latin typeface="inter-regular"/>
              </a:rPr>
              <a:t>for file organization.</a:t>
            </a:r>
          </a:p>
          <a:p>
            <a:r>
              <a:rPr lang="en-US" b="0" i="0" dirty="0">
                <a:solidFill>
                  <a:schemeClr val="tx1"/>
                </a:solidFill>
                <a:effectLst/>
                <a:latin typeface="inter-regular"/>
              </a:rPr>
              <a:t>In this method, files are </a:t>
            </a:r>
            <a:r>
              <a:rPr lang="en-US" b="1" i="1" u="sng" dirty="0">
                <a:solidFill>
                  <a:schemeClr val="tx1"/>
                </a:solidFill>
                <a:effectLst/>
                <a:latin typeface="inter-regular"/>
              </a:rPr>
              <a:t>stored sequentially</a:t>
            </a:r>
            <a:r>
              <a:rPr lang="en-US" b="0" i="0" dirty="0">
                <a:solidFill>
                  <a:schemeClr val="tx1"/>
                </a:solidFill>
                <a:effectLst/>
                <a:latin typeface="inter-regular"/>
              </a:rPr>
              <a:t>. This method can be </a:t>
            </a:r>
            <a:r>
              <a:rPr lang="en-US" b="1" i="1" u="sng" dirty="0">
                <a:solidFill>
                  <a:schemeClr val="tx1"/>
                </a:solidFill>
                <a:effectLst/>
                <a:latin typeface="inter-regular"/>
              </a:rPr>
              <a:t>implemented in two ways</a:t>
            </a:r>
            <a:r>
              <a:rPr lang="en-US" b="0" i="0" dirty="0">
                <a:solidFill>
                  <a:schemeClr val="tx1"/>
                </a:solidFill>
                <a:effectLst/>
                <a:latin typeface="inter-regular"/>
              </a:rPr>
              <a:t>:</a:t>
            </a:r>
          </a:p>
          <a:p>
            <a:r>
              <a:rPr lang="en-US" dirty="0">
                <a:solidFill>
                  <a:schemeClr val="tx1"/>
                </a:solidFill>
                <a:effectLst/>
                <a:latin typeface="inter-regular"/>
              </a:rPr>
              <a:t>1. Pile File Method</a:t>
            </a:r>
          </a:p>
          <a:p>
            <a:r>
              <a:rPr lang="en-US" dirty="0">
                <a:solidFill>
                  <a:schemeClr val="tx1"/>
                </a:solidFill>
                <a:effectLst/>
                <a:latin typeface="inter-regular"/>
              </a:rPr>
              <a:t>2. Sorted File Method</a:t>
            </a:r>
            <a:endParaRPr lang="en-IN" dirty="0">
              <a:solidFill>
                <a:schemeClr val="tx1"/>
              </a:solidFill>
            </a:endParaRPr>
          </a:p>
        </p:txBody>
      </p:sp>
    </p:spTree>
    <p:extLst>
      <p:ext uri="{BB962C8B-B14F-4D97-AF65-F5344CB8AC3E}">
        <p14:creationId xmlns:p14="http://schemas.microsoft.com/office/powerpoint/2010/main" val="3471537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224BA-641F-FE87-A21D-23B05AB2013A}"/>
              </a:ext>
            </a:extLst>
          </p:cNvPr>
          <p:cNvSpPr>
            <a:spLocks noGrp="1"/>
          </p:cNvSpPr>
          <p:nvPr>
            <p:ph type="title"/>
          </p:nvPr>
        </p:nvSpPr>
        <p:spPr>
          <a:xfrm>
            <a:off x="913795" y="479485"/>
            <a:ext cx="10353762" cy="1257300"/>
          </a:xfrm>
        </p:spPr>
        <p:txBody>
          <a:bodyPr/>
          <a:lstStyle/>
          <a:p>
            <a:r>
              <a:rPr lang="en-US" b="1" dirty="0"/>
              <a:t>Pile File Method</a:t>
            </a:r>
            <a:endParaRPr lang="en-IN" b="1" dirty="0"/>
          </a:p>
        </p:txBody>
      </p:sp>
      <p:sp>
        <p:nvSpPr>
          <p:cNvPr id="3" name="Content Placeholder 2">
            <a:extLst>
              <a:ext uri="{FF2B5EF4-FFF2-40B4-BE49-F238E27FC236}">
                <a16:creationId xmlns:a16="http://schemas.microsoft.com/office/drawing/2014/main" id="{87C67006-7DF7-3B2F-6D88-1B1CD9BFF8F7}"/>
              </a:ext>
            </a:extLst>
          </p:cNvPr>
          <p:cNvSpPr>
            <a:spLocks noGrp="1"/>
          </p:cNvSpPr>
          <p:nvPr>
            <p:ph idx="1"/>
          </p:nvPr>
        </p:nvSpPr>
        <p:spPr>
          <a:xfrm>
            <a:off x="913794" y="1927285"/>
            <a:ext cx="10353762" cy="3714749"/>
          </a:xfrm>
        </p:spPr>
        <p:txBody>
          <a:bodyPr/>
          <a:lstStyle/>
          <a:p>
            <a:pPr algn="just">
              <a:buFont typeface="Arial" panose="020B0604020202020204" pitchFamily="34" charset="0"/>
              <a:buChar char="•"/>
            </a:pPr>
            <a:r>
              <a:rPr lang="en-US" b="0" i="0" dirty="0">
                <a:solidFill>
                  <a:schemeClr val="tx1"/>
                </a:solidFill>
                <a:effectLst/>
                <a:latin typeface="inter-regular"/>
              </a:rPr>
              <a:t>It is a quite simple method.</a:t>
            </a:r>
          </a:p>
          <a:p>
            <a:pPr algn="just">
              <a:buFont typeface="Arial" panose="020B0604020202020204" pitchFamily="34" charset="0"/>
              <a:buChar char="•"/>
            </a:pPr>
            <a:r>
              <a:rPr lang="en-US" b="0" i="0" dirty="0">
                <a:solidFill>
                  <a:schemeClr val="tx1"/>
                </a:solidFill>
                <a:effectLst/>
                <a:latin typeface="inter-regular"/>
              </a:rPr>
              <a:t>In this method, we store the record in a sequence, i.e., one after another. Here, the </a:t>
            </a:r>
            <a:r>
              <a:rPr lang="en-US" b="1" i="1" u="sng" dirty="0">
                <a:solidFill>
                  <a:schemeClr val="tx1"/>
                </a:solidFill>
                <a:effectLst>
                  <a:outerShdw blurRad="38100" dist="38100" dir="2700000" algn="tl">
                    <a:srgbClr val="000000">
                      <a:alpha val="43137"/>
                    </a:srgbClr>
                  </a:outerShdw>
                </a:effectLst>
                <a:latin typeface="inter-regular"/>
              </a:rPr>
              <a:t>record will be inserted in the order in which they are inserted into tables</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In case of updating or deleting of any record, the record will be searched in the memory blocks. When it is found, then it will be marked for deleting, and the new record is inserted.</a:t>
            </a:r>
          </a:p>
        </p:txBody>
      </p:sp>
      <p:pic>
        <p:nvPicPr>
          <p:cNvPr id="2050" name="Picture 2" descr="DBMS Sequential File Organization">
            <a:extLst>
              <a:ext uri="{FF2B5EF4-FFF2-40B4-BE49-F238E27FC236}">
                <a16:creationId xmlns:a16="http://schemas.microsoft.com/office/drawing/2014/main" id="{A2419B30-2C05-5FF7-788A-E65E33F7A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063" y="4930715"/>
            <a:ext cx="5229225"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872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CB381-4224-FB17-DE2D-13C63A0965B4}"/>
              </a:ext>
            </a:extLst>
          </p:cNvPr>
          <p:cNvSpPr>
            <a:spLocks noGrp="1"/>
          </p:cNvSpPr>
          <p:nvPr>
            <p:ph type="title"/>
          </p:nvPr>
        </p:nvSpPr>
        <p:spPr/>
        <p:txBody>
          <a:bodyPr/>
          <a:lstStyle/>
          <a:p>
            <a:r>
              <a:rPr lang="en-US" dirty="0"/>
              <a:t>Insertion of new record</a:t>
            </a:r>
            <a:endParaRPr lang="en-IN" dirty="0"/>
          </a:p>
        </p:txBody>
      </p:sp>
      <p:sp>
        <p:nvSpPr>
          <p:cNvPr id="3" name="Content Placeholder 2">
            <a:extLst>
              <a:ext uri="{FF2B5EF4-FFF2-40B4-BE49-F238E27FC236}">
                <a16:creationId xmlns:a16="http://schemas.microsoft.com/office/drawing/2014/main" id="{B42C1ABD-5F99-56C9-9D1D-855FA2F782F3}"/>
              </a:ext>
            </a:extLst>
          </p:cNvPr>
          <p:cNvSpPr>
            <a:spLocks noGrp="1"/>
          </p:cNvSpPr>
          <p:nvPr>
            <p:ph idx="1"/>
          </p:nvPr>
        </p:nvSpPr>
        <p:spPr/>
        <p:txBody>
          <a:bodyPr/>
          <a:lstStyle/>
          <a:p>
            <a:pPr algn="just"/>
            <a:r>
              <a:rPr lang="en-US" b="0" i="0" dirty="0">
                <a:solidFill>
                  <a:schemeClr val="tx1"/>
                </a:solidFill>
                <a:effectLst/>
                <a:latin typeface="inter-regular"/>
              </a:rPr>
              <a:t>Suppose we have four records R1, R3 and so on </a:t>
            </a:r>
            <a:r>
              <a:rPr lang="en-US" b="0" i="0" dirty="0" err="1">
                <a:solidFill>
                  <a:schemeClr val="tx1"/>
                </a:solidFill>
                <a:effectLst/>
                <a:latin typeface="inter-regular"/>
              </a:rPr>
              <a:t>upto</a:t>
            </a:r>
            <a:r>
              <a:rPr lang="en-US" b="0" i="0" dirty="0">
                <a:solidFill>
                  <a:schemeClr val="tx1"/>
                </a:solidFill>
                <a:effectLst/>
                <a:latin typeface="inter-regular"/>
              </a:rPr>
              <a:t> R9 and R8 in a sequence. </a:t>
            </a:r>
          </a:p>
          <a:p>
            <a:pPr algn="just"/>
            <a:r>
              <a:rPr lang="en-US" b="0" i="0" dirty="0">
                <a:solidFill>
                  <a:schemeClr val="tx1"/>
                </a:solidFill>
                <a:effectLst/>
                <a:latin typeface="inter-regular"/>
              </a:rPr>
              <a:t>Suppose we want to insert a new record R2 in the sequence, then it will be </a:t>
            </a:r>
            <a:r>
              <a:rPr lang="en-US" b="1" i="1" u="sng" dirty="0">
                <a:solidFill>
                  <a:schemeClr val="tx1"/>
                </a:solidFill>
                <a:effectLst/>
                <a:latin typeface="inter-regular"/>
              </a:rPr>
              <a:t>placed at the end of the file</a:t>
            </a:r>
            <a:r>
              <a:rPr lang="en-US" b="0" i="0" dirty="0">
                <a:solidFill>
                  <a:schemeClr val="tx1"/>
                </a:solidFill>
                <a:effectLst/>
                <a:latin typeface="inter-regular"/>
              </a:rPr>
              <a:t>.</a:t>
            </a:r>
          </a:p>
          <a:p>
            <a:pPr algn="just"/>
            <a:r>
              <a:rPr lang="en-US" b="0" i="0" dirty="0">
                <a:solidFill>
                  <a:schemeClr val="tx1"/>
                </a:solidFill>
                <a:effectLst/>
                <a:latin typeface="inter-regular"/>
              </a:rPr>
              <a:t>Here, records are nothing but a row in any table.</a:t>
            </a:r>
          </a:p>
          <a:p>
            <a:pPr marL="36900" indent="0">
              <a:buNone/>
            </a:pPr>
            <a:br>
              <a:rPr lang="en-US" dirty="0"/>
            </a:br>
            <a:endParaRPr lang="en-IN" dirty="0"/>
          </a:p>
        </p:txBody>
      </p:sp>
      <p:pic>
        <p:nvPicPr>
          <p:cNvPr id="4100" name="Picture 4" descr="DBMS Sequential File Organization">
            <a:extLst>
              <a:ext uri="{FF2B5EF4-FFF2-40B4-BE49-F238E27FC236}">
                <a16:creationId xmlns:a16="http://schemas.microsoft.com/office/drawing/2014/main" id="{EAFAFDDC-F3BE-60AC-5EA3-96743ACC5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8876" y="4267199"/>
            <a:ext cx="59436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4649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8EEC5-4502-1745-861F-CE3D85E4293C}"/>
              </a:ext>
            </a:extLst>
          </p:cNvPr>
          <p:cNvSpPr>
            <a:spLocks noGrp="1"/>
          </p:cNvSpPr>
          <p:nvPr>
            <p:ph type="title"/>
          </p:nvPr>
        </p:nvSpPr>
        <p:spPr>
          <a:xfrm>
            <a:off x="913795" y="438151"/>
            <a:ext cx="10353762" cy="1257300"/>
          </a:xfrm>
        </p:spPr>
        <p:txBody>
          <a:bodyPr/>
          <a:lstStyle/>
          <a:p>
            <a:r>
              <a:rPr lang="en-US" b="1" dirty="0"/>
              <a:t>Sorted File Method</a:t>
            </a:r>
            <a:endParaRPr lang="en-IN" b="1" dirty="0"/>
          </a:p>
        </p:txBody>
      </p:sp>
      <p:sp>
        <p:nvSpPr>
          <p:cNvPr id="3" name="Content Placeholder 2">
            <a:extLst>
              <a:ext uri="{FF2B5EF4-FFF2-40B4-BE49-F238E27FC236}">
                <a16:creationId xmlns:a16="http://schemas.microsoft.com/office/drawing/2014/main" id="{FE051417-B098-33AE-FDF6-F88B301B6315}"/>
              </a:ext>
            </a:extLst>
          </p:cNvPr>
          <p:cNvSpPr>
            <a:spLocks noGrp="1"/>
          </p:cNvSpPr>
          <p:nvPr>
            <p:ph idx="1"/>
          </p:nvPr>
        </p:nvSpPr>
        <p:spPr>
          <a:xfrm>
            <a:off x="913795" y="1798968"/>
            <a:ext cx="10353762" cy="3714749"/>
          </a:xfrm>
        </p:spPr>
        <p:txBody>
          <a:bodyPr/>
          <a:lstStyle/>
          <a:p>
            <a:pPr algn="just">
              <a:buFont typeface="Arial" panose="020B0604020202020204" pitchFamily="34" charset="0"/>
              <a:buChar char="•"/>
            </a:pPr>
            <a:r>
              <a:rPr lang="en-US" b="0" i="0" dirty="0">
                <a:solidFill>
                  <a:schemeClr val="tx1"/>
                </a:solidFill>
                <a:effectLst/>
                <a:latin typeface="inter-regular"/>
              </a:rPr>
              <a:t>In this method, the new record is always </a:t>
            </a:r>
            <a:r>
              <a:rPr lang="en-US" b="1" i="1" u="sng" dirty="0">
                <a:solidFill>
                  <a:schemeClr val="tx1"/>
                </a:solidFill>
                <a:effectLst/>
                <a:latin typeface="inter-regular"/>
              </a:rPr>
              <a:t>inserted at the file's end</a:t>
            </a:r>
            <a:r>
              <a:rPr lang="en-US" b="0" i="0" dirty="0">
                <a:solidFill>
                  <a:schemeClr val="tx1"/>
                </a:solidFill>
                <a:effectLst/>
                <a:latin typeface="inter-regular"/>
              </a:rPr>
              <a:t>, and then it will </a:t>
            </a:r>
            <a:r>
              <a:rPr lang="en-US" b="1" i="1" u="sng" dirty="0">
                <a:solidFill>
                  <a:schemeClr val="tx1"/>
                </a:solidFill>
                <a:effectLst/>
                <a:latin typeface="inter-regular"/>
              </a:rPr>
              <a:t>sort the sequence in ascending or descending order</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Sorting of records is </a:t>
            </a:r>
            <a:r>
              <a:rPr lang="en-US" b="1" i="1" u="sng" dirty="0">
                <a:solidFill>
                  <a:schemeClr val="tx1"/>
                </a:solidFill>
                <a:effectLst/>
                <a:latin typeface="inter-regular"/>
              </a:rPr>
              <a:t>based on any primary key or any other key</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In the case of modification of any record, it will update the record and then sort the file, and lastly, the updated record is placed in the right place.</a:t>
            </a:r>
          </a:p>
          <a:p>
            <a:pPr marL="36900" indent="0">
              <a:buNone/>
            </a:pPr>
            <a:endParaRPr lang="en-IN" dirty="0"/>
          </a:p>
        </p:txBody>
      </p:sp>
      <p:pic>
        <p:nvPicPr>
          <p:cNvPr id="5122" name="Picture 2" descr="DBMS Sequential File Organization">
            <a:extLst>
              <a:ext uri="{FF2B5EF4-FFF2-40B4-BE49-F238E27FC236}">
                <a16:creationId xmlns:a16="http://schemas.microsoft.com/office/drawing/2014/main" id="{F938B8EE-A396-A72E-7B5A-CF94FC3CD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063" y="4552949"/>
            <a:ext cx="5229225"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165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661BB-C9A1-E4EA-12B4-AAD4A4ED1799}"/>
              </a:ext>
            </a:extLst>
          </p:cNvPr>
          <p:cNvSpPr>
            <a:spLocks noGrp="1"/>
          </p:cNvSpPr>
          <p:nvPr>
            <p:ph type="title"/>
          </p:nvPr>
        </p:nvSpPr>
        <p:spPr>
          <a:xfrm>
            <a:off x="913795" y="0"/>
            <a:ext cx="10353762" cy="1257300"/>
          </a:xfrm>
        </p:spPr>
        <p:txBody>
          <a:bodyPr/>
          <a:lstStyle/>
          <a:p>
            <a:r>
              <a:rPr lang="en-US" dirty="0"/>
              <a:t>Insertion of new record</a:t>
            </a:r>
            <a:endParaRPr lang="en-IN" dirty="0"/>
          </a:p>
        </p:txBody>
      </p:sp>
      <p:sp>
        <p:nvSpPr>
          <p:cNvPr id="3" name="Content Placeholder 2">
            <a:extLst>
              <a:ext uri="{FF2B5EF4-FFF2-40B4-BE49-F238E27FC236}">
                <a16:creationId xmlns:a16="http://schemas.microsoft.com/office/drawing/2014/main" id="{3A301BC2-A3BF-679D-CBE0-92DA91F148A7}"/>
              </a:ext>
            </a:extLst>
          </p:cNvPr>
          <p:cNvSpPr>
            <a:spLocks noGrp="1"/>
          </p:cNvSpPr>
          <p:nvPr>
            <p:ph idx="1"/>
          </p:nvPr>
        </p:nvSpPr>
        <p:spPr>
          <a:xfrm>
            <a:off x="924443" y="1290638"/>
            <a:ext cx="10353762" cy="3714749"/>
          </a:xfrm>
        </p:spPr>
        <p:txBody>
          <a:bodyPr/>
          <a:lstStyle/>
          <a:p>
            <a:r>
              <a:rPr lang="en-US" b="0" i="0" dirty="0">
                <a:solidFill>
                  <a:schemeClr val="tx1"/>
                </a:solidFill>
                <a:effectLst/>
                <a:latin typeface="inter-regular"/>
              </a:rPr>
              <a:t>Suppose there is a preexisting sorted sequence of four records R1, R3 and so on </a:t>
            </a:r>
            <a:r>
              <a:rPr lang="en-US" b="0" i="0" dirty="0" err="1">
                <a:solidFill>
                  <a:schemeClr val="tx1"/>
                </a:solidFill>
                <a:effectLst/>
                <a:latin typeface="inter-regular"/>
              </a:rPr>
              <a:t>upto</a:t>
            </a:r>
            <a:r>
              <a:rPr lang="en-US" b="0" i="0" dirty="0">
                <a:solidFill>
                  <a:schemeClr val="tx1"/>
                </a:solidFill>
                <a:effectLst/>
                <a:latin typeface="inter-regular"/>
              </a:rPr>
              <a:t> R6 and R7.</a:t>
            </a:r>
          </a:p>
          <a:p>
            <a:r>
              <a:rPr lang="en-US" b="0" i="0" dirty="0">
                <a:solidFill>
                  <a:schemeClr val="tx1"/>
                </a:solidFill>
                <a:effectLst/>
                <a:latin typeface="inter-regular"/>
              </a:rPr>
              <a:t>Suppose a new record R2 has to be inserted in the sequence, then it will be </a:t>
            </a:r>
            <a:r>
              <a:rPr lang="en-US" b="1" i="1" u="sng" dirty="0">
                <a:solidFill>
                  <a:schemeClr val="tx1"/>
                </a:solidFill>
                <a:effectLst/>
                <a:latin typeface="inter-regular"/>
              </a:rPr>
              <a:t>inserted at the end </a:t>
            </a:r>
            <a:r>
              <a:rPr lang="en-US" b="0" i="0" dirty="0">
                <a:solidFill>
                  <a:schemeClr val="tx1"/>
                </a:solidFill>
                <a:effectLst/>
                <a:latin typeface="inter-regular"/>
              </a:rPr>
              <a:t>of the file, and then it will </a:t>
            </a:r>
            <a:r>
              <a:rPr lang="en-US" b="1" i="1" u="sng" dirty="0">
                <a:solidFill>
                  <a:schemeClr val="tx1"/>
                </a:solidFill>
                <a:effectLst/>
                <a:latin typeface="inter-regular"/>
              </a:rPr>
              <a:t>sort the sequence</a:t>
            </a:r>
            <a:r>
              <a:rPr lang="en-US" b="0" i="0" dirty="0">
                <a:solidFill>
                  <a:schemeClr val="tx1"/>
                </a:solidFill>
                <a:effectLst/>
                <a:latin typeface="inter-regular"/>
              </a:rPr>
              <a:t>.</a:t>
            </a:r>
            <a:endParaRPr lang="en-IN" dirty="0">
              <a:solidFill>
                <a:schemeClr val="tx1"/>
              </a:solidFill>
            </a:endParaRPr>
          </a:p>
        </p:txBody>
      </p:sp>
      <p:pic>
        <p:nvPicPr>
          <p:cNvPr id="6146" name="Picture 2" descr="DBMS Sequential File Organization">
            <a:extLst>
              <a:ext uri="{FF2B5EF4-FFF2-40B4-BE49-F238E27FC236}">
                <a16:creationId xmlns:a16="http://schemas.microsoft.com/office/drawing/2014/main" id="{FF8B8DC8-9200-1734-B2E6-5829C6A4DD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8876" y="3429000"/>
            <a:ext cx="5943600" cy="3152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6801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D33F0-7619-621B-D5A2-89E451C8A991}"/>
              </a:ext>
            </a:extLst>
          </p:cNvPr>
          <p:cNvSpPr>
            <a:spLocks noGrp="1"/>
          </p:cNvSpPr>
          <p:nvPr>
            <p:ph type="title"/>
          </p:nvPr>
        </p:nvSpPr>
        <p:spPr/>
        <p:txBody>
          <a:bodyPr/>
          <a:lstStyle/>
          <a:p>
            <a:r>
              <a:rPr lang="en-US" b="1" dirty="0"/>
              <a:t>PROS of Sequential File Organization</a:t>
            </a:r>
            <a:endParaRPr lang="en-IN" b="1" dirty="0"/>
          </a:p>
        </p:txBody>
      </p:sp>
      <p:sp>
        <p:nvSpPr>
          <p:cNvPr id="3" name="Content Placeholder 2">
            <a:extLst>
              <a:ext uri="{FF2B5EF4-FFF2-40B4-BE49-F238E27FC236}">
                <a16:creationId xmlns:a16="http://schemas.microsoft.com/office/drawing/2014/main" id="{CF3D2959-1E94-C393-0B31-F50EF100BB77}"/>
              </a:ext>
            </a:extLst>
          </p:cNvPr>
          <p:cNvSpPr>
            <a:spLocks noGrp="1"/>
          </p:cNvSpPr>
          <p:nvPr>
            <p:ph idx="1"/>
          </p:nvPr>
        </p:nvSpPr>
        <p:spPr/>
        <p:txBody>
          <a:bodyPr/>
          <a:lstStyle/>
          <a:p>
            <a:pPr algn="just">
              <a:buFont typeface="Arial" panose="020B0604020202020204" pitchFamily="34" charset="0"/>
              <a:buChar char="•"/>
            </a:pPr>
            <a:r>
              <a:rPr lang="en-US" b="0" i="0" dirty="0">
                <a:solidFill>
                  <a:schemeClr val="tx1"/>
                </a:solidFill>
                <a:effectLst/>
                <a:latin typeface="inter-regular"/>
              </a:rPr>
              <a:t>It contains a </a:t>
            </a:r>
            <a:r>
              <a:rPr lang="en-US" b="1" i="1" u="sng" dirty="0">
                <a:solidFill>
                  <a:schemeClr val="tx1"/>
                </a:solidFill>
                <a:effectLst/>
                <a:latin typeface="inter-regular"/>
              </a:rPr>
              <a:t>fast and efficient </a:t>
            </a:r>
            <a:r>
              <a:rPr lang="en-US" b="0" i="0" dirty="0">
                <a:solidFill>
                  <a:schemeClr val="tx1"/>
                </a:solidFill>
                <a:effectLst/>
                <a:latin typeface="inter-regular"/>
              </a:rPr>
              <a:t>method for the huge amount of data.</a:t>
            </a:r>
          </a:p>
          <a:p>
            <a:pPr algn="just">
              <a:buFont typeface="Arial" panose="020B0604020202020204" pitchFamily="34" charset="0"/>
              <a:buChar char="•"/>
            </a:pPr>
            <a:r>
              <a:rPr lang="en-US" b="0" i="0" dirty="0">
                <a:solidFill>
                  <a:schemeClr val="tx1"/>
                </a:solidFill>
                <a:effectLst/>
                <a:latin typeface="inter-regular"/>
              </a:rPr>
              <a:t>In this method, files </a:t>
            </a:r>
            <a:r>
              <a:rPr lang="en-US" b="1" i="1" u="sng" dirty="0">
                <a:solidFill>
                  <a:schemeClr val="tx1"/>
                </a:solidFill>
                <a:effectLst/>
                <a:latin typeface="inter-regular"/>
              </a:rPr>
              <a:t>can be easily stored in cheaper storage mechanism like magnetic tapes.</a:t>
            </a:r>
          </a:p>
          <a:p>
            <a:pPr algn="just">
              <a:buFont typeface="Arial" panose="020B0604020202020204" pitchFamily="34" charset="0"/>
              <a:buChar char="•"/>
            </a:pPr>
            <a:r>
              <a:rPr lang="en-US" b="0" i="0" dirty="0">
                <a:solidFill>
                  <a:schemeClr val="tx1"/>
                </a:solidFill>
                <a:effectLst/>
                <a:latin typeface="inter-regular"/>
              </a:rPr>
              <a:t>It is </a:t>
            </a:r>
            <a:r>
              <a:rPr lang="en-US" b="1" i="1" u="sng" dirty="0">
                <a:solidFill>
                  <a:schemeClr val="tx1"/>
                </a:solidFill>
                <a:effectLst/>
                <a:latin typeface="inter-regular"/>
              </a:rPr>
              <a:t>simple in design</a:t>
            </a:r>
            <a:r>
              <a:rPr lang="en-US" b="0" i="0" dirty="0">
                <a:solidFill>
                  <a:schemeClr val="tx1"/>
                </a:solidFill>
                <a:effectLst/>
                <a:latin typeface="inter-regular"/>
              </a:rPr>
              <a:t>. It requires no much effort to store the data.</a:t>
            </a:r>
          </a:p>
          <a:p>
            <a:pPr algn="just">
              <a:buFont typeface="Arial" panose="020B0604020202020204" pitchFamily="34" charset="0"/>
              <a:buChar char="•"/>
            </a:pPr>
            <a:r>
              <a:rPr lang="en-US" b="0" i="0" dirty="0">
                <a:solidFill>
                  <a:schemeClr val="tx1"/>
                </a:solidFill>
                <a:effectLst/>
                <a:latin typeface="inter-regular"/>
              </a:rPr>
              <a:t>This method is </a:t>
            </a:r>
            <a:r>
              <a:rPr lang="en-US" b="1" i="1" u="sng" dirty="0">
                <a:solidFill>
                  <a:schemeClr val="tx1"/>
                </a:solidFill>
                <a:effectLst/>
                <a:latin typeface="inter-regular"/>
              </a:rPr>
              <a:t>used when most of the records have to be accessed</a:t>
            </a:r>
            <a:r>
              <a:rPr lang="en-US" b="0" i="0" dirty="0">
                <a:solidFill>
                  <a:schemeClr val="tx1"/>
                </a:solidFill>
                <a:effectLst/>
                <a:latin typeface="inter-regular"/>
              </a:rPr>
              <a:t> like grade calculation of a student, generating the salary slip, etc.</a:t>
            </a:r>
          </a:p>
          <a:p>
            <a:pPr algn="just">
              <a:buFont typeface="Arial" panose="020B0604020202020204" pitchFamily="34" charset="0"/>
              <a:buChar char="•"/>
            </a:pPr>
            <a:r>
              <a:rPr lang="en-US" b="0" i="0" dirty="0">
                <a:solidFill>
                  <a:schemeClr val="tx1"/>
                </a:solidFill>
                <a:effectLst/>
                <a:latin typeface="inter-regular"/>
              </a:rPr>
              <a:t>This method is </a:t>
            </a:r>
            <a:r>
              <a:rPr lang="en-US" b="1" i="1" u="sng" dirty="0">
                <a:solidFill>
                  <a:schemeClr val="tx1"/>
                </a:solidFill>
                <a:effectLst/>
                <a:latin typeface="inter-regular"/>
              </a:rPr>
              <a:t>used for report generation or statistical calculations</a:t>
            </a:r>
            <a:r>
              <a:rPr lang="en-US" b="0" i="0" dirty="0">
                <a:solidFill>
                  <a:schemeClr val="tx1"/>
                </a:solidFill>
                <a:effectLst/>
                <a:latin typeface="inter-regular"/>
              </a:rPr>
              <a:t>.</a:t>
            </a:r>
          </a:p>
          <a:p>
            <a:endParaRPr lang="en-IN" dirty="0">
              <a:solidFill>
                <a:schemeClr val="tx1"/>
              </a:solidFill>
            </a:endParaRPr>
          </a:p>
        </p:txBody>
      </p:sp>
    </p:spTree>
    <p:extLst>
      <p:ext uri="{BB962C8B-B14F-4D97-AF65-F5344CB8AC3E}">
        <p14:creationId xmlns:p14="http://schemas.microsoft.com/office/powerpoint/2010/main" val="3833039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391D8-5E72-1F6A-6219-8F0DF36395FD}"/>
              </a:ext>
            </a:extLst>
          </p:cNvPr>
          <p:cNvSpPr>
            <a:spLocks noGrp="1"/>
          </p:cNvSpPr>
          <p:nvPr>
            <p:ph type="title"/>
          </p:nvPr>
        </p:nvSpPr>
        <p:spPr/>
        <p:txBody>
          <a:bodyPr/>
          <a:lstStyle/>
          <a:p>
            <a:r>
              <a:rPr lang="en-US" b="1" dirty="0"/>
              <a:t>CONS of File </a:t>
            </a:r>
            <a:r>
              <a:rPr lang="en-US" b="1" dirty="0" err="1"/>
              <a:t>Organisation</a:t>
            </a:r>
            <a:endParaRPr lang="en-IN" b="1" dirty="0"/>
          </a:p>
        </p:txBody>
      </p:sp>
      <p:sp>
        <p:nvSpPr>
          <p:cNvPr id="3" name="Content Placeholder 2">
            <a:extLst>
              <a:ext uri="{FF2B5EF4-FFF2-40B4-BE49-F238E27FC236}">
                <a16:creationId xmlns:a16="http://schemas.microsoft.com/office/drawing/2014/main" id="{8E9C23CC-982B-5EC3-0A39-097FC9F2B8F9}"/>
              </a:ext>
            </a:extLst>
          </p:cNvPr>
          <p:cNvSpPr>
            <a:spLocks noGrp="1"/>
          </p:cNvSpPr>
          <p:nvPr>
            <p:ph idx="1"/>
          </p:nvPr>
        </p:nvSpPr>
        <p:spPr/>
        <p:txBody>
          <a:bodyPr/>
          <a:lstStyle/>
          <a:p>
            <a:pPr algn="just">
              <a:buFont typeface="Arial" panose="020B0604020202020204" pitchFamily="34" charset="0"/>
              <a:buChar char="•"/>
            </a:pPr>
            <a:r>
              <a:rPr lang="en-US" b="0" i="0" dirty="0">
                <a:solidFill>
                  <a:schemeClr val="tx1"/>
                </a:solidFill>
                <a:effectLst/>
                <a:latin typeface="inter-regular"/>
              </a:rPr>
              <a:t>It will </a:t>
            </a:r>
            <a:r>
              <a:rPr lang="en-US" b="1" i="1" u="sng" dirty="0">
                <a:solidFill>
                  <a:schemeClr val="tx1"/>
                </a:solidFill>
                <a:effectLst/>
                <a:latin typeface="inter-regular"/>
              </a:rPr>
              <a:t>waste time as we cannot jump </a:t>
            </a:r>
            <a:r>
              <a:rPr lang="en-US" b="0" i="0" dirty="0">
                <a:solidFill>
                  <a:schemeClr val="tx1"/>
                </a:solidFill>
                <a:effectLst/>
                <a:latin typeface="inter-regular"/>
              </a:rPr>
              <a:t>on a particular record that is required but we </a:t>
            </a:r>
            <a:r>
              <a:rPr lang="en-US" b="1" i="1" u="sng" dirty="0">
                <a:solidFill>
                  <a:schemeClr val="tx1"/>
                </a:solidFill>
                <a:effectLst/>
                <a:latin typeface="inter-regular"/>
              </a:rPr>
              <a:t>have to move sequentially which takes our time</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Sorted file method </a:t>
            </a:r>
            <a:r>
              <a:rPr lang="en-US" b="1" i="1" u="sng" dirty="0">
                <a:solidFill>
                  <a:schemeClr val="tx1"/>
                </a:solidFill>
                <a:effectLst/>
                <a:latin typeface="inter-regular"/>
              </a:rPr>
              <a:t>takes more time and space</a:t>
            </a:r>
            <a:r>
              <a:rPr lang="en-US" b="0" i="0" dirty="0">
                <a:solidFill>
                  <a:schemeClr val="tx1"/>
                </a:solidFill>
                <a:effectLst/>
                <a:latin typeface="inter-regular"/>
              </a:rPr>
              <a:t> for sorting the records.</a:t>
            </a:r>
          </a:p>
        </p:txBody>
      </p:sp>
    </p:spTree>
    <p:extLst>
      <p:ext uri="{BB962C8B-B14F-4D97-AF65-F5344CB8AC3E}">
        <p14:creationId xmlns:p14="http://schemas.microsoft.com/office/powerpoint/2010/main" val="3236730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EEEB8-9DC8-985C-4750-5EE25E86E1AA}"/>
              </a:ext>
            </a:extLst>
          </p:cNvPr>
          <p:cNvSpPr>
            <a:spLocks noGrp="1"/>
          </p:cNvSpPr>
          <p:nvPr>
            <p:ph type="title"/>
          </p:nvPr>
        </p:nvSpPr>
        <p:spPr/>
        <p:txBody>
          <a:bodyPr/>
          <a:lstStyle/>
          <a:p>
            <a:r>
              <a:rPr lang="en-US" b="1" u="sng" dirty="0"/>
              <a:t>Heap File Organization</a:t>
            </a:r>
            <a:endParaRPr lang="en-IN" b="1" u="sng" dirty="0"/>
          </a:p>
        </p:txBody>
      </p:sp>
      <p:sp>
        <p:nvSpPr>
          <p:cNvPr id="3" name="Content Placeholder 2">
            <a:extLst>
              <a:ext uri="{FF2B5EF4-FFF2-40B4-BE49-F238E27FC236}">
                <a16:creationId xmlns:a16="http://schemas.microsoft.com/office/drawing/2014/main" id="{B496A52B-35AB-B048-B571-52897317AC91}"/>
              </a:ext>
            </a:extLst>
          </p:cNvPr>
          <p:cNvSpPr>
            <a:spLocks noGrp="1"/>
          </p:cNvSpPr>
          <p:nvPr>
            <p:ph idx="1"/>
          </p:nvPr>
        </p:nvSpPr>
        <p:spPr>
          <a:xfrm>
            <a:off x="913795" y="1866900"/>
            <a:ext cx="10353762" cy="4844451"/>
          </a:xfrm>
        </p:spPr>
        <p:txBody>
          <a:bodyPr>
            <a:normAutofit fontScale="55000" lnSpcReduction="20000"/>
          </a:bodyPr>
          <a:lstStyle/>
          <a:p>
            <a:pPr algn="just">
              <a:buFont typeface="Arial" panose="020B0604020202020204" pitchFamily="34" charset="0"/>
              <a:buChar char="•"/>
            </a:pPr>
            <a:r>
              <a:rPr lang="en-US" sz="4400" b="0" i="0" dirty="0">
                <a:solidFill>
                  <a:schemeClr val="tx1"/>
                </a:solidFill>
                <a:effectLst/>
                <a:latin typeface="inter-regular"/>
              </a:rPr>
              <a:t>It is the </a:t>
            </a:r>
            <a:r>
              <a:rPr lang="en-US" sz="4400" b="1" i="1" u="sng" dirty="0">
                <a:solidFill>
                  <a:schemeClr val="tx1"/>
                </a:solidFill>
                <a:effectLst/>
                <a:latin typeface="inter-regular"/>
              </a:rPr>
              <a:t>simplest and most basic type</a:t>
            </a:r>
            <a:r>
              <a:rPr lang="en-US" sz="4400" b="0" i="0" dirty="0">
                <a:solidFill>
                  <a:schemeClr val="tx1"/>
                </a:solidFill>
                <a:effectLst/>
                <a:latin typeface="inter-regular"/>
              </a:rPr>
              <a:t> of organization. It works with data blocks.</a:t>
            </a:r>
          </a:p>
          <a:p>
            <a:pPr algn="just">
              <a:buFont typeface="Arial" panose="020B0604020202020204" pitchFamily="34" charset="0"/>
              <a:buChar char="•"/>
            </a:pPr>
            <a:r>
              <a:rPr lang="en-US" sz="4400" b="0" i="0" dirty="0">
                <a:solidFill>
                  <a:schemeClr val="tx1"/>
                </a:solidFill>
                <a:effectLst/>
                <a:latin typeface="inter-regular"/>
              </a:rPr>
              <a:t>In heap file organization, the records are </a:t>
            </a:r>
            <a:r>
              <a:rPr lang="en-US" sz="4400" b="1" i="1" u="sng" dirty="0">
                <a:solidFill>
                  <a:schemeClr val="tx1"/>
                </a:solidFill>
                <a:effectLst/>
                <a:latin typeface="inter-regular"/>
              </a:rPr>
              <a:t>inserted at the file's end</a:t>
            </a:r>
            <a:r>
              <a:rPr lang="en-US" sz="4400" b="0" i="0" dirty="0">
                <a:solidFill>
                  <a:schemeClr val="tx1"/>
                </a:solidFill>
                <a:effectLst/>
                <a:latin typeface="inter-regular"/>
              </a:rPr>
              <a:t>. When the records are inserted, it </a:t>
            </a:r>
            <a:r>
              <a:rPr lang="en-US" sz="4400" b="1" i="1" u="sng" dirty="0">
                <a:solidFill>
                  <a:schemeClr val="tx1"/>
                </a:solidFill>
                <a:effectLst/>
                <a:latin typeface="inter-regular"/>
              </a:rPr>
              <a:t>doesn't require the sorting and ordering of records</a:t>
            </a:r>
            <a:r>
              <a:rPr lang="en-US" sz="4400" b="0" i="0" dirty="0">
                <a:solidFill>
                  <a:schemeClr val="tx1"/>
                </a:solidFill>
                <a:effectLst/>
                <a:latin typeface="inter-regular"/>
              </a:rPr>
              <a:t>.</a:t>
            </a:r>
          </a:p>
          <a:p>
            <a:pPr algn="just">
              <a:buFont typeface="Arial" panose="020B0604020202020204" pitchFamily="34" charset="0"/>
              <a:buChar char="•"/>
            </a:pPr>
            <a:r>
              <a:rPr lang="en-US" sz="4400" b="0" i="0" dirty="0">
                <a:solidFill>
                  <a:schemeClr val="tx1"/>
                </a:solidFill>
                <a:effectLst/>
                <a:latin typeface="inter-regular"/>
              </a:rPr>
              <a:t>When the data block is </a:t>
            </a:r>
            <a:r>
              <a:rPr lang="en-US" sz="4400" b="1" i="1" u="sng" dirty="0">
                <a:solidFill>
                  <a:schemeClr val="tx1"/>
                </a:solidFill>
                <a:effectLst/>
                <a:latin typeface="inter-regular"/>
              </a:rPr>
              <a:t>full</a:t>
            </a:r>
            <a:r>
              <a:rPr lang="en-US" sz="4400" b="0" i="0" dirty="0">
                <a:solidFill>
                  <a:schemeClr val="tx1"/>
                </a:solidFill>
                <a:effectLst/>
                <a:latin typeface="inter-regular"/>
              </a:rPr>
              <a:t>, the new record is stored in </a:t>
            </a:r>
            <a:r>
              <a:rPr lang="en-US" sz="4400" b="1" i="1" u="sng" dirty="0">
                <a:solidFill>
                  <a:schemeClr val="tx1"/>
                </a:solidFill>
                <a:effectLst/>
                <a:latin typeface="inter-regular"/>
              </a:rPr>
              <a:t>some other block</a:t>
            </a:r>
            <a:r>
              <a:rPr lang="en-US" sz="4400" b="0" i="0" dirty="0">
                <a:solidFill>
                  <a:schemeClr val="tx1"/>
                </a:solidFill>
                <a:effectLst/>
                <a:latin typeface="inter-regular"/>
              </a:rPr>
              <a:t>. This new data block </a:t>
            </a:r>
            <a:r>
              <a:rPr lang="en-US" sz="4400" b="1" i="1" u="sng" dirty="0">
                <a:solidFill>
                  <a:schemeClr val="tx1"/>
                </a:solidFill>
                <a:effectLst/>
                <a:latin typeface="inter-regular"/>
              </a:rPr>
              <a:t>need not to be the very next data block</a:t>
            </a:r>
            <a:r>
              <a:rPr lang="en-US" sz="4400" b="0" i="0" dirty="0">
                <a:solidFill>
                  <a:schemeClr val="tx1"/>
                </a:solidFill>
                <a:effectLst/>
                <a:latin typeface="inter-regular"/>
              </a:rPr>
              <a:t>, but it can </a:t>
            </a:r>
            <a:r>
              <a:rPr lang="en-US" sz="4400" b="1" i="1" u="sng" dirty="0">
                <a:solidFill>
                  <a:schemeClr val="tx1"/>
                </a:solidFill>
                <a:effectLst/>
                <a:latin typeface="inter-regular"/>
              </a:rPr>
              <a:t>select any data block </a:t>
            </a:r>
            <a:r>
              <a:rPr lang="en-US" sz="4400" b="0" i="0" dirty="0">
                <a:solidFill>
                  <a:schemeClr val="tx1"/>
                </a:solidFill>
                <a:effectLst/>
                <a:latin typeface="inter-regular"/>
              </a:rPr>
              <a:t>in the memory to store new records. The </a:t>
            </a:r>
            <a:r>
              <a:rPr lang="en-US" sz="4400" b="1" i="1" u="sng" dirty="0">
                <a:solidFill>
                  <a:schemeClr val="tx1"/>
                </a:solidFill>
                <a:effectLst/>
                <a:latin typeface="inter-regular"/>
              </a:rPr>
              <a:t>heap file is also known as an </a:t>
            </a:r>
            <a:r>
              <a:rPr lang="en-US" sz="4400" b="1" i="1" u="sng" dirty="0">
                <a:solidFill>
                  <a:srgbClr val="FF0000"/>
                </a:solidFill>
                <a:effectLst/>
                <a:latin typeface="inter-regular"/>
              </a:rPr>
              <a:t>unordered file</a:t>
            </a:r>
            <a:r>
              <a:rPr lang="en-US" sz="4400" b="0" i="0" dirty="0">
                <a:solidFill>
                  <a:schemeClr val="tx1"/>
                </a:solidFill>
                <a:effectLst/>
                <a:latin typeface="inter-regular"/>
              </a:rPr>
              <a:t>.</a:t>
            </a:r>
          </a:p>
          <a:p>
            <a:pPr algn="just">
              <a:buFont typeface="Arial" panose="020B0604020202020204" pitchFamily="34" charset="0"/>
              <a:buChar char="•"/>
            </a:pPr>
            <a:r>
              <a:rPr lang="en-US" sz="4400" b="0" i="0" dirty="0">
                <a:solidFill>
                  <a:schemeClr val="tx1"/>
                </a:solidFill>
                <a:effectLst/>
                <a:latin typeface="inter-regular"/>
              </a:rPr>
              <a:t>In the file, </a:t>
            </a:r>
            <a:r>
              <a:rPr lang="en-US" sz="4400" b="1" i="1" u="sng" dirty="0">
                <a:solidFill>
                  <a:schemeClr val="tx1"/>
                </a:solidFill>
                <a:effectLst/>
                <a:latin typeface="inter-regular"/>
              </a:rPr>
              <a:t>every record has a unique id</a:t>
            </a:r>
            <a:r>
              <a:rPr lang="en-US" sz="4400" b="0" i="0" dirty="0">
                <a:solidFill>
                  <a:schemeClr val="tx1"/>
                </a:solidFill>
                <a:effectLst/>
                <a:latin typeface="inter-regular"/>
              </a:rPr>
              <a:t>, and </a:t>
            </a:r>
            <a:r>
              <a:rPr lang="en-US" sz="4400" b="1" i="1" u="sng" dirty="0">
                <a:solidFill>
                  <a:schemeClr val="tx1"/>
                </a:solidFill>
                <a:effectLst/>
                <a:latin typeface="inter-regular"/>
              </a:rPr>
              <a:t>every page </a:t>
            </a:r>
            <a:r>
              <a:rPr lang="en-US" sz="4400" b="0" i="0" dirty="0">
                <a:solidFill>
                  <a:schemeClr val="tx1"/>
                </a:solidFill>
                <a:effectLst/>
                <a:latin typeface="inter-regular"/>
              </a:rPr>
              <a:t>in a file is of the </a:t>
            </a:r>
            <a:r>
              <a:rPr lang="en-US" sz="4400" b="1" i="1" u="sng" dirty="0">
                <a:solidFill>
                  <a:schemeClr val="tx1"/>
                </a:solidFill>
                <a:effectLst/>
                <a:latin typeface="inter-regular"/>
              </a:rPr>
              <a:t>same size</a:t>
            </a:r>
            <a:r>
              <a:rPr lang="en-US" sz="4400" b="0" i="0" dirty="0">
                <a:solidFill>
                  <a:schemeClr val="tx1"/>
                </a:solidFill>
                <a:effectLst/>
                <a:latin typeface="inter-regular"/>
              </a:rPr>
              <a:t>. </a:t>
            </a:r>
          </a:p>
          <a:p>
            <a:pPr algn="just">
              <a:buFont typeface="Arial" panose="020B0604020202020204" pitchFamily="34" charset="0"/>
              <a:buChar char="•"/>
            </a:pPr>
            <a:r>
              <a:rPr lang="en-US" sz="4400" b="0" i="0" dirty="0">
                <a:solidFill>
                  <a:schemeClr val="tx1"/>
                </a:solidFill>
                <a:effectLst/>
                <a:latin typeface="inter-regular"/>
              </a:rPr>
              <a:t>It is the DBMS responsibility to store and manage the new records.</a:t>
            </a:r>
          </a:p>
          <a:p>
            <a:endParaRPr lang="en-IN" dirty="0">
              <a:solidFill>
                <a:schemeClr val="tx1"/>
              </a:solidFill>
            </a:endParaRPr>
          </a:p>
        </p:txBody>
      </p:sp>
    </p:spTree>
    <p:extLst>
      <p:ext uri="{BB962C8B-B14F-4D97-AF65-F5344CB8AC3E}">
        <p14:creationId xmlns:p14="http://schemas.microsoft.com/office/powerpoint/2010/main" val="1051634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BMS Heap file organization">
            <a:extLst>
              <a:ext uri="{FF2B5EF4-FFF2-40B4-BE49-F238E27FC236}">
                <a16:creationId xmlns:a16="http://schemas.microsoft.com/office/drawing/2014/main" id="{0CC036B5-A65B-B72C-7965-137D9648E3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1671" y="932911"/>
            <a:ext cx="8028657" cy="4992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600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A4B70-6A5A-1FA6-D09F-41FF3087857B}"/>
              </a:ext>
            </a:extLst>
          </p:cNvPr>
          <p:cNvSpPr>
            <a:spLocks noGrp="1"/>
          </p:cNvSpPr>
          <p:nvPr>
            <p:ph type="title"/>
          </p:nvPr>
        </p:nvSpPr>
        <p:spPr>
          <a:xfrm>
            <a:off x="913795" y="325557"/>
            <a:ext cx="10353762" cy="1257300"/>
          </a:xfrm>
        </p:spPr>
        <p:txBody>
          <a:bodyPr/>
          <a:lstStyle/>
          <a:p>
            <a:r>
              <a:rPr lang="en-US" dirty="0"/>
              <a:t>Insertion of a new record</a:t>
            </a:r>
            <a:endParaRPr lang="en-IN" dirty="0"/>
          </a:p>
        </p:txBody>
      </p:sp>
      <p:sp>
        <p:nvSpPr>
          <p:cNvPr id="4" name="Content Placeholder 3">
            <a:extLst>
              <a:ext uri="{FF2B5EF4-FFF2-40B4-BE49-F238E27FC236}">
                <a16:creationId xmlns:a16="http://schemas.microsoft.com/office/drawing/2014/main" id="{DC6662F3-9D78-2715-8075-5D423180CC0D}"/>
              </a:ext>
            </a:extLst>
          </p:cNvPr>
          <p:cNvSpPr>
            <a:spLocks noGrp="1"/>
          </p:cNvSpPr>
          <p:nvPr>
            <p:ph idx="1"/>
          </p:nvPr>
        </p:nvSpPr>
        <p:spPr>
          <a:xfrm>
            <a:off x="913795" y="1507107"/>
            <a:ext cx="10353762" cy="3714749"/>
          </a:xfrm>
        </p:spPr>
        <p:txBody>
          <a:bodyPr/>
          <a:lstStyle/>
          <a:p>
            <a:r>
              <a:rPr lang="en-US" b="0" i="0" dirty="0">
                <a:solidFill>
                  <a:schemeClr val="tx1"/>
                </a:solidFill>
                <a:effectLst/>
                <a:latin typeface="inter-regular"/>
              </a:rPr>
              <a:t>Suppose we have five records R1, R3, R6, R4 and R5 in a heap and suppose we want to insert a new record R2 in a heap. If the </a:t>
            </a:r>
            <a:r>
              <a:rPr lang="en-US" b="1" i="1" u="sng" dirty="0">
                <a:solidFill>
                  <a:schemeClr val="tx1"/>
                </a:solidFill>
                <a:effectLst/>
                <a:latin typeface="inter-regular"/>
              </a:rPr>
              <a:t>data block 3 is full </a:t>
            </a:r>
            <a:r>
              <a:rPr lang="en-US" b="0" i="0" dirty="0">
                <a:solidFill>
                  <a:schemeClr val="tx1"/>
                </a:solidFill>
                <a:effectLst/>
                <a:latin typeface="inter-regular"/>
              </a:rPr>
              <a:t>then it will be </a:t>
            </a:r>
            <a:r>
              <a:rPr lang="en-US" b="1" i="1" u="sng" dirty="0">
                <a:solidFill>
                  <a:schemeClr val="tx1"/>
                </a:solidFill>
                <a:effectLst/>
                <a:latin typeface="inter-regular"/>
              </a:rPr>
              <a:t>inserted in any of the database selected by the DBMS</a:t>
            </a:r>
            <a:r>
              <a:rPr lang="en-US" b="0" i="0" dirty="0">
                <a:solidFill>
                  <a:schemeClr val="tx1"/>
                </a:solidFill>
                <a:effectLst/>
                <a:latin typeface="inter-regular"/>
              </a:rPr>
              <a:t>, let's say data block 1.</a:t>
            </a:r>
            <a:endParaRPr lang="en-IN" dirty="0">
              <a:solidFill>
                <a:schemeClr val="tx1"/>
              </a:solidFill>
            </a:endParaRPr>
          </a:p>
        </p:txBody>
      </p:sp>
      <p:pic>
        <p:nvPicPr>
          <p:cNvPr id="8196" name="Picture 4" descr="DBMS Heap file organization">
            <a:extLst>
              <a:ext uri="{FF2B5EF4-FFF2-40B4-BE49-F238E27FC236}">
                <a16:creationId xmlns:a16="http://schemas.microsoft.com/office/drawing/2014/main" id="{9ED46058-A5D7-36D6-5700-8282854842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8876" y="2915907"/>
            <a:ext cx="59436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487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1A2C53-84F3-D2FF-56A6-199C3EE1BDD3}"/>
              </a:ext>
            </a:extLst>
          </p:cNvPr>
          <p:cNvSpPr>
            <a:spLocks noGrp="1"/>
          </p:cNvSpPr>
          <p:nvPr>
            <p:ph idx="1"/>
          </p:nvPr>
        </p:nvSpPr>
        <p:spPr>
          <a:xfrm>
            <a:off x="913795" y="854016"/>
            <a:ext cx="10353762" cy="4937184"/>
          </a:xfrm>
        </p:spPr>
        <p:txBody>
          <a:bodyPr/>
          <a:lstStyle/>
          <a:p>
            <a:pPr algn="just"/>
            <a:r>
              <a:rPr lang="en-US" b="0" i="0" dirty="0">
                <a:solidFill>
                  <a:schemeClr val="tx1"/>
                </a:solidFill>
                <a:effectLst/>
                <a:latin typeface="inter-regular"/>
              </a:rPr>
              <a:t>If we want to </a:t>
            </a:r>
            <a:r>
              <a:rPr lang="en-US" b="1" i="1" u="sng" dirty="0">
                <a:solidFill>
                  <a:schemeClr val="tx1"/>
                </a:solidFill>
                <a:effectLst/>
                <a:latin typeface="inter-regular"/>
              </a:rPr>
              <a:t>search, update or delete </a:t>
            </a:r>
            <a:r>
              <a:rPr lang="en-US" b="0" i="0" dirty="0">
                <a:solidFill>
                  <a:schemeClr val="tx1"/>
                </a:solidFill>
                <a:effectLst/>
                <a:latin typeface="inter-regular"/>
              </a:rPr>
              <a:t>the data in heap file organization, then we need to </a:t>
            </a:r>
            <a:r>
              <a:rPr lang="en-US" b="1" i="1" u="sng" dirty="0">
                <a:solidFill>
                  <a:schemeClr val="tx1"/>
                </a:solidFill>
                <a:effectLst/>
                <a:latin typeface="inter-regular"/>
              </a:rPr>
              <a:t>traverse the data from staring of the file till we get the requested record</a:t>
            </a:r>
            <a:r>
              <a:rPr lang="en-US" b="0" i="0" dirty="0">
                <a:solidFill>
                  <a:schemeClr val="tx1"/>
                </a:solidFill>
                <a:effectLst/>
                <a:latin typeface="inter-regular"/>
              </a:rPr>
              <a:t>.</a:t>
            </a:r>
          </a:p>
          <a:p>
            <a:pPr algn="just"/>
            <a:r>
              <a:rPr lang="en-US" b="1" i="1" u="sng" dirty="0">
                <a:solidFill>
                  <a:schemeClr val="tx1"/>
                </a:solidFill>
                <a:effectLst/>
                <a:latin typeface="inter-regular"/>
              </a:rPr>
              <a:t>If</a:t>
            </a:r>
            <a:r>
              <a:rPr lang="en-US" b="0" i="0" dirty="0">
                <a:solidFill>
                  <a:schemeClr val="tx1"/>
                </a:solidFill>
                <a:effectLst/>
                <a:latin typeface="inter-regular"/>
              </a:rPr>
              <a:t> the </a:t>
            </a:r>
            <a:r>
              <a:rPr lang="en-US" b="1" i="1" u="sng" dirty="0">
                <a:solidFill>
                  <a:schemeClr val="tx1"/>
                </a:solidFill>
                <a:effectLst/>
                <a:latin typeface="inter-regular"/>
              </a:rPr>
              <a:t>database</a:t>
            </a:r>
            <a:r>
              <a:rPr lang="en-US" b="0" i="0" dirty="0">
                <a:solidFill>
                  <a:schemeClr val="tx1"/>
                </a:solidFill>
                <a:effectLst/>
                <a:latin typeface="inter-regular"/>
              </a:rPr>
              <a:t> is </a:t>
            </a:r>
            <a:r>
              <a:rPr lang="en-US" b="1" i="1" u="sng" dirty="0">
                <a:solidFill>
                  <a:schemeClr val="tx1"/>
                </a:solidFill>
                <a:effectLst/>
                <a:latin typeface="inter-regular"/>
              </a:rPr>
              <a:t>very large </a:t>
            </a:r>
            <a:r>
              <a:rPr lang="en-US" b="0" i="0" dirty="0">
                <a:solidFill>
                  <a:schemeClr val="tx1"/>
                </a:solidFill>
                <a:effectLst/>
                <a:latin typeface="inter-regular"/>
              </a:rPr>
              <a:t>then searching, updating or deleting of record will be </a:t>
            </a:r>
            <a:r>
              <a:rPr lang="en-US" b="1" i="1" u="sng" dirty="0">
                <a:solidFill>
                  <a:schemeClr val="tx1"/>
                </a:solidFill>
                <a:effectLst/>
                <a:latin typeface="inter-regular"/>
              </a:rPr>
              <a:t>time-consuming</a:t>
            </a:r>
            <a:r>
              <a:rPr lang="en-US" b="0" i="0" dirty="0">
                <a:solidFill>
                  <a:schemeClr val="tx1"/>
                </a:solidFill>
                <a:effectLst/>
                <a:latin typeface="inter-regular"/>
              </a:rPr>
              <a:t> because there is </a:t>
            </a:r>
            <a:r>
              <a:rPr lang="en-US" b="1" i="1" u="sng" dirty="0">
                <a:solidFill>
                  <a:schemeClr val="tx1"/>
                </a:solidFill>
                <a:effectLst/>
                <a:latin typeface="inter-regular"/>
              </a:rPr>
              <a:t>no sorting or ordering of records</a:t>
            </a:r>
            <a:r>
              <a:rPr lang="en-US" b="0" i="0" dirty="0">
                <a:solidFill>
                  <a:schemeClr val="tx1"/>
                </a:solidFill>
                <a:effectLst/>
                <a:latin typeface="inter-regular"/>
              </a:rPr>
              <a:t>. In the heap file organization, we need to </a:t>
            </a:r>
            <a:r>
              <a:rPr lang="en-US" b="1" i="1" u="sng" dirty="0">
                <a:solidFill>
                  <a:schemeClr val="tx1"/>
                </a:solidFill>
                <a:effectLst/>
                <a:latin typeface="inter-regular"/>
              </a:rPr>
              <a:t>check all the data until we get the requested record</a:t>
            </a:r>
            <a:r>
              <a:rPr lang="en-US" b="0" i="0" dirty="0">
                <a:solidFill>
                  <a:schemeClr val="tx1"/>
                </a:solidFill>
                <a:effectLst/>
                <a:latin typeface="inter-regular"/>
              </a:rPr>
              <a:t>.</a:t>
            </a:r>
          </a:p>
          <a:p>
            <a:pPr marL="36900" indent="0">
              <a:buNone/>
            </a:pPr>
            <a:endParaRPr lang="en-IN" dirty="0">
              <a:solidFill>
                <a:schemeClr val="tx1"/>
              </a:solidFill>
            </a:endParaRPr>
          </a:p>
        </p:txBody>
      </p:sp>
    </p:spTree>
    <p:extLst>
      <p:ext uri="{BB962C8B-B14F-4D97-AF65-F5344CB8AC3E}">
        <p14:creationId xmlns:p14="http://schemas.microsoft.com/office/powerpoint/2010/main" val="252792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6440E-022C-E5B4-C6BD-F5E6C1A839FA}"/>
              </a:ext>
            </a:extLst>
          </p:cNvPr>
          <p:cNvSpPr>
            <a:spLocks noGrp="1"/>
          </p:cNvSpPr>
          <p:nvPr>
            <p:ph type="title"/>
          </p:nvPr>
        </p:nvSpPr>
        <p:spPr/>
        <p:txBody>
          <a:bodyPr/>
          <a:lstStyle/>
          <a:p>
            <a:r>
              <a:rPr lang="en-US" b="1" dirty="0"/>
              <a:t>PROS of Heap File Organization</a:t>
            </a:r>
            <a:endParaRPr lang="en-IN" b="1" dirty="0"/>
          </a:p>
        </p:txBody>
      </p:sp>
      <p:sp>
        <p:nvSpPr>
          <p:cNvPr id="3" name="Content Placeholder 2">
            <a:extLst>
              <a:ext uri="{FF2B5EF4-FFF2-40B4-BE49-F238E27FC236}">
                <a16:creationId xmlns:a16="http://schemas.microsoft.com/office/drawing/2014/main" id="{405BCBCC-EC11-FA71-F7CC-A23C7A2762A1}"/>
              </a:ext>
            </a:extLst>
          </p:cNvPr>
          <p:cNvSpPr>
            <a:spLocks noGrp="1"/>
          </p:cNvSpPr>
          <p:nvPr>
            <p:ph idx="1"/>
          </p:nvPr>
        </p:nvSpPr>
        <p:spPr/>
        <p:txBody>
          <a:bodyPr/>
          <a:lstStyle/>
          <a:p>
            <a:pPr algn="just">
              <a:buFont typeface="Arial" panose="020B0604020202020204" pitchFamily="34" charset="0"/>
              <a:buChar char="•"/>
            </a:pPr>
            <a:r>
              <a:rPr lang="en-US" b="0" i="0" dirty="0">
                <a:solidFill>
                  <a:schemeClr val="tx1"/>
                </a:solidFill>
                <a:effectLst/>
                <a:latin typeface="inter-regular"/>
              </a:rPr>
              <a:t>It is a very </a:t>
            </a:r>
            <a:r>
              <a:rPr lang="en-US" b="1" i="1" u="sng" dirty="0">
                <a:solidFill>
                  <a:schemeClr val="tx1"/>
                </a:solidFill>
                <a:effectLst/>
                <a:latin typeface="inter-regular"/>
              </a:rPr>
              <a:t>good method </a:t>
            </a:r>
            <a:r>
              <a:rPr lang="en-US" b="0" i="0" dirty="0">
                <a:solidFill>
                  <a:schemeClr val="tx1"/>
                </a:solidFill>
                <a:effectLst/>
                <a:latin typeface="inter-regular"/>
              </a:rPr>
              <a:t>of file organization </a:t>
            </a:r>
            <a:r>
              <a:rPr lang="en-US" b="1" i="1" u="sng" dirty="0">
                <a:solidFill>
                  <a:schemeClr val="tx1"/>
                </a:solidFill>
                <a:effectLst/>
                <a:latin typeface="inter-regular"/>
              </a:rPr>
              <a:t>for bulk insertion</a:t>
            </a:r>
            <a:r>
              <a:rPr lang="en-US" b="0" i="0" dirty="0">
                <a:solidFill>
                  <a:schemeClr val="tx1"/>
                </a:solidFill>
                <a:effectLst/>
                <a:latin typeface="inter-regular"/>
              </a:rPr>
              <a:t>. If there is a large number of data which needs to load into the database at a time, then this method is best suited.</a:t>
            </a:r>
          </a:p>
          <a:p>
            <a:pPr algn="just">
              <a:buFont typeface="Arial" panose="020B0604020202020204" pitchFamily="34" charset="0"/>
              <a:buChar char="•"/>
            </a:pPr>
            <a:r>
              <a:rPr lang="en-US" b="0" i="0" dirty="0">
                <a:solidFill>
                  <a:schemeClr val="tx1"/>
                </a:solidFill>
                <a:effectLst/>
                <a:latin typeface="inter-regular"/>
              </a:rPr>
              <a:t>In case of a </a:t>
            </a:r>
            <a:r>
              <a:rPr lang="en-US" b="1" i="1" u="sng" dirty="0">
                <a:solidFill>
                  <a:schemeClr val="tx1"/>
                </a:solidFill>
                <a:effectLst/>
                <a:latin typeface="inter-regular"/>
              </a:rPr>
              <a:t>small database</a:t>
            </a:r>
            <a:r>
              <a:rPr lang="en-US" b="0" i="0" dirty="0">
                <a:solidFill>
                  <a:schemeClr val="tx1"/>
                </a:solidFill>
                <a:effectLst/>
                <a:latin typeface="inter-regular"/>
              </a:rPr>
              <a:t>, </a:t>
            </a:r>
            <a:r>
              <a:rPr lang="en-US" b="1" i="1" u="sng" dirty="0">
                <a:solidFill>
                  <a:schemeClr val="tx1"/>
                </a:solidFill>
                <a:effectLst/>
                <a:latin typeface="inter-regular"/>
              </a:rPr>
              <a:t>fetching and retrieving of records is faster </a:t>
            </a:r>
            <a:r>
              <a:rPr lang="en-US" b="0" i="0" dirty="0">
                <a:solidFill>
                  <a:schemeClr val="tx1"/>
                </a:solidFill>
                <a:effectLst/>
                <a:latin typeface="inter-regular"/>
              </a:rPr>
              <a:t>than the sequential record.</a:t>
            </a:r>
          </a:p>
          <a:p>
            <a:pPr marL="36900" indent="0">
              <a:buNone/>
            </a:pPr>
            <a:endParaRPr lang="en-IN" dirty="0">
              <a:solidFill>
                <a:schemeClr val="tx1"/>
              </a:solidFill>
            </a:endParaRPr>
          </a:p>
        </p:txBody>
      </p:sp>
    </p:spTree>
    <p:extLst>
      <p:ext uri="{BB962C8B-B14F-4D97-AF65-F5344CB8AC3E}">
        <p14:creationId xmlns:p14="http://schemas.microsoft.com/office/powerpoint/2010/main" val="3106470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216C-48FB-A5D1-182E-4C488FC84EB9}"/>
              </a:ext>
            </a:extLst>
          </p:cNvPr>
          <p:cNvSpPr>
            <a:spLocks noGrp="1"/>
          </p:cNvSpPr>
          <p:nvPr>
            <p:ph type="title"/>
          </p:nvPr>
        </p:nvSpPr>
        <p:spPr/>
        <p:txBody>
          <a:bodyPr/>
          <a:lstStyle/>
          <a:p>
            <a:r>
              <a:rPr lang="en-US" b="1" dirty="0"/>
              <a:t>CONS of Heap File Organization</a:t>
            </a:r>
            <a:endParaRPr lang="en-IN" b="1" dirty="0"/>
          </a:p>
        </p:txBody>
      </p:sp>
      <p:sp>
        <p:nvSpPr>
          <p:cNvPr id="3" name="Content Placeholder 2">
            <a:extLst>
              <a:ext uri="{FF2B5EF4-FFF2-40B4-BE49-F238E27FC236}">
                <a16:creationId xmlns:a16="http://schemas.microsoft.com/office/drawing/2014/main" id="{DBD6618F-F3B4-8116-21F6-54EC2F235304}"/>
              </a:ext>
            </a:extLst>
          </p:cNvPr>
          <p:cNvSpPr>
            <a:spLocks noGrp="1"/>
          </p:cNvSpPr>
          <p:nvPr>
            <p:ph idx="1"/>
          </p:nvPr>
        </p:nvSpPr>
        <p:spPr/>
        <p:txBody>
          <a:bodyPr/>
          <a:lstStyle/>
          <a:p>
            <a:pPr algn="just">
              <a:buFont typeface="Arial" panose="020B0604020202020204" pitchFamily="34" charset="0"/>
              <a:buChar char="•"/>
            </a:pPr>
            <a:r>
              <a:rPr lang="en-US" b="0" i="0" dirty="0">
                <a:solidFill>
                  <a:schemeClr val="tx1"/>
                </a:solidFill>
                <a:effectLst/>
                <a:latin typeface="inter-regular"/>
              </a:rPr>
              <a:t>This method is </a:t>
            </a:r>
            <a:r>
              <a:rPr lang="en-US" b="1" i="1" u="sng" dirty="0">
                <a:solidFill>
                  <a:schemeClr val="tx1"/>
                </a:solidFill>
                <a:effectLst/>
                <a:latin typeface="inter-regular"/>
              </a:rPr>
              <a:t>inefficient for the large database </a:t>
            </a:r>
            <a:r>
              <a:rPr lang="en-US" b="0" i="0" dirty="0">
                <a:solidFill>
                  <a:schemeClr val="tx1"/>
                </a:solidFill>
                <a:effectLst/>
                <a:latin typeface="inter-regular"/>
              </a:rPr>
              <a:t>because it </a:t>
            </a:r>
            <a:r>
              <a:rPr lang="en-US" b="1" i="1" u="sng" dirty="0">
                <a:solidFill>
                  <a:schemeClr val="tx1"/>
                </a:solidFill>
                <a:effectLst/>
                <a:latin typeface="inter-regular"/>
              </a:rPr>
              <a:t>takes time </a:t>
            </a:r>
            <a:r>
              <a:rPr lang="en-US" b="0" i="0" dirty="0">
                <a:solidFill>
                  <a:schemeClr val="tx1"/>
                </a:solidFill>
                <a:effectLst/>
                <a:latin typeface="inter-regular"/>
              </a:rPr>
              <a:t>to search or modify the record.</a:t>
            </a:r>
          </a:p>
        </p:txBody>
      </p:sp>
    </p:spTree>
    <p:extLst>
      <p:ext uri="{BB962C8B-B14F-4D97-AF65-F5344CB8AC3E}">
        <p14:creationId xmlns:p14="http://schemas.microsoft.com/office/powerpoint/2010/main" val="1588209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8C471-BB9D-C73B-7AE7-FEC16F8021CE}"/>
              </a:ext>
            </a:extLst>
          </p:cNvPr>
          <p:cNvSpPr>
            <a:spLocks noGrp="1"/>
          </p:cNvSpPr>
          <p:nvPr>
            <p:ph type="title"/>
          </p:nvPr>
        </p:nvSpPr>
        <p:spPr>
          <a:xfrm>
            <a:off x="836157" y="324929"/>
            <a:ext cx="10353762" cy="1257300"/>
          </a:xfrm>
        </p:spPr>
        <p:txBody>
          <a:bodyPr/>
          <a:lstStyle/>
          <a:p>
            <a:r>
              <a:rPr lang="en-US" b="1" u="sng" dirty="0"/>
              <a:t>Hash File Organization</a:t>
            </a:r>
            <a:endParaRPr lang="en-IN" b="1" u="sng" dirty="0"/>
          </a:p>
        </p:txBody>
      </p:sp>
      <p:sp>
        <p:nvSpPr>
          <p:cNvPr id="3" name="Content Placeholder 2">
            <a:extLst>
              <a:ext uri="{FF2B5EF4-FFF2-40B4-BE49-F238E27FC236}">
                <a16:creationId xmlns:a16="http://schemas.microsoft.com/office/drawing/2014/main" id="{0745969F-9348-E2A2-4961-4D509B39D0C8}"/>
              </a:ext>
            </a:extLst>
          </p:cNvPr>
          <p:cNvSpPr>
            <a:spLocks noGrp="1"/>
          </p:cNvSpPr>
          <p:nvPr>
            <p:ph idx="1"/>
          </p:nvPr>
        </p:nvSpPr>
        <p:spPr>
          <a:xfrm>
            <a:off x="913795" y="1571625"/>
            <a:ext cx="10353762" cy="3714749"/>
          </a:xfrm>
        </p:spPr>
        <p:txBody>
          <a:bodyPr/>
          <a:lstStyle/>
          <a:p>
            <a:r>
              <a:rPr lang="en-US" b="0" i="0" dirty="0">
                <a:solidFill>
                  <a:schemeClr val="tx1"/>
                </a:solidFill>
                <a:effectLst/>
                <a:latin typeface="inter-regular"/>
              </a:rPr>
              <a:t>Hash File Organization </a:t>
            </a:r>
            <a:r>
              <a:rPr lang="en-US" b="1" i="1" u="sng" dirty="0">
                <a:solidFill>
                  <a:schemeClr val="tx1"/>
                </a:solidFill>
                <a:effectLst/>
                <a:latin typeface="inter-regular"/>
              </a:rPr>
              <a:t>uses the computation of hash function </a:t>
            </a:r>
            <a:r>
              <a:rPr lang="en-US" b="0" i="0" dirty="0">
                <a:solidFill>
                  <a:schemeClr val="tx1"/>
                </a:solidFill>
                <a:effectLst/>
                <a:latin typeface="inter-regular"/>
              </a:rPr>
              <a:t>on some fields of the records.</a:t>
            </a:r>
          </a:p>
          <a:p>
            <a:r>
              <a:rPr lang="en-US" b="0" i="0" dirty="0">
                <a:solidFill>
                  <a:schemeClr val="tx1"/>
                </a:solidFill>
                <a:effectLst/>
                <a:latin typeface="inter-regular"/>
              </a:rPr>
              <a:t>The h</a:t>
            </a:r>
            <a:r>
              <a:rPr lang="en-US" b="1" i="1" u="sng" dirty="0">
                <a:solidFill>
                  <a:schemeClr val="tx1"/>
                </a:solidFill>
                <a:effectLst/>
                <a:latin typeface="inter-regular"/>
              </a:rPr>
              <a:t>ash function's output determines the location of disk block </a:t>
            </a:r>
            <a:r>
              <a:rPr lang="en-US" b="0" i="0" dirty="0">
                <a:solidFill>
                  <a:schemeClr val="tx1"/>
                </a:solidFill>
                <a:effectLst/>
                <a:latin typeface="inter-regular"/>
              </a:rPr>
              <a:t>where the records are to be placed.</a:t>
            </a:r>
            <a:endParaRPr lang="en-IN" dirty="0">
              <a:solidFill>
                <a:schemeClr val="tx1"/>
              </a:solidFill>
            </a:endParaRPr>
          </a:p>
        </p:txBody>
      </p:sp>
      <p:pic>
        <p:nvPicPr>
          <p:cNvPr id="9218" name="Picture 2" descr="DBMS Hash File Organization">
            <a:extLst>
              <a:ext uri="{FF2B5EF4-FFF2-40B4-BE49-F238E27FC236}">
                <a16:creationId xmlns:a16="http://schemas.microsoft.com/office/drawing/2014/main" id="{AEB67D84-ECEF-E595-CF8E-25C027A677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0826" y="3484353"/>
            <a:ext cx="5219700" cy="323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941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C686E8-75E4-89E5-1730-2B139E79A550}"/>
              </a:ext>
            </a:extLst>
          </p:cNvPr>
          <p:cNvSpPr>
            <a:spLocks noGrp="1"/>
          </p:cNvSpPr>
          <p:nvPr>
            <p:ph idx="1"/>
          </p:nvPr>
        </p:nvSpPr>
        <p:spPr>
          <a:xfrm>
            <a:off x="913795" y="198408"/>
            <a:ext cx="10353762" cy="6176513"/>
          </a:xfrm>
        </p:spPr>
        <p:txBody>
          <a:bodyPr/>
          <a:lstStyle/>
          <a:p>
            <a:pPr algn="just"/>
            <a:r>
              <a:rPr lang="en-US" b="0" i="0" dirty="0">
                <a:solidFill>
                  <a:schemeClr val="tx1"/>
                </a:solidFill>
                <a:effectLst/>
                <a:latin typeface="inter-regular"/>
              </a:rPr>
              <a:t>When a </a:t>
            </a:r>
            <a:r>
              <a:rPr lang="en-US" b="1" i="1" u="sng" dirty="0">
                <a:solidFill>
                  <a:schemeClr val="tx1"/>
                </a:solidFill>
                <a:effectLst/>
                <a:latin typeface="inter-regular"/>
              </a:rPr>
              <a:t>record</a:t>
            </a:r>
            <a:r>
              <a:rPr lang="en-US" b="0" i="0" dirty="0">
                <a:solidFill>
                  <a:schemeClr val="tx1"/>
                </a:solidFill>
                <a:effectLst/>
                <a:latin typeface="inter-regular"/>
              </a:rPr>
              <a:t> has to be </a:t>
            </a:r>
            <a:r>
              <a:rPr lang="en-US" b="1" i="1" u="sng" dirty="0">
                <a:solidFill>
                  <a:schemeClr val="tx1"/>
                </a:solidFill>
                <a:effectLst/>
                <a:latin typeface="inter-regular"/>
              </a:rPr>
              <a:t>received using the hash key columns</a:t>
            </a:r>
            <a:r>
              <a:rPr lang="en-US" b="0" i="0" dirty="0">
                <a:solidFill>
                  <a:schemeClr val="tx1"/>
                </a:solidFill>
                <a:effectLst/>
                <a:latin typeface="inter-regular"/>
              </a:rPr>
              <a:t>, then the </a:t>
            </a:r>
            <a:r>
              <a:rPr lang="en-US" b="1" i="1" u="sng" dirty="0">
                <a:solidFill>
                  <a:schemeClr val="tx1"/>
                </a:solidFill>
                <a:effectLst/>
                <a:latin typeface="inter-regular"/>
              </a:rPr>
              <a:t>address is generated</a:t>
            </a:r>
            <a:r>
              <a:rPr lang="en-US" b="0" i="0" dirty="0">
                <a:solidFill>
                  <a:schemeClr val="tx1"/>
                </a:solidFill>
                <a:effectLst/>
                <a:latin typeface="inter-regular"/>
              </a:rPr>
              <a:t>, and the </a:t>
            </a:r>
            <a:r>
              <a:rPr lang="en-US" b="1" i="1" u="sng" dirty="0">
                <a:solidFill>
                  <a:schemeClr val="tx1"/>
                </a:solidFill>
                <a:effectLst/>
                <a:latin typeface="inter-regular"/>
              </a:rPr>
              <a:t>whole record is retrieved using that address</a:t>
            </a:r>
            <a:r>
              <a:rPr lang="en-US" b="0" i="0" dirty="0">
                <a:solidFill>
                  <a:schemeClr val="tx1"/>
                </a:solidFill>
                <a:effectLst/>
                <a:latin typeface="inter-regular"/>
              </a:rPr>
              <a:t>.</a:t>
            </a:r>
          </a:p>
          <a:p>
            <a:pPr algn="just"/>
            <a:r>
              <a:rPr lang="en-US" b="0" i="0" dirty="0">
                <a:solidFill>
                  <a:schemeClr val="tx1"/>
                </a:solidFill>
                <a:effectLst/>
                <a:latin typeface="inter-regular"/>
              </a:rPr>
              <a:t>In the same way, when a new record has to be </a:t>
            </a:r>
            <a:r>
              <a:rPr lang="en-US" b="1" i="1" u="sng" dirty="0">
                <a:solidFill>
                  <a:schemeClr val="tx1"/>
                </a:solidFill>
                <a:effectLst/>
                <a:latin typeface="inter-regular"/>
              </a:rPr>
              <a:t>inserted</a:t>
            </a:r>
            <a:r>
              <a:rPr lang="en-US" b="0" i="0" dirty="0">
                <a:solidFill>
                  <a:schemeClr val="tx1"/>
                </a:solidFill>
                <a:effectLst/>
                <a:latin typeface="inter-regular"/>
              </a:rPr>
              <a:t>, then the </a:t>
            </a:r>
            <a:r>
              <a:rPr lang="en-US" b="1" i="1" u="sng" dirty="0">
                <a:solidFill>
                  <a:schemeClr val="tx1"/>
                </a:solidFill>
                <a:effectLst/>
                <a:latin typeface="inter-regular"/>
              </a:rPr>
              <a:t>address is generated using the hash key and record is directly inserted</a:t>
            </a:r>
            <a:r>
              <a:rPr lang="en-US" b="0" i="0" dirty="0">
                <a:solidFill>
                  <a:schemeClr val="tx1"/>
                </a:solidFill>
                <a:effectLst/>
                <a:latin typeface="inter-regular"/>
              </a:rPr>
              <a:t>. The same process is applied in the case of </a:t>
            </a:r>
            <a:r>
              <a:rPr lang="en-US" b="1" i="1" u="sng" dirty="0">
                <a:solidFill>
                  <a:schemeClr val="tx1"/>
                </a:solidFill>
                <a:effectLst/>
                <a:latin typeface="inter-regular"/>
              </a:rPr>
              <a:t>delete and update</a:t>
            </a:r>
            <a:r>
              <a:rPr lang="en-US" b="0" i="0" dirty="0">
                <a:solidFill>
                  <a:schemeClr val="tx1"/>
                </a:solidFill>
                <a:effectLst/>
                <a:latin typeface="inter-regular"/>
              </a:rPr>
              <a:t>.</a:t>
            </a:r>
          </a:p>
          <a:p>
            <a:pPr algn="just"/>
            <a:r>
              <a:rPr lang="en-US" b="0" i="0" dirty="0">
                <a:solidFill>
                  <a:schemeClr val="tx1"/>
                </a:solidFill>
                <a:effectLst/>
                <a:latin typeface="inter-regular"/>
              </a:rPr>
              <a:t>In this method, there is </a:t>
            </a:r>
            <a:r>
              <a:rPr lang="en-US" b="1" i="1" u="sng" dirty="0">
                <a:solidFill>
                  <a:schemeClr val="tx1"/>
                </a:solidFill>
                <a:effectLst/>
                <a:latin typeface="inter-regular"/>
              </a:rPr>
              <a:t>no effort for searching and sorting the entire file</a:t>
            </a:r>
            <a:r>
              <a:rPr lang="en-US" b="0" i="0" dirty="0">
                <a:solidFill>
                  <a:schemeClr val="tx1"/>
                </a:solidFill>
                <a:effectLst/>
                <a:latin typeface="inter-regular"/>
              </a:rPr>
              <a:t>. In this method, each record will be </a:t>
            </a:r>
            <a:r>
              <a:rPr lang="en-US" b="1" i="1" u="sng" dirty="0">
                <a:solidFill>
                  <a:schemeClr val="tx1"/>
                </a:solidFill>
                <a:effectLst/>
                <a:latin typeface="inter-regular"/>
              </a:rPr>
              <a:t>stored randomly in the memory</a:t>
            </a:r>
            <a:r>
              <a:rPr lang="en-US" b="0" i="0" dirty="0">
                <a:solidFill>
                  <a:schemeClr val="tx1"/>
                </a:solidFill>
                <a:effectLst/>
                <a:latin typeface="inter-regular"/>
              </a:rPr>
              <a:t>.</a:t>
            </a:r>
          </a:p>
        </p:txBody>
      </p:sp>
      <p:pic>
        <p:nvPicPr>
          <p:cNvPr id="10242" name="Picture 2" descr="DBMS Hash File Organization">
            <a:extLst>
              <a:ext uri="{FF2B5EF4-FFF2-40B4-BE49-F238E27FC236}">
                <a16:creationId xmlns:a16="http://schemas.microsoft.com/office/drawing/2014/main" id="{BD49CDC0-9281-66B7-655A-D36F72A735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8876" y="3428999"/>
            <a:ext cx="5943600" cy="3194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317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1BA8B-74F0-3E39-4AFF-DB8E5632AEB8}"/>
              </a:ext>
            </a:extLst>
          </p:cNvPr>
          <p:cNvSpPr>
            <a:spLocks noGrp="1"/>
          </p:cNvSpPr>
          <p:nvPr>
            <p:ph type="title"/>
          </p:nvPr>
        </p:nvSpPr>
        <p:spPr>
          <a:xfrm>
            <a:off x="913795" y="250166"/>
            <a:ext cx="10353762" cy="1616734"/>
          </a:xfrm>
        </p:spPr>
        <p:txBody>
          <a:bodyPr/>
          <a:lstStyle/>
          <a:p>
            <a:r>
              <a:rPr lang="en-US" b="1" u="sng" dirty="0"/>
              <a:t>B+ File Organization</a:t>
            </a:r>
            <a:endParaRPr lang="en-IN" b="1" u="sng" dirty="0"/>
          </a:p>
        </p:txBody>
      </p:sp>
      <p:sp>
        <p:nvSpPr>
          <p:cNvPr id="3" name="Content Placeholder 2">
            <a:extLst>
              <a:ext uri="{FF2B5EF4-FFF2-40B4-BE49-F238E27FC236}">
                <a16:creationId xmlns:a16="http://schemas.microsoft.com/office/drawing/2014/main" id="{27A8F378-E866-9E38-8580-80769ECA3655}"/>
              </a:ext>
            </a:extLst>
          </p:cNvPr>
          <p:cNvSpPr>
            <a:spLocks noGrp="1"/>
          </p:cNvSpPr>
          <p:nvPr>
            <p:ph idx="1"/>
          </p:nvPr>
        </p:nvSpPr>
        <p:spPr>
          <a:xfrm>
            <a:off x="913795" y="1866900"/>
            <a:ext cx="10353762" cy="4473515"/>
          </a:xfrm>
        </p:spPr>
        <p:txBody>
          <a:bodyPr>
            <a:normAutofit/>
          </a:bodyPr>
          <a:lstStyle/>
          <a:p>
            <a:pPr algn="just">
              <a:buFont typeface="Arial" panose="020B0604020202020204" pitchFamily="34" charset="0"/>
              <a:buChar char="•"/>
            </a:pPr>
            <a:r>
              <a:rPr lang="en-US" b="0" i="0" dirty="0">
                <a:solidFill>
                  <a:schemeClr val="tx1"/>
                </a:solidFill>
                <a:effectLst/>
                <a:latin typeface="inter-regular"/>
              </a:rPr>
              <a:t>B+ tree file organization is the </a:t>
            </a:r>
            <a:r>
              <a:rPr lang="en-US" b="1" i="1" u="sng" dirty="0">
                <a:solidFill>
                  <a:schemeClr val="tx1"/>
                </a:solidFill>
                <a:effectLst/>
                <a:latin typeface="inter-regular"/>
              </a:rPr>
              <a:t>advanced method of an indexed sequential access method</a:t>
            </a:r>
            <a:r>
              <a:rPr lang="en-US" b="0" i="0" dirty="0">
                <a:solidFill>
                  <a:schemeClr val="tx1"/>
                </a:solidFill>
                <a:effectLst/>
                <a:latin typeface="inter-regular"/>
              </a:rPr>
              <a:t>. It uses a </a:t>
            </a:r>
            <a:r>
              <a:rPr lang="en-US" b="1" i="1" u="sng" dirty="0">
                <a:solidFill>
                  <a:schemeClr val="tx1"/>
                </a:solidFill>
                <a:effectLst/>
                <a:latin typeface="inter-regular"/>
              </a:rPr>
              <a:t>tree-like structure to store records </a:t>
            </a:r>
            <a:r>
              <a:rPr lang="en-US" b="0" i="0" dirty="0">
                <a:solidFill>
                  <a:schemeClr val="tx1"/>
                </a:solidFill>
                <a:effectLst/>
                <a:latin typeface="inter-regular"/>
              </a:rPr>
              <a:t>in File.</a:t>
            </a:r>
          </a:p>
          <a:p>
            <a:pPr algn="just">
              <a:buFont typeface="Arial" panose="020B0604020202020204" pitchFamily="34" charset="0"/>
              <a:buChar char="•"/>
            </a:pPr>
            <a:r>
              <a:rPr lang="en-US" b="0" i="0" dirty="0">
                <a:solidFill>
                  <a:schemeClr val="tx1"/>
                </a:solidFill>
                <a:effectLst/>
                <a:latin typeface="inter-regular"/>
              </a:rPr>
              <a:t>It uses the </a:t>
            </a:r>
            <a:r>
              <a:rPr lang="en-US" b="1" i="1" u="sng" dirty="0">
                <a:solidFill>
                  <a:schemeClr val="tx1"/>
                </a:solidFill>
                <a:effectLst/>
                <a:latin typeface="inter-regular"/>
              </a:rPr>
              <a:t>same concept of key-index</a:t>
            </a:r>
            <a:r>
              <a:rPr lang="en-US" b="0" i="0" dirty="0">
                <a:solidFill>
                  <a:schemeClr val="tx1"/>
                </a:solidFill>
                <a:effectLst/>
                <a:latin typeface="inter-regular"/>
              </a:rPr>
              <a:t> where the primary key is </a:t>
            </a:r>
            <a:r>
              <a:rPr lang="en-US" b="1" i="1" u="sng" dirty="0">
                <a:solidFill>
                  <a:schemeClr val="tx1"/>
                </a:solidFill>
                <a:effectLst/>
                <a:latin typeface="inter-regular"/>
              </a:rPr>
              <a:t>used to sort the records</a:t>
            </a:r>
            <a:r>
              <a:rPr lang="en-US" b="0" i="0" dirty="0">
                <a:solidFill>
                  <a:schemeClr val="tx1"/>
                </a:solidFill>
                <a:effectLst/>
                <a:latin typeface="inter-regular"/>
              </a:rPr>
              <a:t>. For each primary key, the value of the index is generated and mapped with the record.</a:t>
            </a:r>
          </a:p>
          <a:p>
            <a:pPr algn="just">
              <a:buFont typeface="Arial" panose="020B0604020202020204" pitchFamily="34" charset="0"/>
              <a:buChar char="•"/>
            </a:pPr>
            <a:r>
              <a:rPr lang="en-US" b="0" i="0" dirty="0">
                <a:solidFill>
                  <a:schemeClr val="tx1"/>
                </a:solidFill>
                <a:effectLst/>
                <a:latin typeface="inter-regular"/>
              </a:rPr>
              <a:t>The </a:t>
            </a:r>
            <a:r>
              <a:rPr lang="en-US" b="1" i="1" u="sng" dirty="0">
                <a:solidFill>
                  <a:schemeClr val="tx1"/>
                </a:solidFill>
                <a:effectLst/>
                <a:latin typeface="inter-regular"/>
              </a:rPr>
              <a:t>B+ tree is </a:t>
            </a:r>
            <a:r>
              <a:rPr lang="en-US" b="1" i="1" u="sng" dirty="0">
                <a:solidFill>
                  <a:srgbClr val="FF0000"/>
                </a:solidFill>
                <a:effectLst/>
                <a:latin typeface="inter-regular"/>
              </a:rPr>
              <a:t>similar</a:t>
            </a:r>
            <a:r>
              <a:rPr lang="en-US" b="1" i="1" u="sng" dirty="0">
                <a:solidFill>
                  <a:schemeClr val="tx1"/>
                </a:solidFill>
                <a:effectLst/>
                <a:latin typeface="inter-regular"/>
              </a:rPr>
              <a:t> to a binary search tree (BST)</a:t>
            </a:r>
            <a:r>
              <a:rPr lang="en-US" b="0" i="0" dirty="0">
                <a:solidFill>
                  <a:schemeClr val="tx1"/>
                </a:solidFill>
                <a:effectLst/>
                <a:latin typeface="inter-regular"/>
              </a:rPr>
              <a:t>, </a:t>
            </a:r>
            <a:r>
              <a:rPr lang="en-US" b="1" i="1" u="sng" dirty="0">
                <a:solidFill>
                  <a:srgbClr val="FF0000"/>
                </a:solidFill>
                <a:effectLst/>
                <a:latin typeface="inter-regular"/>
              </a:rPr>
              <a:t>but</a:t>
            </a:r>
            <a:r>
              <a:rPr lang="en-US" b="0" i="0" dirty="0">
                <a:solidFill>
                  <a:schemeClr val="tx1"/>
                </a:solidFill>
                <a:effectLst/>
                <a:latin typeface="inter-regular"/>
              </a:rPr>
              <a:t> it </a:t>
            </a:r>
            <a:r>
              <a:rPr lang="en-US" b="1" i="1" u="sng" dirty="0">
                <a:solidFill>
                  <a:schemeClr val="tx1"/>
                </a:solidFill>
                <a:effectLst/>
                <a:latin typeface="inter-regular"/>
              </a:rPr>
              <a:t>can have more than two children</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In this method, all </a:t>
            </a:r>
            <a:r>
              <a:rPr lang="en-US" b="1" i="1" u="sng" dirty="0">
                <a:solidFill>
                  <a:schemeClr val="tx1"/>
                </a:solidFill>
                <a:effectLst/>
                <a:latin typeface="inter-regular"/>
              </a:rPr>
              <a:t>the records are stored </a:t>
            </a:r>
            <a:r>
              <a:rPr lang="en-US" b="1" i="1" u="sng" dirty="0">
                <a:solidFill>
                  <a:srgbClr val="FF0000"/>
                </a:solidFill>
                <a:effectLst/>
                <a:latin typeface="inter-regular"/>
              </a:rPr>
              <a:t>only</a:t>
            </a:r>
            <a:r>
              <a:rPr lang="en-US" b="1" i="1" u="sng" dirty="0">
                <a:solidFill>
                  <a:schemeClr val="tx1"/>
                </a:solidFill>
                <a:effectLst/>
                <a:latin typeface="inter-regular"/>
              </a:rPr>
              <a:t> at the </a:t>
            </a:r>
            <a:r>
              <a:rPr lang="en-US" b="1" i="1" u="sng" dirty="0">
                <a:solidFill>
                  <a:srgbClr val="FF0000"/>
                </a:solidFill>
                <a:effectLst/>
                <a:latin typeface="inter-regular"/>
              </a:rPr>
              <a:t>leaf node</a:t>
            </a:r>
            <a:r>
              <a:rPr lang="en-US" b="0" i="0" dirty="0">
                <a:solidFill>
                  <a:schemeClr val="tx1"/>
                </a:solidFill>
                <a:effectLst/>
                <a:latin typeface="inter-regular"/>
              </a:rPr>
              <a:t>. </a:t>
            </a:r>
            <a:r>
              <a:rPr lang="en-US" b="1" i="1" u="sng" dirty="0">
                <a:solidFill>
                  <a:schemeClr val="tx1"/>
                </a:solidFill>
                <a:effectLst/>
                <a:latin typeface="inter-regular"/>
              </a:rPr>
              <a:t>Intermediate nodes </a:t>
            </a:r>
            <a:r>
              <a:rPr lang="en-US" b="0" i="0" dirty="0">
                <a:solidFill>
                  <a:schemeClr val="tx1"/>
                </a:solidFill>
                <a:effectLst/>
                <a:latin typeface="inter-regular"/>
              </a:rPr>
              <a:t>act as a </a:t>
            </a:r>
            <a:r>
              <a:rPr lang="en-US" b="1" i="1" u="sng" dirty="0">
                <a:solidFill>
                  <a:schemeClr val="tx1"/>
                </a:solidFill>
                <a:effectLst/>
                <a:latin typeface="inter-regular"/>
              </a:rPr>
              <a:t>pointer</a:t>
            </a:r>
            <a:r>
              <a:rPr lang="en-US" b="0" i="0" dirty="0">
                <a:solidFill>
                  <a:schemeClr val="tx1"/>
                </a:solidFill>
                <a:effectLst/>
                <a:latin typeface="inter-regular"/>
              </a:rPr>
              <a:t> to the leaf nodes. They </a:t>
            </a:r>
            <a:r>
              <a:rPr lang="en-US" b="1" i="1" u="sng" dirty="0">
                <a:solidFill>
                  <a:schemeClr val="tx1"/>
                </a:solidFill>
                <a:effectLst/>
                <a:latin typeface="inter-regular"/>
              </a:rPr>
              <a:t>do not contain any records</a:t>
            </a:r>
            <a:r>
              <a:rPr lang="en-US" b="0" i="0" dirty="0">
                <a:solidFill>
                  <a:schemeClr val="tx1"/>
                </a:solidFill>
                <a:effectLst/>
                <a:latin typeface="inter-regular"/>
              </a:rPr>
              <a:t>.</a:t>
            </a:r>
          </a:p>
          <a:p>
            <a:endParaRPr lang="en-IN" dirty="0">
              <a:solidFill>
                <a:schemeClr val="tx1"/>
              </a:solidFill>
            </a:endParaRPr>
          </a:p>
        </p:txBody>
      </p:sp>
    </p:spTree>
    <p:extLst>
      <p:ext uri="{BB962C8B-B14F-4D97-AF65-F5344CB8AC3E}">
        <p14:creationId xmlns:p14="http://schemas.microsoft.com/office/powerpoint/2010/main" val="1502601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C42340-C2A6-CBF7-1595-21C890EFE595}"/>
              </a:ext>
            </a:extLst>
          </p:cNvPr>
          <p:cNvSpPr>
            <a:spLocks noGrp="1"/>
          </p:cNvSpPr>
          <p:nvPr>
            <p:ph idx="1"/>
          </p:nvPr>
        </p:nvSpPr>
        <p:spPr>
          <a:xfrm>
            <a:off x="913795" y="310552"/>
            <a:ext cx="10353762" cy="3899139"/>
          </a:xfrm>
        </p:spPr>
        <p:txBody>
          <a:bodyPr>
            <a:normAutofit fontScale="85000" lnSpcReduction="20000"/>
          </a:bodyPr>
          <a:lstStyle/>
          <a:p>
            <a:pPr marL="36900" indent="0" algn="just">
              <a:buNone/>
            </a:pPr>
            <a:r>
              <a:rPr lang="en-US" sz="2600" b="1" i="0" dirty="0">
                <a:solidFill>
                  <a:schemeClr val="tx1"/>
                </a:solidFill>
                <a:effectLst/>
                <a:latin typeface="erdana"/>
              </a:rPr>
              <a:t>The below B+ tree showed that:</a:t>
            </a:r>
          </a:p>
          <a:p>
            <a:pPr algn="just">
              <a:buFont typeface="Arial" panose="020B0604020202020204" pitchFamily="34" charset="0"/>
              <a:buChar char="•"/>
            </a:pPr>
            <a:r>
              <a:rPr lang="en-US" b="0" i="0" dirty="0">
                <a:solidFill>
                  <a:schemeClr val="tx1"/>
                </a:solidFill>
                <a:effectLst/>
                <a:latin typeface="inter-regular"/>
              </a:rPr>
              <a:t>There is </a:t>
            </a:r>
            <a:r>
              <a:rPr lang="en-US" b="1" i="1" u="sng" dirty="0">
                <a:solidFill>
                  <a:schemeClr val="tx1"/>
                </a:solidFill>
                <a:effectLst/>
                <a:latin typeface="inter-regular"/>
              </a:rPr>
              <a:t>one </a:t>
            </a:r>
            <a:r>
              <a:rPr lang="en-US" b="1" i="1" u="sng" dirty="0">
                <a:solidFill>
                  <a:srgbClr val="FF0000"/>
                </a:solidFill>
                <a:effectLst/>
                <a:latin typeface="inter-regular"/>
              </a:rPr>
              <a:t>root</a:t>
            </a:r>
            <a:r>
              <a:rPr lang="en-US" b="1" i="1" u="sng" dirty="0">
                <a:solidFill>
                  <a:schemeClr val="tx1"/>
                </a:solidFill>
                <a:effectLst/>
                <a:latin typeface="inter-regular"/>
              </a:rPr>
              <a:t> node </a:t>
            </a:r>
            <a:r>
              <a:rPr lang="en-US" b="0" i="0" dirty="0">
                <a:solidFill>
                  <a:schemeClr val="tx1"/>
                </a:solidFill>
                <a:effectLst/>
                <a:latin typeface="inter-regular"/>
              </a:rPr>
              <a:t>of the tree, i.e., 25.</a:t>
            </a:r>
          </a:p>
          <a:p>
            <a:pPr algn="just">
              <a:buFont typeface="Arial" panose="020B0604020202020204" pitchFamily="34" charset="0"/>
              <a:buChar char="•"/>
            </a:pPr>
            <a:r>
              <a:rPr lang="en-US" b="0" i="0" dirty="0">
                <a:solidFill>
                  <a:schemeClr val="tx1"/>
                </a:solidFill>
                <a:effectLst/>
                <a:latin typeface="inter-regular"/>
              </a:rPr>
              <a:t>There is an </a:t>
            </a:r>
            <a:r>
              <a:rPr lang="en-US" b="1" i="1" u="sng" dirty="0">
                <a:solidFill>
                  <a:srgbClr val="FF0000"/>
                </a:solidFill>
                <a:effectLst/>
                <a:latin typeface="inter-regular"/>
              </a:rPr>
              <a:t>intermediary</a:t>
            </a:r>
            <a:r>
              <a:rPr lang="en-US" b="1" i="1" u="sng" dirty="0">
                <a:solidFill>
                  <a:schemeClr val="tx1"/>
                </a:solidFill>
                <a:effectLst/>
                <a:latin typeface="inter-regular"/>
              </a:rPr>
              <a:t> layer with nodes</a:t>
            </a:r>
            <a:r>
              <a:rPr lang="en-US" b="0" i="0" dirty="0">
                <a:solidFill>
                  <a:schemeClr val="tx1"/>
                </a:solidFill>
                <a:effectLst/>
                <a:latin typeface="inter-regular"/>
              </a:rPr>
              <a:t>. They </a:t>
            </a:r>
            <a:r>
              <a:rPr lang="en-US" b="1" i="1" u="sng" dirty="0">
                <a:solidFill>
                  <a:schemeClr val="tx1"/>
                </a:solidFill>
                <a:effectLst/>
                <a:latin typeface="inter-regular"/>
              </a:rPr>
              <a:t>do not store the actual record</a:t>
            </a:r>
            <a:r>
              <a:rPr lang="en-US" b="0" i="0" dirty="0">
                <a:solidFill>
                  <a:schemeClr val="tx1"/>
                </a:solidFill>
                <a:effectLst/>
                <a:latin typeface="inter-regular"/>
              </a:rPr>
              <a:t>. They have only </a:t>
            </a:r>
            <a:r>
              <a:rPr lang="en-US" b="1" i="0" u="sng" dirty="0">
                <a:solidFill>
                  <a:schemeClr val="tx1"/>
                </a:solidFill>
                <a:effectLst/>
                <a:latin typeface="inter-regular"/>
              </a:rPr>
              <a:t>pointers to the leaf node</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The </a:t>
            </a:r>
            <a:r>
              <a:rPr lang="en-US" dirty="0">
                <a:solidFill>
                  <a:schemeClr val="tx1"/>
                </a:solidFill>
                <a:effectLst/>
                <a:latin typeface="inter-regular"/>
              </a:rPr>
              <a:t>nodes to the </a:t>
            </a:r>
            <a:r>
              <a:rPr lang="en-US" b="1" i="1" u="sng" dirty="0">
                <a:solidFill>
                  <a:srgbClr val="FF0000"/>
                </a:solidFill>
                <a:effectLst/>
                <a:latin typeface="inter-regular"/>
              </a:rPr>
              <a:t>left</a:t>
            </a:r>
            <a:r>
              <a:rPr lang="en-US" b="1" i="1" u="sng" dirty="0">
                <a:solidFill>
                  <a:schemeClr val="tx1"/>
                </a:solidFill>
                <a:effectLst/>
                <a:latin typeface="inter-regular"/>
              </a:rPr>
              <a:t> </a:t>
            </a:r>
            <a:r>
              <a:rPr lang="en-US" b="0" i="0" dirty="0">
                <a:solidFill>
                  <a:schemeClr val="tx1"/>
                </a:solidFill>
                <a:effectLst/>
                <a:latin typeface="inter-regular"/>
              </a:rPr>
              <a:t>of the root node contain the </a:t>
            </a:r>
            <a:r>
              <a:rPr lang="en-US" b="1" i="1" u="sng" dirty="0">
                <a:solidFill>
                  <a:schemeClr val="tx1"/>
                </a:solidFill>
                <a:effectLst/>
                <a:latin typeface="inter-regular"/>
              </a:rPr>
              <a:t>prior value of the root </a:t>
            </a:r>
            <a:r>
              <a:rPr lang="en-US" b="0" i="0" dirty="0">
                <a:solidFill>
                  <a:schemeClr val="tx1"/>
                </a:solidFill>
                <a:effectLst/>
                <a:latin typeface="inter-regular"/>
              </a:rPr>
              <a:t>and nodes to the </a:t>
            </a:r>
            <a:r>
              <a:rPr lang="en-US" b="1" i="1" u="sng" dirty="0">
                <a:solidFill>
                  <a:srgbClr val="FF0000"/>
                </a:solidFill>
                <a:effectLst/>
                <a:latin typeface="inter-regular"/>
              </a:rPr>
              <a:t>right</a:t>
            </a:r>
            <a:r>
              <a:rPr lang="en-US" b="0" i="0" dirty="0">
                <a:solidFill>
                  <a:schemeClr val="tx1"/>
                </a:solidFill>
                <a:effectLst/>
                <a:latin typeface="inter-regular"/>
              </a:rPr>
              <a:t> contain </a:t>
            </a:r>
            <a:r>
              <a:rPr lang="en-US" b="1" i="1" u="sng" dirty="0">
                <a:solidFill>
                  <a:schemeClr val="tx1"/>
                </a:solidFill>
                <a:effectLst/>
                <a:latin typeface="inter-regular"/>
              </a:rPr>
              <a:t>next value </a:t>
            </a:r>
            <a:r>
              <a:rPr lang="en-US" b="0" i="0" dirty="0">
                <a:solidFill>
                  <a:schemeClr val="tx1"/>
                </a:solidFill>
                <a:effectLst/>
                <a:latin typeface="inter-regular"/>
              </a:rPr>
              <a:t>of the root, i.e., 15 and 30 respectively.</a:t>
            </a:r>
          </a:p>
          <a:p>
            <a:pPr algn="just">
              <a:buFont typeface="Arial" panose="020B0604020202020204" pitchFamily="34" charset="0"/>
              <a:buChar char="•"/>
            </a:pPr>
            <a:r>
              <a:rPr lang="en-US" b="0" i="0" dirty="0">
                <a:solidFill>
                  <a:schemeClr val="tx1"/>
                </a:solidFill>
                <a:effectLst/>
                <a:latin typeface="inter-regular"/>
              </a:rPr>
              <a:t>There is only </a:t>
            </a:r>
            <a:r>
              <a:rPr lang="en-US" b="1" i="1" u="sng" dirty="0">
                <a:solidFill>
                  <a:srgbClr val="FF0000"/>
                </a:solidFill>
                <a:effectLst/>
                <a:latin typeface="inter-regular"/>
              </a:rPr>
              <a:t>one leaf node </a:t>
            </a:r>
            <a:r>
              <a:rPr lang="en-US" b="0" i="0" dirty="0">
                <a:solidFill>
                  <a:schemeClr val="tx1"/>
                </a:solidFill>
                <a:effectLst/>
                <a:latin typeface="inter-regular"/>
              </a:rPr>
              <a:t>which has only values, i.e., 10, 12, 17, 20, 24, 27 and 29.</a:t>
            </a:r>
          </a:p>
          <a:p>
            <a:pPr algn="just">
              <a:buFont typeface="Arial" panose="020B0604020202020204" pitchFamily="34" charset="0"/>
              <a:buChar char="•"/>
            </a:pPr>
            <a:r>
              <a:rPr lang="en-US" b="1" i="1" u="sng" dirty="0">
                <a:solidFill>
                  <a:schemeClr val="tx1"/>
                </a:solidFill>
                <a:effectLst/>
                <a:latin typeface="inter-regular"/>
              </a:rPr>
              <a:t>Searching</a:t>
            </a:r>
            <a:r>
              <a:rPr lang="en-US" b="0" i="0" dirty="0">
                <a:solidFill>
                  <a:schemeClr val="tx1"/>
                </a:solidFill>
                <a:effectLst/>
                <a:latin typeface="inter-regular"/>
              </a:rPr>
              <a:t> for any record is </a:t>
            </a:r>
            <a:r>
              <a:rPr lang="en-US" b="1" i="1" u="sng" dirty="0">
                <a:solidFill>
                  <a:schemeClr val="tx1"/>
                </a:solidFill>
                <a:effectLst/>
                <a:latin typeface="inter-regular"/>
              </a:rPr>
              <a:t>easier</a:t>
            </a:r>
            <a:r>
              <a:rPr lang="en-US" b="0" i="0" dirty="0">
                <a:solidFill>
                  <a:schemeClr val="tx1"/>
                </a:solidFill>
                <a:effectLst/>
                <a:latin typeface="inter-regular"/>
              </a:rPr>
              <a:t> as all the </a:t>
            </a:r>
            <a:r>
              <a:rPr lang="en-US" b="1" i="1" u="sng" dirty="0">
                <a:solidFill>
                  <a:schemeClr val="tx1"/>
                </a:solidFill>
                <a:effectLst/>
                <a:latin typeface="inter-regular"/>
              </a:rPr>
              <a:t>leaf nodes are balanced</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In this method, searching any record can be </a:t>
            </a:r>
            <a:r>
              <a:rPr lang="en-US" b="1" i="1" u="sng" dirty="0">
                <a:solidFill>
                  <a:schemeClr val="tx1"/>
                </a:solidFill>
                <a:effectLst/>
                <a:latin typeface="inter-regular"/>
              </a:rPr>
              <a:t>traversed through the single path and accessed easily.</a:t>
            </a:r>
          </a:p>
          <a:p>
            <a:endParaRPr lang="en-IN" dirty="0">
              <a:solidFill>
                <a:schemeClr val="tx1"/>
              </a:solidFill>
            </a:endParaRPr>
          </a:p>
        </p:txBody>
      </p:sp>
      <p:pic>
        <p:nvPicPr>
          <p:cNvPr id="4" name="Picture 2" descr="DBMS B+ File Organization">
            <a:extLst>
              <a:ext uri="{FF2B5EF4-FFF2-40B4-BE49-F238E27FC236}">
                <a16:creationId xmlns:a16="http://schemas.microsoft.com/office/drawing/2014/main" id="{465B4F85-FBBE-E07A-3CC1-79BC2C5A23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8627" y="3862684"/>
            <a:ext cx="6734746" cy="282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3627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E1B9E-28C3-78E2-A309-C54C3EB14472}"/>
              </a:ext>
            </a:extLst>
          </p:cNvPr>
          <p:cNvSpPr>
            <a:spLocks noGrp="1"/>
          </p:cNvSpPr>
          <p:nvPr>
            <p:ph type="title"/>
          </p:nvPr>
        </p:nvSpPr>
        <p:spPr/>
        <p:txBody>
          <a:bodyPr/>
          <a:lstStyle/>
          <a:p>
            <a:r>
              <a:rPr lang="en-US" b="1" dirty="0"/>
              <a:t>PROS of B+ Tree File Organization</a:t>
            </a:r>
            <a:endParaRPr lang="en-IN" b="1" dirty="0"/>
          </a:p>
        </p:txBody>
      </p:sp>
      <p:sp>
        <p:nvSpPr>
          <p:cNvPr id="3" name="Content Placeholder 2">
            <a:extLst>
              <a:ext uri="{FF2B5EF4-FFF2-40B4-BE49-F238E27FC236}">
                <a16:creationId xmlns:a16="http://schemas.microsoft.com/office/drawing/2014/main" id="{F48023DB-D70F-4858-5763-C71456AF86D4}"/>
              </a:ext>
            </a:extLst>
          </p:cNvPr>
          <p:cNvSpPr>
            <a:spLocks noGrp="1"/>
          </p:cNvSpPr>
          <p:nvPr>
            <p:ph idx="1"/>
          </p:nvPr>
        </p:nvSpPr>
        <p:spPr/>
        <p:txBody>
          <a:bodyPr/>
          <a:lstStyle/>
          <a:p>
            <a:pPr algn="just">
              <a:buFont typeface="Arial" panose="020B0604020202020204" pitchFamily="34" charset="0"/>
              <a:buChar char="•"/>
            </a:pPr>
            <a:r>
              <a:rPr lang="en-US" b="0" i="0" dirty="0">
                <a:solidFill>
                  <a:schemeClr val="tx1"/>
                </a:solidFill>
                <a:effectLst/>
                <a:latin typeface="inter-regular"/>
              </a:rPr>
              <a:t>In this method, </a:t>
            </a:r>
            <a:r>
              <a:rPr lang="en-US" b="1" i="1" u="sng" dirty="0">
                <a:solidFill>
                  <a:schemeClr val="tx1"/>
                </a:solidFill>
                <a:effectLst/>
                <a:latin typeface="inter-regular"/>
              </a:rPr>
              <a:t>searching</a:t>
            </a:r>
            <a:r>
              <a:rPr lang="en-US" b="0" i="0" dirty="0">
                <a:solidFill>
                  <a:schemeClr val="tx1"/>
                </a:solidFill>
                <a:effectLst/>
                <a:latin typeface="inter-regular"/>
              </a:rPr>
              <a:t> becomes very </a:t>
            </a:r>
            <a:r>
              <a:rPr lang="en-US" b="1" i="1" u="sng" dirty="0">
                <a:solidFill>
                  <a:schemeClr val="tx1"/>
                </a:solidFill>
                <a:effectLst/>
                <a:latin typeface="inter-regular"/>
              </a:rPr>
              <a:t>easy</a:t>
            </a:r>
            <a:r>
              <a:rPr lang="en-US" b="0" i="0" dirty="0">
                <a:solidFill>
                  <a:schemeClr val="tx1"/>
                </a:solidFill>
                <a:effectLst/>
                <a:latin typeface="inter-regular"/>
              </a:rPr>
              <a:t> as </a:t>
            </a:r>
            <a:r>
              <a:rPr lang="en-US" b="1" i="1" u="sng" dirty="0">
                <a:solidFill>
                  <a:schemeClr val="tx1"/>
                </a:solidFill>
                <a:effectLst/>
                <a:latin typeface="inter-regular"/>
              </a:rPr>
              <a:t>all the records are stored only in the leaf nodes and sorted the sequential linked list.</a:t>
            </a:r>
          </a:p>
          <a:p>
            <a:pPr algn="just">
              <a:buFont typeface="Arial" panose="020B0604020202020204" pitchFamily="34" charset="0"/>
              <a:buChar char="•"/>
            </a:pPr>
            <a:r>
              <a:rPr lang="en-US" b="1" i="1" u="sng" dirty="0">
                <a:solidFill>
                  <a:schemeClr val="tx1"/>
                </a:solidFill>
                <a:effectLst/>
                <a:latin typeface="inter-regular"/>
              </a:rPr>
              <a:t>Traversing</a:t>
            </a:r>
            <a:r>
              <a:rPr lang="en-US" b="0" i="0" dirty="0">
                <a:solidFill>
                  <a:schemeClr val="tx1"/>
                </a:solidFill>
                <a:effectLst/>
                <a:latin typeface="inter-regular"/>
              </a:rPr>
              <a:t> through the tree structure is </a:t>
            </a:r>
            <a:r>
              <a:rPr lang="en-US" b="1" i="1" u="sng" dirty="0">
                <a:solidFill>
                  <a:schemeClr val="tx1"/>
                </a:solidFill>
                <a:effectLst/>
                <a:latin typeface="inter-regular"/>
              </a:rPr>
              <a:t>easier and faster</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The </a:t>
            </a:r>
            <a:r>
              <a:rPr lang="en-US" b="1" i="1" u="sng" dirty="0">
                <a:solidFill>
                  <a:schemeClr val="tx1"/>
                </a:solidFill>
                <a:effectLst/>
                <a:latin typeface="inter-regular"/>
              </a:rPr>
              <a:t>size</a:t>
            </a:r>
            <a:r>
              <a:rPr lang="en-US" b="0" i="0" dirty="0">
                <a:solidFill>
                  <a:schemeClr val="tx1"/>
                </a:solidFill>
                <a:effectLst/>
                <a:latin typeface="inter-regular"/>
              </a:rPr>
              <a:t> of the B+ tree has </a:t>
            </a:r>
            <a:r>
              <a:rPr lang="en-US" b="1" i="1" u="sng" dirty="0">
                <a:solidFill>
                  <a:schemeClr val="tx1"/>
                </a:solidFill>
                <a:effectLst/>
                <a:latin typeface="inter-regular"/>
              </a:rPr>
              <a:t>no restrictions</a:t>
            </a:r>
            <a:r>
              <a:rPr lang="en-US" b="0" i="0" dirty="0">
                <a:solidFill>
                  <a:schemeClr val="tx1"/>
                </a:solidFill>
                <a:effectLst/>
                <a:latin typeface="inter-regular"/>
              </a:rPr>
              <a:t>, so the number of records can increase or decrease and the B+ tree structure can also grow or shrink.</a:t>
            </a:r>
          </a:p>
          <a:p>
            <a:pPr algn="just">
              <a:buFont typeface="Arial" panose="020B0604020202020204" pitchFamily="34" charset="0"/>
              <a:buChar char="•"/>
            </a:pPr>
            <a:r>
              <a:rPr lang="en-US" b="0" i="0" dirty="0">
                <a:solidFill>
                  <a:schemeClr val="tx1"/>
                </a:solidFill>
                <a:effectLst/>
                <a:latin typeface="inter-regular"/>
              </a:rPr>
              <a:t>It is a </a:t>
            </a:r>
            <a:r>
              <a:rPr lang="en-US" b="1" i="1" u="sng" dirty="0">
                <a:solidFill>
                  <a:schemeClr val="tx1"/>
                </a:solidFill>
                <a:effectLst/>
                <a:latin typeface="inter-regular"/>
              </a:rPr>
              <a:t>balanced tree structure</a:t>
            </a:r>
            <a:r>
              <a:rPr lang="en-US" b="0" i="0" dirty="0">
                <a:solidFill>
                  <a:schemeClr val="tx1"/>
                </a:solidFill>
                <a:effectLst/>
                <a:latin typeface="inter-regular"/>
              </a:rPr>
              <a:t>, and any </a:t>
            </a:r>
            <a:r>
              <a:rPr lang="en-US" b="1" i="1" u="sng" dirty="0">
                <a:solidFill>
                  <a:schemeClr val="tx1"/>
                </a:solidFill>
                <a:effectLst/>
                <a:latin typeface="inter-regular"/>
              </a:rPr>
              <a:t>insert/update/delete does not affect the performance of tree.</a:t>
            </a:r>
          </a:p>
        </p:txBody>
      </p:sp>
    </p:spTree>
    <p:extLst>
      <p:ext uri="{BB962C8B-B14F-4D97-AF65-F5344CB8AC3E}">
        <p14:creationId xmlns:p14="http://schemas.microsoft.com/office/powerpoint/2010/main" val="2034983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4FD6B-FBBA-A363-BCCE-557656C5A473}"/>
              </a:ext>
            </a:extLst>
          </p:cNvPr>
          <p:cNvSpPr>
            <a:spLocks noGrp="1"/>
          </p:cNvSpPr>
          <p:nvPr>
            <p:ph type="title"/>
          </p:nvPr>
        </p:nvSpPr>
        <p:spPr/>
        <p:txBody>
          <a:bodyPr/>
          <a:lstStyle/>
          <a:p>
            <a:r>
              <a:rPr lang="en-US" b="1" dirty="0"/>
              <a:t>CONS of B+ Tree File Organization</a:t>
            </a:r>
            <a:endParaRPr lang="en-IN" b="1" dirty="0"/>
          </a:p>
        </p:txBody>
      </p:sp>
      <p:sp>
        <p:nvSpPr>
          <p:cNvPr id="3" name="Content Placeholder 2">
            <a:extLst>
              <a:ext uri="{FF2B5EF4-FFF2-40B4-BE49-F238E27FC236}">
                <a16:creationId xmlns:a16="http://schemas.microsoft.com/office/drawing/2014/main" id="{B5AB8A7A-D6DC-8BB9-3FEB-5D9C89D33075}"/>
              </a:ext>
            </a:extLst>
          </p:cNvPr>
          <p:cNvSpPr>
            <a:spLocks noGrp="1"/>
          </p:cNvSpPr>
          <p:nvPr>
            <p:ph idx="1"/>
          </p:nvPr>
        </p:nvSpPr>
        <p:spPr/>
        <p:txBody>
          <a:bodyPr/>
          <a:lstStyle/>
          <a:p>
            <a:r>
              <a:rPr lang="en-US" b="0" i="0" dirty="0">
                <a:solidFill>
                  <a:schemeClr val="tx1"/>
                </a:solidFill>
                <a:effectLst/>
                <a:latin typeface="inter-regular"/>
              </a:rPr>
              <a:t>This method is inefficient for the static method.</a:t>
            </a:r>
          </a:p>
        </p:txBody>
      </p:sp>
    </p:spTree>
    <p:extLst>
      <p:ext uri="{BB962C8B-B14F-4D97-AF65-F5344CB8AC3E}">
        <p14:creationId xmlns:p14="http://schemas.microsoft.com/office/powerpoint/2010/main" val="2165880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0095-F2CC-6817-09F5-0960424D5386}"/>
              </a:ext>
            </a:extLst>
          </p:cNvPr>
          <p:cNvSpPr>
            <a:spLocks noGrp="1"/>
          </p:cNvSpPr>
          <p:nvPr>
            <p:ph type="title"/>
          </p:nvPr>
        </p:nvSpPr>
        <p:spPr>
          <a:xfrm>
            <a:off x="913795" y="148356"/>
            <a:ext cx="10353762" cy="1257300"/>
          </a:xfrm>
        </p:spPr>
        <p:txBody>
          <a:bodyPr/>
          <a:lstStyle/>
          <a:p>
            <a:r>
              <a:rPr lang="en-US" b="1" u="sng" dirty="0"/>
              <a:t>Indexed Sequential Access Method (ISAM)</a:t>
            </a:r>
            <a:endParaRPr lang="en-IN" b="1" u="sng" dirty="0"/>
          </a:p>
        </p:txBody>
      </p:sp>
      <p:sp>
        <p:nvSpPr>
          <p:cNvPr id="3" name="Content Placeholder 2">
            <a:extLst>
              <a:ext uri="{FF2B5EF4-FFF2-40B4-BE49-F238E27FC236}">
                <a16:creationId xmlns:a16="http://schemas.microsoft.com/office/drawing/2014/main" id="{2FDE88C3-BBD3-B82A-E34E-859E4E23FAF5}"/>
              </a:ext>
            </a:extLst>
          </p:cNvPr>
          <p:cNvSpPr>
            <a:spLocks noGrp="1"/>
          </p:cNvSpPr>
          <p:nvPr>
            <p:ph idx="1"/>
          </p:nvPr>
        </p:nvSpPr>
        <p:spPr>
          <a:xfrm>
            <a:off x="913795" y="1362795"/>
            <a:ext cx="10353762" cy="2178841"/>
          </a:xfrm>
        </p:spPr>
        <p:txBody>
          <a:bodyPr>
            <a:normAutofit fontScale="85000" lnSpcReduction="20000"/>
          </a:bodyPr>
          <a:lstStyle/>
          <a:p>
            <a:r>
              <a:rPr lang="en-US" b="0" i="0" dirty="0">
                <a:solidFill>
                  <a:schemeClr val="tx1"/>
                </a:solidFill>
                <a:effectLst/>
                <a:latin typeface="inter-regular"/>
              </a:rPr>
              <a:t>ISAM method is an </a:t>
            </a:r>
            <a:r>
              <a:rPr lang="en-US" b="1" i="1" u="sng" dirty="0">
                <a:solidFill>
                  <a:schemeClr val="tx1"/>
                </a:solidFill>
                <a:effectLst/>
                <a:latin typeface="inter-regular"/>
              </a:rPr>
              <a:t>advanced</a:t>
            </a:r>
            <a:r>
              <a:rPr lang="en-US" b="0" i="0" dirty="0">
                <a:solidFill>
                  <a:schemeClr val="tx1"/>
                </a:solidFill>
                <a:effectLst/>
                <a:latin typeface="inter-regular"/>
              </a:rPr>
              <a:t> sequential file organization.</a:t>
            </a:r>
          </a:p>
          <a:p>
            <a:r>
              <a:rPr lang="en-US" b="0" i="0" dirty="0">
                <a:solidFill>
                  <a:schemeClr val="tx1"/>
                </a:solidFill>
                <a:effectLst/>
                <a:latin typeface="inter-regular"/>
              </a:rPr>
              <a:t>In this method, records are stored in the file </a:t>
            </a:r>
            <a:r>
              <a:rPr lang="en-US" b="1" i="1" u="sng" dirty="0">
                <a:solidFill>
                  <a:schemeClr val="tx1"/>
                </a:solidFill>
                <a:effectLst/>
                <a:latin typeface="inter-regular"/>
              </a:rPr>
              <a:t>using the primary key</a:t>
            </a:r>
            <a:r>
              <a:rPr lang="en-US" b="0" i="0" dirty="0">
                <a:solidFill>
                  <a:schemeClr val="tx1"/>
                </a:solidFill>
                <a:effectLst/>
                <a:latin typeface="inter-regular"/>
              </a:rPr>
              <a:t>.</a:t>
            </a:r>
          </a:p>
          <a:p>
            <a:r>
              <a:rPr lang="en-US" b="0" i="0" dirty="0">
                <a:solidFill>
                  <a:schemeClr val="tx1"/>
                </a:solidFill>
                <a:effectLst/>
                <a:latin typeface="inter-regular"/>
              </a:rPr>
              <a:t>An index value is generated for each primary key and mapped with the record. This index contains the address of the record in the file.</a:t>
            </a:r>
          </a:p>
          <a:p>
            <a:r>
              <a:rPr lang="en-US" b="1" i="1" u="sng" dirty="0">
                <a:solidFill>
                  <a:schemeClr val="tx1"/>
                </a:solidFill>
                <a:effectLst/>
                <a:latin typeface="inter-regular"/>
              </a:rPr>
              <a:t>If</a:t>
            </a:r>
            <a:r>
              <a:rPr lang="en-US" b="0" i="0" dirty="0">
                <a:solidFill>
                  <a:schemeClr val="tx1"/>
                </a:solidFill>
                <a:effectLst/>
                <a:latin typeface="inter-regular"/>
              </a:rPr>
              <a:t> any </a:t>
            </a:r>
            <a:r>
              <a:rPr lang="en-US" b="1" i="1" u="sng" dirty="0">
                <a:solidFill>
                  <a:schemeClr val="tx1"/>
                </a:solidFill>
                <a:effectLst/>
                <a:latin typeface="inter-regular"/>
              </a:rPr>
              <a:t>record</a:t>
            </a:r>
            <a:r>
              <a:rPr lang="en-US" b="0" i="0" dirty="0">
                <a:solidFill>
                  <a:schemeClr val="tx1"/>
                </a:solidFill>
                <a:effectLst/>
                <a:latin typeface="inter-regular"/>
              </a:rPr>
              <a:t> has to be </a:t>
            </a:r>
            <a:r>
              <a:rPr lang="en-US" b="1" i="1" u="sng" dirty="0">
                <a:solidFill>
                  <a:schemeClr val="tx1"/>
                </a:solidFill>
                <a:effectLst/>
                <a:latin typeface="inter-regular"/>
              </a:rPr>
              <a:t>retrieved based on its index value</a:t>
            </a:r>
            <a:r>
              <a:rPr lang="en-US" b="0" i="0" dirty="0">
                <a:solidFill>
                  <a:schemeClr val="tx1"/>
                </a:solidFill>
                <a:effectLst/>
                <a:latin typeface="inter-regular"/>
              </a:rPr>
              <a:t>, then the address of the data block is fetched and the record is retrieved from the memory.</a:t>
            </a:r>
            <a:endParaRPr lang="en-IN" dirty="0">
              <a:solidFill>
                <a:schemeClr val="tx1"/>
              </a:solidFill>
            </a:endParaRPr>
          </a:p>
        </p:txBody>
      </p:sp>
      <p:pic>
        <p:nvPicPr>
          <p:cNvPr id="12290" name="Picture 2" descr="DBMS Indexed sequential access method">
            <a:extLst>
              <a:ext uri="{FF2B5EF4-FFF2-40B4-BE49-F238E27FC236}">
                <a16:creationId xmlns:a16="http://schemas.microsoft.com/office/drawing/2014/main" id="{A329958F-AB28-3768-0E79-85EA0496F8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5101" y="3637831"/>
            <a:ext cx="5391150" cy="3071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1283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504DB-33CF-4D31-CCB3-B3A9D3DF2F2A}"/>
              </a:ext>
            </a:extLst>
          </p:cNvPr>
          <p:cNvSpPr>
            <a:spLocks noGrp="1"/>
          </p:cNvSpPr>
          <p:nvPr>
            <p:ph type="title"/>
          </p:nvPr>
        </p:nvSpPr>
        <p:spPr/>
        <p:txBody>
          <a:bodyPr/>
          <a:lstStyle/>
          <a:p>
            <a:r>
              <a:rPr lang="en-US" b="1" dirty="0"/>
              <a:t>PROS of ISAM</a:t>
            </a:r>
            <a:endParaRPr lang="en-IN" b="1" dirty="0"/>
          </a:p>
        </p:txBody>
      </p:sp>
      <p:sp>
        <p:nvSpPr>
          <p:cNvPr id="3" name="Content Placeholder 2">
            <a:extLst>
              <a:ext uri="{FF2B5EF4-FFF2-40B4-BE49-F238E27FC236}">
                <a16:creationId xmlns:a16="http://schemas.microsoft.com/office/drawing/2014/main" id="{0C2006D4-C651-CA5B-0861-566EEE063221}"/>
              </a:ext>
            </a:extLst>
          </p:cNvPr>
          <p:cNvSpPr>
            <a:spLocks noGrp="1"/>
          </p:cNvSpPr>
          <p:nvPr>
            <p:ph idx="1"/>
          </p:nvPr>
        </p:nvSpPr>
        <p:spPr/>
        <p:txBody>
          <a:bodyPr/>
          <a:lstStyle/>
          <a:p>
            <a:pPr algn="just">
              <a:buFont typeface="Arial" panose="020B0604020202020204" pitchFamily="34" charset="0"/>
              <a:buChar char="•"/>
            </a:pPr>
            <a:r>
              <a:rPr lang="en-US" b="0" i="0" dirty="0">
                <a:solidFill>
                  <a:schemeClr val="tx1"/>
                </a:solidFill>
                <a:effectLst/>
                <a:latin typeface="inter-regular"/>
              </a:rPr>
              <a:t>In this method, </a:t>
            </a:r>
            <a:r>
              <a:rPr lang="en-US" b="1" i="1" u="sng" dirty="0">
                <a:solidFill>
                  <a:schemeClr val="tx1"/>
                </a:solidFill>
                <a:effectLst/>
                <a:latin typeface="inter-regular"/>
              </a:rPr>
              <a:t>each record has the address </a:t>
            </a:r>
            <a:r>
              <a:rPr lang="en-US" b="0" i="0" dirty="0">
                <a:solidFill>
                  <a:schemeClr val="tx1"/>
                </a:solidFill>
                <a:effectLst/>
                <a:latin typeface="inter-regular"/>
              </a:rPr>
              <a:t>of its data block, </a:t>
            </a:r>
            <a:r>
              <a:rPr lang="en-US" b="1" i="1" u="sng" dirty="0">
                <a:solidFill>
                  <a:schemeClr val="tx1"/>
                </a:solidFill>
                <a:effectLst/>
                <a:latin typeface="inter-regular"/>
              </a:rPr>
              <a:t>searching</a:t>
            </a:r>
            <a:r>
              <a:rPr lang="en-US" b="0" i="0" dirty="0">
                <a:solidFill>
                  <a:schemeClr val="tx1"/>
                </a:solidFill>
                <a:effectLst/>
                <a:latin typeface="inter-regular"/>
              </a:rPr>
              <a:t> a record in a </a:t>
            </a:r>
            <a:r>
              <a:rPr lang="en-US" b="1" i="1" u="sng" dirty="0">
                <a:solidFill>
                  <a:schemeClr val="tx1"/>
                </a:solidFill>
                <a:effectLst/>
                <a:latin typeface="inter-regular"/>
              </a:rPr>
              <a:t>huge database is quick and easy</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This method </a:t>
            </a:r>
            <a:r>
              <a:rPr lang="en-US" b="1" i="1" u="sng" dirty="0">
                <a:solidFill>
                  <a:schemeClr val="tx1"/>
                </a:solidFill>
                <a:effectLst/>
                <a:latin typeface="inter-regular"/>
              </a:rPr>
              <a:t>supports range retrieval and partial retrieval </a:t>
            </a:r>
            <a:r>
              <a:rPr lang="en-US" b="0" i="0" dirty="0">
                <a:solidFill>
                  <a:schemeClr val="tx1"/>
                </a:solidFill>
                <a:effectLst/>
                <a:latin typeface="inter-regular"/>
              </a:rPr>
              <a:t>of records. Since the index is based on the primary key values, we can retrieve the data for the given range of value. In the same way, the partial value can also be easily searched, i.e., the student name starting with 'JA' can be easily searched.</a:t>
            </a:r>
          </a:p>
        </p:txBody>
      </p:sp>
    </p:spTree>
    <p:extLst>
      <p:ext uri="{BB962C8B-B14F-4D97-AF65-F5344CB8AC3E}">
        <p14:creationId xmlns:p14="http://schemas.microsoft.com/office/powerpoint/2010/main" val="2453640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3AB20-7933-AD0E-62A4-27539B845B33}"/>
              </a:ext>
            </a:extLst>
          </p:cNvPr>
          <p:cNvSpPr>
            <a:spLocks noGrp="1"/>
          </p:cNvSpPr>
          <p:nvPr>
            <p:ph type="title"/>
          </p:nvPr>
        </p:nvSpPr>
        <p:spPr/>
        <p:txBody>
          <a:bodyPr/>
          <a:lstStyle/>
          <a:p>
            <a:r>
              <a:rPr lang="en-US" b="1" dirty="0"/>
              <a:t>CONS of ISAM</a:t>
            </a:r>
            <a:endParaRPr lang="en-IN" b="1" dirty="0"/>
          </a:p>
        </p:txBody>
      </p:sp>
      <p:sp>
        <p:nvSpPr>
          <p:cNvPr id="3" name="Content Placeholder 2">
            <a:extLst>
              <a:ext uri="{FF2B5EF4-FFF2-40B4-BE49-F238E27FC236}">
                <a16:creationId xmlns:a16="http://schemas.microsoft.com/office/drawing/2014/main" id="{4E44DCE1-3EBB-1348-AD3C-E34351670B8E}"/>
              </a:ext>
            </a:extLst>
          </p:cNvPr>
          <p:cNvSpPr>
            <a:spLocks noGrp="1"/>
          </p:cNvSpPr>
          <p:nvPr>
            <p:ph idx="1"/>
          </p:nvPr>
        </p:nvSpPr>
        <p:spPr/>
        <p:txBody>
          <a:bodyPr/>
          <a:lstStyle/>
          <a:p>
            <a:pPr algn="just">
              <a:buFont typeface="Arial" panose="020B0604020202020204" pitchFamily="34" charset="0"/>
              <a:buChar char="•"/>
            </a:pPr>
            <a:r>
              <a:rPr lang="en-US" b="0" i="0" dirty="0">
                <a:solidFill>
                  <a:schemeClr val="tx1"/>
                </a:solidFill>
                <a:effectLst/>
                <a:latin typeface="inter-regular"/>
              </a:rPr>
              <a:t>This method requires </a:t>
            </a:r>
            <a:r>
              <a:rPr lang="en-US" b="1" i="1" u="sng" dirty="0">
                <a:solidFill>
                  <a:schemeClr val="tx1"/>
                </a:solidFill>
                <a:effectLst/>
                <a:latin typeface="inter-regular"/>
              </a:rPr>
              <a:t>extra space </a:t>
            </a:r>
            <a:r>
              <a:rPr lang="en-US" b="0" i="0" dirty="0">
                <a:solidFill>
                  <a:schemeClr val="tx1"/>
                </a:solidFill>
                <a:effectLst/>
                <a:latin typeface="inter-regular"/>
              </a:rPr>
              <a:t>in the disk to </a:t>
            </a:r>
            <a:r>
              <a:rPr lang="en-US" b="1" i="1" u="sng" dirty="0">
                <a:solidFill>
                  <a:schemeClr val="tx1"/>
                </a:solidFill>
                <a:effectLst/>
                <a:latin typeface="inter-regular"/>
              </a:rPr>
              <a:t>store the index value</a:t>
            </a:r>
            <a:r>
              <a:rPr lang="en-US" b="0" i="0" dirty="0">
                <a:solidFill>
                  <a:schemeClr val="tx1"/>
                </a:solidFill>
                <a:effectLst/>
                <a:latin typeface="inter-regular"/>
              </a:rPr>
              <a:t>.</a:t>
            </a:r>
          </a:p>
          <a:p>
            <a:pPr algn="just">
              <a:buFont typeface="Arial" panose="020B0604020202020204" pitchFamily="34" charset="0"/>
              <a:buChar char="•"/>
            </a:pPr>
            <a:r>
              <a:rPr lang="en-US" b="1" i="1" u="sng" dirty="0">
                <a:solidFill>
                  <a:schemeClr val="tx1"/>
                </a:solidFill>
                <a:effectLst/>
                <a:latin typeface="inter-regular"/>
              </a:rPr>
              <a:t>When</a:t>
            </a:r>
            <a:r>
              <a:rPr lang="en-US" b="0" i="0" dirty="0">
                <a:solidFill>
                  <a:schemeClr val="tx1"/>
                </a:solidFill>
                <a:effectLst/>
                <a:latin typeface="inter-regular"/>
              </a:rPr>
              <a:t> the new records are </a:t>
            </a:r>
            <a:r>
              <a:rPr lang="en-US" b="1" i="1" u="sng" dirty="0">
                <a:solidFill>
                  <a:schemeClr val="tx1"/>
                </a:solidFill>
                <a:effectLst/>
                <a:latin typeface="inter-regular"/>
              </a:rPr>
              <a:t>inserted</a:t>
            </a:r>
            <a:r>
              <a:rPr lang="en-US" b="0" i="0" dirty="0">
                <a:solidFill>
                  <a:schemeClr val="tx1"/>
                </a:solidFill>
                <a:effectLst/>
                <a:latin typeface="inter-regular"/>
              </a:rPr>
              <a:t>, then these </a:t>
            </a:r>
            <a:r>
              <a:rPr lang="en-US" b="1" i="1" u="sng" dirty="0">
                <a:solidFill>
                  <a:schemeClr val="tx1"/>
                </a:solidFill>
                <a:effectLst/>
                <a:latin typeface="inter-regular"/>
              </a:rPr>
              <a:t>files</a:t>
            </a:r>
            <a:r>
              <a:rPr lang="en-US" b="0" i="0" dirty="0">
                <a:solidFill>
                  <a:schemeClr val="tx1"/>
                </a:solidFill>
                <a:effectLst/>
                <a:latin typeface="inter-regular"/>
              </a:rPr>
              <a:t> have to be </a:t>
            </a:r>
            <a:r>
              <a:rPr lang="en-US" b="1" i="1" u="sng" dirty="0">
                <a:solidFill>
                  <a:schemeClr val="tx1"/>
                </a:solidFill>
                <a:effectLst/>
                <a:latin typeface="inter-regular"/>
              </a:rPr>
              <a:t>reconstructed to maintain the sequence.</a:t>
            </a:r>
          </a:p>
          <a:p>
            <a:pPr algn="just">
              <a:buFont typeface="Arial" panose="020B0604020202020204" pitchFamily="34" charset="0"/>
              <a:buChar char="•"/>
            </a:pPr>
            <a:r>
              <a:rPr lang="en-US" b="1" i="1" u="sng" dirty="0">
                <a:solidFill>
                  <a:schemeClr val="tx1"/>
                </a:solidFill>
                <a:effectLst/>
                <a:latin typeface="inter-regular"/>
              </a:rPr>
              <a:t>When</a:t>
            </a:r>
            <a:r>
              <a:rPr lang="en-US" b="0" i="0" dirty="0">
                <a:solidFill>
                  <a:schemeClr val="tx1"/>
                </a:solidFill>
                <a:effectLst/>
                <a:latin typeface="inter-regular"/>
              </a:rPr>
              <a:t> the record is </a:t>
            </a:r>
            <a:r>
              <a:rPr lang="en-US" b="1" i="1" u="sng" dirty="0">
                <a:solidFill>
                  <a:schemeClr val="tx1"/>
                </a:solidFill>
                <a:effectLst/>
                <a:latin typeface="inter-regular"/>
              </a:rPr>
              <a:t>deleted</a:t>
            </a:r>
            <a:r>
              <a:rPr lang="en-US" b="0" i="0" dirty="0">
                <a:solidFill>
                  <a:schemeClr val="tx1"/>
                </a:solidFill>
                <a:effectLst/>
                <a:latin typeface="inter-regular"/>
              </a:rPr>
              <a:t>, then the </a:t>
            </a:r>
            <a:r>
              <a:rPr lang="en-US" b="1" i="1" u="sng" dirty="0">
                <a:solidFill>
                  <a:schemeClr val="tx1"/>
                </a:solidFill>
                <a:effectLst/>
                <a:latin typeface="inter-regular"/>
              </a:rPr>
              <a:t>space used by it needs to be released</a:t>
            </a:r>
            <a:r>
              <a:rPr lang="en-US" b="0" i="0" dirty="0">
                <a:solidFill>
                  <a:schemeClr val="tx1"/>
                </a:solidFill>
                <a:effectLst/>
                <a:latin typeface="inter-regular"/>
              </a:rPr>
              <a:t>. </a:t>
            </a:r>
            <a:r>
              <a:rPr lang="en-US" b="1" i="1" u="sng" dirty="0">
                <a:solidFill>
                  <a:schemeClr val="tx1"/>
                </a:solidFill>
                <a:effectLst/>
                <a:latin typeface="inter-regular"/>
              </a:rPr>
              <a:t>Otherwise</a:t>
            </a:r>
            <a:r>
              <a:rPr lang="en-US" b="0" i="0" dirty="0">
                <a:solidFill>
                  <a:schemeClr val="tx1"/>
                </a:solidFill>
                <a:effectLst/>
                <a:latin typeface="inter-regular"/>
              </a:rPr>
              <a:t>, the </a:t>
            </a:r>
            <a:r>
              <a:rPr lang="en-US" b="1" i="1" u="sng" dirty="0">
                <a:solidFill>
                  <a:schemeClr val="tx1"/>
                </a:solidFill>
                <a:effectLst/>
                <a:latin typeface="inter-regular"/>
              </a:rPr>
              <a:t>performance of the database will slow down</a:t>
            </a:r>
            <a:r>
              <a:rPr lang="en-US" b="0" i="0" dirty="0">
                <a:solidFill>
                  <a:schemeClr val="tx1"/>
                </a:solidFill>
                <a:effectLst/>
                <a:latin typeface="inter-regular"/>
              </a:rPr>
              <a:t>.</a:t>
            </a:r>
          </a:p>
        </p:txBody>
      </p:sp>
    </p:spTree>
    <p:extLst>
      <p:ext uri="{BB962C8B-B14F-4D97-AF65-F5344CB8AC3E}">
        <p14:creationId xmlns:p14="http://schemas.microsoft.com/office/powerpoint/2010/main" val="1162204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93BB-A221-F6C8-1FC0-F2ADBB6F67F4}"/>
              </a:ext>
            </a:extLst>
          </p:cNvPr>
          <p:cNvSpPr>
            <a:spLocks noGrp="1"/>
          </p:cNvSpPr>
          <p:nvPr>
            <p:ph type="title"/>
          </p:nvPr>
        </p:nvSpPr>
        <p:spPr>
          <a:xfrm>
            <a:off x="913795" y="86264"/>
            <a:ext cx="10353762" cy="1526876"/>
          </a:xfrm>
        </p:spPr>
        <p:txBody>
          <a:bodyPr/>
          <a:lstStyle/>
          <a:p>
            <a:r>
              <a:rPr lang="en-IN" b="1" u="sng" dirty="0"/>
              <a:t>Cluster File Organization</a:t>
            </a:r>
          </a:p>
        </p:txBody>
      </p:sp>
      <p:sp>
        <p:nvSpPr>
          <p:cNvPr id="3" name="Content Placeholder 2">
            <a:extLst>
              <a:ext uri="{FF2B5EF4-FFF2-40B4-BE49-F238E27FC236}">
                <a16:creationId xmlns:a16="http://schemas.microsoft.com/office/drawing/2014/main" id="{29205E1D-1FFB-CCCE-891D-A8E8EFED21A6}"/>
              </a:ext>
            </a:extLst>
          </p:cNvPr>
          <p:cNvSpPr>
            <a:spLocks noGrp="1"/>
          </p:cNvSpPr>
          <p:nvPr>
            <p:ph idx="1"/>
          </p:nvPr>
        </p:nvSpPr>
        <p:spPr>
          <a:xfrm>
            <a:off x="913795" y="1725284"/>
            <a:ext cx="10353762" cy="4649638"/>
          </a:xfrm>
        </p:spPr>
        <p:txBody>
          <a:bodyPr>
            <a:normAutofit fontScale="92500"/>
          </a:bodyPr>
          <a:lstStyle/>
          <a:p>
            <a:pPr algn="just">
              <a:buFont typeface="Arial" panose="020B0604020202020204" pitchFamily="34" charset="0"/>
              <a:buChar char="•"/>
            </a:pPr>
            <a:r>
              <a:rPr lang="en-US" b="0" i="0" dirty="0">
                <a:solidFill>
                  <a:schemeClr val="tx1"/>
                </a:solidFill>
                <a:effectLst/>
                <a:latin typeface="inter-regular"/>
              </a:rPr>
              <a:t>When the </a:t>
            </a:r>
            <a:r>
              <a:rPr lang="en-US" b="1" i="1" u="sng" dirty="0">
                <a:solidFill>
                  <a:schemeClr val="tx1"/>
                </a:solidFill>
                <a:effectLst/>
                <a:latin typeface="inter-regular"/>
              </a:rPr>
              <a:t>two or more records </a:t>
            </a:r>
            <a:r>
              <a:rPr lang="en-US" b="0" i="0" dirty="0">
                <a:solidFill>
                  <a:schemeClr val="tx1"/>
                </a:solidFill>
                <a:effectLst/>
                <a:latin typeface="inter-regular"/>
              </a:rPr>
              <a:t>are stored in the </a:t>
            </a:r>
            <a:r>
              <a:rPr lang="en-US" b="1" i="1" u="sng" dirty="0">
                <a:solidFill>
                  <a:schemeClr val="tx1"/>
                </a:solidFill>
                <a:effectLst/>
                <a:latin typeface="inter-regular"/>
              </a:rPr>
              <a:t>same file</a:t>
            </a:r>
            <a:r>
              <a:rPr lang="en-US" b="0" i="0" dirty="0">
                <a:solidFill>
                  <a:schemeClr val="tx1"/>
                </a:solidFill>
                <a:effectLst/>
                <a:latin typeface="inter-regular"/>
              </a:rPr>
              <a:t>, it is </a:t>
            </a:r>
            <a:r>
              <a:rPr lang="en-US" b="0" i="0" u="sng" dirty="0">
                <a:solidFill>
                  <a:srgbClr val="FF0000"/>
                </a:solidFill>
                <a:effectLst/>
                <a:latin typeface="inter-regular"/>
              </a:rPr>
              <a:t>known as clusters</a:t>
            </a:r>
            <a:r>
              <a:rPr lang="en-US" b="0" i="0" dirty="0">
                <a:solidFill>
                  <a:schemeClr val="tx1"/>
                </a:solidFill>
                <a:effectLst/>
                <a:latin typeface="inter-regular"/>
              </a:rPr>
              <a:t>. These files will have </a:t>
            </a:r>
            <a:r>
              <a:rPr lang="en-US" b="0" i="0" u="sng" dirty="0">
                <a:solidFill>
                  <a:schemeClr val="tx1"/>
                </a:solidFill>
                <a:effectLst/>
                <a:latin typeface="inter-regular"/>
              </a:rPr>
              <a:t>two or more tables in the same data block</a:t>
            </a:r>
            <a:r>
              <a:rPr lang="en-US" b="0" i="0" dirty="0">
                <a:solidFill>
                  <a:schemeClr val="tx1"/>
                </a:solidFill>
                <a:effectLst/>
                <a:latin typeface="inter-regular"/>
              </a:rPr>
              <a:t>, and </a:t>
            </a:r>
            <a:r>
              <a:rPr lang="en-US" b="0" i="0" u="sng" dirty="0">
                <a:solidFill>
                  <a:schemeClr val="tx1"/>
                </a:solidFill>
                <a:effectLst/>
                <a:latin typeface="inter-regular"/>
              </a:rPr>
              <a:t>key attributes which are used to map these tables together are </a:t>
            </a:r>
            <a:r>
              <a:rPr lang="en-US" b="1" i="1" u="sng" dirty="0">
                <a:solidFill>
                  <a:schemeClr val="tx1"/>
                </a:solidFill>
                <a:effectLst/>
                <a:latin typeface="inter-regular"/>
              </a:rPr>
              <a:t>stored only once</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This method </a:t>
            </a:r>
            <a:r>
              <a:rPr lang="en-US" b="1" i="1" u="sng" dirty="0">
                <a:solidFill>
                  <a:schemeClr val="tx1"/>
                </a:solidFill>
                <a:effectLst/>
                <a:latin typeface="inter-regular"/>
              </a:rPr>
              <a:t>reduces the cost of searching</a:t>
            </a:r>
            <a:r>
              <a:rPr lang="en-US" b="0" i="0" dirty="0">
                <a:solidFill>
                  <a:schemeClr val="tx1"/>
                </a:solidFill>
                <a:effectLst/>
                <a:latin typeface="inter-regular"/>
              </a:rPr>
              <a:t> for various records in different files.</a:t>
            </a:r>
          </a:p>
          <a:p>
            <a:pPr algn="just">
              <a:buFont typeface="Arial" panose="020B0604020202020204" pitchFamily="34" charset="0"/>
              <a:buChar char="•"/>
            </a:pPr>
            <a:r>
              <a:rPr lang="en-US" b="0" i="0" dirty="0">
                <a:solidFill>
                  <a:schemeClr val="tx1"/>
                </a:solidFill>
                <a:effectLst/>
                <a:latin typeface="inter-regular"/>
              </a:rPr>
              <a:t>The cluster file organization is </a:t>
            </a:r>
            <a:r>
              <a:rPr lang="en-US" b="1" i="1" u="sng" dirty="0">
                <a:solidFill>
                  <a:schemeClr val="tx1"/>
                </a:solidFill>
                <a:effectLst/>
                <a:latin typeface="inter-regular"/>
              </a:rPr>
              <a:t>used when there is a frequent need for joining the tables with the same condition</a:t>
            </a:r>
            <a:r>
              <a:rPr lang="en-US" b="0" i="0" dirty="0">
                <a:solidFill>
                  <a:schemeClr val="tx1"/>
                </a:solidFill>
                <a:effectLst/>
                <a:latin typeface="inter-regular"/>
              </a:rPr>
              <a:t>. These joins will give only a few records from both tables.</a:t>
            </a:r>
          </a:p>
          <a:p>
            <a:pPr algn="just">
              <a:buFont typeface="Arial" panose="020B0604020202020204" pitchFamily="34" charset="0"/>
              <a:buChar char="•"/>
            </a:pPr>
            <a:r>
              <a:rPr lang="en-US" b="0" i="0" dirty="0">
                <a:solidFill>
                  <a:schemeClr val="tx1"/>
                </a:solidFill>
                <a:effectLst/>
                <a:latin typeface="inter-regular"/>
              </a:rPr>
              <a:t>In the given example, we are </a:t>
            </a:r>
            <a:r>
              <a:rPr lang="en-US" b="0" i="0" u="sng" dirty="0">
                <a:solidFill>
                  <a:schemeClr val="tx1"/>
                </a:solidFill>
                <a:effectLst/>
                <a:latin typeface="inter-regular"/>
              </a:rPr>
              <a:t>retrieving the record for only particular departments</a:t>
            </a:r>
            <a:r>
              <a:rPr lang="en-US" b="0" i="0" dirty="0">
                <a:solidFill>
                  <a:schemeClr val="tx1"/>
                </a:solidFill>
                <a:effectLst/>
                <a:latin typeface="inter-regular"/>
              </a:rPr>
              <a:t>. This method </a:t>
            </a:r>
            <a:r>
              <a:rPr lang="en-US" b="0" i="0" u="sng" dirty="0">
                <a:solidFill>
                  <a:schemeClr val="tx1"/>
                </a:solidFill>
                <a:effectLst/>
                <a:latin typeface="inter-regular"/>
              </a:rPr>
              <a:t>can't be used to retrieve the record for the entire department</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In this method, we can </a:t>
            </a:r>
            <a:r>
              <a:rPr lang="en-US" b="1" i="1" u="sng" dirty="0">
                <a:solidFill>
                  <a:schemeClr val="tx1"/>
                </a:solidFill>
                <a:effectLst/>
                <a:latin typeface="inter-regular"/>
              </a:rPr>
              <a:t>directly insert, update or delete </a:t>
            </a:r>
            <a:r>
              <a:rPr lang="en-US" b="0" i="0" dirty="0">
                <a:solidFill>
                  <a:schemeClr val="tx1"/>
                </a:solidFill>
                <a:effectLst/>
                <a:latin typeface="inter-regular"/>
              </a:rPr>
              <a:t>any record. Data is sorted based on the key with which searching is done. </a:t>
            </a:r>
            <a:r>
              <a:rPr lang="en-US" b="0" i="0" u="sng" dirty="0">
                <a:solidFill>
                  <a:schemeClr val="tx1"/>
                </a:solidFill>
                <a:effectLst/>
                <a:latin typeface="inter-regular"/>
              </a:rPr>
              <a:t>Cluster key is a type of key with which joining of the table is performed.</a:t>
            </a:r>
            <a:endParaRPr lang="en-IN" u="sng" dirty="0">
              <a:solidFill>
                <a:schemeClr val="tx1"/>
              </a:solidFill>
            </a:endParaRPr>
          </a:p>
        </p:txBody>
      </p:sp>
    </p:spTree>
    <p:extLst>
      <p:ext uri="{BB962C8B-B14F-4D97-AF65-F5344CB8AC3E}">
        <p14:creationId xmlns:p14="http://schemas.microsoft.com/office/powerpoint/2010/main" val="2609773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DBMS Cluster file organization">
            <a:extLst>
              <a:ext uri="{FF2B5EF4-FFF2-40B4-BE49-F238E27FC236}">
                <a16:creationId xmlns:a16="http://schemas.microsoft.com/office/drawing/2014/main" id="{BA422938-297A-3707-4567-724D6284F39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24200" y="673129"/>
            <a:ext cx="5943600" cy="2466975"/>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DBMS Cluster file organization">
            <a:extLst>
              <a:ext uri="{FF2B5EF4-FFF2-40B4-BE49-F238E27FC236}">
                <a16:creationId xmlns:a16="http://schemas.microsoft.com/office/drawing/2014/main" id="{0BD23CD5-882B-CD74-3C1D-2265523E7E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4737" y="3429000"/>
            <a:ext cx="4962525" cy="290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301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08844-3A06-5F3B-BAAA-9C5AB54627CE}"/>
              </a:ext>
            </a:extLst>
          </p:cNvPr>
          <p:cNvSpPr>
            <a:spLocks noGrp="1"/>
          </p:cNvSpPr>
          <p:nvPr>
            <p:ph type="title"/>
          </p:nvPr>
        </p:nvSpPr>
        <p:spPr/>
        <p:txBody>
          <a:bodyPr/>
          <a:lstStyle/>
          <a:p>
            <a:r>
              <a:rPr lang="en-US" b="1" dirty="0"/>
              <a:t>Types of Cluster file organization:</a:t>
            </a:r>
            <a:endParaRPr lang="en-IN" b="1" dirty="0"/>
          </a:p>
        </p:txBody>
      </p:sp>
      <p:sp>
        <p:nvSpPr>
          <p:cNvPr id="3" name="Content Placeholder 2">
            <a:extLst>
              <a:ext uri="{FF2B5EF4-FFF2-40B4-BE49-F238E27FC236}">
                <a16:creationId xmlns:a16="http://schemas.microsoft.com/office/drawing/2014/main" id="{D015B87B-B433-4457-D984-46EF4D6EF785}"/>
              </a:ext>
            </a:extLst>
          </p:cNvPr>
          <p:cNvSpPr>
            <a:spLocks noGrp="1"/>
          </p:cNvSpPr>
          <p:nvPr>
            <p:ph idx="1"/>
          </p:nvPr>
        </p:nvSpPr>
        <p:spPr/>
        <p:txBody>
          <a:bodyPr/>
          <a:lstStyle/>
          <a:p>
            <a:pPr marL="36900" indent="0">
              <a:buNone/>
            </a:pPr>
            <a:r>
              <a:rPr lang="en-US" dirty="0"/>
              <a:t>1. Indexed Clusters</a:t>
            </a:r>
          </a:p>
          <a:p>
            <a:pPr marL="36900" indent="0">
              <a:buNone/>
            </a:pPr>
            <a:r>
              <a:rPr lang="en-US" dirty="0"/>
              <a:t>2. Hash Clusters</a:t>
            </a:r>
            <a:endParaRPr lang="en-IN" dirty="0"/>
          </a:p>
        </p:txBody>
      </p:sp>
    </p:spTree>
    <p:extLst>
      <p:ext uri="{BB962C8B-B14F-4D97-AF65-F5344CB8AC3E}">
        <p14:creationId xmlns:p14="http://schemas.microsoft.com/office/powerpoint/2010/main" val="2404979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188B-A11F-C0E8-9DB2-FBA8EA3D7616}"/>
              </a:ext>
            </a:extLst>
          </p:cNvPr>
          <p:cNvSpPr>
            <a:spLocks noGrp="1"/>
          </p:cNvSpPr>
          <p:nvPr>
            <p:ph type="title"/>
          </p:nvPr>
        </p:nvSpPr>
        <p:spPr/>
        <p:txBody>
          <a:bodyPr>
            <a:normAutofit/>
          </a:bodyPr>
          <a:lstStyle/>
          <a:p>
            <a:r>
              <a:rPr lang="en-US" b="0" i="0" dirty="0">
                <a:solidFill>
                  <a:schemeClr val="tx1"/>
                </a:solidFill>
                <a:effectLst/>
                <a:latin typeface="erdana"/>
              </a:rPr>
              <a:t>1. Indexed Clusters:</a:t>
            </a:r>
            <a:endParaRPr lang="en-IN" dirty="0"/>
          </a:p>
        </p:txBody>
      </p:sp>
      <p:sp>
        <p:nvSpPr>
          <p:cNvPr id="3" name="Content Placeholder 2">
            <a:extLst>
              <a:ext uri="{FF2B5EF4-FFF2-40B4-BE49-F238E27FC236}">
                <a16:creationId xmlns:a16="http://schemas.microsoft.com/office/drawing/2014/main" id="{E210AB68-59D5-941D-4B34-D3CA251190B5}"/>
              </a:ext>
            </a:extLst>
          </p:cNvPr>
          <p:cNvSpPr>
            <a:spLocks noGrp="1"/>
          </p:cNvSpPr>
          <p:nvPr>
            <p:ph idx="1"/>
          </p:nvPr>
        </p:nvSpPr>
        <p:spPr/>
        <p:txBody>
          <a:bodyPr>
            <a:normAutofit/>
          </a:bodyPr>
          <a:lstStyle/>
          <a:p>
            <a:pPr algn="just"/>
            <a:r>
              <a:rPr lang="en-US" b="0" i="0" dirty="0">
                <a:solidFill>
                  <a:schemeClr val="tx1"/>
                </a:solidFill>
                <a:effectLst/>
                <a:latin typeface="inter-regular"/>
              </a:rPr>
              <a:t>In indexed cluster, records are </a:t>
            </a:r>
            <a:r>
              <a:rPr lang="en-US" b="1" i="1" u="sng" dirty="0">
                <a:solidFill>
                  <a:schemeClr val="tx1"/>
                </a:solidFill>
                <a:effectLst/>
                <a:latin typeface="inter-regular"/>
              </a:rPr>
              <a:t>grouped based on the cluster key and stored together</a:t>
            </a:r>
            <a:r>
              <a:rPr lang="en-US" b="0" i="0" dirty="0">
                <a:solidFill>
                  <a:schemeClr val="tx1"/>
                </a:solidFill>
                <a:effectLst/>
                <a:latin typeface="inter-regular"/>
              </a:rPr>
              <a:t>.</a:t>
            </a:r>
          </a:p>
          <a:p>
            <a:pPr algn="just"/>
            <a:r>
              <a:rPr lang="en-US" b="0" i="0" dirty="0">
                <a:solidFill>
                  <a:schemeClr val="tx1"/>
                </a:solidFill>
                <a:effectLst/>
                <a:latin typeface="inter-regular"/>
              </a:rPr>
              <a:t>The above EMPLOYEE and DEPARTMENT relationship is an example of an indexed cluster. Here, all the records are </a:t>
            </a:r>
            <a:r>
              <a:rPr lang="en-US" b="1" i="1" dirty="0">
                <a:solidFill>
                  <a:schemeClr val="tx1"/>
                </a:solidFill>
                <a:effectLst/>
                <a:latin typeface="inter-regular"/>
              </a:rPr>
              <a:t>grouped based on the cluster key- DEP_ID </a:t>
            </a:r>
            <a:r>
              <a:rPr lang="en-US" b="0" i="0" dirty="0">
                <a:solidFill>
                  <a:schemeClr val="tx1"/>
                </a:solidFill>
                <a:effectLst/>
                <a:latin typeface="inter-regular"/>
              </a:rPr>
              <a:t>and all the records are grouped.</a:t>
            </a:r>
          </a:p>
        </p:txBody>
      </p:sp>
    </p:spTree>
    <p:extLst>
      <p:ext uri="{BB962C8B-B14F-4D97-AF65-F5344CB8AC3E}">
        <p14:creationId xmlns:p14="http://schemas.microsoft.com/office/powerpoint/2010/main" val="8435985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273B-9EC7-F2D7-88D7-51F53ED09F0F}"/>
              </a:ext>
            </a:extLst>
          </p:cNvPr>
          <p:cNvSpPr>
            <a:spLocks noGrp="1"/>
          </p:cNvSpPr>
          <p:nvPr>
            <p:ph type="title"/>
          </p:nvPr>
        </p:nvSpPr>
        <p:spPr/>
        <p:txBody>
          <a:bodyPr>
            <a:normAutofit/>
          </a:bodyPr>
          <a:lstStyle/>
          <a:p>
            <a:r>
              <a:rPr lang="en-US" b="0" i="0" dirty="0">
                <a:solidFill>
                  <a:schemeClr val="tx1"/>
                </a:solidFill>
                <a:effectLst/>
                <a:latin typeface="erdana"/>
              </a:rPr>
              <a:t>2. Hash Clusters:</a:t>
            </a:r>
            <a:endParaRPr lang="en-IN" dirty="0"/>
          </a:p>
        </p:txBody>
      </p:sp>
      <p:sp>
        <p:nvSpPr>
          <p:cNvPr id="3" name="Content Placeholder 2">
            <a:extLst>
              <a:ext uri="{FF2B5EF4-FFF2-40B4-BE49-F238E27FC236}">
                <a16:creationId xmlns:a16="http://schemas.microsoft.com/office/drawing/2014/main" id="{406D9148-42D4-76FD-3B82-9D8CDC84DCE6}"/>
              </a:ext>
            </a:extLst>
          </p:cNvPr>
          <p:cNvSpPr>
            <a:spLocks noGrp="1"/>
          </p:cNvSpPr>
          <p:nvPr>
            <p:ph idx="1"/>
          </p:nvPr>
        </p:nvSpPr>
        <p:spPr/>
        <p:txBody>
          <a:bodyPr/>
          <a:lstStyle/>
          <a:p>
            <a:pPr algn="just"/>
            <a:r>
              <a:rPr lang="en-US" b="0" i="0" dirty="0">
                <a:solidFill>
                  <a:schemeClr val="tx1"/>
                </a:solidFill>
                <a:effectLst/>
                <a:latin typeface="inter-regular"/>
              </a:rPr>
              <a:t>It is </a:t>
            </a:r>
            <a:r>
              <a:rPr lang="en-US" b="1" i="1" u="sng" dirty="0">
                <a:solidFill>
                  <a:schemeClr val="tx1"/>
                </a:solidFill>
                <a:effectLst/>
                <a:latin typeface="inter-regular"/>
              </a:rPr>
              <a:t>similar to the indexed cluster</a:t>
            </a:r>
            <a:r>
              <a:rPr lang="en-US" b="0" i="0" dirty="0">
                <a:solidFill>
                  <a:schemeClr val="tx1"/>
                </a:solidFill>
                <a:effectLst/>
                <a:latin typeface="inter-regular"/>
              </a:rPr>
              <a:t>.</a:t>
            </a:r>
          </a:p>
          <a:p>
            <a:pPr algn="just"/>
            <a:r>
              <a:rPr lang="en-US" b="0" i="0" dirty="0">
                <a:solidFill>
                  <a:schemeClr val="tx1"/>
                </a:solidFill>
                <a:effectLst/>
                <a:latin typeface="inter-regular"/>
              </a:rPr>
              <a:t>In hash cluster, </a:t>
            </a:r>
            <a:r>
              <a:rPr lang="en-US" b="1" i="1" u="sng" dirty="0">
                <a:solidFill>
                  <a:srgbClr val="FF0000"/>
                </a:solidFill>
                <a:effectLst/>
                <a:latin typeface="inter-regular"/>
              </a:rPr>
              <a:t>instead of storing </a:t>
            </a:r>
            <a:r>
              <a:rPr lang="en-US" b="1" i="1" u="sng" dirty="0">
                <a:solidFill>
                  <a:schemeClr val="tx1"/>
                </a:solidFill>
                <a:effectLst/>
                <a:latin typeface="inter-regular"/>
              </a:rPr>
              <a:t>the records based on the cluster key</a:t>
            </a:r>
            <a:r>
              <a:rPr lang="en-US" b="0" i="0" dirty="0">
                <a:solidFill>
                  <a:schemeClr val="tx1"/>
                </a:solidFill>
                <a:effectLst/>
                <a:latin typeface="inter-regular"/>
              </a:rPr>
              <a:t>, we </a:t>
            </a:r>
            <a:r>
              <a:rPr lang="en-US" b="1" i="1" u="sng" dirty="0">
                <a:solidFill>
                  <a:srgbClr val="FF0000"/>
                </a:solidFill>
                <a:effectLst/>
                <a:latin typeface="inter-regular"/>
              </a:rPr>
              <a:t>generate</a:t>
            </a:r>
            <a:r>
              <a:rPr lang="en-US" b="1" i="1" u="sng" dirty="0">
                <a:solidFill>
                  <a:schemeClr val="tx1"/>
                </a:solidFill>
                <a:effectLst/>
                <a:latin typeface="inter-regular"/>
              </a:rPr>
              <a:t> the value of the hash key for the cluster key and store the records with the same hash key value.</a:t>
            </a:r>
          </a:p>
        </p:txBody>
      </p:sp>
    </p:spTree>
    <p:extLst>
      <p:ext uri="{BB962C8B-B14F-4D97-AF65-F5344CB8AC3E}">
        <p14:creationId xmlns:p14="http://schemas.microsoft.com/office/powerpoint/2010/main" val="3790059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E983D-C382-7AA3-BAB1-75A8A0AEFF47}"/>
              </a:ext>
            </a:extLst>
          </p:cNvPr>
          <p:cNvSpPr>
            <a:spLocks noGrp="1"/>
          </p:cNvSpPr>
          <p:nvPr>
            <p:ph type="title"/>
          </p:nvPr>
        </p:nvSpPr>
        <p:spPr/>
        <p:txBody>
          <a:bodyPr/>
          <a:lstStyle/>
          <a:p>
            <a:r>
              <a:rPr lang="en-US" b="1" dirty="0"/>
              <a:t>PROS of Cluster File Organization</a:t>
            </a:r>
            <a:endParaRPr lang="en-IN" b="1" dirty="0"/>
          </a:p>
        </p:txBody>
      </p:sp>
      <p:sp>
        <p:nvSpPr>
          <p:cNvPr id="3" name="Content Placeholder 2">
            <a:extLst>
              <a:ext uri="{FF2B5EF4-FFF2-40B4-BE49-F238E27FC236}">
                <a16:creationId xmlns:a16="http://schemas.microsoft.com/office/drawing/2014/main" id="{6F957F10-0A11-A3D1-8CBD-A74D2DB7784A}"/>
              </a:ext>
            </a:extLst>
          </p:cNvPr>
          <p:cNvSpPr>
            <a:spLocks noGrp="1"/>
          </p:cNvSpPr>
          <p:nvPr>
            <p:ph idx="1"/>
          </p:nvPr>
        </p:nvSpPr>
        <p:spPr/>
        <p:txBody>
          <a:bodyPr/>
          <a:lstStyle/>
          <a:p>
            <a:pPr algn="just">
              <a:buFont typeface="Arial" panose="020B0604020202020204" pitchFamily="34" charset="0"/>
              <a:buChar char="•"/>
            </a:pPr>
            <a:r>
              <a:rPr lang="en-US" b="0" i="0" dirty="0">
                <a:solidFill>
                  <a:schemeClr val="tx1"/>
                </a:solidFill>
                <a:effectLst/>
                <a:latin typeface="inter-regular"/>
              </a:rPr>
              <a:t>The cluster file organization is </a:t>
            </a:r>
            <a:r>
              <a:rPr lang="en-US" b="1" i="1" u="sng" dirty="0">
                <a:solidFill>
                  <a:schemeClr val="tx1"/>
                </a:solidFill>
                <a:effectLst/>
                <a:latin typeface="inter-regular"/>
              </a:rPr>
              <a:t>used when there is a frequent request for joining </a:t>
            </a:r>
            <a:r>
              <a:rPr lang="en-US" b="0" i="0" dirty="0">
                <a:solidFill>
                  <a:schemeClr val="tx1"/>
                </a:solidFill>
                <a:effectLst/>
                <a:latin typeface="inter-regular"/>
              </a:rPr>
              <a:t>the tables </a:t>
            </a:r>
            <a:r>
              <a:rPr lang="en-US" b="1" i="1" u="sng" dirty="0">
                <a:solidFill>
                  <a:schemeClr val="tx1"/>
                </a:solidFill>
                <a:effectLst/>
                <a:latin typeface="inter-regular"/>
              </a:rPr>
              <a:t>with same joining condition</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It provides the </a:t>
            </a:r>
            <a:r>
              <a:rPr lang="en-US" b="1" i="1" u="sng" dirty="0">
                <a:solidFill>
                  <a:schemeClr val="tx1"/>
                </a:solidFill>
                <a:effectLst/>
                <a:latin typeface="inter-regular"/>
              </a:rPr>
              <a:t>efficient result when there is a 1:M</a:t>
            </a:r>
            <a:r>
              <a:rPr lang="en-US" b="1" i="1" dirty="0">
                <a:solidFill>
                  <a:schemeClr val="tx1"/>
                </a:solidFill>
                <a:effectLst/>
                <a:latin typeface="inter-regular"/>
              </a:rPr>
              <a:t> (One to Many) </a:t>
            </a:r>
            <a:r>
              <a:rPr lang="en-US" b="1" i="1" u="sng" dirty="0">
                <a:solidFill>
                  <a:schemeClr val="tx1"/>
                </a:solidFill>
                <a:effectLst/>
                <a:latin typeface="inter-regular"/>
              </a:rPr>
              <a:t>mapping between the tables</a:t>
            </a:r>
            <a:r>
              <a:rPr lang="en-US" b="0" i="0" dirty="0">
                <a:solidFill>
                  <a:schemeClr val="tx1"/>
                </a:solidFill>
                <a:effectLst/>
                <a:latin typeface="inter-regular"/>
              </a:rPr>
              <a:t>.</a:t>
            </a:r>
          </a:p>
        </p:txBody>
      </p:sp>
    </p:spTree>
    <p:extLst>
      <p:ext uri="{BB962C8B-B14F-4D97-AF65-F5344CB8AC3E}">
        <p14:creationId xmlns:p14="http://schemas.microsoft.com/office/powerpoint/2010/main" val="26356992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5F1A1-A90D-5327-B286-8C7D7D6EBFC1}"/>
              </a:ext>
            </a:extLst>
          </p:cNvPr>
          <p:cNvSpPr>
            <a:spLocks noGrp="1"/>
          </p:cNvSpPr>
          <p:nvPr>
            <p:ph type="title"/>
          </p:nvPr>
        </p:nvSpPr>
        <p:spPr/>
        <p:txBody>
          <a:bodyPr/>
          <a:lstStyle/>
          <a:p>
            <a:r>
              <a:rPr lang="en-US" b="1" dirty="0"/>
              <a:t>CONS of Cluster File Organization</a:t>
            </a:r>
            <a:endParaRPr lang="en-IN" b="1" dirty="0"/>
          </a:p>
        </p:txBody>
      </p:sp>
      <p:sp>
        <p:nvSpPr>
          <p:cNvPr id="3" name="Content Placeholder 2">
            <a:extLst>
              <a:ext uri="{FF2B5EF4-FFF2-40B4-BE49-F238E27FC236}">
                <a16:creationId xmlns:a16="http://schemas.microsoft.com/office/drawing/2014/main" id="{BECC34F0-9923-B508-61C4-F3CA4A35F42C}"/>
              </a:ext>
            </a:extLst>
          </p:cNvPr>
          <p:cNvSpPr>
            <a:spLocks noGrp="1"/>
          </p:cNvSpPr>
          <p:nvPr>
            <p:ph idx="1"/>
          </p:nvPr>
        </p:nvSpPr>
        <p:spPr/>
        <p:txBody>
          <a:bodyPr/>
          <a:lstStyle/>
          <a:p>
            <a:pPr algn="just">
              <a:buFont typeface="Arial" panose="020B0604020202020204" pitchFamily="34" charset="0"/>
              <a:buChar char="•"/>
            </a:pPr>
            <a:r>
              <a:rPr lang="en-US" b="0" i="0" dirty="0">
                <a:solidFill>
                  <a:schemeClr val="tx1"/>
                </a:solidFill>
                <a:effectLst/>
                <a:latin typeface="inter-regular"/>
              </a:rPr>
              <a:t>This method has the </a:t>
            </a:r>
            <a:r>
              <a:rPr lang="en-US" b="1" i="1" u="sng" dirty="0">
                <a:solidFill>
                  <a:schemeClr val="tx1"/>
                </a:solidFill>
                <a:effectLst/>
                <a:latin typeface="inter-regular"/>
              </a:rPr>
              <a:t>low performance for the very large database</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If there is </a:t>
            </a:r>
            <a:r>
              <a:rPr lang="en-US" b="1" i="1" u="sng" dirty="0">
                <a:solidFill>
                  <a:schemeClr val="tx1"/>
                </a:solidFill>
                <a:effectLst/>
                <a:latin typeface="inter-regular"/>
              </a:rPr>
              <a:t>any change in joining condition</a:t>
            </a:r>
            <a:r>
              <a:rPr lang="en-US" b="0" i="0" dirty="0">
                <a:solidFill>
                  <a:schemeClr val="tx1"/>
                </a:solidFill>
                <a:effectLst/>
                <a:latin typeface="inter-regular"/>
              </a:rPr>
              <a:t>, then this method </a:t>
            </a:r>
            <a:r>
              <a:rPr lang="en-US" b="1" i="1" u="sng" dirty="0">
                <a:solidFill>
                  <a:schemeClr val="tx1"/>
                </a:solidFill>
                <a:effectLst/>
                <a:latin typeface="inter-regular"/>
              </a:rPr>
              <a:t>cannot use</a:t>
            </a:r>
            <a:r>
              <a:rPr lang="en-US" b="0" i="0" dirty="0">
                <a:solidFill>
                  <a:schemeClr val="tx1"/>
                </a:solidFill>
                <a:effectLst/>
                <a:latin typeface="inter-regular"/>
              </a:rPr>
              <a:t>. </a:t>
            </a:r>
            <a:r>
              <a:rPr lang="en-US" b="0" i="0" u="sng" dirty="0">
                <a:solidFill>
                  <a:schemeClr val="tx1"/>
                </a:solidFill>
                <a:effectLst/>
                <a:latin typeface="inter-regular"/>
              </a:rPr>
              <a:t>If we change the condition of joining then </a:t>
            </a:r>
            <a:r>
              <a:rPr lang="en-US" b="1" i="1" u="sng" dirty="0">
                <a:solidFill>
                  <a:schemeClr val="tx1"/>
                </a:solidFill>
                <a:effectLst/>
                <a:latin typeface="inter-regular"/>
              </a:rPr>
              <a:t>traversing</a:t>
            </a:r>
            <a:r>
              <a:rPr lang="en-US" b="0" i="0" u="sng" dirty="0">
                <a:solidFill>
                  <a:schemeClr val="tx1"/>
                </a:solidFill>
                <a:effectLst/>
                <a:latin typeface="inter-regular"/>
              </a:rPr>
              <a:t> the file takes a </a:t>
            </a:r>
            <a:r>
              <a:rPr lang="en-US" b="1" i="1" u="sng" dirty="0">
                <a:solidFill>
                  <a:schemeClr val="tx1"/>
                </a:solidFill>
                <a:effectLst/>
                <a:latin typeface="inter-regular"/>
              </a:rPr>
              <a:t>lot of time</a:t>
            </a:r>
            <a:r>
              <a:rPr lang="en-US" b="0" i="0" dirty="0">
                <a:solidFill>
                  <a:schemeClr val="tx1"/>
                </a:solidFill>
                <a:effectLst/>
                <a:latin typeface="inter-regular"/>
              </a:rPr>
              <a:t>.</a:t>
            </a:r>
          </a:p>
          <a:p>
            <a:pPr algn="just">
              <a:buFont typeface="Arial" panose="020B0604020202020204" pitchFamily="34" charset="0"/>
              <a:buChar char="•"/>
            </a:pPr>
            <a:r>
              <a:rPr lang="en-US" b="0" i="0" dirty="0">
                <a:solidFill>
                  <a:schemeClr val="tx1"/>
                </a:solidFill>
                <a:effectLst/>
                <a:latin typeface="inter-regular"/>
              </a:rPr>
              <a:t>This method is </a:t>
            </a:r>
            <a:r>
              <a:rPr lang="en-US" b="1" i="1" u="sng" dirty="0">
                <a:solidFill>
                  <a:schemeClr val="tx1"/>
                </a:solidFill>
                <a:effectLst/>
                <a:latin typeface="inter-regular"/>
              </a:rPr>
              <a:t>not suitable </a:t>
            </a:r>
            <a:r>
              <a:rPr lang="en-US" b="0" i="0" dirty="0">
                <a:solidFill>
                  <a:schemeClr val="tx1"/>
                </a:solidFill>
                <a:effectLst/>
                <a:latin typeface="inter-regular"/>
              </a:rPr>
              <a:t>for a table with a </a:t>
            </a:r>
            <a:r>
              <a:rPr lang="en-US" b="1" i="1" u="sng" dirty="0">
                <a:solidFill>
                  <a:schemeClr val="tx1"/>
                </a:solidFill>
                <a:effectLst/>
                <a:latin typeface="inter-regular"/>
              </a:rPr>
              <a:t>1:1 condition</a:t>
            </a:r>
            <a:r>
              <a:rPr lang="en-US" b="0" i="0" dirty="0">
                <a:solidFill>
                  <a:schemeClr val="tx1"/>
                </a:solidFill>
                <a:effectLst/>
                <a:latin typeface="inter-regular"/>
              </a:rPr>
              <a:t>.</a:t>
            </a:r>
          </a:p>
        </p:txBody>
      </p:sp>
    </p:spTree>
    <p:extLst>
      <p:ext uri="{BB962C8B-B14F-4D97-AF65-F5344CB8AC3E}">
        <p14:creationId xmlns:p14="http://schemas.microsoft.com/office/powerpoint/2010/main" val="39219878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{ECB43604-0D22-41B9-8E98-F50E76221791}tf55705232_win32</Template>
  <TotalTime>138</TotalTime>
  <Words>2330</Words>
  <Application>Microsoft Office PowerPoint</Application>
  <PresentationFormat>Widescreen</PresentationFormat>
  <Paragraphs>134</Paragraphs>
  <Slides>36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Calibri</vt:lpstr>
      <vt:lpstr>erdana</vt:lpstr>
      <vt:lpstr>Goudy Old Style</vt:lpstr>
      <vt:lpstr>inter-regular</vt:lpstr>
      <vt:lpstr>Roboto</vt:lpstr>
      <vt:lpstr>urw-din</vt:lpstr>
      <vt:lpstr>Wingdings 2</vt:lpstr>
      <vt:lpstr>SlateVTI</vt:lpstr>
      <vt:lpstr>FILE ORGANISATION  in Data Base Management System</vt:lpstr>
      <vt:lpstr>File Organization</vt:lpstr>
      <vt:lpstr>INTRODUCTION</vt:lpstr>
      <vt:lpstr>What is File Organization?</vt:lpstr>
      <vt:lpstr>OBJECTIVE</vt:lpstr>
      <vt:lpstr>TYPES</vt:lpstr>
      <vt:lpstr>PowerPoint Presentation</vt:lpstr>
      <vt:lpstr>Sequential File Organization</vt:lpstr>
      <vt:lpstr>Pile File Method</vt:lpstr>
      <vt:lpstr>Insertion of new record</vt:lpstr>
      <vt:lpstr>Sorted File Method</vt:lpstr>
      <vt:lpstr>Insertion of new record</vt:lpstr>
      <vt:lpstr>PROS of Sequential File Organization</vt:lpstr>
      <vt:lpstr>CONS of File Organisation</vt:lpstr>
      <vt:lpstr>Heap File Organization</vt:lpstr>
      <vt:lpstr>PowerPoint Presentation</vt:lpstr>
      <vt:lpstr>Insertion of a new record</vt:lpstr>
      <vt:lpstr>PowerPoint Presentation</vt:lpstr>
      <vt:lpstr>PROS of Heap File Organization</vt:lpstr>
      <vt:lpstr>CONS of Heap File Organization</vt:lpstr>
      <vt:lpstr>Hash File Organization</vt:lpstr>
      <vt:lpstr>PowerPoint Presentation</vt:lpstr>
      <vt:lpstr>B+ File Organization</vt:lpstr>
      <vt:lpstr>PowerPoint Presentation</vt:lpstr>
      <vt:lpstr>PROS of B+ Tree File Organization</vt:lpstr>
      <vt:lpstr>CONS of B+ Tree File Organization</vt:lpstr>
      <vt:lpstr>Indexed Sequential Access Method (ISAM)</vt:lpstr>
      <vt:lpstr>PROS of ISAM</vt:lpstr>
      <vt:lpstr>CONS of ISAM</vt:lpstr>
      <vt:lpstr>Cluster File Organization</vt:lpstr>
      <vt:lpstr>PowerPoint Presentation</vt:lpstr>
      <vt:lpstr>Types of Cluster file organization:</vt:lpstr>
      <vt:lpstr>1. Indexed Clusters:</vt:lpstr>
      <vt:lpstr>2. Hash Clusters:</vt:lpstr>
      <vt:lpstr>PROS of Cluster File Organization</vt:lpstr>
      <vt:lpstr>CONS of Cluster File Organization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ORGANISATION  in Data Base Management System</dc:title>
  <dc:creator>Signeta Gloria</dc:creator>
  <cp:lastModifiedBy>Signeta Gloria</cp:lastModifiedBy>
  <cp:revision>6</cp:revision>
  <dcterms:created xsi:type="dcterms:W3CDTF">2022-10-05T16:46:57Z</dcterms:created>
  <dcterms:modified xsi:type="dcterms:W3CDTF">2022-10-05T19:05:35Z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
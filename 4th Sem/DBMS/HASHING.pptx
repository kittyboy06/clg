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4E881C6-61C1-43F7-874E-348372C7C516}">
          <p14:sldIdLst>
            <p14:sldId id="256"/>
            <p14:sldId id="257"/>
            <p14:sldId id="259"/>
            <p14:sldId id="258"/>
            <p14:sldId id="260"/>
            <p14:sldId id="261"/>
            <p14:sldId id="262"/>
            <p14:sldId id="263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ophila murphy S" userId="7fb972c1c8d22d0b" providerId="LiveId" clId="{6BB93CD8-0912-47EC-9BCF-6B34858DAC54}"/>
    <pc:docChg chg="modSld">
      <pc:chgData name="theophila murphy S" userId="7fb972c1c8d22d0b" providerId="LiveId" clId="{6BB93CD8-0912-47EC-9BCF-6B34858DAC54}" dt="2022-10-10T01:43:52.881" v="1" actId="20577"/>
      <pc:docMkLst>
        <pc:docMk/>
      </pc:docMkLst>
      <pc:sldChg chg="modSp mod">
        <pc:chgData name="theophila murphy S" userId="7fb972c1c8d22d0b" providerId="LiveId" clId="{6BB93CD8-0912-47EC-9BCF-6B34858DAC54}" dt="2022-10-10T01:43:52.881" v="1" actId="20577"/>
        <pc:sldMkLst>
          <pc:docMk/>
          <pc:sldMk cId="1724681814" sldId="270"/>
        </pc:sldMkLst>
        <pc:spChg chg="mod">
          <ac:chgData name="theophila murphy S" userId="7fb972c1c8d22d0b" providerId="LiveId" clId="{6BB93CD8-0912-47EC-9BCF-6B34858DAC54}" dt="2022-10-10T01:43:52.881" v="1" actId="20577"/>
          <ac:spMkLst>
            <pc:docMk/>
            <pc:sldMk cId="1724681814" sldId="270"/>
            <ac:spMk id="3" creationId="{D41969F3-4183-6189-9C74-B4849CB81A9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91A118-2338-4BDC-8392-8922EBAD2E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10B9548-DF58-49E5-9EBD-EDCCCC910BED}">
      <dgm:prSet/>
      <dgm:spPr/>
      <dgm:t>
        <a:bodyPr/>
        <a:lstStyle/>
        <a:p>
          <a:r>
            <a:rPr lang="en-IN" b="0" i="0"/>
            <a:t>HASHING</a:t>
          </a:r>
          <a:endParaRPr lang="en-IN"/>
        </a:p>
      </dgm:t>
    </dgm:pt>
    <dgm:pt modelId="{D9BD00EB-6C3D-4AB5-8A98-C4450AD28285}" type="parTrans" cxnId="{4039855C-5E65-4565-A269-994159466C32}">
      <dgm:prSet/>
      <dgm:spPr/>
      <dgm:t>
        <a:bodyPr/>
        <a:lstStyle/>
        <a:p>
          <a:endParaRPr lang="en-IN"/>
        </a:p>
      </dgm:t>
    </dgm:pt>
    <dgm:pt modelId="{CFD099CE-F62B-40A3-A075-767416304A14}" type="sibTrans" cxnId="{4039855C-5E65-4565-A269-994159466C32}">
      <dgm:prSet/>
      <dgm:spPr/>
      <dgm:t>
        <a:bodyPr/>
        <a:lstStyle/>
        <a:p>
          <a:endParaRPr lang="en-IN"/>
        </a:p>
      </dgm:t>
    </dgm:pt>
    <dgm:pt modelId="{F4E022BA-5390-4538-AE82-8E882A3AB0FF}">
      <dgm:prSet/>
      <dgm:spPr/>
      <dgm:t>
        <a:bodyPr/>
        <a:lstStyle/>
        <a:p>
          <a:r>
            <a:rPr lang="en-IN" b="0" i="0"/>
            <a:t>TYPES OF HASHING</a:t>
          </a:r>
          <a:endParaRPr lang="en-IN"/>
        </a:p>
      </dgm:t>
    </dgm:pt>
    <dgm:pt modelId="{4D801934-BBEC-46AE-BCDF-C20020A19A73}" type="parTrans" cxnId="{8E1DE586-AB8C-40C2-BDD5-EADE4EC4E2B8}">
      <dgm:prSet/>
      <dgm:spPr/>
      <dgm:t>
        <a:bodyPr/>
        <a:lstStyle/>
        <a:p>
          <a:endParaRPr lang="en-IN"/>
        </a:p>
      </dgm:t>
    </dgm:pt>
    <dgm:pt modelId="{B55E73AA-EA30-4FA9-97E6-69018BFF9004}" type="sibTrans" cxnId="{8E1DE586-AB8C-40C2-BDD5-EADE4EC4E2B8}">
      <dgm:prSet/>
      <dgm:spPr/>
      <dgm:t>
        <a:bodyPr/>
        <a:lstStyle/>
        <a:p>
          <a:endParaRPr lang="en-IN"/>
        </a:p>
      </dgm:t>
    </dgm:pt>
    <dgm:pt modelId="{BABE1D02-78F4-451C-B53C-1B83DDC3CE2F}">
      <dgm:prSet/>
      <dgm:spPr/>
      <dgm:t>
        <a:bodyPr/>
        <a:lstStyle/>
        <a:p>
          <a:r>
            <a:rPr lang="en-IN" dirty="0"/>
            <a:t>1)STATIC HASHING</a:t>
          </a:r>
        </a:p>
        <a:p>
          <a:r>
            <a:rPr lang="en-IN" dirty="0"/>
            <a:t>2)DYNAMIC HASHING</a:t>
          </a:r>
        </a:p>
      </dgm:t>
    </dgm:pt>
    <dgm:pt modelId="{7C10B10D-9231-42D3-BB70-A6BB5B168617}" type="parTrans" cxnId="{DD2B7B60-BDCC-4B6C-BFD3-D47BD32E9C80}">
      <dgm:prSet/>
      <dgm:spPr/>
      <dgm:t>
        <a:bodyPr/>
        <a:lstStyle/>
        <a:p>
          <a:endParaRPr lang="en-IN"/>
        </a:p>
      </dgm:t>
    </dgm:pt>
    <dgm:pt modelId="{CE3C58AE-D0F5-4EAF-B3A7-31D6427C8FC7}" type="sibTrans" cxnId="{DD2B7B60-BDCC-4B6C-BFD3-D47BD32E9C80}">
      <dgm:prSet/>
      <dgm:spPr/>
      <dgm:t>
        <a:bodyPr/>
        <a:lstStyle/>
        <a:p>
          <a:endParaRPr lang="en-IN"/>
        </a:p>
      </dgm:t>
    </dgm:pt>
    <dgm:pt modelId="{F57E293F-8AB6-41F5-9DD6-4B8E42326681}" type="pres">
      <dgm:prSet presAssocID="{B091A118-2338-4BDC-8392-8922EBAD2EC7}" presName="linear" presStyleCnt="0">
        <dgm:presLayoutVars>
          <dgm:animLvl val="lvl"/>
          <dgm:resizeHandles val="exact"/>
        </dgm:presLayoutVars>
      </dgm:prSet>
      <dgm:spPr/>
    </dgm:pt>
    <dgm:pt modelId="{39881419-8E48-45A8-BC19-E524B7C77014}" type="pres">
      <dgm:prSet presAssocID="{410B9548-DF58-49E5-9EBD-EDCCCC910BED}" presName="parentText" presStyleLbl="node1" presStyleIdx="0" presStyleCnt="3" custScaleY="65728">
        <dgm:presLayoutVars>
          <dgm:chMax val="0"/>
          <dgm:bulletEnabled val="1"/>
        </dgm:presLayoutVars>
      </dgm:prSet>
      <dgm:spPr/>
    </dgm:pt>
    <dgm:pt modelId="{14435FB2-BC0C-4E9F-9D76-9839C2F6BC1C}" type="pres">
      <dgm:prSet presAssocID="{CFD099CE-F62B-40A3-A075-767416304A14}" presName="spacer" presStyleCnt="0"/>
      <dgm:spPr/>
    </dgm:pt>
    <dgm:pt modelId="{2DBE88E9-6D80-4C5D-A8AD-7F2F7AAF3AA0}" type="pres">
      <dgm:prSet presAssocID="{F4E022BA-5390-4538-AE82-8E882A3AB0FF}" presName="parentText" presStyleLbl="node1" presStyleIdx="1" presStyleCnt="3" custScaleY="65114" custLinFactNeighborX="-472" custLinFactNeighborY="-4847">
        <dgm:presLayoutVars>
          <dgm:chMax val="0"/>
          <dgm:bulletEnabled val="1"/>
        </dgm:presLayoutVars>
      </dgm:prSet>
      <dgm:spPr/>
    </dgm:pt>
    <dgm:pt modelId="{33EB25C5-92F2-4F65-B739-818F29E39F1D}" type="pres">
      <dgm:prSet presAssocID="{B55E73AA-EA30-4FA9-97E6-69018BFF9004}" presName="spacer" presStyleCnt="0"/>
      <dgm:spPr/>
    </dgm:pt>
    <dgm:pt modelId="{92937260-53D8-4DAA-82E3-3A3E540D5786}" type="pres">
      <dgm:prSet presAssocID="{BABE1D02-78F4-451C-B53C-1B83DDC3CE2F}" presName="parentText" presStyleLbl="node1" presStyleIdx="2" presStyleCnt="3" custLinFactNeighborX="-472" custLinFactNeighborY="4">
        <dgm:presLayoutVars>
          <dgm:chMax val="0"/>
          <dgm:bulletEnabled val="1"/>
        </dgm:presLayoutVars>
      </dgm:prSet>
      <dgm:spPr/>
    </dgm:pt>
  </dgm:ptLst>
  <dgm:cxnLst>
    <dgm:cxn modelId="{BFD1E916-0305-4B2A-9AC0-A367797D729F}" type="presOf" srcId="{F4E022BA-5390-4538-AE82-8E882A3AB0FF}" destId="{2DBE88E9-6D80-4C5D-A8AD-7F2F7AAF3AA0}" srcOrd="0" destOrd="0" presId="urn:microsoft.com/office/officeart/2005/8/layout/vList2"/>
    <dgm:cxn modelId="{4039855C-5E65-4565-A269-994159466C32}" srcId="{B091A118-2338-4BDC-8392-8922EBAD2EC7}" destId="{410B9548-DF58-49E5-9EBD-EDCCCC910BED}" srcOrd="0" destOrd="0" parTransId="{D9BD00EB-6C3D-4AB5-8A98-C4450AD28285}" sibTransId="{CFD099CE-F62B-40A3-A075-767416304A14}"/>
    <dgm:cxn modelId="{DD2B7B60-BDCC-4B6C-BFD3-D47BD32E9C80}" srcId="{B091A118-2338-4BDC-8392-8922EBAD2EC7}" destId="{BABE1D02-78F4-451C-B53C-1B83DDC3CE2F}" srcOrd="2" destOrd="0" parTransId="{7C10B10D-9231-42D3-BB70-A6BB5B168617}" sibTransId="{CE3C58AE-D0F5-4EAF-B3A7-31D6427C8FC7}"/>
    <dgm:cxn modelId="{E9CD9567-3FFB-4F72-8DD0-5163E96D133E}" type="presOf" srcId="{BABE1D02-78F4-451C-B53C-1B83DDC3CE2F}" destId="{92937260-53D8-4DAA-82E3-3A3E540D5786}" srcOrd="0" destOrd="0" presId="urn:microsoft.com/office/officeart/2005/8/layout/vList2"/>
    <dgm:cxn modelId="{8E1DE586-AB8C-40C2-BDD5-EADE4EC4E2B8}" srcId="{B091A118-2338-4BDC-8392-8922EBAD2EC7}" destId="{F4E022BA-5390-4538-AE82-8E882A3AB0FF}" srcOrd="1" destOrd="0" parTransId="{4D801934-BBEC-46AE-BCDF-C20020A19A73}" sibTransId="{B55E73AA-EA30-4FA9-97E6-69018BFF9004}"/>
    <dgm:cxn modelId="{8B4C5990-8A8F-4E14-98B0-D5E7D7449553}" type="presOf" srcId="{410B9548-DF58-49E5-9EBD-EDCCCC910BED}" destId="{39881419-8E48-45A8-BC19-E524B7C77014}" srcOrd="0" destOrd="0" presId="urn:microsoft.com/office/officeart/2005/8/layout/vList2"/>
    <dgm:cxn modelId="{AFE48898-8774-4F7E-B311-9E8DFD578CE9}" type="presOf" srcId="{B091A118-2338-4BDC-8392-8922EBAD2EC7}" destId="{F57E293F-8AB6-41F5-9DD6-4B8E42326681}" srcOrd="0" destOrd="0" presId="urn:microsoft.com/office/officeart/2005/8/layout/vList2"/>
    <dgm:cxn modelId="{C53AAA82-D7D9-4AAD-BFB0-DF79F674EE49}" type="presParOf" srcId="{F57E293F-8AB6-41F5-9DD6-4B8E42326681}" destId="{39881419-8E48-45A8-BC19-E524B7C77014}" srcOrd="0" destOrd="0" presId="urn:microsoft.com/office/officeart/2005/8/layout/vList2"/>
    <dgm:cxn modelId="{B7F50769-23C6-4CE3-ADD6-31B2E131B492}" type="presParOf" srcId="{F57E293F-8AB6-41F5-9DD6-4B8E42326681}" destId="{14435FB2-BC0C-4E9F-9D76-9839C2F6BC1C}" srcOrd="1" destOrd="0" presId="urn:microsoft.com/office/officeart/2005/8/layout/vList2"/>
    <dgm:cxn modelId="{E396B5FB-0582-421F-97EF-0810CB1A13B9}" type="presParOf" srcId="{F57E293F-8AB6-41F5-9DD6-4B8E42326681}" destId="{2DBE88E9-6D80-4C5D-A8AD-7F2F7AAF3AA0}" srcOrd="2" destOrd="0" presId="urn:microsoft.com/office/officeart/2005/8/layout/vList2"/>
    <dgm:cxn modelId="{64B05DF6-9A12-4354-A257-C44C7B18C062}" type="presParOf" srcId="{F57E293F-8AB6-41F5-9DD6-4B8E42326681}" destId="{33EB25C5-92F2-4F65-B739-818F29E39F1D}" srcOrd="3" destOrd="0" presId="urn:microsoft.com/office/officeart/2005/8/layout/vList2"/>
    <dgm:cxn modelId="{EE4F97A2-974B-4E83-82F1-5BAA2837D001}" type="presParOf" srcId="{F57E293F-8AB6-41F5-9DD6-4B8E42326681}" destId="{92937260-53D8-4DAA-82E3-3A3E540D578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81419-8E48-45A8-BC19-E524B7C77014}">
      <dsp:nvSpPr>
        <dsp:cNvPr id="0" name=""/>
        <dsp:cNvSpPr/>
      </dsp:nvSpPr>
      <dsp:spPr>
        <a:xfrm>
          <a:off x="0" y="49983"/>
          <a:ext cx="11292840" cy="1232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0" i="0" kern="1200"/>
            <a:t>HASHING</a:t>
          </a:r>
          <a:endParaRPr lang="en-IN" sz="4100" kern="1200"/>
        </a:p>
      </dsp:txBody>
      <dsp:txXfrm>
        <a:off x="60147" y="110130"/>
        <a:ext cx="11172546" cy="1111828"/>
      </dsp:txXfrm>
    </dsp:sp>
    <dsp:sp modelId="{2DBE88E9-6D80-4C5D-A8AD-7F2F7AAF3AA0}">
      <dsp:nvSpPr>
        <dsp:cNvPr id="0" name=""/>
        <dsp:cNvSpPr/>
      </dsp:nvSpPr>
      <dsp:spPr>
        <a:xfrm>
          <a:off x="0" y="1394462"/>
          <a:ext cx="11292840" cy="1220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b="0" i="0" kern="1200"/>
            <a:t>TYPES OF HASHING</a:t>
          </a:r>
          <a:endParaRPr lang="en-IN" sz="4100" kern="1200"/>
        </a:p>
      </dsp:txBody>
      <dsp:txXfrm>
        <a:off x="59585" y="1454047"/>
        <a:ext cx="11173670" cy="1101442"/>
      </dsp:txXfrm>
    </dsp:sp>
    <dsp:sp modelId="{92937260-53D8-4DAA-82E3-3A3E540D5786}">
      <dsp:nvSpPr>
        <dsp:cNvPr id="0" name=""/>
        <dsp:cNvSpPr/>
      </dsp:nvSpPr>
      <dsp:spPr>
        <a:xfrm>
          <a:off x="0" y="2738883"/>
          <a:ext cx="11292840" cy="18745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 dirty="0"/>
            <a:t>1)STATIC HASHING</a:t>
          </a:r>
        </a:p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 dirty="0"/>
            <a:t>2)DYNAMIC HASHING</a:t>
          </a:r>
        </a:p>
      </dsp:txBody>
      <dsp:txXfrm>
        <a:off x="91509" y="2830392"/>
        <a:ext cx="11109822" cy="1691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076D-D430-FA98-DA88-EE23FD6FF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3307605" y="275572"/>
            <a:ext cx="4370850" cy="701458"/>
          </a:xfrm>
        </p:spPr>
        <p:txBody>
          <a:bodyPr/>
          <a:lstStyle/>
          <a:p>
            <a:r>
              <a:rPr lang="en-IN" sz="3600" dirty="0">
                <a:latin typeface="Arial Black" panose="020B0A04020102020204" pitchFamily="34" charset="0"/>
              </a:rPr>
              <a:t>          OUTLINE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30024D8-3541-B878-A2F9-764B77D138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463257"/>
              </p:ext>
            </p:extLst>
          </p:nvPr>
        </p:nvGraphicFramePr>
        <p:xfrm>
          <a:off x="502920" y="1440180"/>
          <a:ext cx="11292840" cy="466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134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81D0-CA07-971C-2656-40464723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452718"/>
            <a:ext cx="4709160" cy="850302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AAF9-506E-0FC2-197F-0AA597319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961478"/>
            <a:ext cx="11384280" cy="446666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Hashing is an effective technique to calculate the direct location of a data record on the disk without using index structure.</a:t>
            </a:r>
          </a:p>
          <a:p>
            <a:pPr marL="0" indent="0">
              <a:buNone/>
            </a:pPr>
            <a:endParaRPr lang="en-IN" sz="2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Hashing uses hash function with search key as parameters to generate the address of a data record.</a:t>
            </a:r>
          </a:p>
        </p:txBody>
      </p:sp>
    </p:spTree>
    <p:extLst>
      <p:ext uri="{BB962C8B-B14F-4D97-AF65-F5344CB8AC3E}">
        <p14:creationId xmlns:p14="http://schemas.microsoft.com/office/powerpoint/2010/main" val="190729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7FAE-C75E-DD58-C68E-6D32A252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0" y="201258"/>
            <a:ext cx="8679234" cy="987462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     HASHING 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8F4264-2C7C-28D6-0AE1-9FAA56731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20" y="1188720"/>
            <a:ext cx="11567160" cy="528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8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20BC2-0400-C52D-8B37-A2208F0B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76032"/>
          </a:xfrm>
        </p:spPr>
        <p:txBody>
          <a:bodyPr/>
          <a:lstStyle/>
          <a:p>
            <a:r>
              <a:rPr lang="en-IN" dirty="0"/>
              <a:t>                   </a:t>
            </a:r>
            <a:r>
              <a:rPr lang="en-IN" sz="4000" dirty="0">
                <a:latin typeface="Arial Black" panose="020B0A04020102020204" pitchFamily="34" charset="0"/>
              </a:rPr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0E7A-D56C-2A3C-231D-4991CD1E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610" y="1523366"/>
            <a:ext cx="10664189" cy="5080634"/>
          </a:xfrm>
        </p:spPr>
        <p:txBody>
          <a:bodyPr>
            <a:noAutofit/>
          </a:bodyPr>
          <a:lstStyle/>
          <a:p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Hash function maps a big number or string to a small integer that can be used as index in hash table.</a:t>
            </a:r>
          </a:p>
          <a:p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HASH FUNCTION h(x):</a:t>
            </a:r>
          </a:p>
          <a:p>
            <a:pPr marL="0" indent="0">
              <a:buNone/>
            </a:pPr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              </a:t>
            </a:r>
            <a:r>
              <a:rPr lang="en-IN" sz="3200" dirty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h(x)=x mod(m)</a:t>
            </a:r>
          </a:p>
          <a:p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Example:</a:t>
            </a:r>
          </a:p>
          <a:p>
            <a:pPr marL="0" indent="0">
              <a:buNone/>
            </a:pPr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      let x=9875639</a:t>
            </a:r>
            <a:r>
              <a:rPr lang="en-IN" dirty="0">
                <a:solidFill>
                  <a:srgbClr val="FFC00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(key)</a:t>
            </a:r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mod=5</a:t>
            </a:r>
            <a:r>
              <a:rPr lang="en-IN" dirty="0">
                <a:solidFill>
                  <a:srgbClr val="FFC00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( Number of Data blocks )</a:t>
            </a:r>
          </a:p>
          <a:p>
            <a:pPr marL="0" indent="0">
              <a:buNone/>
            </a:pPr>
            <a:endParaRPr lang="en-IN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indent="0">
              <a:buNone/>
            </a:pPr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      h(x)=9875639 mod(5) = 4</a:t>
            </a:r>
          </a:p>
        </p:txBody>
      </p:sp>
    </p:spTree>
    <p:extLst>
      <p:ext uri="{BB962C8B-B14F-4D97-AF65-F5344CB8AC3E}">
        <p14:creationId xmlns:p14="http://schemas.microsoft.com/office/powerpoint/2010/main" val="397300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9DEE-322F-4FB1-45D1-7699E2B63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26789" cy="987462"/>
          </a:xfrm>
        </p:spPr>
        <p:txBody>
          <a:bodyPr/>
          <a:lstStyle/>
          <a:p>
            <a:r>
              <a:rPr lang="en-IN" dirty="0"/>
              <a:t>                   </a:t>
            </a:r>
            <a:r>
              <a:rPr lang="en-IN" dirty="0">
                <a:latin typeface="Arial Black" panose="020B0A04020102020204" pitchFamily="34" charset="0"/>
              </a:rPr>
              <a:t>TYPES OF HASHING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FAAD0E-2353-55BA-0973-5FE78A1F2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7617"/>
          <a:stretch/>
        </p:blipFill>
        <p:spPr>
          <a:xfrm>
            <a:off x="160020" y="2052638"/>
            <a:ext cx="11795760" cy="462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7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E417-03C2-28E2-EA42-BAC041FCB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875329" cy="873162"/>
          </a:xfrm>
        </p:spPr>
        <p:txBody>
          <a:bodyPr/>
          <a:lstStyle/>
          <a:p>
            <a:r>
              <a:rPr lang="en-IN" dirty="0"/>
              <a:t>                    </a:t>
            </a:r>
            <a:r>
              <a:rPr lang="en-IN" dirty="0">
                <a:latin typeface="Arial Black" panose="020B0A04020102020204" pitchFamily="34" charset="0"/>
              </a:rPr>
              <a:t> STATIC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FAEE-2FD4-8D06-9736-B18001A7E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72858"/>
            <a:ext cx="11172509" cy="4832424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 Static Hashing , the resultant data  bucket address will always be the same.</a:t>
            </a:r>
          </a:p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The number of data buckets in memory remains constant throughout.</a:t>
            </a:r>
          </a:p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EXAMPLE:</a:t>
            </a:r>
          </a:p>
          <a:p>
            <a:pPr marL="0" indent="0">
              <a:buNone/>
            </a:pP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       If we generate an address for </a:t>
            </a:r>
            <a:r>
              <a:rPr lang="en-IN" sz="2800" dirty="0">
                <a:solidFill>
                  <a:srgbClr val="FF000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EMP_ID=103 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using hash function </a:t>
            </a:r>
            <a:r>
              <a:rPr lang="en-IN" sz="2800" dirty="0">
                <a:solidFill>
                  <a:srgbClr val="FF000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mod(5)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then it will always result in same bucket address </a:t>
            </a:r>
            <a:r>
              <a:rPr lang="en-IN" sz="2800" dirty="0">
                <a:solidFill>
                  <a:srgbClr val="FF000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3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.</a:t>
            </a:r>
          </a:p>
          <a:p>
            <a:pPr marL="0" indent="0">
              <a:buNone/>
            </a:pP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   Here , there will be no change in the bucket address </a:t>
            </a:r>
          </a:p>
        </p:txBody>
      </p:sp>
    </p:spTree>
    <p:extLst>
      <p:ext uri="{BB962C8B-B14F-4D97-AF65-F5344CB8AC3E}">
        <p14:creationId xmlns:p14="http://schemas.microsoft.com/office/powerpoint/2010/main" val="385023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C75E-CE6E-0B68-BCF2-176D1E441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</a:t>
            </a:r>
            <a:r>
              <a:rPr lang="en-IN" dirty="0">
                <a:latin typeface="Arial Black" panose="020B0A04020102020204" pitchFamily="34" charset="0"/>
              </a:rPr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3FE0E4-DA96-6D5A-0D8B-4A695D8ED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1" y="1485901"/>
            <a:ext cx="11635740" cy="509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0595-09E9-A240-B4D0-39FC74A39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806749" cy="1078902"/>
          </a:xfrm>
        </p:spPr>
        <p:txBody>
          <a:bodyPr/>
          <a:lstStyle/>
          <a:p>
            <a:r>
              <a:rPr lang="en-IN" dirty="0"/>
              <a:t>         </a:t>
            </a:r>
            <a:r>
              <a:rPr lang="en-IN" sz="3600" dirty="0">
                <a:latin typeface="Arial Black" panose="020B0A04020102020204" pitchFamily="34" charset="0"/>
              </a:rPr>
              <a:t>OPERATIONS IN STATIC HASHING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37234-EB74-0679-B27C-739C6C85C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Search</a:t>
            </a:r>
          </a:p>
          <a:p>
            <a:pPr algn="just"/>
            <a:r>
              <a:rPr lang="en-IN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Delete</a:t>
            </a:r>
          </a:p>
          <a:p>
            <a:pPr algn="just"/>
            <a:r>
              <a:rPr lang="en-IN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Insert</a:t>
            </a:r>
          </a:p>
          <a:p>
            <a:pPr algn="just"/>
            <a:r>
              <a:rPr lang="en-IN" sz="40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615393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2DFA-3AC2-5C0D-2A58-7ABB3E0E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1" y="704178"/>
            <a:ext cx="9404723" cy="896022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BUCKET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6794-B99E-1490-D157-0F8674BDD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10" y="2205319"/>
            <a:ext cx="11498580" cy="4195481"/>
          </a:xfrm>
        </p:spPr>
        <p:txBody>
          <a:bodyPr>
            <a:normAutofit/>
          </a:bodyPr>
          <a:lstStyle/>
          <a:p>
            <a:r>
              <a:rPr lang="en-US" sz="2800" b="0" i="0" dirty="0">
                <a:effectLst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If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  </a:t>
            </a:r>
            <a:r>
              <a:rPr lang="en-US" sz="2800" b="0" i="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we want to insert some new record into the file but 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, the address generated by the hash function is not empty or data already exists in that address, this critical situation is called “</a:t>
            </a:r>
            <a:r>
              <a:rPr lang="en-IN" sz="2800" dirty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BUCKET OVERFLOW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63292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6A17-63F8-4F28-1095-8CE199AB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035349" cy="1400530"/>
          </a:xfrm>
        </p:spPr>
        <p:txBody>
          <a:bodyPr/>
          <a:lstStyle/>
          <a:p>
            <a:r>
              <a:rPr lang="en-IN" dirty="0">
                <a:latin typeface="Eras Demi ITC" panose="020B0805030504020804" pitchFamily="34" charset="0"/>
              </a:rPr>
              <a:t>To overcome this  Bucket  overflow , commonly used methods are,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415E-BFF0-64AF-625E-81B495FB4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971800"/>
            <a:ext cx="9653588" cy="2565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200" b="1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OPEN HASHING (or) LINEAR PROBING</a:t>
            </a:r>
          </a:p>
          <a:p>
            <a:pPr marL="0" indent="0">
              <a:buNone/>
            </a:pPr>
            <a:endParaRPr lang="en-IN" sz="2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CLOSE HASHING (or) OVERFLOW CHAINING</a:t>
            </a:r>
          </a:p>
        </p:txBody>
      </p:sp>
    </p:spTree>
    <p:extLst>
      <p:ext uri="{BB962C8B-B14F-4D97-AF65-F5344CB8AC3E}">
        <p14:creationId xmlns:p14="http://schemas.microsoft.com/office/powerpoint/2010/main" val="42486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D163-4D9F-F38B-EEF7-2C7E4005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OPEN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69F3-4183-6189-9C74-B4849CB81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80968" cy="4195481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When a hash function generates an address at which data </a:t>
            </a:r>
            <a:r>
              <a:rPr lang="en-IN" sz="280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is already 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stored , then the next bucket will be allocated to it.</a:t>
            </a:r>
          </a:p>
          <a:p>
            <a:pPr marL="0" indent="0">
              <a:buNone/>
            </a:pPr>
            <a:endParaRPr lang="en-IN" sz="2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This mechanism is called as “</a:t>
            </a:r>
            <a:r>
              <a:rPr lang="en-IN" sz="2800" dirty="0">
                <a:solidFill>
                  <a:schemeClr val="tx2">
                    <a:lumMod val="10000"/>
                  </a:schemeClr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LINEAR PROBING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72468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F41A-D1F1-1178-62AA-57710124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Eras Demi ITC" panose="020B0805030504020804" pitchFamily="34" charset="0"/>
              </a:rPr>
              <a:t>EXAMPLE FOR OPEN HASHING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FEEEFE-BE07-B10F-377D-6F3FA8D3C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" y="1554480"/>
            <a:ext cx="1168146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30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60F7-643E-2198-445F-7A94BFF34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33182"/>
          </a:xfrm>
        </p:spPr>
        <p:txBody>
          <a:bodyPr/>
          <a:lstStyle/>
          <a:p>
            <a:r>
              <a:rPr lang="en-IN" dirty="0">
                <a:latin typeface="Eras Demi ITC" panose="020B0805030504020804" pitchFamily="34" charset="0"/>
              </a:rPr>
              <a:t>CLOSE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255D9-6CB6-7146-A12F-D29C7D516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" y="1801458"/>
            <a:ext cx="11452860" cy="46038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 closed hashing method , a new data bucket is allocated with same address and is linked it after the previous one.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This mechanism is known as “</a:t>
            </a:r>
            <a:r>
              <a:rPr lang="en-US" sz="3200" b="1" i="0" dirty="0">
                <a:solidFill>
                  <a:schemeClr val="bg1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Overflow chaining</a:t>
            </a:r>
            <a:r>
              <a:rPr lang="en-US" sz="3200" b="1" i="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”</a:t>
            </a:r>
            <a:r>
              <a:rPr lang="en-US" sz="2800" b="0" i="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endParaRPr lang="en-IN" sz="28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endParaRPr lang="en-IN" sz="28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buNone/>
            </a:pPr>
            <a:endParaRPr lang="en-IN" sz="2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indent="0">
              <a:buNone/>
            </a:pPr>
            <a:endParaRPr lang="en-IN" sz="2800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847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1793-D050-F260-6969-DF6951E2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7442"/>
          </a:xfrm>
        </p:spPr>
        <p:txBody>
          <a:bodyPr/>
          <a:lstStyle/>
          <a:p>
            <a:r>
              <a:rPr lang="en-IN" dirty="0">
                <a:latin typeface="Eras Demi ITC" panose="020B0805030504020804" pitchFamily="34" charset="0"/>
              </a:rPr>
              <a:t>EXAMPLE FOR CLOSE HASHING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8F99DE9-7D83-2CEF-03EF-9F5C2DC90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720" y="1600200"/>
            <a:ext cx="11338560" cy="502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3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6C3E-0FFC-8FF9-6359-0AA40770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4582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             DYNAMIC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3F1F7-F884-796C-686D-D41921AC6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052918"/>
            <a:ext cx="11178540" cy="4195481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The dynamic hashing method is used to overcome the problems of static hashing like bucket overflow.</a:t>
            </a:r>
          </a:p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 this method , data buckets grow or shrink as the record increases or decreases.</a:t>
            </a:r>
          </a:p>
          <a:p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This method is also known as “</a:t>
            </a:r>
            <a:r>
              <a:rPr lang="en-IN" sz="2800" dirty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EXTENDABLE HASHING METHOD</a:t>
            </a:r>
            <a:r>
              <a:rPr lang="en-IN" sz="2800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801108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FA5C-D58D-CDA9-6C50-9264C234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DYNAMIC HASHING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CCBA903-21CB-57DB-E750-8EDAF5C30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1531620"/>
            <a:ext cx="1152144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1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145C-2A45-110E-B043-C2C4BDAE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51" y="230170"/>
            <a:ext cx="9404723" cy="758862"/>
          </a:xfrm>
        </p:spPr>
        <p:txBody>
          <a:bodyPr/>
          <a:lstStyle/>
          <a:p>
            <a:r>
              <a:rPr lang="en-IN" dirty="0">
                <a:latin typeface="Eras Demi ITC" panose="020B0805030504020804" pitchFamily="34" charset="0"/>
              </a:rPr>
              <a:t>STATIC VS DYNAMIC HASHING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D162FA-8609-A46E-1250-0A09C75D4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1539" b="7808"/>
          <a:stretch/>
        </p:blipFill>
        <p:spPr>
          <a:xfrm>
            <a:off x="326865" y="1257300"/>
            <a:ext cx="11538269" cy="53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70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21ABC4-13AD-2EED-FA0D-2333DA081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420" y="2240280"/>
            <a:ext cx="9884782" cy="3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81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562</TotalTime>
  <Words>417</Words>
  <Application>Microsoft Office PowerPoint</Application>
  <PresentationFormat>Widescreen</PresentationFormat>
  <Paragraphs>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Arial Black</vt:lpstr>
      <vt:lpstr>Arial Rounded MT Bold</vt:lpstr>
      <vt:lpstr>Cascadia Code SemiBold</vt:lpstr>
      <vt:lpstr>Cascadia Mono SemiBold</vt:lpstr>
      <vt:lpstr>Century Gothic</vt:lpstr>
      <vt:lpstr>Eras Demi ITC</vt:lpstr>
      <vt:lpstr>inter-regular</vt:lpstr>
      <vt:lpstr>Wingdings</vt:lpstr>
      <vt:lpstr>Wingdings 3</vt:lpstr>
      <vt:lpstr>Ion</vt:lpstr>
      <vt:lpstr>          OUTLINE</vt:lpstr>
      <vt:lpstr>HASHING</vt:lpstr>
      <vt:lpstr>     HASHING EXAMPLE </vt:lpstr>
      <vt:lpstr>                   HASH FUNCTION</vt:lpstr>
      <vt:lpstr>                   TYPES OF HASHING</vt:lpstr>
      <vt:lpstr>                     STATIC HASHING</vt:lpstr>
      <vt:lpstr>                          EXAMPLE</vt:lpstr>
      <vt:lpstr>         OPERATIONS IN STATIC HASHING</vt:lpstr>
      <vt:lpstr>BUCKET OVERFLOW</vt:lpstr>
      <vt:lpstr>To overcome this  Bucket  overflow , commonly used methods are,</vt:lpstr>
      <vt:lpstr>OPEN HASHING</vt:lpstr>
      <vt:lpstr>EXAMPLE FOR OPEN HASHING</vt:lpstr>
      <vt:lpstr>CLOSE HASHING</vt:lpstr>
      <vt:lpstr>EXAMPLE FOR CLOSE HASHING</vt:lpstr>
      <vt:lpstr>             DYNAMIC HASHING</vt:lpstr>
      <vt:lpstr>EXAMPLE FOR DYNAMIC HASHING</vt:lpstr>
      <vt:lpstr>STATIC VS DYNAMIC HASHING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</dc:title>
  <dc:creator>theophila murphy S</dc:creator>
  <cp:lastModifiedBy>theophila murphy S</cp:lastModifiedBy>
  <cp:revision>9</cp:revision>
  <dcterms:created xsi:type="dcterms:W3CDTF">2022-10-08T16:07:32Z</dcterms:created>
  <dcterms:modified xsi:type="dcterms:W3CDTF">2022-10-24T15:28:09Z</dcterms:modified>
</cp:coreProperties>
</file>
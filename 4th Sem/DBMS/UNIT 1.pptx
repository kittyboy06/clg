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13" r:id="rId2"/>
    <p:sldId id="281" r:id="rId3"/>
    <p:sldId id="282" r:id="rId4"/>
    <p:sldId id="283" r:id="rId5"/>
    <p:sldId id="284" r:id="rId6"/>
    <p:sldId id="285" r:id="rId7"/>
    <p:sldId id="256" r:id="rId8"/>
    <p:sldId id="257" r:id="rId9"/>
    <p:sldId id="296" r:id="rId10"/>
    <p:sldId id="258" r:id="rId11"/>
    <p:sldId id="286" r:id="rId12"/>
    <p:sldId id="262" r:id="rId13"/>
    <p:sldId id="287" r:id="rId14"/>
    <p:sldId id="265" r:id="rId15"/>
    <p:sldId id="271" r:id="rId16"/>
    <p:sldId id="272" r:id="rId17"/>
    <p:sldId id="273" r:id="rId18"/>
    <p:sldId id="274" r:id="rId19"/>
    <p:sldId id="275" r:id="rId20"/>
    <p:sldId id="276" r:id="rId21"/>
    <p:sldId id="277" r:id="rId22"/>
    <p:sldId id="278" r:id="rId23"/>
    <p:sldId id="279" r:id="rId24"/>
    <p:sldId id="280" r:id="rId25"/>
    <p:sldId id="288" r:id="rId26"/>
    <p:sldId id="289" r:id="rId27"/>
    <p:sldId id="290" r:id="rId28"/>
    <p:sldId id="291" r:id="rId29"/>
    <p:sldId id="292" r:id="rId30"/>
    <p:sldId id="293" r:id="rId31"/>
    <p:sldId id="294" r:id="rId32"/>
    <p:sldId id="297" r:id="rId33"/>
    <p:sldId id="295" r:id="rId34"/>
    <p:sldId id="298" r:id="rId35"/>
    <p:sldId id="299" r:id="rId36"/>
    <p:sldId id="300" r:id="rId37"/>
    <p:sldId id="301" r:id="rId38"/>
    <p:sldId id="302" r:id="rId39"/>
    <p:sldId id="305" r:id="rId40"/>
    <p:sldId id="303" r:id="rId41"/>
    <p:sldId id="304" r:id="rId42"/>
    <p:sldId id="306" r:id="rId43"/>
    <p:sldId id="307" r:id="rId44"/>
    <p:sldId id="308" r:id="rId45"/>
    <p:sldId id="310" r:id="rId46"/>
    <p:sldId id="309" r:id="rId47"/>
    <p:sldId id="311" r:id="rId48"/>
    <p:sldId id="312"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147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geeksforgeeks.org/dbms/what-is-database/"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geeksforgeeks.org/sql/sql-drop-truncate/" TargetMode="External"/><Relationship Id="rId2" Type="http://schemas.openxmlformats.org/officeDocument/2006/relationships/hyperlink" Target="https://www.geeksforgeeks.org/sql/sql-create-table/" TargetMode="External"/><Relationship Id="rId1" Type="http://schemas.openxmlformats.org/officeDocument/2006/relationships/slideLayout" Target="../slideLayouts/slideLayout2.xml"/><Relationship Id="rId4" Type="http://schemas.openxmlformats.org/officeDocument/2006/relationships/hyperlink" Target="https://www.geeksforgeeks.org/sql/sql-alter-add-drop-modify/"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www.geeksforgeeks.org/sql/sql-update-statement/" TargetMode="External"/><Relationship Id="rId2" Type="http://schemas.openxmlformats.org/officeDocument/2006/relationships/hyperlink" Target="https://www.geeksforgeeks.org/sql/sql-insert-statement/" TargetMode="External"/><Relationship Id="rId1" Type="http://schemas.openxmlformats.org/officeDocument/2006/relationships/slideLayout" Target="../slideLayouts/slideLayout2.xml"/><Relationship Id="rId4" Type="http://schemas.openxmlformats.org/officeDocument/2006/relationships/hyperlink" Target="https://www.geeksforgeeks.org/sql/sql-delete-statement/" TargetMode="External"/></Relationships>
</file>

<file path=ppt/slides/_rels/slide46.xml.rels><?xml version="1.0" encoding="UTF-8" standalone="yes"?>
<Relationships xmlns="http://schemas.openxmlformats.org/package/2006/relationships"><Relationship Id="rId2" Type="http://schemas.openxmlformats.org/officeDocument/2006/relationships/hyperlink" Target="https://www.geeksforgeeks.org/sql/sql-select-query/"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DDFB-57B4-12BF-1BA2-85FFEF9B36E0}"/>
              </a:ext>
            </a:extLst>
          </p:cNvPr>
          <p:cNvSpPr>
            <a:spLocks noGrp="1"/>
          </p:cNvSpPr>
          <p:nvPr>
            <p:ph type="ctrTitle"/>
          </p:nvPr>
        </p:nvSpPr>
        <p:spPr/>
        <p:txBody>
          <a:bodyPr/>
          <a:lstStyle/>
          <a:p>
            <a:r>
              <a:rPr lang="en-US" dirty="0"/>
              <a:t>BERLIN JEBA B S</a:t>
            </a:r>
          </a:p>
        </p:txBody>
      </p:sp>
      <p:sp>
        <p:nvSpPr>
          <p:cNvPr id="3" name="Subtitle 2">
            <a:extLst>
              <a:ext uri="{FF2B5EF4-FFF2-40B4-BE49-F238E27FC236}">
                <a16:creationId xmlns:a16="http://schemas.microsoft.com/office/drawing/2014/main" id="{0E68D709-B36F-EEF3-0735-2D50DAC535D8}"/>
              </a:ext>
            </a:extLst>
          </p:cNvPr>
          <p:cNvSpPr>
            <a:spLocks noGrp="1"/>
          </p:cNvSpPr>
          <p:nvPr>
            <p:ph type="subTitle" idx="1"/>
          </p:nvPr>
        </p:nvSpPr>
        <p:spPr/>
        <p:txBody>
          <a:bodyPr>
            <a:normAutofit fontScale="92500" lnSpcReduction="20000"/>
          </a:bodyPr>
          <a:lstStyle/>
          <a:p>
            <a:r>
              <a:rPr lang="en-US" dirty="0"/>
              <a:t>ASSISTANT PROFESSOR ,AI&amp;ML</a:t>
            </a:r>
          </a:p>
          <a:p>
            <a:r>
              <a:rPr lang="en-US" dirty="0"/>
              <a:t>JERUSALEM COLLEGE OF, ENGINEERING,PALLIKARANAI,</a:t>
            </a:r>
          </a:p>
          <a:p>
            <a:r>
              <a:rPr lang="en-US" dirty="0"/>
              <a:t>CHENNAI 600100.</a:t>
            </a:r>
          </a:p>
        </p:txBody>
      </p:sp>
    </p:spTree>
    <p:extLst>
      <p:ext uri="{BB962C8B-B14F-4D97-AF65-F5344CB8AC3E}">
        <p14:creationId xmlns:p14="http://schemas.microsoft.com/office/powerpoint/2010/main" val="2339727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C3047-37F9-85DF-6529-814AC70C4EC1}"/>
              </a:ext>
            </a:extLst>
          </p:cNvPr>
          <p:cNvSpPr>
            <a:spLocks noGrp="1"/>
          </p:cNvSpPr>
          <p:nvPr>
            <p:ph type="ctrTitle"/>
          </p:nvPr>
        </p:nvSpPr>
        <p:spPr/>
        <p:txBody>
          <a:bodyPr>
            <a:normAutofit/>
          </a:bodyPr>
          <a:lstStyle/>
          <a:p>
            <a:r>
              <a:rPr lang="en-US" sz="8000" b="1" dirty="0">
                <a:solidFill>
                  <a:schemeClr val="accent6">
                    <a:lumMod val="75000"/>
                  </a:schemeClr>
                </a:solidFill>
              </a:rPr>
              <a:t>UNIT I</a:t>
            </a:r>
            <a:endParaRPr lang="en-US" sz="8000" dirty="0">
              <a:solidFill>
                <a:schemeClr val="accent6">
                  <a:lumMod val="75000"/>
                </a:schemeClr>
              </a:solidFill>
            </a:endParaRPr>
          </a:p>
        </p:txBody>
      </p:sp>
      <p:sp>
        <p:nvSpPr>
          <p:cNvPr id="3" name="Subtitle 2">
            <a:extLst>
              <a:ext uri="{FF2B5EF4-FFF2-40B4-BE49-F238E27FC236}">
                <a16:creationId xmlns:a16="http://schemas.microsoft.com/office/drawing/2014/main" id="{FDD97258-8F92-5229-F51E-9E8EABA1F51A}"/>
              </a:ext>
            </a:extLst>
          </p:cNvPr>
          <p:cNvSpPr>
            <a:spLocks noGrp="1"/>
          </p:cNvSpPr>
          <p:nvPr>
            <p:ph type="subTitle" idx="1"/>
          </p:nvPr>
        </p:nvSpPr>
        <p:spPr/>
        <p:txBody>
          <a:bodyPr>
            <a:normAutofit/>
          </a:bodyPr>
          <a:lstStyle/>
          <a:p>
            <a:r>
              <a:rPr lang="en-US" sz="5400" b="1" dirty="0">
                <a:solidFill>
                  <a:schemeClr val="accent5">
                    <a:lumMod val="75000"/>
                  </a:schemeClr>
                </a:solidFill>
              </a:rPr>
              <a:t>DATA MODELS AND QUERYING</a:t>
            </a:r>
            <a:endParaRPr lang="en-US" sz="5400" dirty="0">
              <a:solidFill>
                <a:schemeClr val="accent5">
                  <a:lumMod val="75000"/>
                </a:schemeClr>
              </a:solidFill>
            </a:endParaRPr>
          </a:p>
        </p:txBody>
      </p:sp>
    </p:spTree>
    <p:extLst>
      <p:ext uri="{BB962C8B-B14F-4D97-AF65-F5344CB8AC3E}">
        <p14:creationId xmlns:p14="http://schemas.microsoft.com/office/powerpoint/2010/main" val="3039628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Database-Management-System-ppt-3-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Database-Management-System-ppt-5-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Database-Management-System-ppt-6-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Database-Management-System-ppt-7-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1-View-of-data-DBMS-2-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View-of-data-DBMS-3-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C50E7E-D19D-D1DE-89AA-0E42967057AC}"/>
              </a:ext>
            </a:extLst>
          </p:cNvPr>
          <p:cNvSpPr txBox="1"/>
          <p:nvPr/>
        </p:nvSpPr>
        <p:spPr>
          <a:xfrm>
            <a:off x="357189" y="752772"/>
            <a:ext cx="8658224" cy="4524315"/>
          </a:xfrm>
          <a:prstGeom prst="rect">
            <a:avLst/>
          </a:prstGeom>
          <a:noFill/>
        </p:spPr>
        <p:txBody>
          <a:bodyPr wrap="square">
            <a:spAutoFit/>
          </a:bodyPr>
          <a:lstStyle/>
          <a:p>
            <a:pPr marL="285750" indent="-285750">
              <a:buFont typeface="Wingdings" panose="05000000000000000000" pitchFamily="2" charset="2"/>
              <a:buChar char="Ø"/>
            </a:pPr>
            <a:r>
              <a:rPr lang="en-US" sz="3200" dirty="0"/>
              <a:t>Data abstraction is the process of hiding unwanted and irrelevant details from the end user. </a:t>
            </a:r>
          </a:p>
          <a:p>
            <a:pPr marL="285750" indent="-285750">
              <a:buFont typeface="Wingdings" panose="05000000000000000000" pitchFamily="2" charset="2"/>
              <a:buChar char="Ø"/>
            </a:pPr>
            <a:r>
              <a:rPr lang="en-US" sz="3200" dirty="0"/>
              <a:t>It keeps data safe by hiding how and where data is stored.</a:t>
            </a:r>
          </a:p>
          <a:p>
            <a:pPr marL="285750" indent="-285750">
              <a:buFont typeface="Wingdings" panose="05000000000000000000" pitchFamily="2" charset="2"/>
              <a:buChar char="Ø"/>
            </a:pPr>
            <a:r>
              <a:rPr lang="en-US" sz="3200" dirty="0"/>
              <a:t> For example, while buying clothes, users see only color, size, and brand, not production details.</a:t>
            </a:r>
          </a:p>
          <a:p>
            <a:endParaRPr lang="en-US" sz="3200" dirty="0"/>
          </a:p>
        </p:txBody>
      </p:sp>
    </p:spTree>
    <p:extLst>
      <p:ext uri="{BB962C8B-B14F-4D97-AF65-F5344CB8AC3E}">
        <p14:creationId xmlns:p14="http://schemas.microsoft.com/office/powerpoint/2010/main" val="2825592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View-of-data-DBMS-4-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B91243-E929-62B0-4C7D-54F71C7AF35D}"/>
              </a:ext>
            </a:extLst>
          </p:cNvPr>
          <p:cNvSpPr txBox="1"/>
          <p:nvPr/>
        </p:nvSpPr>
        <p:spPr>
          <a:xfrm>
            <a:off x="314325" y="371476"/>
            <a:ext cx="8186738" cy="6001643"/>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This is the core concept, using data abstraction to simplify interaction. </a:t>
            </a:r>
          </a:p>
          <a:p>
            <a:r>
              <a:rPr lang="en-US" sz="3200" b="1" dirty="0">
                <a:latin typeface="Times New Roman" panose="02020603050405020304" pitchFamily="18" charset="0"/>
                <a:cs typeface="Times New Roman" panose="02020603050405020304" pitchFamily="18" charset="0"/>
              </a:rPr>
              <a:t>Physical Level</a:t>
            </a:r>
            <a:r>
              <a:rPr lang="en-US" sz="3200" dirty="0">
                <a:latin typeface="Times New Roman" panose="02020603050405020304" pitchFamily="18" charset="0"/>
                <a:cs typeface="Times New Roman" panose="02020603050405020304" pitchFamily="18" charset="0"/>
              </a:rPr>
              <a:t>: Lowest level; details how data is physically stored (files, indexes, storage paths).</a:t>
            </a:r>
          </a:p>
          <a:p>
            <a:r>
              <a:rPr lang="en-US" sz="3200" b="1" dirty="0">
                <a:latin typeface="Times New Roman" panose="02020603050405020304" pitchFamily="18" charset="0"/>
                <a:cs typeface="Times New Roman" panose="02020603050405020304" pitchFamily="18" charset="0"/>
              </a:rPr>
              <a:t>Logical (Conceptual) Level</a:t>
            </a:r>
            <a:r>
              <a:rPr lang="en-US" sz="3200" dirty="0">
                <a:latin typeface="Times New Roman" panose="02020603050405020304" pitchFamily="18" charset="0"/>
                <a:cs typeface="Times New Roman" panose="02020603050405020304" pitchFamily="18" charset="0"/>
              </a:rPr>
              <a:t>: Describes the entire database structure (tables, fields, relationships) and what data exists, managed by DBAs.</a:t>
            </a:r>
          </a:p>
          <a:p>
            <a:r>
              <a:rPr lang="en-US" sz="3200" b="1" dirty="0">
                <a:latin typeface="Times New Roman" panose="02020603050405020304" pitchFamily="18" charset="0"/>
                <a:cs typeface="Times New Roman" panose="02020603050405020304" pitchFamily="18" charset="0"/>
              </a:rPr>
              <a:t>View (External) Level</a:t>
            </a:r>
            <a:r>
              <a:rPr lang="en-US" sz="3200" dirty="0">
                <a:latin typeface="Times New Roman" panose="02020603050405020304" pitchFamily="18" charset="0"/>
                <a:cs typeface="Times New Roman" panose="02020603050405020304" pitchFamily="18" charset="0"/>
              </a:rPr>
              <a:t>: Highest level; provides customized subsets of the database for specific user groups, hiding irrelevant data. </a:t>
            </a:r>
          </a:p>
        </p:txBody>
      </p:sp>
    </p:spTree>
    <p:extLst>
      <p:ext uri="{BB962C8B-B14F-4D97-AF65-F5344CB8AC3E}">
        <p14:creationId xmlns:p14="http://schemas.microsoft.com/office/powerpoint/2010/main" val="2262777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View-of-data-DBMS-8-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528E57-7404-C4C2-0E9A-55E9900577C7}"/>
              </a:ext>
            </a:extLst>
          </p:cNvPr>
          <p:cNvSpPr txBox="1"/>
          <p:nvPr/>
        </p:nvSpPr>
        <p:spPr>
          <a:xfrm>
            <a:off x="142875" y="157164"/>
            <a:ext cx="8372475" cy="557075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What is Schema?</a:t>
            </a:r>
          </a:p>
          <a:p>
            <a:r>
              <a:rPr lang="en-US" sz="2000" dirty="0">
                <a:latin typeface="Times New Roman" panose="02020603050405020304" pitchFamily="18" charset="0"/>
                <a:cs typeface="Times New Roman" panose="02020603050405020304" pitchFamily="18" charset="0"/>
              </a:rPr>
              <a:t>A schema in DBMS refers to the overall design or blueprint of a database. It describes how the data will be organized, how the relationships between different entities will be maintained and how constraints will be applied.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Example: Let's say a table teacher in our database named school, the teacher table requires the name, dob and </a:t>
            </a:r>
            <a:r>
              <a:rPr lang="en-US" sz="2000" dirty="0" err="1">
                <a:latin typeface="Times New Roman" panose="02020603050405020304" pitchFamily="18" charset="0"/>
                <a:cs typeface="Times New Roman" panose="02020603050405020304" pitchFamily="18" charset="0"/>
              </a:rPr>
              <a:t>doj</a:t>
            </a:r>
            <a:r>
              <a:rPr lang="en-US" sz="2000" dirty="0">
                <a:latin typeface="Times New Roman" panose="02020603050405020304" pitchFamily="18" charset="0"/>
                <a:cs typeface="Times New Roman" panose="02020603050405020304" pitchFamily="18" charset="0"/>
              </a:rPr>
              <a:t> in their table so we design a structure as:  </a:t>
            </a:r>
          </a:p>
          <a:p>
            <a:endParaRPr lang="en-US" dirty="0"/>
          </a:p>
          <a:p>
            <a:r>
              <a:rPr lang="en-US" dirty="0"/>
              <a:t>Teacher (</a:t>
            </a:r>
          </a:p>
          <a:p>
            <a:r>
              <a:rPr lang="en-US" dirty="0"/>
              <a:t>  name VARCHAR,</a:t>
            </a:r>
          </a:p>
          <a:p>
            <a:r>
              <a:rPr lang="en-US" dirty="0"/>
              <a:t>  dob DATE,</a:t>
            </a:r>
          </a:p>
          <a:p>
            <a:r>
              <a:rPr lang="en-US" dirty="0"/>
              <a:t>  </a:t>
            </a:r>
            <a:r>
              <a:rPr lang="en-US" dirty="0" err="1"/>
              <a:t>doj</a:t>
            </a:r>
            <a:r>
              <a:rPr lang="en-US" dirty="0"/>
              <a:t> DATE)</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6623F2A3-8A73-A427-6C4B-7067B22034D1}"/>
              </a:ext>
            </a:extLst>
          </p:cNvPr>
          <p:cNvSpPr txBox="1"/>
          <p:nvPr/>
        </p:nvSpPr>
        <p:spPr>
          <a:xfrm>
            <a:off x="142875" y="2386014"/>
            <a:ext cx="8729663" cy="4370427"/>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What is Instance?</a:t>
            </a:r>
          </a:p>
          <a:p>
            <a:r>
              <a:rPr lang="en-US" sz="2000" dirty="0">
                <a:latin typeface="Times New Roman" panose="02020603050405020304" pitchFamily="18" charset="0"/>
                <a:cs typeface="Times New Roman" panose="02020603050405020304" pitchFamily="18" charset="0"/>
              </a:rPr>
              <a:t>An instance of DBMS refers to real data present in a database at some particular point in time.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Example: Let say a table teacher in our database whose name is School, suppose the table has 50 records so the instance of the database has 50 records for now and tomorrow we are going to add another fifty records so tomorrow the instance has a total of 100 records. This is called an instance. </a:t>
            </a:r>
          </a:p>
          <a:p>
            <a:endParaRPr lang="en-US" dirty="0"/>
          </a:p>
        </p:txBody>
      </p:sp>
    </p:spTree>
    <p:extLst>
      <p:ext uri="{BB962C8B-B14F-4D97-AF65-F5344CB8AC3E}">
        <p14:creationId xmlns:p14="http://schemas.microsoft.com/office/powerpoint/2010/main" val="4208703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View-of-data-DBMS-11-638.jpg"/>
          <p:cNvPicPr>
            <a:picLocks noChangeAspect="1"/>
          </p:cNvPicPr>
          <p:nvPr/>
        </p:nvPicPr>
        <p:blipFill>
          <a:blip r:embed="rId2"/>
          <a:stretch>
            <a:fillRect/>
          </a:stretch>
        </p:blipFill>
        <p:spPr>
          <a:xfrm>
            <a:off x="0" y="4571"/>
            <a:ext cx="9144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1-Dbms-database-models-2-638.jpg"/>
          <p:cNvPicPr>
            <a:picLocks noChangeAspect="1"/>
          </p:cNvPicPr>
          <p:nvPr/>
        </p:nvPicPr>
        <p:blipFill>
          <a:blip r:embed="rId2"/>
          <a:stretch>
            <a:fillRect/>
          </a:stretch>
        </p:blipFill>
        <p:spPr>
          <a:xfrm>
            <a:off x="0" y="254889"/>
            <a:ext cx="9144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Dbms-database-models-3-638.jpg"/>
          <p:cNvPicPr>
            <a:picLocks noChangeAspect="1"/>
          </p:cNvPicPr>
          <p:nvPr/>
        </p:nvPicPr>
        <p:blipFill>
          <a:blip r:embed="rId2"/>
          <a:stretch>
            <a:fillRect/>
          </a:stretch>
        </p:blipFill>
        <p:spPr>
          <a:xfrm>
            <a:off x="0" y="383477"/>
            <a:ext cx="9144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Dbms-database-models-4-638.jp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Dbms-database-models-5-638.jp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Dbms-database-models-6-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Dbms-database-models-7-638.jp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Dbms-database-models-8-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Dbms-database-models-9-638.jp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Dbms-database-models-10-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Dbms-database-models-11-638.jpg"/>
          <p:cNvPicPr>
            <a:picLocks noChangeAspect="1"/>
          </p:cNvPicPr>
          <p:nvPr/>
        </p:nvPicPr>
        <p:blipFill>
          <a:blip r:embed="rId2"/>
          <a:stretch>
            <a:fillRect/>
          </a:stretch>
        </p:blipFill>
        <p:spPr>
          <a:xfrm>
            <a:off x="0" y="112014"/>
            <a:ext cx="9144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05E6C-2E93-A11B-18D5-4E2AD044F802}"/>
              </a:ext>
            </a:extLst>
          </p:cNvPr>
          <p:cNvSpPr>
            <a:spLocks noGrp="1"/>
          </p:cNvSpPr>
          <p:nvPr>
            <p:ph type="title"/>
          </p:nvPr>
        </p:nvSpPr>
        <p:spPr/>
        <p:txBody>
          <a:bodyPr>
            <a:normAutofit fontScale="90000"/>
          </a:bodyPr>
          <a:lstStyle/>
          <a:p>
            <a:r>
              <a:rPr lang="en-US" sz="3600" b="1" dirty="0"/>
              <a:t>DBMS Architecture 1-level, 2-Level, 3-Level</a:t>
            </a:r>
          </a:p>
        </p:txBody>
      </p:sp>
      <p:sp>
        <p:nvSpPr>
          <p:cNvPr id="3" name="Content Placeholder 2">
            <a:extLst>
              <a:ext uri="{FF2B5EF4-FFF2-40B4-BE49-F238E27FC236}">
                <a16:creationId xmlns:a16="http://schemas.microsoft.com/office/drawing/2014/main" id="{7D586C08-79FD-0865-0954-C4BE177AB818}"/>
              </a:ext>
            </a:extLst>
          </p:cNvPr>
          <p:cNvSpPr>
            <a:spLocks noGrp="1"/>
          </p:cNvSpPr>
          <p:nvPr>
            <p:ph idx="1"/>
          </p:nvPr>
        </p:nvSpPr>
        <p:spPr>
          <a:xfrm>
            <a:off x="0" y="1417638"/>
            <a:ext cx="9144000" cy="5165724"/>
          </a:xfrm>
        </p:spPr>
        <p:txBody>
          <a:bodyPr>
            <a:normAutofit/>
          </a:bodyPr>
          <a:lstStyle/>
          <a:p>
            <a:r>
              <a:rPr lang="en-US" dirty="0"/>
              <a:t>DBMS architecture defines how users interact with the database to read, write, or update information. Types of DBMS Architecture</a:t>
            </a:r>
          </a:p>
          <a:p>
            <a:r>
              <a:rPr lang="en-US" dirty="0"/>
              <a:t>There are several types of DBMS Architecture that we use according to the usage requirements.</a:t>
            </a:r>
          </a:p>
          <a:p>
            <a:endParaRPr lang="en-US" dirty="0"/>
          </a:p>
          <a:p>
            <a:r>
              <a:rPr lang="en-US" dirty="0"/>
              <a:t>1-Tier Architecture</a:t>
            </a:r>
          </a:p>
          <a:p>
            <a:r>
              <a:rPr lang="en-US" dirty="0"/>
              <a:t>2-Tier Architecture</a:t>
            </a:r>
          </a:p>
          <a:p>
            <a:r>
              <a:rPr lang="en-US" dirty="0"/>
              <a:t>3-Tier Architecture</a:t>
            </a:r>
          </a:p>
          <a:p>
            <a:endParaRPr lang="en-US" dirty="0"/>
          </a:p>
        </p:txBody>
      </p:sp>
    </p:spTree>
    <p:extLst>
      <p:ext uri="{BB962C8B-B14F-4D97-AF65-F5344CB8AC3E}">
        <p14:creationId xmlns:p14="http://schemas.microsoft.com/office/powerpoint/2010/main" val="1884927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28A65-778C-F55B-F359-3815DFFA5750}"/>
              </a:ext>
            </a:extLst>
          </p:cNvPr>
          <p:cNvSpPr>
            <a:spLocks noGrp="1"/>
          </p:cNvSpPr>
          <p:nvPr>
            <p:ph type="title"/>
          </p:nvPr>
        </p:nvSpPr>
        <p:spPr/>
        <p:txBody>
          <a:bodyPr>
            <a:normAutofit fontScale="90000"/>
          </a:bodyPr>
          <a:lstStyle/>
          <a:p>
            <a:r>
              <a:rPr lang="en-US" b="1" dirty="0"/>
              <a:t>1-Tier Architecture</a:t>
            </a:r>
            <a:br>
              <a:rPr lang="en-US" b="1" dirty="0"/>
            </a:br>
            <a:endParaRPr lang="en-US" dirty="0"/>
          </a:p>
        </p:txBody>
      </p:sp>
      <p:sp>
        <p:nvSpPr>
          <p:cNvPr id="3" name="Content Placeholder 2">
            <a:extLst>
              <a:ext uri="{FF2B5EF4-FFF2-40B4-BE49-F238E27FC236}">
                <a16:creationId xmlns:a16="http://schemas.microsoft.com/office/drawing/2014/main" id="{FCC4A3C8-8994-9095-1A8C-4967E6A7B4A5}"/>
              </a:ext>
            </a:extLst>
          </p:cNvPr>
          <p:cNvSpPr>
            <a:spLocks noGrp="1"/>
          </p:cNvSpPr>
          <p:nvPr>
            <p:ph idx="1"/>
          </p:nvPr>
        </p:nvSpPr>
        <p:spPr>
          <a:xfrm>
            <a:off x="157163" y="1000126"/>
            <a:ext cx="8986837" cy="5126038"/>
          </a:xfrm>
        </p:spPr>
        <p:txBody>
          <a:bodyPr>
            <a:normAutofit/>
          </a:bodyPr>
          <a:lstStyle/>
          <a:p>
            <a:r>
              <a:rPr lang="en-US" sz="2400" dirty="0">
                <a:latin typeface="Times New Roman" panose="02020603050405020304" pitchFamily="18" charset="0"/>
                <a:cs typeface="Times New Roman" panose="02020603050405020304" pitchFamily="18" charset="0"/>
              </a:rPr>
              <a:t>In 1-Tier Architecture, the user works directly with the </a:t>
            </a:r>
            <a:r>
              <a:rPr lang="en-US" sz="2400" u="sng" dirty="0">
                <a:latin typeface="Times New Roman" panose="02020603050405020304" pitchFamily="18" charset="0"/>
                <a:cs typeface="Times New Roman" panose="02020603050405020304" pitchFamily="18" charset="0"/>
                <a:hlinkClick r:id="rId2"/>
              </a:rPr>
              <a:t>database</a:t>
            </a:r>
            <a:r>
              <a:rPr lang="en-US" sz="2400" dirty="0">
                <a:latin typeface="Times New Roman" panose="02020603050405020304" pitchFamily="18" charset="0"/>
                <a:cs typeface="Times New Roman" panose="02020603050405020304" pitchFamily="18" charset="0"/>
              </a:rPr>
              <a:t> on the same system. This means the client, server and database are all in one application. The user can open the application, interact with the data and perform tasks without needing a separate server or network connection.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7A61B77-80C9-2846-32D1-57378547D0D1}"/>
              </a:ext>
            </a:extLst>
          </p:cNvPr>
          <p:cNvPicPr>
            <a:picLocks noChangeAspect="1"/>
          </p:cNvPicPr>
          <p:nvPr/>
        </p:nvPicPr>
        <p:blipFill>
          <a:blip r:embed="rId3"/>
          <a:stretch>
            <a:fillRect/>
          </a:stretch>
        </p:blipFill>
        <p:spPr>
          <a:xfrm>
            <a:off x="2107406" y="2839670"/>
            <a:ext cx="5372100" cy="2664562"/>
          </a:xfrm>
          <a:prstGeom prst="rect">
            <a:avLst/>
          </a:prstGeom>
        </p:spPr>
      </p:pic>
      <p:sp>
        <p:nvSpPr>
          <p:cNvPr id="6" name="TextBox 5">
            <a:extLst>
              <a:ext uri="{FF2B5EF4-FFF2-40B4-BE49-F238E27FC236}">
                <a16:creationId xmlns:a16="http://schemas.microsoft.com/office/drawing/2014/main" id="{E1839513-2EFB-D0A9-5FD8-15DAD28055B3}"/>
              </a:ext>
            </a:extLst>
          </p:cNvPr>
          <p:cNvSpPr txBox="1"/>
          <p:nvPr/>
        </p:nvSpPr>
        <p:spPr>
          <a:xfrm>
            <a:off x="342900" y="5504232"/>
            <a:ext cx="8529638" cy="1015663"/>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 common example is Microsoft Excel. Everything from the user interface to the logic and data storage happens on the same device. The user enters data, performs calculations and saves files directly on their computer.</a:t>
            </a:r>
          </a:p>
        </p:txBody>
      </p:sp>
    </p:spTree>
    <p:extLst>
      <p:ext uri="{BB962C8B-B14F-4D97-AF65-F5344CB8AC3E}">
        <p14:creationId xmlns:p14="http://schemas.microsoft.com/office/powerpoint/2010/main" val="28484595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0F79A-444E-0026-7B32-6042779DA6B2}"/>
              </a:ext>
            </a:extLst>
          </p:cNvPr>
          <p:cNvSpPr>
            <a:spLocks noGrp="1"/>
          </p:cNvSpPr>
          <p:nvPr>
            <p:ph type="title"/>
          </p:nvPr>
        </p:nvSpPr>
        <p:spPr/>
        <p:txBody>
          <a:bodyPr>
            <a:normAutofit fontScale="90000"/>
          </a:bodyPr>
          <a:lstStyle/>
          <a:p>
            <a:r>
              <a:rPr lang="en-US" b="1" dirty="0"/>
              <a:t>2-Tier Architecture</a:t>
            </a:r>
            <a:br>
              <a:rPr lang="en-US" b="1" dirty="0"/>
            </a:br>
            <a:endParaRPr lang="en-US" dirty="0"/>
          </a:p>
        </p:txBody>
      </p:sp>
      <p:sp>
        <p:nvSpPr>
          <p:cNvPr id="3" name="Content Placeholder 2">
            <a:extLst>
              <a:ext uri="{FF2B5EF4-FFF2-40B4-BE49-F238E27FC236}">
                <a16:creationId xmlns:a16="http://schemas.microsoft.com/office/drawing/2014/main" id="{89FDBDE6-A175-7421-F83A-16A1046F92C0}"/>
              </a:ext>
            </a:extLst>
          </p:cNvPr>
          <p:cNvSpPr>
            <a:spLocks noGrp="1"/>
          </p:cNvSpPr>
          <p:nvPr>
            <p:ph idx="1"/>
          </p:nvPr>
        </p:nvSpPr>
        <p:spPr>
          <a:xfrm>
            <a:off x="171449" y="857250"/>
            <a:ext cx="8729663" cy="5268914"/>
          </a:xfrm>
        </p:spPr>
        <p:txBody>
          <a:bodyPr>
            <a:normAutofit/>
          </a:bodyPr>
          <a:lstStyle/>
          <a:p>
            <a:r>
              <a:rPr lang="en-US" sz="2400" dirty="0">
                <a:latin typeface="Times New Roman" panose="02020603050405020304" pitchFamily="18" charset="0"/>
                <a:cs typeface="Times New Roman" panose="02020603050405020304" pitchFamily="18" charset="0"/>
              </a:rPr>
              <a:t>The 2-tier architecture is similar to a basic client-server model. The application at the client end directly communicates with the database on the server side. APIs like ODBC and JDBC are used for this interaction. </a:t>
            </a: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82AEB70-00E6-D295-657A-180047B44B62}"/>
              </a:ext>
            </a:extLst>
          </p:cNvPr>
          <p:cNvPicPr>
            <a:picLocks noChangeAspect="1"/>
          </p:cNvPicPr>
          <p:nvPr/>
        </p:nvPicPr>
        <p:blipFill>
          <a:blip r:embed="rId2"/>
          <a:stretch>
            <a:fillRect/>
          </a:stretch>
        </p:blipFill>
        <p:spPr>
          <a:xfrm>
            <a:off x="2133601" y="2509837"/>
            <a:ext cx="5438776" cy="2719388"/>
          </a:xfrm>
          <a:prstGeom prst="rect">
            <a:avLst/>
          </a:prstGeom>
        </p:spPr>
      </p:pic>
      <p:sp>
        <p:nvSpPr>
          <p:cNvPr id="6" name="TextBox 5">
            <a:extLst>
              <a:ext uri="{FF2B5EF4-FFF2-40B4-BE49-F238E27FC236}">
                <a16:creationId xmlns:a16="http://schemas.microsoft.com/office/drawing/2014/main" id="{8634AFD3-6A60-32E9-4835-BA027540BED0}"/>
              </a:ext>
            </a:extLst>
          </p:cNvPr>
          <p:cNvSpPr txBox="1"/>
          <p:nvPr/>
        </p:nvSpPr>
        <p:spPr>
          <a:xfrm>
            <a:off x="457200" y="5436491"/>
            <a:ext cx="8443911"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For Example: A Library Management System used in schools or small organizations is a classic example of two-tier architecture.</a:t>
            </a:r>
          </a:p>
        </p:txBody>
      </p:sp>
    </p:spTree>
    <p:extLst>
      <p:ext uri="{BB962C8B-B14F-4D97-AF65-F5344CB8AC3E}">
        <p14:creationId xmlns:p14="http://schemas.microsoft.com/office/powerpoint/2010/main" val="693133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A5130-070B-2F02-E23B-ED52766FA0A5}"/>
              </a:ext>
            </a:extLst>
          </p:cNvPr>
          <p:cNvSpPr>
            <a:spLocks noGrp="1"/>
          </p:cNvSpPr>
          <p:nvPr>
            <p:ph type="title"/>
          </p:nvPr>
        </p:nvSpPr>
        <p:spPr>
          <a:xfrm>
            <a:off x="457200" y="165894"/>
            <a:ext cx="8229600" cy="1143000"/>
          </a:xfrm>
        </p:spPr>
        <p:txBody>
          <a:bodyPr>
            <a:normAutofit fontScale="90000"/>
          </a:bodyPr>
          <a:lstStyle/>
          <a:p>
            <a:r>
              <a:rPr lang="en-US" b="1" dirty="0"/>
              <a:t>3-Tier Architecture</a:t>
            </a:r>
            <a:br>
              <a:rPr lang="en-US" b="1" dirty="0"/>
            </a:br>
            <a:endParaRPr lang="en-US" dirty="0"/>
          </a:p>
        </p:txBody>
      </p:sp>
      <p:sp>
        <p:nvSpPr>
          <p:cNvPr id="3" name="Content Placeholder 2">
            <a:extLst>
              <a:ext uri="{FF2B5EF4-FFF2-40B4-BE49-F238E27FC236}">
                <a16:creationId xmlns:a16="http://schemas.microsoft.com/office/drawing/2014/main" id="{D8BA520B-2291-CAA6-7009-EC173B0D2002}"/>
              </a:ext>
            </a:extLst>
          </p:cNvPr>
          <p:cNvSpPr>
            <a:spLocks noGrp="1"/>
          </p:cNvSpPr>
          <p:nvPr>
            <p:ph idx="1"/>
          </p:nvPr>
        </p:nvSpPr>
        <p:spPr>
          <a:xfrm>
            <a:off x="257176" y="726281"/>
            <a:ext cx="8686800" cy="4525963"/>
          </a:xfrm>
        </p:spPr>
        <p:txBody>
          <a:bodyPr>
            <a:normAutofit/>
          </a:bodyPr>
          <a:lstStyle/>
          <a:p>
            <a:r>
              <a:rPr lang="en-US" sz="2400" dirty="0">
                <a:latin typeface="Times New Roman" panose="02020603050405020304" pitchFamily="18" charset="0"/>
                <a:cs typeface="Times New Roman" panose="02020603050405020304" pitchFamily="18" charset="0"/>
              </a:rPr>
              <a:t>In 3-Tier Architecture, there is another layer between the client and the server. The client does not directly communicate with the server. Instead, it interacts with an application server which further communicates with the database system and then the query processing and transaction management takes place.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59309E1-56FC-B4CD-A222-080C8D182BFD}"/>
              </a:ext>
            </a:extLst>
          </p:cNvPr>
          <p:cNvPicPr>
            <a:picLocks noChangeAspect="1"/>
          </p:cNvPicPr>
          <p:nvPr/>
        </p:nvPicPr>
        <p:blipFill>
          <a:blip r:embed="rId2"/>
          <a:stretch>
            <a:fillRect/>
          </a:stretch>
        </p:blipFill>
        <p:spPr>
          <a:xfrm>
            <a:off x="5214939" y="2871788"/>
            <a:ext cx="3929061" cy="3711574"/>
          </a:xfrm>
          <a:prstGeom prst="rect">
            <a:avLst/>
          </a:prstGeom>
        </p:spPr>
      </p:pic>
      <p:sp>
        <p:nvSpPr>
          <p:cNvPr id="6" name="TextBox 5">
            <a:extLst>
              <a:ext uri="{FF2B5EF4-FFF2-40B4-BE49-F238E27FC236}">
                <a16:creationId xmlns:a16="http://schemas.microsoft.com/office/drawing/2014/main" id="{4D9B6886-889B-D699-5A3D-7FA44BD186B4}"/>
              </a:ext>
            </a:extLst>
          </p:cNvPr>
          <p:cNvSpPr txBox="1"/>
          <p:nvPr/>
        </p:nvSpPr>
        <p:spPr>
          <a:xfrm>
            <a:off x="200024" y="2871788"/>
            <a:ext cx="4914903" cy="317009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Example: E-commerce Store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User: You visit an online store, search for a product and add it to your cart.</a:t>
            </a:r>
          </a:p>
          <a:p>
            <a:r>
              <a:rPr lang="en-US" sz="2000" dirty="0">
                <a:latin typeface="Times New Roman" panose="02020603050405020304" pitchFamily="18" charset="0"/>
                <a:cs typeface="Times New Roman" panose="02020603050405020304" pitchFamily="18" charset="0"/>
              </a:rPr>
              <a:t>Processing: The system checks if the product is in stock, calculates the total price and applies any discounts.</a:t>
            </a:r>
          </a:p>
          <a:p>
            <a:r>
              <a:rPr lang="en-US" sz="2000" dirty="0">
                <a:latin typeface="Times New Roman" panose="02020603050405020304" pitchFamily="18" charset="0"/>
                <a:cs typeface="Times New Roman" panose="02020603050405020304" pitchFamily="18" charset="0"/>
              </a:rPr>
              <a:t>Database: The product details, your cart and order history are stored in the database for future reference.</a:t>
            </a:r>
          </a:p>
        </p:txBody>
      </p:sp>
    </p:spTree>
    <p:extLst>
      <p:ext uri="{BB962C8B-B14F-4D97-AF65-F5344CB8AC3E}">
        <p14:creationId xmlns:p14="http://schemas.microsoft.com/office/powerpoint/2010/main" val="28955403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5FB2B-AD0C-B5D4-EE8B-7194B1897A97}"/>
              </a:ext>
            </a:extLst>
          </p:cNvPr>
          <p:cNvSpPr>
            <a:spLocks noGrp="1"/>
          </p:cNvSpPr>
          <p:nvPr>
            <p:ph type="title"/>
          </p:nvPr>
        </p:nvSpPr>
        <p:spPr/>
        <p:txBody>
          <a:bodyPr>
            <a:normAutofit fontScale="90000"/>
          </a:bodyPr>
          <a:lstStyle/>
          <a:p>
            <a:r>
              <a:rPr lang="en-US" b="1" dirty="0"/>
              <a:t>Relational Model in DBMS</a:t>
            </a:r>
            <a:br>
              <a:rPr lang="en-US" b="1" dirty="0"/>
            </a:br>
            <a:endParaRPr lang="en-US" dirty="0"/>
          </a:p>
        </p:txBody>
      </p:sp>
      <p:sp>
        <p:nvSpPr>
          <p:cNvPr id="3" name="Content Placeholder 2">
            <a:extLst>
              <a:ext uri="{FF2B5EF4-FFF2-40B4-BE49-F238E27FC236}">
                <a16:creationId xmlns:a16="http://schemas.microsoft.com/office/drawing/2014/main" id="{63DE4949-D7FA-B12C-0781-7AC6698E2F64}"/>
              </a:ext>
            </a:extLst>
          </p:cNvPr>
          <p:cNvSpPr>
            <a:spLocks noGrp="1"/>
          </p:cNvSpPr>
          <p:nvPr>
            <p:ph idx="1"/>
          </p:nvPr>
        </p:nvSpPr>
        <p:spPr>
          <a:xfrm>
            <a:off x="0" y="1314450"/>
            <a:ext cx="9144000" cy="5268912"/>
          </a:xfrm>
        </p:spPr>
        <p:txBody>
          <a:bodyPr>
            <a:normAutofit fontScale="92500" lnSpcReduction="20000"/>
          </a:bodyPr>
          <a:lstStyle/>
          <a:p>
            <a:pPr algn="just" fontAlgn="base"/>
            <a:r>
              <a:rPr lang="en-US" dirty="0">
                <a:latin typeface="Times New Roman" panose="02020603050405020304" pitchFamily="18" charset="0"/>
                <a:cs typeface="Times New Roman" panose="02020603050405020304" pitchFamily="18" charset="0"/>
              </a:rPr>
              <a:t>The Relational Model organizes data using tables (relations) consisting of rows and columns.</a:t>
            </a:r>
          </a:p>
          <a:p>
            <a:pPr algn="just" fontAlgn="base"/>
            <a:r>
              <a:rPr lang="en-US" dirty="0">
                <a:latin typeface="Times New Roman" panose="02020603050405020304" pitchFamily="18" charset="0"/>
                <a:cs typeface="Times New Roman" panose="02020603050405020304" pitchFamily="18" charset="0"/>
              </a:rPr>
              <a:t>The relational model represents how data is stored and managed in Relational Databases where data is organized into tables, each known as a relation.</a:t>
            </a:r>
          </a:p>
          <a:p>
            <a:pPr algn="just" fontAlgn="base"/>
            <a:r>
              <a:rPr lang="en-US" dirty="0">
                <a:latin typeface="Times New Roman" panose="02020603050405020304" pitchFamily="18" charset="0"/>
                <a:cs typeface="Times New Roman" panose="02020603050405020304" pitchFamily="18" charset="0"/>
              </a:rPr>
              <a:t>Each </a:t>
            </a:r>
            <a:r>
              <a:rPr lang="en-US" u="sng" dirty="0">
                <a:solidFill>
                  <a:schemeClr val="accent5">
                    <a:lumMod val="75000"/>
                  </a:schemeClr>
                </a:solidFill>
                <a:latin typeface="Times New Roman" panose="02020603050405020304" pitchFamily="18" charset="0"/>
                <a:cs typeface="Times New Roman" panose="02020603050405020304" pitchFamily="18" charset="0"/>
              </a:rPr>
              <a:t>row</a:t>
            </a:r>
            <a:r>
              <a:rPr lang="en-US" dirty="0">
                <a:latin typeface="Times New Roman" panose="02020603050405020304" pitchFamily="18" charset="0"/>
                <a:cs typeface="Times New Roman" panose="02020603050405020304" pitchFamily="18" charset="0"/>
              </a:rPr>
              <a:t> of a table represents an </a:t>
            </a:r>
            <a:r>
              <a:rPr lang="en-US" u="sng" dirty="0">
                <a:solidFill>
                  <a:schemeClr val="accent5">
                    <a:lumMod val="75000"/>
                  </a:schemeClr>
                </a:solidFill>
                <a:latin typeface="Times New Roman" panose="02020603050405020304" pitchFamily="18" charset="0"/>
                <a:cs typeface="Times New Roman" panose="02020603050405020304" pitchFamily="18" charset="0"/>
              </a:rPr>
              <a:t>entity or record </a:t>
            </a:r>
            <a:r>
              <a:rPr lang="en-US" dirty="0">
                <a:latin typeface="Times New Roman" panose="02020603050405020304" pitchFamily="18" charset="0"/>
                <a:cs typeface="Times New Roman" panose="02020603050405020304" pitchFamily="18" charset="0"/>
              </a:rPr>
              <a:t>and each </a:t>
            </a:r>
            <a:r>
              <a:rPr lang="en-US" u="sng" dirty="0">
                <a:solidFill>
                  <a:schemeClr val="accent2">
                    <a:lumMod val="75000"/>
                  </a:schemeClr>
                </a:solidFill>
                <a:latin typeface="Times New Roman" panose="02020603050405020304" pitchFamily="18" charset="0"/>
                <a:cs typeface="Times New Roman" panose="02020603050405020304" pitchFamily="18" charset="0"/>
              </a:rPr>
              <a:t>column</a:t>
            </a:r>
            <a:r>
              <a:rPr lang="en-US" dirty="0">
                <a:latin typeface="Times New Roman" panose="02020603050405020304" pitchFamily="18" charset="0"/>
                <a:cs typeface="Times New Roman" panose="02020603050405020304" pitchFamily="18" charset="0"/>
              </a:rPr>
              <a:t> represents a particular </a:t>
            </a:r>
            <a:r>
              <a:rPr lang="en-US" u="sng" dirty="0">
                <a:solidFill>
                  <a:schemeClr val="accent2">
                    <a:lumMod val="75000"/>
                  </a:schemeClr>
                </a:solidFill>
                <a:latin typeface="Times New Roman" panose="02020603050405020304" pitchFamily="18" charset="0"/>
                <a:cs typeface="Times New Roman" panose="02020603050405020304" pitchFamily="18" charset="0"/>
              </a:rPr>
              <a:t>attribute</a:t>
            </a:r>
            <a:r>
              <a:rPr lang="en-US" dirty="0">
                <a:latin typeface="Times New Roman" panose="02020603050405020304" pitchFamily="18" charset="0"/>
                <a:cs typeface="Times New Roman" panose="02020603050405020304" pitchFamily="18" charset="0"/>
              </a:rPr>
              <a:t> of that entity.</a:t>
            </a:r>
          </a:p>
          <a:p>
            <a:pPr algn="just" fontAlgn="base"/>
            <a:r>
              <a:rPr lang="en-US" dirty="0">
                <a:latin typeface="Times New Roman" panose="02020603050405020304" pitchFamily="18" charset="0"/>
                <a:cs typeface="Times New Roman" panose="02020603050405020304" pitchFamily="18" charset="0"/>
              </a:rPr>
              <a:t>The relational model transforms conceptual designs from ER diagrams into implementable structures. These structures are used in relational database systems like Oracle SQL and MySQL.</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0972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D1194DB-E7A3-183F-2B16-F200F8008EAC}"/>
              </a:ext>
            </a:extLst>
          </p:cNvPr>
          <p:cNvPicPr>
            <a:picLocks noGrp="1" noChangeAspect="1"/>
          </p:cNvPicPr>
          <p:nvPr>
            <p:ph idx="1"/>
          </p:nvPr>
        </p:nvPicPr>
        <p:blipFill>
          <a:blip r:embed="rId2"/>
          <a:stretch>
            <a:fillRect/>
          </a:stretch>
        </p:blipFill>
        <p:spPr>
          <a:xfrm>
            <a:off x="542926" y="458788"/>
            <a:ext cx="7758111" cy="5940424"/>
          </a:xfrm>
          <a:prstGeom prst="rect">
            <a:avLst/>
          </a:prstGeom>
        </p:spPr>
      </p:pic>
    </p:spTree>
    <p:extLst>
      <p:ext uri="{BB962C8B-B14F-4D97-AF65-F5344CB8AC3E}">
        <p14:creationId xmlns:p14="http://schemas.microsoft.com/office/powerpoint/2010/main" val="831495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06CE7-E504-D575-55DC-C6C5338FD492}"/>
              </a:ext>
            </a:extLst>
          </p:cNvPr>
          <p:cNvSpPr>
            <a:spLocks noGrp="1"/>
          </p:cNvSpPr>
          <p:nvPr>
            <p:ph type="title"/>
          </p:nvPr>
        </p:nvSpPr>
        <p:spPr/>
        <p:txBody>
          <a:bodyPr>
            <a:normAutofit fontScale="90000"/>
          </a:bodyPr>
          <a:lstStyle/>
          <a:p>
            <a:r>
              <a:rPr lang="en-US" b="1" dirty="0"/>
              <a:t>Key Terms in the Relational Model</a:t>
            </a:r>
            <a:br>
              <a:rPr lang="en-US" b="1" dirty="0"/>
            </a:br>
            <a:endParaRPr lang="en-US" dirty="0"/>
          </a:p>
        </p:txBody>
      </p:sp>
      <p:sp>
        <p:nvSpPr>
          <p:cNvPr id="3" name="Content Placeholder 2">
            <a:extLst>
              <a:ext uri="{FF2B5EF4-FFF2-40B4-BE49-F238E27FC236}">
                <a16:creationId xmlns:a16="http://schemas.microsoft.com/office/drawing/2014/main" id="{66898B09-6E68-70ED-0BD7-5F3CC1F90BF3}"/>
              </a:ext>
            </a:extLst>
          </p:cNvPr>
          <p:cNvSpPr>
            <a:spLocks noGrp="1"/>
          </p:cNvSpPr>
          <p:nvPr>
            <p:ph idx="1"/>
          </p:nvPr>
        </p:nvSpPr>
        <p:spPr>
          <a:xfrm>
            <a:off x="257175" y="868363"/>
            <a:ext cx="8743949" cy="5757862"/>
          </a:xfrm>
        </p:spPr>
        <p:txBody>
          <a:bodyPr>
            <a:noAutofit/>
          </a:bodyPr>
          <a:lstStyle/>
          <a:p>
            <a:pPr algn="just"/>
            <a:r>
              <a:rPr lang="en-US" sz="2400" b="1" dirty="0">
                <a:latin typeface="Times New Roman" panose="02020603050405020304" pitchFamily="18" charset="0"/>
                <a:cs typeface="Times New Roman" panose="02020603050405020304" pitchFamily="18" charset="0"/>
              </a:rPr>
              <a:t>Attribute:</a:t>
            </a:r>
            <a:r>
              <a:rPr lang="en-US" sz="2400" dirty="0">
                <a:latin typeface="Times New Roman" panose="02020603050405020304" pitchFamily="18" charset="0"/>
                <a:cs typeface="Times New Roman" panose="02020603050405020304" pitchFamily="18" charset="0"/>
              </a:rPr>
              <a:t> Attributes are the properties that define an entity. For example, ROLL_NO, NAME, ADDRESS etc.</a:t>
            </a:r>
          </a:p>
          <a:p>
            <a:pPr algn="just"/>
            <a:r>
              <a:rPr lang="en-US" sz="2400" b="1" dirty="0">
                <a:latin typeface="Times New Roman" panose="02020603050405020304" pitchFamily="18" charset="0"/>
                <a:cs typeface="Times New Roman" panose="02020603050405020304" pitchFamily="18" charset="0"/>
              </a:rPr>
              <a:t>Relation Schema</a:t>
            </a:r>
            <a:r>
              <a:rPr lang="en-US" sz="2400" dirty="0">
                <a:latin typeface="Times New Roman" panose="02020603050405020304" pitchFamily="18" charset="0"/>
                <a:cs typeface="Times New Roman" panose="02020603050405020304" pitchFamily="18" charset="0"/>
              </a:rPr>
              <a:t>: A relation schema defines the structure of the relation and represents the name of the relation with its attributes. For example, STUDENT (ROLL_NO, NAME, ADDRESS, PHONE and AGE) is the relation schema for STUDENT. If a schema has more than 1 relation it is called Relational Schema.</a:t>
            </a:r>
          </a:p>
          <a:p>
            <a:pPr algn="just"/>
            <a:r>
              <a:rPr lang="en-US" sz="2400" b="1" dirty="0">
                <a:latin typeface="Times New Roman" panose="02020603050405020304" pitchFamily="18" charset="0"/>
                <a:cs typeface="Times New Roman" panose="02020603050405020304" pitchFamily="18" charset="0"/>
              </a:rPr>
              <a:t>Tuple</a:t>
            </a:r>
            <a:r>
              <a:rPr lang="en-US" sz="2400" dirty="0">
                <a:latin typeface="Times New Roman" panose="02020603050405020304" pitchFamily="18" charset="0"/>
                <a:cs typeface="Times New Roman" panose="02020603050405020304" pitchFamily="18" charset="0"/>
              </a:rPr>
              <a:t>: A Tuple represents a row in a relation. Each tuple contains a set of attribute values that describe a particular entity. For example, (1, RAM, DELHI, 9455123451, 18) is a tuple in the STUDENT table.</a:t>
            </a:r>
          </a:p>
          <a:p>
            <a:pPr algn="just"/>
            <a:r>
              <a:rPr lang="en-US" sz="2400" b="1" dirty="0">
                <a:latin typeface="Times New Roman" panose="02020603050405020304" pitchFamily="18" charset="0"/>
                <a:cs typeface="Times New Roman" panose="02020603050405020304" pitchFamily="18" charset="0"/>
              </a:rPr>
              <a:t>Relation Instance</a:t>
            </a:r>
            <a:r>
              <a:rPr lang="en-US" sz="2400" dirty="0">
                <a:latin typeface="Times New Roman" panose="02020603050405020304" pitchFamily="18" charset="0"/>
                <a:cs typeface="Times New Roman" panose="02020603050405020304" pitchFamily="18" charset="0"/>
              </a:rPr>
              <a:t>: The set of tuples of a relation at a particular instance of time is called a relation instance. It can change whenever there is an insertion, deletion or update in the database.</a:t>
            </a:r>
          </a:p>
        </p:txBody>
      </p:sp>
    </p:spTree>
    <p:extLst>
      <p:ext uri="{BB962C8B-B14F-4D97-AF65-F5344CB8AC3E}">
        <p14:creationId xmlns:p14="http://schemas.microsoft.com/office/powerpoint/2010/main" val="2823572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1987F9-442A-DC63-27DC-9B530E00E32A}"/>
              </a:ext>
            </a:extLst>
          </p:cNvPr>
          <p:cNvSpPr>
            <a:spLocks noGrp="1"/>
          </p:cNvSpPr>
          <p:nvPr>
            <p:ph idx="1"/>
          </p:nvPr>
        </p:nvSpPr>
        <p:spPr>
          <a:xfrm>
            <a:off x="457200" y="1166018"/>
            <a:ext cx="8229600" cy="4525963"/>
          </a:xfrm>
        </p:spPr>
        <p:txBody>
          <a:bodyPr>
            <a:normAutofit fontScale="85000" lnSpcReduction="10000"/>
          </a:bodyPr>
          <a:lstStyle/>
          <a:p>
            <a:pPr algn="just"/>
            <a:r>
              <a:rPr lang="en-US" b="1" dirty="0">
                <a:latin typeface="Times New Roman" panose="02020603050405020304" pitchFamily="18" charset="0"/>
                <a:cs typeface="Times New Roman" panose="02020603050405020304" pitchFamily="18" charset="0"/>
              </a:rPr>
              <a:t>Degree</a:t>
            </a:r>
            <a:r>
              <a:rPr lang="en-US" dirty="0">
                <a:latin typeface="Times New Roman" panose="02020603050405020304" pitchFamily="18" charset="0"/>
                <a:cs typeface="Times New Roman" panose="02020603050405020304" pitchFamily="18" charset="0"/>
              </a:rPr>
              <a:t>: The number of attributes in the relation is known as the degree of the relation. For example, The STUDENT relation has a degree of 5, as it has 5 attributes.</a:t>
            </a:r>
          </a:p>
          <a:p>
            <a:pPr algn="just"/>
            <a:r>
              <a:rPr lang="en-US" b="1" dirty="0">
                <a:latin typeface="Times New Roman" panose="02020603050405020304" pitchFamily="18" charset="0"/>
                <a:cs typeface="Times New Roman" panose="02020603050405020304" pitchFamily="18" charset="0"/>
              </a:rPr>
              <a:t>Cardinality</a:t>
            </a:r>
            <a:r>
              <a:rPr lang="en-US" dirty="0">
                <a:latin typeface="Times New Roman" panose="02020603050405020304" pitchFamily="18" charset="0"/>
                <a:cs typeface="Times New Roman" panose="02020603050405020304" pitchFamily="18" charset="0"/>
              </a:rPr>
              <a:t>: The number of tuples in a relation is known as cardinality. For example, The STUDENT relation defined above has cardinality 4.</a:t>
            </a:r>
          </a:p>
          <a:p>
            <a:pPr algn="just"/>
            <a:r>
              <a:rPr lang="en-US" b="1" dirty="0">
                <a:latin typeface="Times New Roman" panose="02020603050405020304" pitchFamily="18" charset="0"/>
                <a:cs typeface="Times New Roman" panose="02020603050405020304" pitchFamily="18" charset="0"/>
              </a:rPr>
              <a:t>NULL Values</a:t>
            </a:r>
            <a:r>
              <a:rPr lang="en-US" dirty="0">
                <a:latin typeface="Times New Roman" panose="02020603050405020304" pitchFamily="18" charset="0"/>
                <a:cs typeface="Times New Roman" panose="02020603050405020304" pitchFamily="18" charset="0"/>
              </a:rPr>
              <a:t>: The value which is not known or unavailable is called a NULL value. It is represented by NULL. For example, PHONE of STUDENT having ROLL_NO 4 is NULL. </a:t>
            </a:r>
          </a:p>
          <a:p>
            <a:endParaRPr lang="en-US" dirty="0"/>
          </a:p>
        </p:txBody>
      </p:sp>
    </p:spTree>
    <p:extLst>
      <p:ext uri="{BB962C8B-B14F-4D97-AF65-F5344CB8AC3E}">
        <p14:creationId xmlns:p14="http://schemas.microsoft.com/office/powerpoint/2010/main" val="1607936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33646-4A5D-4DC7-4926-4E02430DE792}"/>
              </a:ext>
            </a:extLst>
          </p:cNvPr>
          <p:cNvSpPr>
            <a:spLocks noGrp="1"/>
          </p:cNvSpPr>
          <p:nvPr>
            <p:ph type="title"/>
          </p:nvPr>
        </p:nvSpPr>
        <p:spPr/>
        <p:txBody>
          <a:bodyPr>
            <a:normAutofit fontScale="90000"/>
          </a:bodyPr>
          <a:lstStyle/>
          <a:p>
            <a:r>
              <a:rPr lang="en-US" b="1" dirty="0"/>
              <a:t>Types of Keys in the Relational Model</a:t>
            </a:r>
            <a:br>
              <a:rPr lang="en-US" b="1" dirty="0"/>
            </a:br>
            <a:endParaRPr lang="en-US" dirty="0"/>
          </a:p>
        </p:txBody>
      </p:sp>
      <p:sp>
        <p:nvSpPr>
          <p:cNvPr id="3" name="Content Placeholder 2">
            <a:extLst>
              <a:ext uri="{FF2B5EF4-FFF2-40B4-BE49-F238E27FC236}">
                <a16:creationId xmlns:a16="http://schemas.microsoft.com/office/drawing/2014/main" id="{5FB0C09B-743C-5C44-19AE-19FF3A15A171}"/>
              </a:ext>
            </a:extLst>
          </p:cNvPr>
          <p:cNvSpPr>
            <a:spLocks noGrp="1"/>
          </p:cNvSpPr>
          <p:nvPr>
            <p:ph idx="1"/>
          </p:nvPr>
        </p:nvSpPr>
        <p:spPr>
          <a:xfrm>
            <a:off x="171450" y="1114425"/>
            <a:ext cx="8972550" cy="4983162"/>
          </a:xfrm>
        </p:spPr>
        <p:txBody>
          <a:bodyPr>
            <a:normAutofit fontScale="85000" lnSpcReduction="10000"/>
          </a:bodyPr>
          <a:lstStyle/>
          <a:p>
            <a:pPr fontAlgn="base"/>
            <a:r>
              <a:rPr lang="en-US" b="1" dirty="0">
                <a:latin typeface="Times New Roman" panose="02020603050405020304" pitchFamily="18" charset="0"/>
                <a:cs typeface="Times New Roman" panose="02020603050405020304" pitchFamily="18" charset="0"/>
              </a:rPr>
              <a:t>Super Key:</a:t>
            </a:r>
            <a:r>
              <a:rPr lang="en-US" dirty="0">
                <a:latin typeface="Times New Roman" panose="02020603050405020304" pitchFamily="18" charset="0"/>
                <a:cs typeface="Times New Roman" panose="02020603050405020304" pitchFamily="18" charset="0"/>
              </a:rPr>
              <a:t> A Super Key is a set of attributes that can uniquely identify a tuple.</a:t>
            </a:r>
          </a:p>
          <a:p>
            <a:pPr fontAlgn="base"/>
            <a:r>
              <a:rPr lang="en-US" b="1" dirty="0">
                <a:latin typeface="Times New Roman" panose="02020603050405020304" pitchFamily="18" charset="0"/>
                <a:cs typeface="Times New Roman" panose="02020603050405020304" pitchFamily="18" charset="0"/>
              </a:rPr>
              <a:t>Candidate Key:</a:t>
            </a:r>
            <a:r>
              <a:rPr lang="en-US" dirty="0">
                <a:latin typeface="Times New Roman" panose="02020603050405020304" pitchFamily="18" charset="0"/>
                <a:cs typeface="Times New Roman" panose="02020603050405020304" pitchFamily="18" charset="0"/>
              </a:rPr>
              <a:t> A Candidate Key is a minimal  set of super key.</a:t>
            </a:r>
          </a:p>
          <a:p>
            <a:pPr fontAlgn="base"/>
            <a:r>
              <a:rPr lang="en-US" b="1" dirty="0">
                <a:latin typeface="Times New Roman" panose="02020603050405020304" pitchFamily="18" charset="0"/>
                <a:cs typeface="Times New Roman" panose="02020603050405020304" pitchFamily="18" charset="0"/>
              </a:rPr>
              <a:t>Primary Key:</a:t>
            </a:r>
            <a:r>
              <a:rPr lang="en-US" dirty="0">
                <a:latin typeface="Times New Roman" panose="02020603050405020304" pitchFamily="18" charset="0"/>
                <a:cs typeface="Times New Roman" panose="02020603050405020304" pitchFamily="18" charset="0"/>
              </a:rPr>
              <a:t> A Primary Key uniquely identifies each tuple in a relation. It must contain unique values and cannot have NULL values.</a:t>
            </a:r>
          </a:p>
          <a:p>
            <a:pPr fontAlgn="base"/>
            <a:endParaRPr lang="en-US"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Foreign Key:</a:t>
            </a:r>
            <a:r>
              <a:rPr lang="en-US" dirty="0">
                <a:latin typeface="Times New Roman" panose="02020603050405020304" pitchFamily="18" charset="0"/>
                <a:cs typeface="Times New Roman" panose="02020603050405020304" pitchFamily="18" charset="0"/>
              </a:rPr>
              <a:t> A Foreign Key is an attribute in one relation that refers to the primary key of another relation.</a:t>
            </a:r>
          </a:p>
          <a:p>
            <a:pPr fontAlgn="base"/>
            <a:r>
              <a:rPr lang="en-US" b="1" dirty="0">
                <a:latin typeface="Times New Roman" panose="02020603050405020304" pitchFamily="18" charset="0"/>
                <a:cs typeface="Times New Roman" panose="02020603050405020304" pitchFamily="18" charset="0"/>
              </a:rPr>
              <a:t>Composite Key:</a:t>
            </a:r>
            <a:r>
              <a:rPr lang="en-US" dirty="0">
                <a:latin typeface="Times New Roman" panose="02020603050405020304" pitchFamily="18" charset="0"/>
                <a:cs typeface="Times New Roman" panose="02020603050405020304" pitchFamily="18" charset="0"/>
              </a:rPr>
              <a:t> A Composite Key is formed by combining two or more attributes to uniquely identify a tuple.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4587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FB1CD-C3FC-A93D-5F66-EC030E789674}"/>
              </a:ext>
            </a:extLst>
          </p:cNvPr>
          <p:cNvSpPr>
            <a:spLocks noGrp="1"/>
          </p:cNvSpPr>
          <p:nvPr>
            <p:ph type="title"/>
          </p:nvPr>
        </p:nvSpPr>
        <p:spPr>
          <a:xfrm>
            <a:off x="457200" y="457200"/>
            <a:ext cx="8229600" cy="1143000"/>
          </a:xfrm>
        </p:spPr>
        <p:txBody>
          <a:bodyPr>
            <a:normAutofit fontScale="90000"/>
          </a:bodyPr>
          <a:lstStyle/>
          <a:p>
            <a:r>
              <a:rPr lang="en-US" b="1" dirty="0"/>
              <a:t>Introduction of Relational Algebra in DBMS</a:t>
            </a:r>
            <a:br>
              <a:rPr lang="en-US" b="1" dirty="0"/>
            </a:br>
            <a:endParaRPr lang="en-US" dirty="0"/>
          </a:p>
        </p:txBody>
      </p:sp>
      <p:sp>
        <p:nvSpPr>
          <p:cNvPr id="3" name="Content Placeholder 2">
            <a:extLst>
              <a:ext uri="{FF2B5EF4-FFF2-40B4-BE49-F238E27FC236}">
                <a16:creationId xmlns:a16="http://schemas.microsoft.com/office/drawing/2014/main" id="{6F97B72C-6AC2-96E9-95E1-9C73692E0888}"/>
              </a:ext>
            </a:extLst>
          </p:cNvPr>
          <p:cNvSpPr>
            <a:spLocks noGrp="1"/>
          </p:cNvSpPr>
          <p:nvPr>
            <p:ph idx="1"/>
          </p:nvPr>
        </p:nvSpPr>
        <p:spPr/>
        <p:txBody>
          <a:bodyPr/>
          <a:lstStyle/>
          <a:p>
            <a:r>
              <a:rPr lang="en-US" b="1" dirty="0"/>
              <a:t>Relational Algebra</a:t>
            </a:r>
            <a:r>
              <a:rPr lang="en-US" dirty="0"/>
              <a:t> is a </a:t>
            </a:r>
            <a:r>
              <a:rPr lang="en-US" b="1" dirty="0"/>
              <a:t>procedural query language</a:t>
            </a:r>
            <a:r>
              <a:rPr lang="en-US" dirty="0"/>
              <a:t> used in Database Management Systems (DBMS).</a:t>
            </a:r>
            <a:br>
              <a:rPr lang="en-US" dirty="0"/>
            </a:br>
            <a:r>
              <a:rPr lang="en-US" dirty="0"/>
              <a:t>It works on </a:t>
            </a:r>
            <a:r>
              <a:rPr lang="en-US" b="1" dirty="0"/>
              <a:t>relations (tables)</a:t>
            </a:r>
            <a:r>
              <a:rPr lang="en-US" dirty="0"/>
              <a:t> and uses a set of operations to retrieve and manipulate data.</a:t>
            </a:r>
          </a:p>
          <a:p>
            <a:r>
              <a:rPr lang="en-US" dirty="0"/>
              <a:t>STUDENT Table:</a:t>
            </a:r>
          </a:p>
          <a:p>
            <a:endParaRPr lang="en-US" dirty="0"/>
          </a:p>
          <a:p>
            <a:endParaRPr lang="en-US" dirty="0"/>
          </a:p>
        </p:txBody>
      </p:sp>
      <p:graphicFrame>
        <p:nvGraphicFramePr>
          <p:cNvPr id="4" name="Table 3">
            <a:extLst>
              <a:ext uri="{FF2B5EF4-FFF2-40B4-BE49-F238E27FC236}">
                <a16:creationId xmlns:a16="http://schemas.microsoft.com/office/drawing/2014/main" id="{3F2F9B7F-6F6A-DBFA-C1A4-84C3E60E70AC}"/>
              </a:ext>
            </a:extLst>
          </p:cNvPr>
          <p:cNvGraphicFramePr>
            <a:graphicFrameLocks noGrp="1"/>
          </p:cNvGraphicFramePr>
          <p:nvPr>
            <p:extLst>
              <p:ext uri="{D42A27DB-BD31-4B8C-83A1-F6EECF244321}">
                <p14:modId xmlns:p14="http://schemas.microsoft.com/office/powerpoint/2010/main" val="2641064564"/>
              </p:ext>
            </p:extLst>
          </p:nvPr>
        </p:nvGraphicFramePr>
        <p:xfrm>
          <a:off x="557213" y="4892040"/>
          <a:ext cx="8229600" cy="1463040"/>
        </p:xfrm>
        <a:graphic>
          <a:graphicData uri="http://schemas.openxmlformats.org/drawingml/2006/table">
            <a:tbl>
              <a:tblPr/>
              <a:tblGrid>
                <a:gridCol w="2057400">
                  <a:extLst>
                    <a:ext uri="{9D8B030D-6E8A-4147-A177-3AD203B41FA5}">
                      <a16:colId xmlns:a16="http://schemas.microsoft.com/office/drawing/2014/main" val="2791475943"/>
                    </a:ext>
                  </a:extLst>
                </a:gridCol>
                <a:gridCol w="2057400">
                  <a:extLst>
                    <a:ext uri="{9D8B030D-6E8A-4147-A177-3AD203B41FA5}">
                      <a16:colId xmlns:a16="http://schemas.microsoft.com/office/drawing/2014/main" val="3506968326"/>
                    </a:ext>
                  </a:extLst>
                </a:gridCol>
                <a:gridCol w="2057400">
                  <a:extLst>
                    <a:ext uri="{9D8B030D-6E8A-4147-A177-3AD203B41FA5}">
                      <a16:colId xmlns:a16="http://schemas.microsoft.com/office/drawing/2014/main" val="1209555961"/>
                    </a:ext>
                  </a:extLst>
                </a:gridCol>
                <a:gridCol w="2057400">
                  <a:extLst>
                    <a:ext uri="{9D8B030D-6E8A-4147-A177-3AD203B41FA5}">
                      <a16:colId xmlns:a16="http://schemas.microsoft.com/office/drawing/2014/main" val="3795810730"/>
                    </a:ext>
                  </a:extLst>
                </a:gridCol>
              </a:tblGrid>
              <a:tr h="0">
                <a:tc>
                  <a:txBody>
                    <a:bodyPr/>
                    <a:lstStyle/>
                    <a:p>
                      <a:pPr>
                        <a:buNone/>
                      </a:pPr>
                      <a:r>
                        <a:rPr lang="en-US"/>
                        <a:t>SID</a:t>
                      </a:r>
                    </a:p>
                  </a:txBody>
                  <a:tcPr anchor="ctr">
                    <a:lnL>
                      <a:noFill/>
                    </a:lnL>
                    <a:lnR>
                      <a:noFill/>
                    </a:lnR>
                    <a:lnT>
                      <a:noFill/>
                    </a:lnT>
                    <a:lnB>
                      <a:noFill/>
                    </a:lnB>
                    <a:noFill/>
                  </a:tcPr>
                </a:tc>
                <a:tc>
                  <a:txBody>
                    <a:bodyPr/>
                    <a:lstStyle/>
                    <a:p>
                      <a:pPr>
                        <a:buNone/>
                      </a:pPr>
                      <a:r>
                        <a:rPr lang="en-US"/>
                        <a:t>Name</a:t>
                      </a:r>
                    </a:p>
                  </a:txBody>
                  <a:tcPr anchor="ctr">
                    <a:lnL>
                      <a:noFill/>
                    </a:lnL>
                    <a:lnR>
                      <a:noFill/>
                    </a:lnR>
                    <a:lnT>
                      <a:noFill/>
                    </a:lnT>
                    <a:lnB>
                      <a:noFill/>
                    </a:lnB>
                    <a:noFill/>
                  </a:tcPr>
                </a:tc>
                <a:tc>
                  <a:txBody>
                    <a:bodyPr/>
                    <a:lstStyle/>
                    <a:p>
                      <a:pPr>
                        <a:buNone/>
                      </a:pPr>
                      <a:r>
                        <a:rPr lang="en-US"/>
                        <a:t>Dept</a:t>
                      </a:r>
                    </a:p>
                  </a:txBody>
                  <a:tcPr anchor="ctr">
                    <a:lnL>
                      <a:noFill/>
                    </a:lnL>
                    <a:lnR>
                      <a:noFill/>
                    </a:lnR>
                    <a:lnT>
                      <a:noFill/>
                    </a:lnT>
                    <a:lnB>
                      <a:noFill/>
                    </a:lnB>
                    <a:noFill/>
                  </a:tcPr>
                </a:tc>
                <a:tc>
                  <a:txBody>
                    <a:bodyPr/>
                    <a:lstStyle/>
                    <a:p>
                      <a:pPr>
                        <a:buNone/>
                      </a:pPr>
                      <a:r>
                        <a:rPr lang="en-US"/>
                        <a:t>Age</a:t>
                      </a:r>
                    </a:p>
                  </a:txBody>
                  <a:tcPr anchor="ctr">
                    <a:lnL>
                      <a:noFill/>
                    </a:lnL>
                    <a:lnR>
                      <a:noFill/>
                    </a:lnR>
                    <a:lnT>
                      <a:noFill/>
                    </a:lnT>
                    <a:lnB>
                      <a:noFill/>
                    </a:lnB>
                    <a:noFill/>
                  </a:tcPr>
                </a:tc>
                <a:extLst>
                  <a:ext uri="{0D108BD9-81ED-4DB2-BD59-A6C34878D82A}">
                    <a16:rowId xmlns:a16="http://schemas.microsoft.com/office/drawing/2014/main" val="1190270007"/>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Ravi</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tc>
                  <a:txBody>
                    <a:bodyPr/>
                    <a:lstStyle/>
                    <a:p>
                      <a:pPr>
                        <a:buNone/>
                      </a:pPr>
                      <a:r>
                        <a:rPr lang="en-US"/>
                        <a:t>20</a:t>
                      </a:r>
                    </a:p>
                  </a:txBody>
                  <a:tcPr anchor="ctr">
                    <a:lnL>
                      <a:noFill/>
                    </a:lnL>
                    <a:lnR>
                      <a:noFill/>
                    </a:lnR>
                    <a:lnT>
                      <a:noFill/>
                    </a:lnT>
                    <a:lnB>
                      <a:noFill/>
                    </a:lnB>
                    <a:noFill/>
                  </a:tcPr>
                </a:tc>
                <a:extLst>
                  <a:ext uri="{0D108BD9-81ED-4DB2-BD59-A6C34878D82A}">
                    <a16:rowId xmlns:a16="http://schemas.microsoft.com/office/drawing/2014/main" val="1712637337"/>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Meena</a:t>
                      </a:r>
                    </a:p>
                  </a:txBody>
                  <a:tcPr anchor="ctr">
                    <a:lnL>
                      <a:noFill/>
                    </a:lnL>
                    <a:lnR>
                      <a:noFill/>
                    </a:lnR>
                    <a:lnT>
                      <a:noFill/>
                    </a:lnT>
                    <a:lnB>
                      <a:noFill/>
                    </a:lnB>
                    <a:noFill/>
                  </a:tcPr>
                </a:tc>
                <a:tc>
                  <a:txBody>
                    <a:bodyPr/>
                    <a:lstStyle/>
                    <a:p>
                      <a:pPr>
                        <a:buNone/>
                      </a:pPr>
                      <a:r>
                        <a:rPr lang="en-US"/>
                        <a:t>ECE</a:t>
                      </a:r>
                    </a:p>
                  </a:txBody>
                  <a:tcPr anchor="ctr">
                    <a:lnL>
                      <a:noFill/>
                    </a:lnL>
                    <a:lnR>
                      <a:noFill/>
                    </a:lnR>
                    <a:lnT>
                      <a:noFill/>
                    </a:lnT>
                    <a:lnB>
                      <a:noFill/>
                    </a:lnB>
                    <a:noFill/>
                  </a:tcPr>
                </a:tc>
                <a:tc>
                  <a:txBody>
                    <a:bodyPr/>
                    <a:lstStyle/>
                    <a:p>
                      <a:pPr>
                        <a:buNone/>
                      </a:pPr>
                      <a:r>
                        <a:rPr lang="en-US"/>
                        <a:t>21</a:t>
                      </a:r>
                    </a:p>
                  </a:txBody>
                  <a:tcPr anchor="ctr">
                    <a:lnL>
                      <a:noFill/>
                    </a:lnL>
                    <a:lnR>
                      <a:noFill/>
                    </a:lnR>
                    <a:lnT>
                      <a:noFill/>
                    </a:lnT>
                    <a:lnB>
                      <a:noFill/>
                    </a:lnB>
                    <a:noFill/>
                  </a:tcPr>
                </a:tc>
                <a:extLst>
                  <a:ext uri="{0D108BD9-81ED-4DB2-BD59-A6C34878D82A}">
                    <a16:rowId xmlns:a16="http://schemas.microsoft.com/office/drawing/2014/main" val="1574064619"/>
                  </a:ext>
                </a:extLst>
              </a:tr>
              <a:tr h="0">
                <a:tc>
                  <a:txBody>
                    <a:bodyPr/>
                    <a:lstStyle/>
                    <a:p>
                      <a:pPr>
                        <a:buNone/>
                      </a:pPr>
                      <a:r>
                        <a:rPr lang="en-US"/>
                        <a:t>3</a:t>
                      </a:r>
                    </a:p>
                  </a:txBody>
                  <a:tcPr anchor="ctr">
                    <a:lnL>
                      <a:noFill/>
                    </a:lnL>
                    <a:lnR>
                      <a:noFill/>
                    </a:lnR>
                    <a:lnT>
                      <a:noFill/>
                    </a:lnT>
                    <a:lnB>
                      <a:noFill/>
                    </a:lnB>
                    <a:noFill/>
                  </a:tcPr>
                </a:tc>
                <a:tc>
                  <a:txBody>
                    <a:bodyPr/>
                    <a:lstStyle/>
                    <a:p>
                      <a:pPr>
                        <a:buNone/>
                      </a:pPr>
                      <a:r>
                        <a:rPr lang="en-US"/>
                        <a:t>Arjun</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tc>
                  <a:txBody>
                    <a:bodyPr/>
                    <a:lstStyle/>
                    <a:p>
                      <a:pPr>
                        <a:buNone/>
                      </a:pPr>
                      <a:r>
                        <a:rPr lang="en-US" dirty="0"/>
                        <a:t>22</a:t>
                      </a:r>
                    </a:p>
                  </a:txBody>
                  <a:tcPr anchor="ctr">
                    <a:lnL>
                      <a:noFill/>
                    </a:lnL>
                    <a:lnR>
                      <a:noFill/>
                    </a:lnR>
                    <a:lnT>
                      <a:noFill/>
                    </a:lnT>
                    <a:lnB>
                      <a:noFill/>
                    </a:lnB>
                    <a:noFill/>
                  </a:tcPr>
                </a:tc>
                <a:extLst>
                  <a:ext uri="{0D108BD9-81ED-4DB2-BD59-A6C34878D82A}">
                    <a16:rowId xmlns:a16="http://schemas.microsoft.com/office/drawing/2014/main" val="2320826594"/>
                  </a:ext>
                </a:extLst>
              </a:tr>
            </a:tbl>
          </a:graphicData>
        </a:graphic>
      </p:graphicFrame>
    </p:spTree>
    <p:extLst>
      <p:ext uri="{BB962C8B-B14F-4D97-AF65-F5344CB8AC3E}">
        <p14:creationId xmlns:p14="http://schemas.microsoft.com/office/powerpoint/2010/main" val="531815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E5D4A7-311E-BB1A-0A90-13038DA7CDAB}"/>
              </a:ext>
            </a:extLst>
          </p:cNvPr>
          <p:cNvPicPr>
            <a:picLocks noChangeAspect="1"/>
          </p:cNvPicPr>
          <p:nvPr/>
        </p:nvPicPr>
        <p:blipFill>
          <a:blip r:embed="rId2"/>
          <a:stretch>
            <a:fillRect/>
          </a:stretch>
        </p:blipFill>
        <p:spPr>
          <a:xfrm>
            <a:off x="657225" y="700088"/>
            <a:ext cx="8201025" cy="5329237"/>
          </a:xfrm>
          <a:prstGeom prst="rect">
            <a:avLst/>
          </a:prstGeom>
        </p:spPr>
      </p:pic>
    </p:spTree>
    <p:extLst>
      <p:ext uri="{BB962C8B-B14F-4D97-AF65-F5344CB8AC3E}">
        <p14:creationId xmlns:p14="http://schemas.microsoft.com/office/powerpoint/2010/main" val="591251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B3DDC-7FB6-3138-F823-7EA2C15A03EC}"/>
              </a:ext>
            </a:extLst>
          </p:cNvPr>
          <p:cNvSpPr>
            <a:spLocks noGrp="1"/>
          </p:cNvSpPr>
          <p:nvPr>
            <p:ph idx="1"/>
          </p:nvPr>
        </p:nvSpPr>
        <p:spPr>
          <a:xfrm>
            <a:off x="457200" y="728185"/>
            <a:ext cx="8229600" cy="4525963"/>
          </a:xfrm>
        </p:spPr>
        <p:txBody>
          <a:bodyPr/>
          <a:lstStyle/>
          <a:p>
            <a:pPr marL="0" indent="0">
              <a:buNone/>
            </a:pPr>
            <a:r>
              <a:rPr lang="en-US" b="1" dirty="0"/>
              <a:t>                        Selection (σ)</a:t>
            </a:r>
          </a:p>
          <a:p>
            <a:endParaRPr lang="en-US" b="1" dirty="0"/>
          </a:p>
          <a:p>
            <a:r>
              <a:rPr lang="en-US" b="1" dirty="0"/>
              <a:t>Purpose:</a:t>
            </a:r>
            <a:r>
              <a:rPr lang="en-US" dirty="0"/>
              <a:t> Selects rows that satisfy a condition</a:t>
            </a:r>
            <a:br>
              <a:rPr lang="en-US" dirty="0"/>
            </a:br>
            <a:r>
              <a:rPr lang="en-US" b="1" dirty="0"/>
              <a:t>Symbol:</a:t>
            </a:r>
            <a:r>
              <a:rPr lang="en-US" dirty="0"/>
              <a:t> σ (sigma)</a:t>
            </a:r>
          </a:p>
          <a:p>
            <a:r>
              <a:rPr lang="en-US" b="1" dirty="0"/>
              <a:t>Example:</a:t>
            </a:r>
            <a:br>
              <a:rPr lang="en-US" dirty="0"/>
            </a:br>
            <a:r>
              <a:rPr lang="en-US" dirty="0"/>
              <a:t>Get students from CSE department</a:t>
            </a:r>
          </a:p>
          <a:p>
            <a:r>
              <a:rPr lang="el-GR" dirty="0"/>
              <a:t>σ </a:t>
            </a:r>
            <a:r>
              <a:rPr lang="en-US" dirty="0"/>
              <a:t>Dept = 'CSE' (STUDENT)</a:t>
            </a:r>
          </a:p>
          <a:p>
            <a:endParaRPr lang="en-US" dirty="0"/>
          </a:p>
          <a:p>
            <a:endParaRPr lang="en-US" dirty="0"/>
          </a:p>
          <a:p>
            <a:endParaRPr lang="en-US" dirty="0"/>
          </a:p>
        </p:txBody>
      </p:sp>
      <p:graphicFrame>
        <p:nvGraphicFramePr>
          <p:cNvPr id="4" name="Table 3">
            <a:extLst>
              <a:ext uri="{FF2B5EF4-FFF2-40B4-BE49-F238E27FC236}">
                <a16:creationId xmlns:a16="http://schemas.microsoft.com/office/drawing/2014/main" id="{C6EA55F6-577C-387A-205B-427E4D97407A}"/>
              </a:ext>
            </a:extLst>
          </p:cNvPr>
          <p:cNvGraphicFramePr>
            <a:graphicFrameLocks noGrp="1"/>
          </p:cNvGraphicFramePr>
          <p:nvPr>
            <p:extLst>
              <p:ext uri="{D42A27DB-BD31-4B8C-83A1-F6EECF244321}">
                <p14:modId xmlns:p14="http://schemas.microsoft.com/office/powerpoint/2010/main" val="3752471927"/>
              </p:ext>
            </p:extLst>
          </p:nvPr>
        </p:nvGraphicFramePr>
        <p:xfrm>
          <a:off x="700088" y="5032535"/>
          <a:ext cx="8229600" cy="1097280"/>
        </p:xfrm>
        <a:graphic>
          <a:graphicData uri="http://schemas.openxmlformats.org/drawingml/2006/table">
            <a:tbl>
              <a:tblPr/>
              <a:tblGrid>
                <a:gridCol w="2057400">
                  <a:extLst>
                    <a:ext uri="{9D8B030D-6E8A-4147-A177-3AD203B41FA5}">
                      <a16:colId xmlns:a16="http://schemas.microsoft.com/office/drawing/2014/main" val="3485328186"/>
                    </a:ext>
                  </a:extLst>
                </a:gridCol>
                <a:gridCol w="2057400">
                  <a:extLst>
                    <a:ext uri="{9D8B030D-6E8A-4147-A177-3AD203B41FA5}">
                      <a16:colId xmlns:a16="http://schemas.microsoft.com/office/drawing/2014/main" val="3202794283"/>
                    </a:ext>
                  </a:extLst>
                </a:gridCol>
                <a:gridCol w="2057400">
                  <a:extLst>
                    <a:ext uri="{9D8B030D-6E8A-4147-A177-3AD203B41FA5}">
                      <a16:colId xmlns:a16="http://schemas.microsoft.com/office/drawing/2014/main" val="3218697463"/>
                    </a:ext>
                  </a:extLst>
                </a:gridCol>
                <a:gridCol w="2057400">
                  <a:extLst>
                    <a:ext uri="{9D8B030D-6E8A-4147-A177-3AD203B41FA5}">
                      <a16:colId xmlns:a16="http://schemas.microsoft.com/office/drawing/2014/main" val="3750013381"/>
                    </a:ext>
                  </a:extLst>
                </a:gridCol>
              </a:tblGrid>
              <a:tr h="0">
                <a:tc>
                  <a:txBody>
                    <a:bodyPr/>
                    <a:lstStyle/>
                    <a:p>
                      <a:pPr>
                        <a:buNone/>
                      </a:pPr>
                      <a:r>
                        <a:rPr lang="en-US" dirty="0"/>
                        <a:t>SID</a:t>
                      </a:r>
                    </a:p>
                  </a:txBody>
                  <a:tcPr anchor="ctr">
                    <a:lnL>
                      <a:noFill/>
                    </a:lnL>
                    <a:lnR>
                      <a:noFill/>
                    </a:lnR>
                    <a:lnT>
                      <a:noFill/>
                    </a:lnT>
                    <a:lnB>
                      <a:noFill/>
                    </a:lnB>
                    <a:noFill/>
                  </a:tcPr>
                </a:tc>
                <a:tc>
                  <a:txBody>
                    <a:bodyPr/>
                    <a:lstStyle/>
                    <a:p>
                      <a:pPr>
                        <a:buNone/>
                      </a:pPr>
                      <a:r>
                        <a:rPr lang="en-US"/>
                        <a:t>Name</a:t>
                      </a:r>
                    </a:p>
                  </a:txBody>
                  <a:tcPr anchor="ctr">
                    <a:lnL>
                      <a:noFill/>
                    </a:lnL>
                    <a:lnR>
                      <a:noFill/>
                    </a:lnR>
                    <a:lnT>
                      <a:noFill/>
                    </a:lnT>
                    <a:lnB>
                      <a:noFill/>
                    </a:lnB>
                    <a:noFill/>
                  </a:tcPr>
                </a:tc>
                <a:tc>
                  <a:txBody>
                    <a:bodyPr/>
                    <a:lstStyle/>
                    <a:p>
                      <a:pPr>
                        <a:buNone/>
                      </a:pPr>
                      <a:r>
                        <a:rPr lang="en-US"/>
                        <a:t>Dept</a:t>
                      </a:r>
                    </a:p>
                  </a:txBody>
                  <a:tcPr anchor="ctr">
                    <a:lnL>
                      <a:noFill/>
                    </a:lnL>
                    <a:lnR>
                      <a:noFill/>
                    </a:lnR>
                    <a:lnT>
                      <a:noFill/>
                    </a:lnT>
                    <a:lnB>
                      <a:noFill/>
                    </a:lnB>
                    <a:noFill/>
                  </a:tcPr>
                </a:tc>
                <a:tc>
                  <a:txBody>
                    <a:bodyPr/>
                    <a:lstStyle/>
                    <a:p>
                      <a:pPr>
                        <a:buNone/>
                      </a:pPr>
                      <a:r>
                        <a:rPr lang="en-US"/>
                        <a:t>Age</a:t>
                      </a:r>
                    </a:p>
                  </a:txBody>
                  <a:tcPr anchor="ctr">
                    <a:lnL>
                      <a:noFill/>
                    </a:lnL>
                    <a:lnR>
                      <a:noFill/>
                    </a:lnR>
                    <a:lnT>
                      <a:noFill/>
                    </a:lnT>
                    <a:lnB>
                      <a:noFill/>
                    </a:lnB>
                    <a:noFill/>
                  </a:tcPr>
                </a:tc>
                <a:extLst>
                  <a:ext uri="{0D108BD9-81ED-4DB2-BD59-A6C34878D82A}">
                    <a16:rowId xmlns:a16="http://schemas.microsoft.com/office/drawing/2014/main" val="2120457632"/>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dirty="0"/>
                        <a:t>Ravi</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tc>
                  <a:txBody>
                    <a:bodyPr/>
                    <a:lstStyle/>
                    <a:p>
                      <a:pPr>
                        <a:buNone/>
                      </a:pPr>
                      <a:r>
                        <a:rPr lang="en-US"/>
                        <a:t>20</a:t>
                      </a:r>
                    </a:p>
                  </a:txBody>
                  <a:tcPr anchor="ctr">
                    <a:lnL>
                      <a:noFill/>
                    </a:lnL>
                    <a:lnR>
                      <a:noFill/>
                    </a:lnR>
                    <a:lnT>
                      <a:noFill/>
                    </a:lnT>
                    <a:lnB>
                      <a:noFill/>
                    </a:lnB>
                    <a:noFill/>
                  </a:tcPr>
                </a:tc>
                <a:extLst>
                  <a:ext uri="{0D108BD9-81ED-4DB2-BD59-A6C34878D82A}">
                    <a16:rowId xmlns:a16="http://schemas.microsoft.com/office/drawing/2014/main" val="1268839836"/>
                  </a:ext>
                </a:extLst>
              </a:tr>
              <a:tr h="0">
                <a:tc>
                  <a:txBody>
                    <a:bodyPr/>
                    <a:lstStyle/>
                    <a:p>
                      <a:pPr>
                        <a:buNone/>
                      </a:pPr>
                      <a:r>
                        <a:rPr lang="en-US"/>
                        <a:t>3</a:t>
                      </a:r>
                    </a:p>
                  </a:txBody>
                  <a:tcPr anchor="ctr">
                    <a:lnL>
                      <a:noFill/>
                    </a:lnL>
                    <a:lnR>
                      <a:noFill/>
                    </a:lnR>
                    <a:lnT>
                      <a:noFill/>
                    </a:lnT>
                    <a:lnB>
                      <a:noFill/>
                    </a:lnB>
                    <a:noFill/>
                  </a:tcPr>
                </a:tc>
                <a:tc>
                  <a:txBody>
                    <a:bodyPr/>
                    <a:lstStyle/>
                    <a:p>
                      <a:pPr>
                        <a:buNone/>
                      </a:pPr>
                      <a:r>
                        <a:rPr lang="en-US"/>
                        <a:t>Arjun</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tc>
                  <a:txBody>
                    <a:bodyPr/>
                    <a:lstStyle/>
                    <a:p>
                      <a:pPr>
                        <a:buNone/>
                      </a:pPr>
                      <a:r>
                        <a:rPr lang="en-US" dirty="0"/>
                        <a:t>22</a:t>
                      </a:r>
                    </a:p>
                  </a:txBody>
                  <a:tcPr anchor="ctr">
                    <a:lnL>
                      <a:noFill/>
                    </a:lnL>
                    <a:lnR>
                      <a:noFill/>
                    </a:lnR>
                    <a:lnT>
                      <a:noFill/>
                    </a:lnT>
                    <a:lnB>
                      <a:noFill/>
                    </a:lnB>
                    <a:noFill/>
                  </a:tcPr>
                </a:tc>
                <a:extLst>
                  <a:ext uri="{0D108BD9-81ED-4DB2-BD59-A6C34878D82A}">
                    <a16:rowId xmlns:a16="http://schemas.microsoft.com/office/drawing/2014/main" val="21316121"/>
                  </a:ext>
                </a:extLst>
              </a:tr>
            </a:tbl>
          </a:graphicData>
        </a:graphic>
      </p:graphicFrame>
    </p:spTree>
    <p:extLst>
      <p:ext uri="{BB962C8B-B14F-4D97-AF65-F5344CB8AC3E}">
        <p14:creationId xmlns:p14="http://schemas.microsoft.com/office/powerpoint/2010/main" val="3840960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A7B62-004E-A907-71D7-DDD83ACE2676}"/>
              </a:ext>
            </a:extLst>
          </p:cNvPr>
          <p:cNvSpPr>
            <a:spLocks noGrp="1"/>
          </p:cNvSpPr>
          <p:nvPr>
            <p:ph type="title"/>
          </p:nvPr>
        </p:nvSpPr>
        <p:spPr/>
        <p:txBody>
          <a:bodyPr>
            <a:normAutofit fontScale="90000"/>
          </a:bodyPr>
          <a:lstStyle/>
          <a:p>
            <a:r>
              <a:rPr lang="en-US" b="1" dirty="0"/>
              <a:t>Projection (π)</a:t>
            </a:r>
            <a:br>
              <a:rPr lang="en-US" b="1" dirty="0"/>
            </a:br>
            <a:endParaRPr lang="en-US" dirty="0"/>
          </a:p>
        </p:txBody>
      </p:sp>
      <p:sp>
        <p:nvSpPr>
          <p:cNvPr id="3" name="Content Placeholder 2">
            <a:extLst>
              <a:ext uri="{FF2B5EF4-FFF2-40B4-BE49-F238E27FC236}">
                <a16:creationId xmlns:a16="http://schemas.microsoft.com/office/drawing/2014/main" id="{7508FE27-E5C2-8FD6-250E-2C6CCD7E6DC5}"/>
              </a:ext>
            </a:extLst>
          </p:cNvPr>
          <p:cNvSpPr>
            <a:spLocks noGrp="1"/>
          </p:cNvSpPr>
          <p:nvPr>
            <p:ph idx="1"/>
          </p:nvPr>
        </p:nvSpPr>
        <p:spPr>
          <a:xfrm>
            <a:off x="457200" y="846138"/>
            <a:ext cx="8229600" cy="4525963"/>
          </a:xfrm>
        </p:spPr>
        <p:txBody>
          <a:bodyPr/>
          <a:lstStyle/>
          <a:p>
            <a:r>
              <a:rPr lang="en-US" b="1" dirty="0"/>
              <a:t>Projection (π)</a:t>
            </a:r>
          </a:p>
          <a:p>
            <a:r>
              <a:rPr lang="en-US" b="1" dirty="0"/>
              <a:t>Purpose:</a:t>
            </a:r>
            <a:r>
              <a:rPr lang="en-US" dirty="0"/>
              <a:t> Selects specific columns</a:t>
            </a:r>
            <a:br>
              <a:rPr lang="en-US" dirty="0"/>
            </a:br>
            <a:r>
              <a:rPr lang="en-US" b="1" dirty="0"/>
              <a:t>Symbol:</a:t>
            </a:r>
            <a:r>
              <a:rPr lang="en-US" dirty="0"/>
              <a:t> π (pi)</a:t>
            </a:r>
          </a:p>
          <a:p>
            <a:r>
              <a:rPr lang="en-US" b="1" dirty="0"/>
              <a:t>Example:</a:t>
            </a:r>
            <a:br>
              <a:rPr lang="en-US" dirty="0"/>
            </a:br>
            <a:r>
              <a:rPr lang="en-US" dirty="0"/>
              <a:t>Get only student names and departments</a:t>
            </a:r>
          </a:p>
          <a:p>
            <a:pPr marL="0" indent="0">
              <a:buNone/>
            </a:pPr>
            <a:r>
              <a:rPr lang="en-US" dirty="0"/>
              <a:t>      </a:t>
            </a:r>
            <a:r>
              <a:rPr lang="el-GR" dirty="0"/>
              <a:t>π </a:t>
            </a:r>
            <a:r>
              <a:rPr lang="en-US" dirty="0"/>
              <a:t>Name, Dept (STUDENT)</a:t>
            </a:r>
          </a:p>
          <a:p>
            <a:pPr marL="0" indent="0">
              <a:buNone/>
            </a:pPr>
            <a:endParaRPr lang="en-US" dirty="0"/>
          </a:p>
          <a:p>
            <a:endParaRPr lang="en-US" dirty="0"/>
          </a:p>
        </p:txBody>
      </p:sp>
      <p:graphicFrame>
        <p:nvGraphicFramePr>
          <p:cNvPr id="4" name="Table 3">
            <a:extLst>
              <a:ext uri="{FF2B5EF4-FFF2-40B4-BE49-F238E27FC236}">
                <a16:creationId xmlns:a16="http://schemas.microsoft.com/office/drawing/2014/main" id="{EB62C090-7B40-53B0-032B-47BCFEC18DDE}"/>
              </a:ext>
            </a:extLst>
          </p:cNvPr>
          <p:cNvGraphicFramePr>
            <a:graphicFrameLocks noGrp="1"/>
          </p:cNvGraphicFramePr>
          <p:nvPr>
            <p:extLst>
              <p:ext uri="{D42A27DB-BD31-4B8C-83A1-F6EECF244321}">
                <p14:modId xmlns:p14="http://schemas.microsoft.com/office/powerpoint/2010/main" val="758876154"/>
              </p:ext>
            </p:extLst>
          </p:nvPr>
        </p:nvGraphicFramePr>
        <p:xfrm>
          <a:off x="1485900" y="4568824"/>
          <a:ext cx="8229600" cy="1463040"/>
        </p:xfrm>
        <a:graphic>
          <a:graphicData uri="http://schemas.openxmlformats.org/drawingml/2006/table">
            <a:tbl>
              <a:tblPr/>
              <a:tblGrid>
                <a:gridCol w="4114800">
                  <a:extLst>
                    <a:ext uri="{9D8B030D-6E8A-4147-A177-3AD203B41FA5}">
                      <a16:colId xmlns:a16="http://schemas.microsoft.com/office/drawing/2014/main" val="4164109409"/>
                    </a:ext>
                  </a:extLst>
                </a:gridCol>
                <a:gridCol w="4114800">
                  <a:extLst>
                    <a:ext uri="{9D8B030D-6E8A-4147-A177-3AD203B41FA5}">
                      <a16:colId xmlns:a16="http://schemas.microsoft.com/office/drawing/2014/main" val="2103792292"/>
                    </a:ext>
                  </a:extLst>
                </a:gridCol>
              </a:tblGrid>
              <a:tr h="0">
                <a:tc>
                  <a:txBody>
                    <a:bodyPr/>
                    <a:lstStyle/>
                    <a:p>
                      <a:pPr>
                        <a:buNone/>
                      </a:pPr>
                      <a:r>
                        <a:rPr lang="en-US"/>
                        <a:t>Name</a:t>
                      </a:r>
                    </a:p>
                  </a:txBody>
                  <a:tcPr anchor="ctr">
                    <a:lnL>
                      <a:noFill/>
                    </a:lnL>
                    <a:lnR>
                      <a:noFill/>
                    </a:lnR>
                    <a:lnT>
                      <a:noFill/>
                    </a:lnT>
                    <a:lnB>
                      <a:noFill/>
                    </a:lnB>
                    <a:noFill/>
                  </a:tcPr>
                </a:tc>
                <a:tc>
                  <a:txBody>
                    <a:bodyPr/>
                    <a:lstStyle/>
                    <a:p>
                      <a:pPr>
                        <a:buNone/>
                      </a:pPr>
                      <a:r>
                        <a:rPr lang="en-US"/>
                        <a:t>Dept</a:t>
                      </a:r>
                    </a:p>
                  </a:txBody>
                  <a:tcPr anchor="ctr">
                    <a:lnL>
                      <a:noFill/>
                    </a:lnL>
                    <a:lnR>
                      <a:noFill/>
                    </a:lnR>
                    <a:lnT>
                      <a:noFill/>
                    </a:lnT>
                    <a:lnB>
                      <a:noFill/>
                    </a:lnB>
                    <a:noFill/>
                  </a:tcPr>
                </a:tc>
                <a:extLst>
                  <a:ext uri="{0D108BD9-81ED-4DB2-BD59-A6C34878D82A}">
                    <a16:rowId xmlns:a16="http://schemas.microsoft.com/office/drawing/2014/main" val="1480849724"/>
                  </a:ext>
                </a:extLst>
              </a:tr>
              <a:tr h="0">
                <a:tc>
                  <a:txBody>
                    <a:bodyPr/>
                    <a:lstStyle/>
                    <a:p>
                      <a:pPr>
                        <a:buNone/>
                      </a:pPr>
                      <a:r>
                        <a:rPr lang="en-US"/>
                        <a:t>Ravi</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extLst>
                  <a:ext uri="{0D108BD9-81ED-4DB2-BD59-A6C34878D82A}">
                    <a16:rowId xmlns:a16="http://schemas.microsoft.com/office/drawing/2014/main" val="2731862316"/>
                  </a:ext>
                </a:extLst>
              </a:tr>
              <a:tr h="0">
                <a:tc>
                  <a:txBody>
                    <a:bodyPr/>
                    <a:lstStyle/>
                    <a:p>
                      <a:pPr>
                        <a:buNone/>
                      </a:pPr>
                      <a:r>
                        <a:rPr lang="en-US"/>
                        <a:t>Meena</a:t>
                      </a:r>
                    </a:p>
                  </a:txBody>
                  <a:tcPr anchor="ctr">
                    <a:lnL>
                      <a:noFill/>
                    </a:lnL>
                    <a:lnR>
                      <a:noFill/>
                    </a:lnR>
                    <a:lnT>
                      <a:noFill/>
                    </a:lnT>
                    <a:lnB>
                      <a:noFill/>
                    </a:lnB>
                    <a:noFill/>
                  </a:tcPr>
                </a:tc>
                <a:tc>
                  <a:txBody>
                    <a:bodyPr/>
                    <a:lstStyle/>
                    <a:p>
                      <a:pPr>
                        <a:buNone/>
                      </a:pPr>
                      <a:r>
                        <a:rPr lang="en-US"/>
                        <a:t>ECE</a:t>
                      </a:r>
                    </a:p>
                  </a:txBody>
                  <a:tcPr anchor="ctr">
                    <a:lnL>
                      <a:noFill/>
                    </a:lnL>
                    <a:lnR>
                      <a:noFill/>
                    </a:lnR>
                    <a:lnT>
                      <a:noFill/>
                    </a:lnT>
                    <a:lnB>
                      <a:noFill/>
                    </a:lnB>
                    <a:noFill/>
                  </a:tcPr>
                </a:tc>
                <a:extLst>
                  <a:ext uri="{0D108BD9-81ED-4DB2-BD59-A6C34878D82A}">
                    <a16:rowId xmlns:a16="http://schemas.microsoft.com/office/drawing/2014/main" val="563760721"/>
                  </a:ext>
                </a:extLst>
              </a:tr>
              <a:tr h="0">
                <a:tc>
                  <a:txBody>
                    <a:bodyPr/>
                    <a:lstStyle/>
                    <a:p>
                      <a:pPr>
                        <a:buNone/>
                      </a:pPr>
                      <a:r>
                        <a:rPr lang="en-US"/>
                        <a:t>Arjun</a:t>
                      </a:r>
                    </a:p>
                  </a:txBody>
                  <a:tcPr anchor="ctr">
                    <a:lnL>
                      <a:noFill/>
                    </a:lnL>
                    <a:lnR>
                      <a:noFill/>
                    </a:lnR>
                    <a:lnT>
                      <a:noFill/>
                    </a:lnT>
                    <a:lnB>
                      <a:noFill/>
                    </a:lnB>
                    <a:noFill/>
                  </a:tcPr>
                </a:tc>
                <a:tc>
                  <a:txBody>
                    <a:bodyPr/>
                    <a:lstStyle/>
                    <a:p>
                      <a:pPr>
                        <a:buNone/>
                      </a:pPr>
                      <a:r>
                        <a:rPr lang="en-US" dirty="0"/>
                        <a:t>CSE</a:t>
                      </a:r>
                    </a:p>
                  </a:txBody>
                  <a:tcPr anchor="ctr">
                    <a:lnL>
                      <a:noFill/>
                    </a:lnL>
                    <a:lnR>
                      <a:noFill/>
                    </a:lnR>
                    <a:lnT>
                      <a:noFill/>
                    </a:lnT>
                    <a:lnB>
                      <a:noFill/>
                    </a:lnB>
                    <a:noFill/>
                  </a:tcPr>
                </a:tc>
                <a:extLst>
                  <a:ext uri="{0D108BD9-81ED-4DB2-BD59-A6C34878D82A}">
                    <a16:rowId xmlns:a16="http://schemas.microsoft.com/office/drawing/2014/main" val="10516609"/>
                  </a:ext>
                </a:extLst>
              </a:tr>
            </a:tbl>
          </a:graphicData>
        </a:graphic>
      </p:graphicFrame>
    </p:spTree>
    <p:extLst>
      <p:ext uri="{BB962C8B-B14F-4D97-AF65-F5344CB8AC3E}">
        <p14:creationId xmlns:p14="http://schemas.microsoft.com/office/powerpoint/2010/main" val="15807880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8779B-EBD0-B3BE-872B-65528BF7A3C0}"/>
              </a:ext>
            </a:extLst>
          </p:cNvPr>
          <p:cNvSpPr>
            <a:spLocks noGrp="1"/>
          </p:cNvSpPr>
          <p:nvPr>
            <p:ph type="title"/>
          </p:nvPr>
        </p:nvSpPr>
        <p:spPr/>
        <p:txBody>
          <a:bodyPr/>
          <a:lstStyle/>
          <a:p>
            <a:r>
              <a:rPr lang="en-US" dirty="0"/>
              <a:t>Union (∪)</a:t>
            </a:r>
          </a:p>
        </p:txBody>
      </p:sp>
      <p:sp>
        <p:nvSpPr>
          <p:cNvPr id="3" name="Content Placeholder 2">
            <a:extLst>
              <a:ext uri="{FF2B5EF4-FFF2-40B4-BE49-F238E27FC236}">
                <a16:creationId xmlns:a16="http://schemas.microsoft.com/office/drawing/2014/main" id="{F65C519C-2C48-9406-A714-EB9250F879D7}"/>
              </a:ext>
            </a:extLst>
          </p:cNvPr>
          <p:cNvSpPr>
            <a:spLocks noGrp="1"/>
          </p:cNvSpPr>
          <p:nvPr>
            <p:ph idx="1"/>
          </p:nvPr>
        </p:nvSpPr>
        <p:spPr/>
        <p:txBody>
          <a:bodyPr/>
          <a:lstStyle/>
          <a:p>
            <a:r>
              <a:rPr lang="en-US" b="1" dirty="0"/>
              <a:t>Purpose:</a:t>
            </a:r>
            <a:r>
              <a:rPr lang="en-US" dirty="0"/>
              <a:t> Combines two relations (must have same attributes)</a:t>
            </a:r>
          </a:p>
          <a:p>
            <a:r>
              <a:rPr lang="en-US" dirty="0"/>
              <a:t>Let:</a:t>
            </a:r>
          </a:p>
          <a:p>
            <a:r>
              <a:rPr lang="en-US" dirty="0"/>
              <a:t>R = CSE Students</a:t>
            </a:r>
          </a:p>
          <a:p>
            <a:r>
              <a:rPr lang="en-US" dirty="0"/>
              <a:t>S = ECE Students</a:t>
            </a:r>
          </a:p>
          <a:p>
            <a:r>
              <a:rPr lang="en-US" dirty="0"/>
              <a:t>    R ∪ S</a:t>
            </a:r>
          </a:p>
          <a:p>
            <a:r>
              <a:rPr lang="en-US" dirty="0"/>
              <a:t>Gives all students from both relations.</a:t>
            </a:r>
          </a:p>
          <a:p>
            <a:endParaRPr lang="en-US" dirty="0"/>
          </a:p>
        </p:txBody>
      </p:sp>
    </p:spTree>
    <p:extLst>
      <p:ext uri="{BB962C8B-B14F-4D97-AF65-F5344CB8AC3E}">
        <p14:creationId xmlns:p14="http://schemas.microsoft.com/office/powerpoint/2010/main" val="502422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F8F1C02-CDF4-5B47-546C-3E0CC9460863}"/>
              </a:ext>
            </a:extLst>
          </p:cNvPr>
          <p:cNvGraphicFramePr>
            <a:graphicFrameLocks noGrp="1"/>
          </p:cNvGraphicFramePr>
          <p:nvPr>
            <p:ph idx="1"/>
            <p:extLst>
              <p:ext uri="{D42A27DB-BD31-4B8C-83A1-F6EECF244321}">
                <p14:modId xmlns:p14="http://schemas.microsoft.com/office/powerpoint/2010/main" val="2050404746"/>
              </p:ext>
            </p:extLst>
          </p:nvPr>
        </p:nvGraphicFramePr>
        <p:xfrm>
          <a:off x="1100137" y="1014253"/>
          <a:ext cx="8229600" cy="1097280"/>
        </p:xfrm>
        <a:graphic>
          <a:graphicData uri="http://schemas.openxmlformats.org/drawingml/2006/table">
            <a:tbl>
              <a:tblPr/>
              <a:tblGrid>
                <a:gridCol w="2743200">
                  <a:extLst>
                    <a:ext uri="{9D8B030D-6E8A-4147-A177-3AD203B41FA5}">
                      <a16:colId xmlns:a16="http://schemas.microsoft.com/office/drawing/2014/main" val="376496869"/>
                    </a:ext>
                  </a:extLst>
                </a:gridCol>
                <a:gridCol w="2743200">
                  <a:extLst>
                    <a:ext uri="{9D8B030D-6E8A-4147-A177-3AD203B41FA5}">
                      <a16:colId xmlns:a16="http://schemas.microsoft.com/office/drawing/2014/main" val="1535748524"/>
                    </a:ext>
                  </a:extLst>
                </a:gridCol>
                <a:gridCol w="2743200">
                  <a:extLst>
                    <a:ext uri="{9D8B030D-6E8A-4147-A177-3AD203B41FA5}">
                      <a16:colId xmlns:a16="http://schemas.microsoft.com/office/drawing/2014/main" val="158378983"/>
                    </a:ext>
                  </a:extLst>
                </a:gridCol>
              </a:tblGrid>
              <a:tr h="0">
                <a:tc>
                  <a:txBody>
                    <a:bodyPr/>
                    <a:lstStyle/>
                    <a:p>
                      <a:pPr>
                        <a:buNone/>
                      </a:pPr>
                      <a:r>
                        <a:rPr lang="en-US"/>
                        <a:t>SID</a:t>
                      </a:r>
                    </a:p>
                  </a:txBody>
                  <a:tcPr anchor="ctr">
                    <a:lnL>
                      <a:noFill/>
                    </a:lnL>
                    <a:lnR>
                      <a:noFill/>
                    </a:lnR>
                    <a:lnT>
                      <a:noFill/>
                    </a:lnT>
                    <a:lnB>
                      <a:noFill/>
                    </a:lnB>
                    <a:noFill/>
                  </a:tcPr>
                </a:tc>
                <a:tc>
                  <a:txBody>
                    <a:bodyPr/>
                    <a:lstStyle/>
                    <a:p>
                      <a:pPr>
                        <a:buNone/>
                      </a:pPr>
                      <a:r>
                        <a:rPr lang="en-US"/>
                        <a:t>Name</a:t>
                      </a:r>
                    </a:p>
                  </a:txBody>
                  <a:tcPr anchor="ctr">
                    <a:lnL>
                      <a:noFill/>
                    </a:lnL>
                    <a:lnR>
                      <a:noFill/>
                    </a:lnR>
                    <a:lnT>
                      <a:noFill/>
                    </a:lnT>
                    <a:lnB>
                      <a:noFill/>
                    </a:lnB>
                    <a:noFill/>
                  </a:tcPr>
                </a:tc>
                <a:tc>
                  <a:txBody>
                    <a:bodyPr/>
                    <a:lstStyle/>
                    <a:p>
                      <a:pPr>
                        <a:buNone/>
                      </a:pPr>
                      <a:r>
                        <a:rPr lang="en-US"/>
                        <a:t>Dept</a:t>
                      </a:r>
                    </a:p>
                  </a:txBody>
                  <a:tcPr anchor="ctr">
                    <a:lnL>
                      <a:noFill/>
                    </a:lnL>
                    <a:lnR>
                      <a:noFill/>
                    </a:lnR>
                    <a:lnT>
                      <a:noFill/>
                    </a:lnT>
                    <a:lnB>
                      <a:noFill/>
                    </a:lnB>
                    <a:noFill/>
                  </a:tcPr>
                </a:tc>
                <a:extLst>
                  <a:ext uri="{0D108BD9-81ED-4DB2-BD59-A6C34878D82A}">
                    <a16:rowId xmlns:a16="http://schemas.microsoft.com/office/drawing/2014/main" val="2560758682"/>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Ravi</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extLst>
                  <a:ext uri="{0D108BD9-81ED-4DB2-BD59-A6C34878D82A}">
                    <a16:rowId xmlns:a16="http://schemas.microsoft.com/office/drawing/2014/main" val="710784135"/>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Arjun</a:t>
                      </a:r>
                    </a:p>
                  </a:txBody>
                  <a:tcPr anchor="ctr">
                    <a:lnL>
                      <a:noFill/>
                    </a:lnL>
                    <a:lnR>
                      <a:noFill/>
                    </a:lnR>
                    <a:lnT>
                      <a:noFill/>
                    </a:lnT>
                    <a:lnB>
                      <a:noFill/>
                    </a:lnB>
                    <a:noFill/>
                  </a:tcPr>
                </a:tc>
                <a:tc>
                  <a:txBody>
                    <a:bodyPr/>
                    <a:lstStyle/>
                    <a:p>
                      <a:pPr>
                        <a:buNone/>
                      </a:pPr>
                      <a:r>
                        <a:rPr lang="en-US" dirty="0"/>
                        <a:t>CSE</a:t>
                      </a:r>
                    </a:p>
                  </a:txBody>
                  <a:tcPr anchor="ctr">
                    <a:lnL>
                      <a:noFill/>
                    </a:lnL>
                    <a:lnR>
                      <a:noFill/>
                    </a:lnR>
                    <a:lnT>
                      <a:noFill/>
                    </a:lnT>
                    <a:lnB>
                      <a:noFill/>
                    </a:lnB>
                    <a:noFill/>
                  </a:tcPr>
                </a:tc>
                <a:extLst>
                  <a:ext uri="{0D108BD9-81ED-4DB2-BD59-A6C34878D82A}">
                    <a16:rowId xmlns:a16="http://schemas.microsoft.com/office/drawing/2014/main" val="2638070135"/>
                  </a:ext>
                </a:extLst>
              </a:tr>
            </a:tbl>
          </a:graphicData>
        </a:graphic>
      </p:graphicFrame>
      <p:graphicFrame>
        <p:nvGraphicFramePr>
          <p:cNvPr id="5" name="Table 4">
            <a:extLst>
              <a:ext uri="{FF2B5EF4-FFF2-40B4-BE49-F238E27FC236}">
                <a16:creationId xmlns:a16="http://schemas.microsoft.com/office/drawing/2014/main" id="{D4AF0889-A68D-26E8-2E15-C1DAE8D2FD32}"/>
              </a:ext>
            </a:extLst>
          </p:cNvPr>
          <p:cNvGraphicFramePr>
            <a:graphicFrameLocks noGrp="1"/>
          </p:cNvGraphicFramePr>
          <p:nvPr>
            <p:extLst>
              <p:ext uri="{D42A27DB-BD31-4B8C-83A1-F6EECF244321}">
                <p14:modId xmlns:p14="http://schemas.microsoft.com/office/powerpoint/2010/main" val="3877286459"/>
              </p:ext>
            </p:extLst>
          </p:nvPr>
        </p:nvGraphicFramePr>
        <p:xfrm>
          <a:off x="1100137" y="2765901"/>
          <a:ext cx="8229600" cy="1097280"/>
        </p:xfrm>
        <a:graphic>
          <a:graphicData uri="http://schemas.openxmlformats.org/drawingml/2006/table">
            <a:tbl>
              <a:tblPr/>
              <a:tblGrid>
                <a:gridCol w="2743200">
                  <a:extLst>
                    <a:ext uri="{9D8B030D-6E8A-4147-A177-3AD203B41FA5}">
                      <a16:colId xmlns:a16="http://schemas.microsoft.com/office/drawing/2014/main" val="2555028452"/>
                    </a:ext>
                  </a:extLst>
                </a:gridCol>
                <a:gridCol w="2743200">
                  <a:extLst>
                    <a:ext uri="{9D8B030D-6E8A-4147-A177-3AD203B41FA5}">
                      <a16:colId xmlns:a16="http://schemas.microsoft.com/office/drawing/2014/main" val="2839312379"/>
                    </a:ext>
                  </a:extLst>
                </a:gridCol>
                <a:gridCol w="2743200">
                  <a:extLst>
                    <a:ext uri="{9D8B030D-6E8A-4147-A177-3AD203B41FA5}">
                      <a16:colId xmlns:a16="http://schemas.microsoft.com/office/drawing/2014/main" val="3705215169"/>
                    </a:ext>
                  </a:extLst>
                </a:gridCol>
              </a:tblGrid>
              <a:tr h="0">
                <a:tc>
                  <a:txBody>
                    <a:bodyPr/>
                    <a:lstStyle/>
                    <a:p>
                      <a:pPr>
                        <a:buNone/>
                      </a:pPr>
                      <a:r>
                        <a:rPr lang="en-US"/>
                        <a:t>SID</a:t>
                      </a:r>
                    </a:p>
                  </a:txBody>
                  <a:tcPr anchor="ctr">
                    <a:lnL>
                      <a:noFill/>
                    </a:lnL>
                    <a:lnR>
                      <a:noFill/>
                    </a:lnR>
                    <a:lnT>
                      <a:noFill/>
                    </a:lnT>
                    <a:lnB>
                      <a:noFill/>
                    </a:lnB>
                    <a:noFill/>
                  </a:tcPr>
                </a:tc>
                <a:tc>
                  <a:txBody>
                    <a:bodyPr/>
                    <a:lstStyle/>
                    <a:p>
                      <a:pPr>
                        <a:buNone/>
                      </a:pPr>
                      <a:r>
                        <a:rPr lang="en-US"/>
                        <a:t>Name</a:t>
                      </a:r>
                    </a:p>
                  </a:txBody>
                  <a:tcPr anchor="ctr">
                    <a:lnL>
                      <a:noFill/>
                    </a:lnL>
                    <a:lnR>
                      <a:noFill/>
                    </a:lnR>
                    <a:lnT>
                      <a:noFill/>
                    </a:lnT>
                    <a:lnB>
                      <a:noFill/>
                    </a:lnB>
                    <a:noFill/>
                  </a:tcPr>
                </a:tc>
                <a:tc>
                  <a:txBody>
                    <a:bodyPr/>
                    <a:lstStyle/>
                    <a:p>
                      <a:pPr>
                        <a:buNone/>
                      </a:pPr>
                      <a:r>
                        <a:rPr lang="en-US"/>
                        <a:t>Dept</a:t>
                      </a:r>
                    </a:p>
                  </a:txBody>
                  <a:tcPr anchor="ctr">
                    <a:lnL>
                      <a:noFill/>
                    </a:lnL>
                    <a:lnR>
                      <a:noFill/>
                    </a:lnR>
                    <a:lnT>
                      <a:noFill/>
                    </a:lnT>
                    <a:lnB>
                      <a:noFill/>
                    </a:lnB>
                    <a:noFill/>
                  </a:tcPr>
                </a:tc>
                <a:extLst>
                  <a:ext uri="{0D108BD9-81ED-4DB2-BD59-A6C34878D82A}">
                    <a16:rowId xmlns:a16="http://schemas.microsoft.com/office/drawing/2014/main" val="4107598074"/>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Arjun</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extLst>
                  <a:ext uri="{0D108BD9-81ED-4DB2-BD59-A6C34878D82A}">
                    <a16:rowId xmlns:a16="http://schemas.microsoft.com/office/drawing/2014/main" val="271782641"/>
                  </a:ext>
                </a:extLst>
              </a:tr>
              <a:tr h="0">
                <a:tc>
                  <a:txBody>
                    <a:bodyPr/>
                    <a:lstStyle/>
                    <a:p>
                      <a:pPr>
                        <a:buNone/>
                      </a:pPr>
                      <a:r>
                        <a:rPr lang="en-US"/>
                        <a:t>3</a:t>
                      </a:r>
                    </a:p>
                  </a:txBody>
                  <a:tcPr anchor="ctr">
                    <a:lnL>
                      <a:noFill/>
                    </a:lnL>
                    <a:lnR>
                      <a:noFill/>
                    </a:lnR>
                    <a:lnT>
                      <a:noFill/>
                    </a:lnT>
                    <a:lnB>
                      <a:noFill/>
                    </a:lnB>
                    <a:noFill/>
                  </a:tcPr>
                </a:tc>
                <a:tc>
                  <a:txBody>
                    <a:bodyPr/>
                    <a:lstStyle/>
                    <a:p>
                      <a:pPr>
                        <a:buNone/>
                      </a:pPr>
                      <a:r>
                        <a:rPr lang="en-US"/>
                        <a:t>Meena</a:t>
                      </a:r>
                    </a:p>
                  </a:txBody>
                  <a:tcPr anchor="ctr">
                    <a:lnL>
                      <a:noFill/>
                    </a:lnL>
                    <a:lnR>
                      <a:noFill/>
                    </a:lnR>
                    <a:lnT>
                      <a:noFill/>
                    </a:lnT>
                    <a:lnB>
                      <a:noFill/>
                    </a:lnB>
                    <a:noFill/>
                  </a:tcPr>
                </a:tc>
                <a:tc>
                  <a:txBody>
                    <a:bodyPr/>
                    <a:lstStyle/>
                    <a:p>
                      <a:pPr>
                        <a:buNone/>
                      </a:pPr>
                      <a:r>
                        <a:rPr lang="en-US" dirty="0"/>
                        <a:t>ECE</a:t>
                      </a:r>
                    </a:p>
                  </a:txBody>
                  <a:tcPr anchor="ctr">
                    <a:lnL>
                      <a:noFill/>
                    </a:lnL>
                    <a:lnR>
                      <a:noFill/>
                    </a:lnR>
                    <a:lnT>
                      <a:noFill/>
                    </a:lnT>
                    <a:lnB>
                      <a:noFill/>
                    </a:lnB>
                    <a:noFill/>
                  </a:tcPr>
                </a:tc>
                <a:extLst>
                  <a:ext uri="{0D108BD9-81ED-4DB2-BD59-A6C34878D82A}">
                    <a16:rowId xmlns:a16="http://schemas.microsoft.com/office/drawing/2014/main" val="4036217327"/>
                  </a:ext>
                </a:extLst>
              </a:tr>
            </a:tbl>
          </a:graphicData>
        </a:graphic>
      </p:graphicFrame>
      <p:graphicFrame>
        <p:nvGraphicFramePr>
          <p:cNvPr id="6" name="Table 5">
            <a:extLst>
              <a:ext uri="{FF2B5EF4-FFF2-40B4-BE49-F238E27FC236}">
                <a16:creationId xmlns:a16="http://schemas.microsoft.com/office/drawing/2014/main" id="{5DB4C377-EF00-A964-E8AE-316BC0AB9231}"/>
              </a:ext>
            </a:extLst>
          </p:cNvPr>
          <p:cNvGraphicFramePr>
            <a:graphicFrameLocks noGrp="1"/>
          </p:cNvGraphicFramePr>
          <p:nvPr>
            <p:extLst>
              <p:ext uri="{D42A27DB-BD31-4B8C-83A1-F6EECF244321}">
                <p14:modId xmlns:p14="http://schemas.microsoft.com/office/powerpoint/2010/main" val="3445711786"/>
              </p:ext>
            </p:extLst>
          </p:nvPr>
        </p:nvGraphicFramePr>
        <p:xfrm>
          <a:off x="914400" y="4380707"/>
          <a:ext cx="8229600" cy="1463040"/>
        </p:xfrm>
        <a:graphic>
          <a:graphicData uri="http://schemas.openxmlformats.org/drawingml/2006/table">
            <a:tbl>
              <a:tblPr/>
              <a:tblGrid>
                <a:gridCol w="2743200">
                  <a:extLst>
                    <a:ext uri="{9D8B030D-6E8A-4147-A177-3AD203B41FA5}">
                      <a16:colId xmlns:a16="http://schemas.microsoft.com/office/drawing/2014/main" val="3453726774"/>
                    </a:ext>
                  </a:extLst>
                </a:gridCol>
                <a:gridCol w="2743200">
                  <a:extLst>
                    <a:ext uri="{9D8B030D-6E8A-4147-A177-3AD203B41FA5}">
                      <a16:colId xmlns:a16="http://schemas.microsoft.com/office/drawing/2014/main" val="1210900532"/>
                    </a:ext>
                  </a:extLst>
                </a:gridCol>
                <a:gridCol w="2743200">
                  <a:extLst>
                    <a:ext uri="{9D8B030D-6E8A-4147-A177-3AD203B41FA5}">
                      <a16:colId xmlns:a16="http://schemas.microsoft.com/office/drawing/2014/main" val="997216613"/>
                    </a:ext>
                  </a:extLst>
                </a:gridCol>
              </a:tblGrid>
              <a:tr h="0">
                <a:tc>
                  <a:txBody>
                    <a:bodyPr/>
                    <a:lstStyle/>
                    <a:p>
                      <a:pPr>
                        <a:buNone/>
                      </a:pPr>
                      <a:r>
                        <a:rPr lang="en-US" dirty="0"/>
                        <a:t>SID</a:t>
                      </a:r>
                    </a:p>
                  </a:txBody>
                  <a:tcPr anchor="ctr">
                    <a:lnL>
                      <a:noFill/>
                    </a:lnL>
                    <a:lnR>
                      <a:noFill/>
                    </a:lnR>
                    <a:lnT>
                      <a:noFill/>
                    </a:lnT>
                    <a:lnB>
                      <a:noFill/>
                    </a:lnB>
                    <a:noFill/>
                  </a:tcPr>
                </a:tc>
                <a:tc>
                  <a:txBody>
                    <a:bodyPr/>
                    <a:lstStyle/>
                    <a:p>
                      <a:pPr>
                        <a:buNone/>
                      </a:pPr>
                      <a:r>
                        <a:rPr lang="en-US"/>
                        <a:t>Name</a:t>
                      </a:r>
                    </a:p>
                  </a:txBody>
                  <a:tcPr anchor="ctr">
                    <a:lnL>
                      <a:noFill/>
                    </a:lnL>
                    <a:lnR>
                      <a:noFill/>
                    </a:lnR>
                    <a:lnT>
                      <a:noFill/>
                    </a:lnT>
                    <a:lnB>
                      <a:noFill/>
                    </a:lnB>
                    <a:noFill/>
                  </a:tcPr>
                </a:tc>
                <a:tc>
                  <a:txBody>
                    <a:bodyPr/>
                    <a:lstStyle/>
                    <a:p>
                      <a:pPr>
                        <a:buNone/>
                      </a:pPr>
                      <a:r>
                        <a:rPr lang="en-US"/>
                        <a:t>Dept</a:t>
                      </a:r>
                    </a:p>
                  </a:txBody>
                  <a:tcPr anchor="ctr">
                    <a:lnL>
                      <a:noFill/>
                    </a:lnL>
                    <a:lnR>
                      <a:noFill/>
                    </a:lnR>
                    <a:lnT>
                      <a:noFill/>
                    </a:lnT>
                    <a:lnB>
                      <a:noFill/>
                    </a:lnB>
                    <a:noFill/>
                  </a:tcPr>
                </a:tc>
                <a:extLst>
                  <a:ext uri="{0D108BD9-81ED-4DB2-BD59-A6C34878D82A}">
                    <a16:rowId xmlns:a16="http://schemas.microsoft.com/office/drawing/2014/main" val="1007648306"/>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Ravi</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extLst>
                  <a:ext uri="{0D108BD9-81ED-4DB2-BD59-A6C34878D82A}">
                    <a16:rowId xmlns:a16="http://schemas.microsoft.com/office/drawing/2014/main" val="1028285814"/>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Arjun</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extLst>
                  <a:ext uri="{0D108BD9-81ED-4DB2-BD59-A6C34878D82A}">
                    <a16:rowId xmlns:a16="http://schemas.microsoft.com/office/drawing/2014/main" val="675060472"/>
                  </a:ext>
                </a:extLst>
              </a:tr>
              <a:tr h="0">
                <a:tc>
                  <a:txBody>
                    <a:bodyPr/>
                    <a:lstStyle/>
                    <a:p>
                      <a:pPr>
                        <a:buNone/>
                      </a:pPr>
                      <a:r>
                        <a:rPr lang="en-US"/>
                        <a:t>3</a:t>
                      </a:r>
                    </a:p>
                  </a:txBody>
                  <a:tcPr anchor="ctr">
                    <a:lnL>
                      <a:noFill/>
                    </a:lnL>
                    <a:lnR>
                      <a:noFill/>
                    </a:lnR>
                    <a:lnT>
                      <a:noFill/>
                    </a:lnT>
                    <a:lnB>
                      <a:noFill/>
                    </a:lnB>
                    <a:noFill/>
                  </a:tcPr>
                </a:tc>
                <a:tc>
                  <a:txBody>
                    <a:bodyPr/>
                    <a:lstStyle/>
                    <a:p>
                      <a:pPr>
                        <a:buNone/>
                      </a:pPr>
                      <a:r>
                        <a:rPr lang="en-US"/>
                        <a:t>Meena</a:t>
                      </a:r>
                    </a:p>
                  </a:txBody>
                  <a:tcPr anchor="ctr">
                    <a:lnL>
                      <a:noFill/>
                    </a:lnL>
                    <a:lnR>
                      <a:noFill/>
                    </a:lnR>
                    <a:lnT>
                      <a:noFill/>
                    </a:lnT>
                    <a:lnB>
                      <a:noFill/>
                    </a:lnB>
                    <a:noFill/>
                  </a:tcPr>
                </a:tc>
                <a:tc>
                  <a:txBody>
                    <a:bodyPr/>
                    <a:lstStyle/>
                    <a:p>
                      <a:pPr>
                        <a:buNone/>
                      </a:pPr>
                      <a:r>
                        <a:rPr lang="en-US" dirty="0"/>
                        <a:t>ECE</a:t>
                      </a:r>
                    </a:p>
                  </a:txBody>
                  <a:tcPr anchor="ctr">
                    <a:lnL>
                      <a:noFill/>
                    </a:lnL>
                    <a:lnR>
                      <a:noFill/>
                    </a:lnR>
                    <a:lnT>
                      <a:noFill/>
                    </a:lnT>
                    <a:lnB>
                      <a:noFill/>
                    </a:lnB>
                    <a:noFill/>
                  </a:tcPr>
                </a:tc>
                <a:extLst>
                  <a:ext uri="{0D108BD9-81ED-4DB2-BD59-A6C34878D82A}">
                    <a16:rowId xmlns:a16="http://schemas.microsoft.com/office/drawing/2014/main" val="2729859321"/>
                  </a:ext>
                </a:extLst>
              </a:tr>
            </a:tbl>
          </a:graphicData>
        </a:graphic>
      </p:graphicFrame>
      <p:sp>
        <p:nvSpPr>
          <p:cNvPr id="8" name="TextBox 7">
            <a:extLst>
              <a:ext uri="{FF2B5EF4-FFF2-40B4-BE49-F238E27FC236}">
                <a16:creationId xmlns:a16="http://schemas.microsoft.com/office/drawing/2014/main" id="{89F8E927-1899-25B5-E41D-E8A72AD5A949}"/>
              </a:ext>
            </a:extLst>
          </p:cNvPr>
          <p:cNvSpPr txBox="1"/>
          <p:nvPr/>
        </p:nvSpPr>
        <p:spPr>
          <a:xfrm>
            <a:off x="1100137" y="496727"/>
            <a:ext cx="4664868" cy="400110"/>
          </a:xfrm>
          <a:prstGeom prst="rect">
            <a:avLst/>
          </a:prstGeom>
          <a:noFill/>
        </p:spPr>
        <p:txBody>
          <a:bodyPr wrap="square">
            <a:spAutoFit/>
          </a:bodyPr>
          <a:lstStyle/>
          <a:p>
            <a:r>
              <a:rPr lang="en-US" sz="2000" b="1" u="sng" dirty="0">
                <a:latin typeface="Times New Roman" panose="02020603050405020304" pitchFamily="18" charset="0"/>
                <a:cs typeface="Times New Roman" panose="02020603050405020304" pitchFamily="18" charset="0"/>
              </a:rPr>
              <a:t>Table R – CSE Students</a:t>
            </a:r>
          </a:p>
        </p:txBody>
      </p:sp>
      <p:sp>
        <p:nvSpPr>
          <p:cNvPr id="10" name="TextBox 9">
            <a:extLst>
              <a:ext uri="{FF2B5EF4-FFF2-40B4-BE49-F238E27FC236}">
                <a16:creationId xmlns:a16="http://schemas.microsoft.com/office/drawing/2014/main" id="{F69DB02A-E4E6-AB76-E47C-B027EF1102CC}"/>
              </a:ext>
            </a:extLst>
          </p:cNvPr>
          <p:cNvSpPr txBox="1"/>
          <p:nvPr/>
        </p:nvSpPr>
        <p:spPr>
          <a:xfrm>
            <a:off x="1100137" y="2322472"/>
            <a:ext cx="4664868" cy="400110"/>
          </a:xfrm>
          <a:prstGeom prst="rect">
            <a:avLst/>
          </a:prstGeom>
          <a:noFill/>
        </p:spPr>
        <p:txBody>
          <a:bodyPr wrap="square">
            <a:spAutoFit/>
          </a:bodyPr>
          <a:lstStyle/>
          <a:p>
            <a:r>
              <a:rPr lang="en-US" sz="2000" b="1" u="sng" dirty="0">
                <a:latin typeface="Times New Roman" panose="02020603050405020304" pitchFamily="18" charset="0"/>
                <a:cs typeface="Times New Roman" panose="02020603050405020304" pitchFamily="18" charset="0"/>
              </a:rPr>
              <a:t>Table S – ECE Students</a:t>
            </a:r>
          </a:p>
        </p:txBody>
      </p:sp>
      <p:sp>
        <p:nvSpPr>
          <p:cNvPr id="12" name="TextBox 11">
            <a:extLst>
              <a:ext uri="{FF2B5EF4-FFF2-40B4-BE49-F238E27FC236}">
                <a16:creationId xmlns:a16="http://schemas.microsoft.com/office/drawing/2014/main" id="{A44E3B52-A212-E4FA-3C8F-182834798543}"/>
              </a:ext>
            </a:extLst>
          </p:cNvPr>
          <p:cNvSpPr txBox="1"/>
          <p:nvPr/>
        </p:nvSpPr>
        <p:spPr>
          <a:xfrm>
            <a:off x="1100137" y="4025503"/>
            <a:ext cx="4664868" cy="400110"/>
          </a:xfrm>
          <a:prstGeom prst="rect">
            <a:avLst/>
          </a:prstGeom>
          <a:noFill/>
        </p:spPr>
        <p:txBody>
          <a:bodyPr wrap="square">
            <a:spAutoFit/>
          </a:bodyPr>
          <a:lstStyle/>
          <a:p>
            <a:r>
              <a:rPr lang="en-US" sz="2000" b="1" u="sng" dirty="0">
                <a:latin typeface="Times New Roman" panose="02020603050405020304" pitchFamily="18" charset="0"/>
                <a:cs typeface="Times New Roman" panose="02020603050405020304" pitchFamily="18" charset="0"/>
              </a:rPr>
              <a:t>Result</a:t>
            </a:r>
          </a:p>
        </p:txBody>
      </p:sp>
    </p:spTree>
    <p:extLst>
      <p:ext uri="{BB962C8B-B14F-4D97-AF65-F5344CB8AC3E}">
        <p14:creationId xmlns:p14="http://schemas.microsoft.com/office/powerpoint/2010/main" val="1786248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D3B78-0CB0-98C5-B70E-447B90863F09}"/>
              </a:ext>
            </a:extLst>
          </p:cNvPr>
          <p:cNvSpPr>
            <a:spLocks noGrp="1"/>
          </p:cNvSpPr>
          <p:nvPr>
            <p:ph type="title"/>
          </p:nvPr>
        </p:nvSpPr>
        <p:spPr/>
        <p:txBody>
          <a:bodyPr/>
          <a:lstStyle/>
          <a:p>
            <a:r>
              <a:rPr lang="en-US" dirty="0"/>
              <a:t>Set Difference (−)</a:t>
            </a:r>
          </a:p>
        </p:txBody>
      </p:sp>
      <p:sp>
        <p:nvSpPr>
          <p:cNvPr id="3" name="Content Placeholder 2">
            <a:extLst>
              <a:ext uri="{FF2B5EF4-FFF2-40B4-BE49-F238E27FC236}">
                <a16:creationId xmlns:a16="http://schemas.microsoft.com/office/drawing/2014/main" id="{A7411FB0-C58C-E59B-4E33-AA4D3B500D4E}"/>
              </a:ext>
            </a:extLst>
          </p:cNvPr>
          <p:cNvSpPr>
            <a:spLocks noGrp="1"/>
          </p:cNvSpPr>
          <p:nvPr>
            <p:ph idx="1"/>
          </p:nvPr>
        </p:nvSpPr>
        <p:spPr/>
        <p:txBody>
          <a:bodyPr/>
          <a:lstStyle/>
          <a:p>
            <a:r>
              <a:rPr lang="en-US" b="1" dirty="0"/>
              <a:t>Purpose:</a:t>
            </a:r>
            <a:r>
              <a:rPr lang="en-US" dirty="0"/>
              <a:t> Returns records in one table but not in another</a:t>
            </a:r>
          </a:p>
          <a:p>
            <a:r>
              <a:rPr lang="en-US" b="1" dirty="0"/>
              <a:t>Example:</a:t>
            </a:r>
            <a:br>
              <a:rPr lang="en-US" dirty="0"/>
            </a:br>
            <a:r>
              <a:rPr lang="en-US" dirty="0"/>
              <a:t>Students in CSE but not in ECE:</a:t>
            </a:r>
          </a:p>
          <a:p>
            <a:r>
              <a:rPr lang="en-US" dirty="0"/>
              <a:t>R − S</a:t>
            </a:r>
          </a:p>
          <a:p>
            <a:pPr marL="0" indent="0">
              <a:buNone/>
            </a:pPr>
            <a:r>
              <a:rPr lang="en-US" sz="2000" b="1" u="sng" dirty="0">
                <a:latin typeface="Times New Roman" panose="02020603050405020304" pitchFamily="18" charset="0"/>
                <a:cs typeface="Times New Roman" panose="02020603050405020304" pitchFamily="18" charset="0"/>
              </a:rPr>
              <a:t>Result</a:t>
            </a:r>
          </a:p>
        </p:txBody>
      </p:sp>
      <p:graphicFrame>
        <p:nvGraphicFramePr>
          <p:cNvPr id="4" name="Table 3">
            <a:extLst>
              <a:ext uri="{FF2B5EF4-FFF2-40B4-BE49-F238E27FC236}">
                <a16:creationId xmlns:a16="http://schemas.microsoft.com/office/drawing/2014/main" id="{053DB27B-C36D-5093-E54B-3AF32F399225}"/>
              </a:ext>
            </a:extLst>
          </p:cNvPr>
          <p:cNvGraphicFramePr>
            <a:graphicFrameLocks noGrp="1"/>
          </p:cNvGraphicFramePr>
          <p:nvPr>
            <p:extLst>
              <p:ext uri="{D42A27DB-BD31-4B8C-83A1-F6EECF244321}">
                <p14:modId xmlns:p14="http://schemas.microsoft.com/office/powerpoint/2010/main" val="1929000243"/>
              </p:ext>
            </p:extLst>
          </p:nvPr>
        </p:nvGraphicFramePr>
        <p:xfrm>
          <a:off x="685800" y="5069205"/>
          <a:ext cx="8229600" cy="731520"/>
        </p:xfrm>
        <a:graphic>
          <a:graphicData uri="http://schemas.openxmlformats.org/drawingml/2006/table">
            <a:tbl>
              <a:tblPr/>
              <a:tblGrid>
                <a:gridCol w="2743200">
                  <a:extLst>
                    <a:ext uri="{9D8B030D-6E8A-4147-A177-3AD203B41FA5}">
                      <a16:colId xmlns:a16="http://schemas.microsoft.com/office/drawing/2014/main" val="3474703682"/>
                    </a:ext>
                  </a:extLst>
                </a:gridCol>
                <a:gridCol w="2743200">
                  <a:extLst>
                    <a:ext uri="{9D8B030D-6E8A-4147-A177-3AD203B41FA5}">
                      <a16:colId xmlns:a16="http://schemas.microsoft.com/office/drawing/2014/main" val="3973620827"/>
                    </a:ext>
                  </a:extLst>
                </a:gridCol>
                <a:gridCol w="2743200">
                  <a:extLst>
                    <a:ext uri="{9D8B030D-6E8A-4147-A177-3AD203B41FA5}">
                      <a16:colId xmlns:a16="http://schemas.microsoft.com/office/drawing/2014/main" val="3435475978"/>
                    </a:ext>
                  </a:extLst>
                </a:gridCol>
              </a:tblGrid>
              <a:tr h="0">
                <a:tc>
                  <a:txBody>
                    <a:bodyPr/>
                    <a:lstStyle/>
                    <a:p>
                      <a:pPr>
                        <a:buNone/>
                      </a:pPr>
                      <a:r>
                        <a:rPr lang="en-US" dirty="0"/>
                        <a:t>SID</a:t>
                      </a:r>
                    </a:p>
                  </a:txBody>
                  <a:tcPr anchor="ctr">
                    <a:lnL>
                      <a:noFill/>
                    </a:lnL>
                    <a:lnR>
                      <a:noFill/>
                    </a:lnR>
                    <a:lnT>
                      <a:noFill/>
                    </a:lnT>
                    <a:lnB>
                      <a:noFill/>
                    </a:lnB>
                    <a:noFill/>
                  </a:tcPr>
                </a:tc>
                <a:tc>
                  <a:txBody>
                    <a:bodyPr/>
                    <a:lstStyle/>
                    <a:p>
                      <a:pPr>
                        <a:buNone/>
                      </a:pPr>
                      <a:r>
                        <a:rPr lang="en-US"/>
                        <a:t>Name</a:t>
                      </a:r>
                    </a:p>
                  </a:txBody>
                  <a:tcPr anchor="ctr">
                    <a:lnL>
                      <a:noFill/>
                    </a:lnL>
                    <a:lnR>
                      <a:noFill/>
                    </a:lnR>
                    <a:lnT>
                      <a:noFill/>
                    </a:lnT>
                    <a:lnB>
                      <a:noFill/>
                    </a:lnB>
                    <a:noFill/>
                  </a:tcPr>
                </a:tc>
                <a:tc>
                  <a:txBody>
                    <a:bodyPr/>
                    <a:lstStyle/>
                    <a:p>
                      <a:pPr>
                        <a:buNone/>
                      </a:pPr>
                      <a:r>
                        <a:rPr lang="en-US"/>
                        <a:t>Dept</a:t>
                      </a:r>
                    </a:p>
                  </a:txBody>
                  <a:tcPr anchor="ctr">
                    <a:lnL>
                      <a:noFill/>
                    </a:lnL>
                    <a:lnR>
                      <a:noFill/>
                    </a:lnR>
                    <a:lnT>
                      <a:noFill/>
                    </a:lnT>
                    <a:lnB>
                      <a:noFill/>
                    </a:lnB>
                    <a:noFill/>
                  </a:tcPr>
                </a:tc>
                <a:extLst>
                  <a:ext uri="{0D108BD9-81ED-4DB2-BD59-A6C34878D82A}">
                    <a16:rowId xmlns:a16="http://schemas.microsoft.com/office/drawing/2014/main" val="2583447979"/>
                  </a:ext>
                </a:extLst>
              </a:tr>
              <a:tr h="0">
                <a:tc>
                  <a:txBody>
                    <a:bodyPr/>
                    <a:lstStyle/>
                    <a:p>
                      <a:pPr>
                        <a:buNone/>
                      </a:pPr>
                      <a:r>
                        <a:rPr lang="en-US" dirty="0"/>
                        <a:t>1</a:t>
                      </a:r>
                    </a:p>
                  </a:txBody>
                  <a:tcPr anchor="ctr">
                    <a:lnL>
                      <a:noFill/>
                    </a:lnL>
                    <a:lnR>
                      <a:noFill/>
                    </a:lnR>
                    <a:lnT>
                      <a:noFill/>
                    </a:lnT>
                    <a:lnB>
                      <a:noFill/>
                    </a:lnB>
                    <a:noFill/>
                  </a:tcPr>
                </a:tc>
                <a:tc>
                  <a:txBody>
                    <a:bodyPr/>
                    <a:lstStyle/>
                    <a:p>
                      <a:pPr>
                        <a:buNone/>
                      </a:pPr>
                      <a:r>
                        <a:rPr lang="en-US" dirty="0"/>
                        <a:t>Ravi</a:t>
                      </a:r>
                    </a:p>
                  </a:txBody>
                  <a:tcPr anchor="ctr">
                    <a:lnL>
                      <a:noFill/>
                    </a:lnL>
                    <a:lnR>
                      <a:noFill/>
                    </a:lnR>
                    <a:lnT>
                      <a:noFill/>
                    </a:lnT>
                    <a:lnB>
                      <a:noFill/>
                    </a:lnB>
                    <a:noFill/>
                  </a:tcPr>
                </a:tc>
                <a:tc>
                  <a:txBody>
                    <a:bodyPr/>
                    <a:lstStyle/>
                    <a:p>
                      <a:pPr>
                        <a:buNone/>
                      </a:pPr>
                      <a:r>
                        <a:rPr lang="en-US" dirty="0"/>
                        <a:t>CSE</a:t>
                      </a:r>
                    </a:p>
                  </a:txBody>
                  <a:tcPr anchor="ctr">
                    <a:lnL>
                      <a:noFill/>
                    </a:lnL>
                    <a:lnR>
                      <a:noFill/>
                    </a:lnR>
                    <a:lnT>
                      <a:noFill/>
                    </a:lnT>
                    <a:lnB>
                      <a:noFill/>
                    </a:lnB>
                    <a:noFill/>
                  </a:tcPr>
                </a:tc>
                <a:extLst>
                  <a:ext uri="{0D108BD9-81ED-4DB2-BD59-A6C34878D82A}">
                    <a16:rowId xmlns:a16="http://schemas.microsoft.com/office/drawing/2014/main" val="303392172"/>
                  </a:ext>
                </a:extLst>
              </a:tr>
            </a:tbl>
          </a:graphicData>
        </a:graphic>
      </p:graphicFrame>
    </p:spTree>
    <p:extLst>
      <p:ext uri="{BB962C8B-B14F-4D97-AF65-F5344CB8AC3E}">
        <p14:creationId xmlns:p14="http://schemas.microsoft.com/office/powerpoint/2010/main" val="20883212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7BA56-D43E-FF21-D835-2B494B06B2CF}"/>
              </a:ext>
            </a:extLst>
          </p:cNvPr>
          <p:cNvSpPr>
            <a:spLocks noGrp="1"/>
          </p:cNvSpPr>
          <p:nvPr>
            <p:ph type="title"/>
          </p:nvPr>
        </p:nvSpPr>
        <p:spPr/>
        <p:txBody>
          <a:bodyPr/>
          <a:lstStyle/>
          <a:p>
            <a:r>
              <a:rPr lang="en-US" dirty="0"/>
              <a:t>Cartesian Product (×)</a:t>
            </a:r>
          </a:p>
        </p:txBody>
      </p:sp>
      <p:sp>
        <p:nvSpPr>
          <p:cNvPr id="3" name="Content Placeholder 2">
            <a:extLst>
              <a:ext uri="{FF2B5EF4-FFF2-40B4-BE49-F238E27FC236}">
                <a16:creationId xmlns:a16="http://schemas.microsoft.com/office/drawing/2014/main" id="{84CA43E8-4901-2E27-B2AD-54847328FC3C}"/>
              </a:ext>
            </a:extLst>
          </p:cNvPr>
          <p:cNvSpPr>
            <a:spLocks noGrp="1"/>
          </p:cNvSpPr>
          <p:nvPr>
            <p:ph idx="1"/>
          </p:nvPr>
        </p:nvSpPr>
        <p:spPr/>
        <p:txBody>
          <a:bodyPr/>
          <a:lstStyle/>
          <a:p>
            <a:r>
              <a:rPr lang="en-US" b="1" dirty="0"/>
              <a:t>Purpose:</a:t>
            </a:r>
            <a:r>
              <a:rPr lang="en-US" dirty="0"/>
              <a:t> Combines every row of one table with every row of another.</a:t>
            </a:r>
          </a:p>
          <a:p>
            <a:r>
              <a:rPr lang="en-US" dirty="0"/>
              <a:t>STUDENT × COURSE</a:t>
            </a:r>
          </a:p>
          <a:p>
            <a:endParaRPr lang="en-US" dirty="0"/>
          </a:p>
        </p:txBody>
      </p:sp>
      <p:graphicFrame>
        <p:nvGraphicFramePr>
          <p:cNvPr id="4" name="Table 3">
            <a:extLst>
              <a:ext uri="{FF2B5EF4-FFF2-40B4-BE49-F238E27FC236}">
                <a16:creationId xmlns:a16="http://schemas.microsoft.com/office/drawing/2014/main" id="{E4E06D3C-5312-8DAD-C6EF-C73EB372BC13}"/>
              </a:ext>
            </a:extLst>
          </p:cNvPr>
          <p:cNvGraphicFramePr>
            <a:graphicFrameLocks noGrp="1"/>
          </p:cNvGraphicFramePr>
          <p:nvPr>
            <p:extLst>
              <p:ext uri="{D42A27DB-BD31-4B8C-83A1-F6EECF244321}">
                <p14:modId xmlns:p14="http://schemas.microsoft.com/office/powerpoint/2010/main" val="3446952259"/>
              </p:ext>
            </p:extLst>
          </p:nvPr>
        </p:nvGraphicFramePr>
        <p:xfrm>
          <a:off x="600075" y="3863181"/>
          <a:ext cx="8229600" cy="1828800"/>
        </p:xfrm>
        <a:graphic>
          <a:graphicData uri="http://schemas.openxmlformats.org/drawingml/2006/table">
            <a:tbl>
              <a:tblPr/>
              <a:tblGrid>
                <a:gridCol w="1371600">
                  <a:extLst>
                    <a:ext uri="{9D8B030D-6E8A-4147-A177-3AD203B41FA5}">
                      <a16:colId xmlns:a16="http://schemas.microsoft.com/office/drawing/2014/main" val="3909583703"/>
                    </a:ext>
                  </a:extLst>
                </a:gridCol>
                <a:gridCol w="1371600">
                  <a:extLst>
                    <a:ext uri="{9D8B030D-6E8A-4147-A177-3AD203B41FA5}">
                      <a16:colId xmlns:a16="http://schemas.microsoft.com/office/drawing/2014/main" val="1169028110"/>
                    </a:ext>
                  </a:extLst>
                </a:gridCol>
                <a:gridCol w="1371600">
                  <a:extLst>
                    <a:ext uri="{9D8B030D-6E8A-4147-A177-3AD203B41FA5}">
                      <a16:colId xmlns:a16="http://schemas.microsoft.com/office/drawing/2014/main" val="3819603124"/>
                    </a:ext>
                  </a:extLst>
                </a:gridCol>
                <a:gridCol w="1371600">
                  <a:extLst>
                    <a:ext uri="{9D8B030D-6E8A-4147-A177-3AD203B41FA5}">
                      <a16:colId xmlns:a16="http://schemas.microsoft.com/office/drawing/2014/main" val="396688084"/>
                    </a:ext>
                  </a:extLst>
                </a:gridCol>
                <a:gridCol w="1371600">
                  <a:extLst>
                    <a:ext uri="{9D8B030D-6E8A-4147-A177-3AD203B41FA5}">
                      <a16:colId xmlns:a16="http://schemas.microsoft.com/office/drawing/2014/main" val="537054455"/>
                    </a:ext>
                  </a:extLst>
                </a:gridCol>
                <a:gridCol w="1371600">
                  <a:extLst>
                    <a:ext uri="{9D8B030D-6E8A-4147-A177-3AD203B41FA5}">
                      <a16:colId xmlns:a16="http://schemas.microsoft.com/office/drawing/2014/main" val="1205061488"/>
                    </a:ext>
                  </a:extLst>
                </a:gridCol>
              </a:tblGrid>
              <a:tr h="0">
                <a:tc>
                  <a:txBody>
                    <a:bodyPr/>
                    <a:lstStyle/>
                    <a:p>
                      <a:pPr>
                        <a:buNone/>
                      </a:pPr>
                      <a:r>
                        <a:rPr lang="en-US"/>
                        <a:t>R.SID</a:t>
                      </a:r>
                    </a:p>
                  </a:txBody>
                  <a:tcPr anchor="ctr">
                    <a:lnL>
                      <a:noFill/>
                    </a:lnL>
                    <a:lnR>
                      <a:noFill/>
                    </a:lnR>
                    <a:lnT>
                      <a:noFill/>
                    </a:lnT>
                    <a:lnB>
                      <a:noFill/>
                    </a:lnB>
                    <a:noFill/>
                  </a:tcPr>
                </a:tc>
                <a:tc>
                  <a:txBody>
                    <a:bodyPr/>
                    <a:lstStyle/>
                    <a:p>
                      <a:pPr>
                        <a:buNone/>
                      </a:pPr>
                      <a:r>
                        <a:rPr lang="en-US"/>
                        <a:t>R.Name</a:t>
                      </a:r>
                    </a:p>
                  </a:txBody>
                  <a:tcPr anchor="ctr">
                    <a:lnL>
                      <a:noFill/>
                    </a:lnL>
                    <a:lnR>
                      <a:noFill/>
                    </a:lnR>
                    <a:lnT>
                      <a:noFill/>
                    </a:lnT>
                    <a:lnB>
                      <a:noFill/>
                    </a:lnB>
                    <a:noFill/>
                  </a:tcPr>
                </a:tc>
                <a:tc>
                  <a:txBody>
                    <a:bodyPr/>
                    <a:lstStyle/>
                    <a:p>
                      <a:pPr>
                        <a:buNone/>
                      </a:pPr>
                      <a:r>
                        <a:rPr lang="en-US"/>
                        <a:t>R.Dept</a:t>
                      </a:r>
                    </a:p>
                  </a:txBody>
                  <a:tcPr anchor="ctr">
                    <a:lnL>
                      <a:noFill/>
                    </a:lnL>
                    <a:lnR>
                      <a:noFill/>
                    </a:lnR>
                    <a:lnT>
                      <a:noFill/>
                    </a:lnT>
                    <a:lnB>
                      <a:noFill/>
                    </a:lnB>
                    <a:noFill/>
                  </a:tcPr>
                </a:tc>
                <a:tc>
                  <a:txBody>
                    <a:bodyPr/>
                    <a:lstStyle/>
                    <a:p>
                      <a:pPr>
                        <a:buNone/>
                      </a:pPr>
                      <a:r>
                        <a:rPr lang="en-US"/>
                        <a:t>S.SID</a:t>
                      </a:r>
                    </a:p>
                  </a:txBody>
                  <a:tcPr anchor="ctr">
                    <a:lnL>
                      <a:noFill/>
                    </a:lnL>
                    <a:lnR>
                      <a:noFill/>
                    </a:lnR>
                    <a:lnT>
                      <a:noFill/>
                    </a:lnT>
                    <a:lnB>
                      <a:noFill/>
                    </a:lnB>
                    <a:noFill/>
                  </a:tcPr>
                </a:tc>
                <a:tc>
                  <a:txBody>
                    <a:bodyPr/>
                    <a:lstStyle/>
                    <a:p>
                      <a:pPr>
                        <a:buNone/>
                      </a:pPr>
                      <a:r>
                        <a:rPr lang="en-US"/>
                        <a:t>S.Name</a:t>
                      </a:r>
                    </a:p>
                  </a:txBody>
                  <a:tcPr anchor="ctr">
                    <a:lnL>
                      <a:noFill/>
                    </a:lnL>
                    <a:lnR>
                      <a:noFill/>
                    </a:lnR>
                    <a:lnT>
                      <a:noFill/>
                    </a:lnT>
                    <a:lnB>
                      <a:noFill/>
                    </a:lnB>
                    <a:noFill/>
                  </a:tcPr>
                </a:tc>
                <a:tc>
                  <a:txBody>
                    <a:bodyPr/>
                    <a:lstStyle/>
                    <a:p>
                      <a:pPr>
                        <a:buNone/>
                      </a:pPr>
                      <a:r>
                        <a:rPr lang="en-US"/>
                        <a:t>S.Dept</a:t>
                      </a:r>
                    </a:p>
                  </a:txBody>
                  <a:tcPr anchor="ctr">
                    <a:lnL>
                      <a:noFill/>
                    </a:lnL>
                    <a:lnR>
                      <a:noFill/>
                    </a:lnR>
                    <a:lnT>
                      <a:noFill/>
                    </a:lnT>
                    <a:lnB>
                      <a:noFill/>
                    </a:lnB>
                    <a:noFill/>
                  </a:tcPr>
                </a:tc>
                <a:extLst>
                  <a:ext uri="{0D108BD9-81ED-4DB2-BD59-A6C34878D82A}">
                    <a16:rowId xmlns:a16="http://schemas.microsoft.com/office/drawing/2014/main" val="158444947"/>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Ravi</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tc>
                  <a:txBody>
                    <a:bodyPr/>
                    <a:lstStyle/>
                    <a:p>
                      <a:pPr>
                        <a:buNone/>
                      </a:pPr>
                      <a:r>
                        <a:rPr lang="en-US"/>
                        <a:t>2</a:t>
                      </a:r>
                    </a:p>
                  </a:txBody>
                  <a:tcPr anchor="ctr">
                    <a:lnL>
                      <a:noFill/>
                    </a:lnL>
                    <a:lnR>
                      <a:noFill/>
                    </a:lnR>
                    <a:lnT>
                      <a:noFill/>
                    </a:lnT>
                    <a:lnB>
                      <a:noFill/>
                    </a:lnB>
                    <a:noFill/>
                  </a:tcPr>
                </a:tc>
                <a:tc>
                  <a:txBody>
                    <a:bodyPr/>
                    <a:lstStyle/>
                    <a:p>
                      <a:pPr>
                        <a:buNone/>
                      </a:pPr>
                      <a:r>
                        <a:rPr lang="en-US"/>
                        <a:t>Arjun</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extLst>
                  <a:ext uri="{0D108BD9-81ED-4DB2-BD59-A6C34878D82A}">
                    <a16:rowId xmlns:a16="http://schemas.microsoft.com/office/drawing/2014/main" val="1463017269"/>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Ravi</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tc>
                  <a:txBody>
                    <a:bodyPr/>
                    <a:lstStyle/>
                    <a:p>
                      <a:pPr>
                        <a:buNone/>
                      </a:pPr>
                      <a:r>
                        <a:rPr lang="en-US"/>
                        <a:t>3</a:t>
                      </a:r>
                    </a:p>
                  </a:txBody>
                  <a:tcPr anchor="ctr">
                    <a:lnL>
                      <a:noFill/>
                    </a:lnL>
                    <a:lnR>
                      <a:noFill/>
                    </a:lnR>
                    <a:lnT>
                      <a:noFill/>
                    </a:lnT>
                    <a:lnB>
                      <a:noFill/>
                    </a:lnB>
                    <a:noFill/>
                  </a:tcPr>
                </a:tc>
                <a:tc>
                  <a:txBody>
                    <a:bodyPr/>
                    <a:lstStyle/>
                    <a:p>
                      <a:pPr>
                        <a:buNone/>
                      </a:pPr>
                      <a:r>
                        <a:rPr lang="en-US"/>
                        <a:t>Meena</a:t>
                      </a:r>
                    </a:p>
                  </a:txBody>
                  <a:tcPr anchor="ctr">
                    <a:lnL>
                      <a:noFill/>
                    </a:lnL>
                    <a:lnR>
                      <a:noFill/>
                    </a:lnR>
                    <a:lnT>
                      <a:noFill/>
                    </a:lnT>
                    <a:lnB>
                      <a:noFill/>
                    </a:lnB>
                    <a:noFill/>
                  </a:tcPr>
                </a:tc>
                <a:tc>
                  <a:txBody>
                    <a:bodyPr/>
                    <a:lstStyle/>
                    <a:p>
                      <a:pPr>
                        <a:buNone/>
                      </a:pPr>
                      <a:r>
                        <a:rPr lang="en-US"/>
                        <a:t>ECE</a:t>
                      </a:r>
                    </a:p>
                  </a:txBody>
                  <a:tcPr anchor="ctr">
                    <a:lnL>
                      <a:noFill/>
                    </a:lnL>
                    <a:lnR>
                      <a:noFill/>
                    </a:lnR>
                    <a:lnT>
                      <a:noFill/>
                    </a:lnT>
                    <a:lnB>
                      <a:noFill/>
                    </a:lnB>
                    <a:noFill/>
                  </a:tcPr>
                </a:tc>
                <a:extLst>
                  <a:ext uri="{0D108BD9-81ED-4DB2-BD59-A6C34878D82A}">
                    <a16:rowId xmlns:a16="http://schemas.microsoft.com/office/drawing/2014/main" val="3474459831"/>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Arjun</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tc>
                  <a:txBody>
                    <a:bodyPr/>
                    <a:lstStyle/>
                    <a:p>
                      <a:pPr>
                        <a:buNone/>
                      </a:pPr>
                      <a:r>
                        <a:rPr lang="en-US"/>
                        <a:t>2</a:t>
                      </a:r>
                    </a:p>
                  </a:txBody>
                  <a:tcPr anchor="ctr">
                    <a:lnL>
                      <a:noFill/>
                    </a:lnL>
                    <a:lnR>
                      <a:noFill/>
                    </a:lnR>
                    <a:lnT>
                      <a:noFill/>
                    </a:lnT>
                    <a:lnB>
                      <a:noFill/>
                    </a:lnB>
                    <a:noFill/>
                  </a:tcPr>
                </a:tc>
                <a:tc>
                  <a:txBody>
                    <a:bodyPr/>
                    <a:lstStyle/>
                    <a:p>
                      <a:pPr>
                        <a:buNone/>
                      </a:pPr>
                      <a:r>
                        <a:rPr lang="en-US"/>
                        <a:t>Arjun</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extLst>
                  <a:ext uri="{0D108BD9-81ED-4DB2-BD59-A6C34878D82A}">
                    <a16:rowId xmlns:a16="http://schemas.microsoft.com/office/drawing/2014/main" val="549139403"/>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Arjun</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tc>
                  <a:txBody>
                    <a:bodyPr/>
                    <a:lstStyle/>
                    <a:p>
                      <a:pPr>
                        <a:buNone/>
                      </a:pPr>
                      <a:r>
                        <a:rPr lang="en-US"/>
                        <a:t>3</a:t>
                      </a:r>
                    </a:p>
                  </a:txBody>
                  <a:tcPr anchor="ctr">
                    <a:lnL>
                      <a:noFill/>
                    </a:lnL>
                    <a:lnR>
                      <a:noFill/>
                    </a:lnR>
                    <a:lnT>
                      <a:noFill/>
                    </a:lnT>
                    <a:lnB>
                      <a:noFill/>
                    </a:lnB>
                    <a:noFill/>
                  </a:tcPr>
                </a:tc>
                <a:tc>
                  <a:txBody>
                    <a:bodyPr/>
                    <a:lstStyle/>
                    <a:p>
                      <a:pPr>
                        <a:buNone/>
                      </a:pPr>
                      <a:r>
                        <a:rPr lang="en-US"/>
                        <a:t>Meena</a:t>
                      </a:r>
                    </a:p>
                  </a:txBody>
                  <a:tcPr anchor="ctr">
                    <a:lnL>
                      <a:noFill/>
                    </a:lnL>
                    <a:lnR>
                      <a:noFill/>
                    </a:lnR>
                    <a:lnT>
                      <a:noFill/>
                    </a:lnT>
                    <a:lnB>
                      <a:noFill/>
                    </a:lnB>
                    <a:noFill/>
                  </a:tcPr>
                </a:tc>
                <a:tc>
                  <a:txBody>
                    <a:bodyPr/>
                    <a:lstStyle/>
                    <a:p>
                      <a:pPr>
                        <a:buNone/>
                      </a:pPr>
                      <a:r>
                        <a:rPr lang="en-US" dirty="0"/>
                        <a:t>ECE</a:t>
                      </a:r>
                    </a:p>
                  </a:txBody>
                  <a:tcPr anchor="ctr">
                    <a:lnL>
                      <a:noFill/>
                    </a:lnL>
                    <a:lnR>
                      <a:noFill/>
                    </a:lnR>
                    <a:lnT>
                      <a:noFill/>
                    </a:lnT>
                    <a:lnB>
                      <a:noFill/>
                    </a:lnB>
                    <a:noFill/>
                  </a:tcPr>
                </a:tc>
                <a:extLst>
                  <a:ext uri="{0D108BD9-81ED-4DB2-BD59-A6C34878D82A}">
                    <a16:rowId xmlns:a16="http://schemas.microsoft.com/office/drawing/2014/main" val="3657197150"/>
                  </a:ext>
                </a:extLst>
              </a:tr>
            </a:tbl>
          </a:graphicData>
        </a:graphic>
      </p:graphicFrame>
    </p:spTree>
    <p:extLst>
      <p:ext uri="{BB962C8B-B14F-4D97-AF65-F5344CB8AC3E}">
        <p14:creationId xmlns:p14="http://schemas.microsoft.com/office/powerpoint/2010/main" val="15039968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B8734-F53A-B530-1C66-C5D0603966C9}"/>
              </a:ext>
            </a:extLst>
          </p:cNvPr>
          <p:cNvSpPr>
            <a:spLocks noGrp="1"/>
          </p:cNvSpPr>
          <p:nvPr>
            <p:ph type="title"/>
          </p:nvPr>
        </p:nvSpPr>
        <p:spPr/>
        <p:txBody>
          <a:bodyPr/>
          <a:lstStyle/>
          <a:p>
            <a:r>
              <a:rPr lang="en-US" dirty="0"/>
              <a:t>Rename (</a:t>
            </a:r>
            <a:r>
              <a:rPr lang="el-GR" dirty="0"/>
              <a:t>ρ)</a:t>
            </a:r>
            <a:endParaRPr lang="en-US" dirty="0"/>
          </a:p>
        </p:txBody>
      </p:sp>
      <p:sp>
        <p:nvSpPr>
          <p:cNvPr id="3" name="Content Placeholder 2">
            <a:extLst>
              <a:ext uri="{FF2B5EF4-FFF2-40B4-BE49-F238E27FC236}">
                <a16:creationId xmlns:a16="http://schemas.microsoft.com/office/drawing/2014/main" id="{3701DC41-B238-BF73-35CE-74E53F0EC7C8}"/>
              </a:ext>
            </a:extLst>
          </p:cNvPr>
          <p:cNvSpPr>
            <a:spLocks noGrp="1"/>
          </p:cNvSpPr>
          <p:nvPr>
            <p:ph idx="1"/>
          </p:nvPr>
        </p:nvSpPr>
        <p:spPr>
          <a:xfrm>
            <a:off x="585787" y="1166018"/>
            <a:ext cx="8229600" cy="4525963"/>
          </a:xfrm>
        </p:spPr>
        <p:txBody>
          <a:bodyPr/>
          <a:lstStyle/>
          <a:p>
            <a:r>
              <a:rPr lang="en-US" b="1" dirty="0"/>
              <a:t>Purpose:</a:t>
            </a:r>
            <a:r>
              <a:rPr lang="en-US" dirty="0"/>
              <a:t> Renames a relation or attributes.</a:t>
            </a:r>
          </a:p>
          <a:p>
            <a:r>
              <a:rPr lang="el-GR" dirty="0">
                <a:solidFill>
                  <a:schemeClr val="accent2">
                    <a:lumMod val="75000"/>
                  </a:schemeClr>
                </a:solidFill>
              </a:rPr>
              <a:t>ρ </a:t>
            </a:r>
            <a:r>
              <a:rPr lang="en-US" dirty="0">
                <a:solidFill>
                  <a:schemeClr val="accent2">
                    <a:lumMod val="75000"/>
                  </a:schemeClr>
                </a:solidFill>
              </a:rPr>
              <a:t>S (STUDENT)</a:t>
            </a:r>
          </a:p>
          <a:p>
            <a:r>
              <a:rPr lang="en-US" b="1" dirty="0"/>
              <a:t>Meaning</a:t>
            </a:r>
          </a:p>
          <a:p>
            <a:pPr lvl="1">
              <a:buFont typeface="Wingdings" panose="05000000000000000000" pitchFamily="2" charset="2"/>
              <a:buChar char="Ø"/>
            </a:pPr>
            <a:r>
              <a:rPr lang="en-US" dirty="0"/>
              <a:t>This renames the </a:t>
            </a:r>
            <a:r>
              <a:rPr lang="en-US" b="1" dirty="0"/>
              <a:t>STUDENT</a:t>
            </a:r>
            <a:r>
              <a:rPr lang="en-US" dirty="0"/>
              <a:t> table as </a:t>
            </a:r>
            <a:r>
              <a:rPr lang="en-US" b="1" dirty="0"/>
              <a:t>S</a:t>
            </a:r>
            <a:endParaRPr lang="en-US" dirty="0"/>
          </a:p>
          <a:p>
            <a:r>
              <a:rPr lang="en-US" dirty="0"/>
              <a:t>Rename Attributes (Columns) </a:t>
            </a:r>
          </a:p>
          <a:p>
            <a:r>
              <a:rPr lang="en-US" dirty="0">
                <a:solidFill>
                  <a:schemeClr val="accent2">
                    <a:lumMod val="75000"/>
                  </a:schemeClr>
                </a:solidFill>
              </a:rPr>
              <a:t>ρ S(SID, </a:t>
            </a:r>
            <a:r>
              <a:rPr lang="en-US" dirty="0" err="1">
                <a:solidFill>
                  <a:schemeClr val="accent2">
                    <a:lumMod val="75000"/>
                  </a:schemeClr>
                </a:solidFill>
              </a:rPr>
              <a:t>SName</a:t>
            </a:r>
            <a:r>
              <a:rPr lang="en-US" dirty="0">
                <a:solidFill>
                  <a:schemeClr val="accent2">
                    <a:lumMod val="75000"/>
                  </a:schemeClr>
                </a:solidFill>
              </a:rPr>
              <a:t>, Department, </a:t>
            </a:r>
            <a:r>
              <a:rPr lang="en-US" dirty="0" err="1">
                <a:solidFill>
                  <a:schemeClr val="accent2">
                    <a:lumMod val="75000"/>
                  </a:schemeClr>
                </a:solidFill>
              </a:rPr>
              <a:t>SAge</a:t>
            </a:r>
            <a:r>
              <a:rPr lang="en-US" dirty="0">
                <a:solidFill>
                  <a:schemeClr val="accent2">
                    <a:lumMod val="75000"/>
                  </a:schemeClr>
                </a:solidFill>
              </a:rPr>
              <a:t>) (STUDENT)</a:t>
            </a:r>
          </a:p>
          <a:p>
            <a:endParaRPr lang="en-US" dirty="0">
              <a:solidFill>
                <a:schemeClr val="accent2">
                  <a:lumMod val="75000"/>
                </a:schemeClr>
              </a:solidFill>
            </a:endParaRPr>
          </a:p>
          <a:p>
            <a:endParaRPr lang="en-US" dirty="0"/>
          </a:p>
        </p:txBody>
      </p:sp>
      <p:graphicFrame>
        <p:nvGraphicFramePr>
          <p:cNvPr id="4" name="Table 3">
            <a:extLst>
              <a:ext uri="{FF2B5EF4-FFF2-40B4-BE49-F238E27FC236}">
                <a16:creationId xmlns:a16="http://schemas.microsoft.com/office/drawing/2014/main" id="{0D234141-D3F9-54B5-8D7B-E00A07FA3EDA}"/>
              </a:ext>
            </a:extLst>
          </p:cNvPr>
          <p:cNvGraphicFramePr>
            <a:graphicFrameLocks noGrp="1"/>
          </p:cNvGraphicFramePr>
          <p:nvPr>
            <p:extLst>
              <p:ext uri="{D42A27DB-BD31-4B8C-83A1-F6EECF244321}">
                <p14:modId xmlns:p14="http://schemas.microsoft.com/office/powerpoint/2010/main" val="2108147067"/>
              </p:ext>
            </p:extLst>
          </p:nvPr>
        </p:nvGraphicFramePr>
        <p:xfrm>
          <a:off x="457200" y="5577523"/>
          <a:ext cx="8229600" cy="1097280"/>
        </p:xfrm>
        <a:graphic>
          <a:graphicData uri="http://schemas.openxmlformats.org/drawingml/2006/table">
            <a:tbl>
              <a:tblPr/>
              <a:tblGrid>
                <a:gridCol w="2057400">
                  <a:extLst>
                    <a:ext uri="{9D8B030D-6E8A-4147-A177-3AD203B41FA5}">
                      <a16:colId xmlns:a16="http://schemas.microsoft.com/office/drawing/2014/main" val="1613152742"/>
                    </a:ext>
                  </a:extLst>
                </a:gridCol>
                <a:gridCol w="2057400">
                  <a:extLst>
                    <a:ext uri="{9D8B030D-6E8A-4147-A177-3AD203B41FA5}">
                      <a16:colId xmlns:a16="http://schemas.microsoft.com/office/drawing/2014/main" val="1875376046"/>
                    </a:ext>
                  </a:extLst>
                </a:gridCol>
                <a:gridCol w="2057400">
                  <a:extLst>
                    <a:ext uri="{9D8B030D-6E8A-4147-A177-3AD203B41FA5}">
                      <a16:colId xmlns:a16="http://schemas.microsoft.com/office/drawing/2014/main" val="2601105709"/>
                    </a:ext>
                  </a:extLst>
                </a:gridCol>
                <a:gridCol w="2057400">
                  <a:extLst>
                    <a:ext uri="{9D8B030D-6E8A-4147-A177-3AD203B41FA5}">
                      <a16:colId xmlns:a16="http://schemas.microsoft.com/office/drawing/2014/main" val="1949262592"/>
                    </a:ext>
                  </a:extLst>
                </a:gridCol>
              </a:tblGrid>
              <a:tr h="0">
                <a:tc>
                  <a:txBody>
                    <a:bodyPr/>
                    <a:lstStyle/>
                    <a:p>
                      <a:pPr>
                        <a:buNone/>
                      </a:pPr>
                      <a:r>
                        <a:rPr lang="en-US"/>
                        <a:t>SID</a:t>
                      </a:r>
                    </a:p>
                  </a:txBody>
                  <a:tcPr anchor="ctr">
                    <a:lnL>
                      <a:noFill/>
                    </a:lnL>
                    <a:lnR>
                      <a:noFill/>
                    </a:lnR>
                    <a:lnT>
                      <a:noFill/>
                    </a:lnT>
                    <a:lnB>
                      <a:noFill/>
                    </a:lnB>
                    <a:noFill/>
                  </a:tcPr>
                </a:tc>
                <a:tc>
                  <a:txBody>
                    <a:bodyPr/>
                    <a:lstStyle/>
                    <a:p>
                      <a:pPr>
                        <a:buNone/>
                      </a:pPr>
                      <a:r>
                        <a:rPr lang="en-US"/>
                        <a:t>SName</a:t>
                      </a:r>
                    </a:p>
                  </a:txBody>
                  <a:tcPr anchor="ctr">
                    <a:lnL>
                      <a:noFill/>
                    </a:lnL>
                    <a:lnR>
                      <a:noFill/>
                    </a:lnR>
                    <a:lnT>
                      <a:noFill/>
                    </a:lnT>
                    <a:lnB>
                      <a:noFill/>
                    </a:lnB>
                    <a:noFill/>
                  </a:tcPr>
                </a:tc>
                <a:tc>
                  <a:txBody>
                    <a:bodyPr/>
                    <a:lstStyle/>
                    <a:p>
                      <a:pPr>
                        <a:buNone/>
                      </a:pPr>
                      <a:r>
                        <a:rPr lang="en-US"/>
                        <a:t>Department</a:t>
                      </a:r>
                    </a:p>
                  </a:txBody>
                  <a:tcPr anchor="ctr">
                    <a:lnL>
                      <a:noFill/>
                    </a:lnL>
                    <a:lnR>
                      <a:noFill/>
                    </a:lnR>
                    <a:lnT>
                      <a:noFill/>
                    </a:lnT>
                    <a:lnB>
                      <a:noFill/>
                    </a:lnB>
                    <a:noFill/>
                  </a:tcPr>
                </a:tc>
                <a:tc>
                  <a:txBody>
                    <a:bodyPr/>
                    <a:lstStyle/>
                    <a:p>
                      <a:pPr>
                        <a:buNone/>
                      </a:pPr>
                      <a:r>
                        <a:rPr lang="en-US"/>
                        <a:t>SAge</a:t>
                      </a:r>
                    </a:p>
                  </a:txBody>
                  <a:tcPr anchor="ctr">
                    <a:lnL>
                      <a:noFill/>
                    </a:lnL>
                    <a:lnR>
                      <a:noFill/>
                    </a:lnR>
                    <a:lnT>
                      <a:noFill/>
                    </a:lnT>
                    <a:lnB>
                      <a:noFill/>
                    </a:lnB>
                    <a:noFill/>
                  </a:tcPr>
                </a:tc>
                <a:extLst>
                  <a:ext uri="{0D108BD9-81ED-4DB2-BD59-A6C34878D82A}">
                    <a16:rowId xmlns:a16="http://schemas.microsoft.com/office/drawing/2014/main" val="992034240"/>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Ravi</a:t>
                      </a:r>
                    </a:p>
                  </a:txBody>
                  <a:tcPr anchor="ctr">
                    <a:lnL>
                      <a:noFill/>
                    </a:lnL>
                    <a:lnR>
                      <a:noFill/>
                    </a:lnR>
                    <a:lnT>
                      <a:noFill/>
                    </a:lnT>
                    <a:lnB>
                      <a:noFill/>
                    </a:lnB>
                    <a:noFill/>
                  </a:tcPr>
                </a:tc>
                <a:tc>
                  <a:txBody>
                    <a:bodyPr/>
                    <a:lstStyle/>
                    <a:p>
                      <a:pPr>
                        <a:buNone/>
                      </a:pPr>
                      <a:r>
                        <a:rPr lang="en-US"/>
                        <a:t>CSE</a:t>
                      </a:r>
                    </a:p>
                  </a:txBody>
                  <a:tcPr anchor="ctr">
                    <a:lnL>
                      <a:noFill/>
                    </a:lnL>
                    <a:lnR>
                      <a:noFill/>
                    </a:lnR>
                    <a:lnT>
                      <a:noFill/>
                    </a:lnT>
                    <a:lnB>
                      <a:noFill/>
                    </a:lnB>
                    <a:noFill/>
                  </a:tcPr>
                </a:tc>
                <a:tc>
                  <a:txBody>
                    <a:bodyPr/>
                    <a:lstStyle/>
                    <a:p>
                      <a:pPr>
                        <a:buNone/>
                      </a:pPr>
                      <a:r>
                        <a:rPr lang="en-US"/>
                        <a:t>20</a:t>
                      </a:r>
                    </a:p>
                  </a:txBody>
                  <a:tcPr anchor="ctr">
                    <a:lnL>
                      <a:noFill/>
                    </a:lnL>
                    <a:lnR>
                      <a:noFill/>
                    </a:lnR>
                    <a:lnT>
                      <a:noFill/>
                    </a:lnT>
                    <a:lnB>
                      <a:noFill/>
                    </a:lnB>
                    <a:noFill/>
                  </a:tcPr>
                </a:tc>
                <a:extLst>
                  <a:ext uri="{0D108BD9-81ED-4DB2-BD59-A6C34878D82A}">
                    <a16:rowId xmlns:a16="http://schemas.microsoft.com/office/drawing/2014/main" val="344670305"/>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Meena</a:t>
                      </a:r>
                    </a:p>
                  </a:txBody>
                  <a:tcPr anchor="ctr">
                    <a:lnL>
                      <a:noFill/>
                    </a:lnL>
                    <a:lnR>
                      <a:noFill/>
                    </a:lnR>
                    <a:lnT>
                      <a:noFill/>
                    </a:lnT>
                    <a:lnB>
                      <a:noFill/>
                    </a:lnB>
                    <a:noFill/>
                  </a:tcPr>
                </a:tc>
                <a:tc>
                  <a:txBody>
                    <a:bodyPr/>
                    <a:lstStyle/>
                    <a:p>
                      <a:pPr>
                        <a:buNone/>
                      </a:pPr>
                      <a:r>
                        <a:rPr lang="en-US"/>
                        <a:t>ECE</a:t>
                      </a:r>
                    </a:p>
                  </a:txBody>
                  <a:tcPr anchor="ctr">
                    <a:lnL>
                      <a:noFill/>
                    </a:lnL>
                    <a:lnR>
                      <a:noFill/>
                    </a:lnR>
                    <a:lnT>
                      <a:noFill/>
                    </a:lnT>
                    <a:lnB>
                      <a:noFill/>
                    </a:lnB>
                    <a:noFill/>
                  </a:tcPr>
                </a:tc>
                <a:tc>
                  <a:txBody>
                    <a:bodyPr/>
                    <a:lstStyle/>
                    <a:p>
                      <a:pPr>
                        <a:buNone/>
                      </a:pPr>
                      <a:r>
                        <a:rPr lang="en-US" dirty="0"/>
                        <a:t>21</a:t>
                      </a:r>
                    </a:p>
                  </a:txBody>
                  <a:tcPr anchor="ctr">
                    <a:lnL>
                      <a:noFill/>
                    </a:lnL>
                    <a:lnR>
                      <a:noFill/>
                    </a:lnR>
                    <a:lnT>
                      <a:noFill/>
                    </a:lnT>
                    <a:lnB>
                      <a:noFill/>
                    </a:lnB>
                    <a:noFill/>
                  </a:tcPr>
                </a:tc>
                <a:extLst>
                  <a:ext uri="{0D108BD9-81ED-4DB2-BD59-A6C34878D82A}">
                    <a16:rowId xmlns:a16="http://schemas.microsoft.com/office/drawing/2014/main" val="2580301256"/>
                  </a:ext>
                </a:extLst>
              </a:tr>
            </a:tbl>
          </a:graphicData>
        </a:graphic>
      </p:graphicFrame>
    </p:spTree>
    <p:extLst>
      <p:ext uri="{BB962C8B-B14F-4D97-AF65-F5344CB8AC3E}">
        <p14:creationId xmlns:p14="http://schemas.microsoft.com/office/powerpoint/2010/main" val="35427389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E1898-DE3C-CBD0-74FA-185C96034866}"/>
              </a:ext>
            </a:extLst>
          </p:cNvPr>
          <p:cNvSpPr>
            <a:spLocks noGrp="1"/>
          </p:cNvSpPr>
          <p:nvPr>
            <p:ph type="title"/>
          </p:nvPr>
        </p:nvSpPr>
        <p:spPr/>
        <p:txBody>
          <a:bodyPr>
            <a:normAutofit fontScale="90000"/>
          </a:bodyPr>
          <a:lstStyle/>
          <a:p>
            <a:r>
              <a:rPr lang="en-US" b="1" dirty="0"/>
              <a:t>SQL Commands</a:t>
            </a:r>
            <a:br>
              <a:rPr lang="en-US" b="1" dirty="0"/>
            </a:br>
            <a:endParaRPr lang="en-US" dirty="0"/>
          </a:p>
        </p:txBody>
      </p:sp>
      <p:sp>
        <p:nvSpPr>
          <p:cNvPr id="3" name="Content Placeholder 2">
            <a:extLst>
              <a:ext uri="{FF2B5EF4-FFF2-40B4-BE49-F238E27FC236}">
                <a16:creationId xmlns:a16="http://schemas.microsoft.com/office/drawing/2014/main" id="{B29C5CC0-0C72-CCAD-B036-0B1C6FF3CD5A}"/>
              </a:ext>
            </a:extLst>
          </p:cNvPr>
          <p:cNvSpPr>
            <a:spLocks noGrp="1"/>
          </p:cNvSpPr>
          <p:nvPr>
            <p:ph idx="1"/>
          </p:nvPr>
        </p:nvSpPr>
        <p:spPr>
          <a:xfrm>
            <a:off x="457200" y="903288"/>
            <a:ext cx="8229600" cy="4525963"/>
          </a:xfrm>
        </p:spPr>
        <p:txBody>
          <a:bodyPr/>
          <a:lstStyle/>
          <a:p>
            <a:r>
              <a:rPr lang="en-US" dirty="0"/>
              <a:t>SQL commands are used to perform operations include creating a table, adding data to tables, dropping the table, modifying the table and set permission for users.</a:t>
            </a:r>
          </a:p>
          <a:p>
            <a:endParaRPr lang="en-US" dirty="0"/>
          </a:p>
        </p:txBody>
      </p:sp>
      <p:sp>
        <p:nvSpPr>
          <p:cNvPr id="4" name="AutoShape 2" descr="sql_commands">
            <a:extLst>
              <a:ext uri="{FF2B5EF4-FFF2-40B4-BE49-F238E27FC236}">
                <a16:creationId xmlns:a16="http://schemas.microsoft.com/office/drawing/2014/main" id="{C3367391-BB2B-1DA0-6E51-2C9BF27C370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1B2FB52A-C3E4-6734-80F9-D04EE084AA75}"/>
              </a:ext>
            </a:extLst>
          </p:cNvPr>
          <p:cNvPicPr>
            <a:picLocks noChangeAspect="1"/>
          </p:cNvPicPr>
          <p:nvPr/>
        </p:nvPicPr>
        <p:blipFill>
          <a:blip r:embed="rId2"/>
          <a:stretch>
            <a:fillRect/>
          </a:stretch>
        </p:blipFill>
        <p:spPr>
          <a:xfrm>
            <a:off x="609600" y="3048000"/>
            <a:ext cx="7620000" cy="3810000"/>
          </a:xfrm>
          <a:prstGeom prst="rect">
            <a:avLst/>
          </a:prstGeom>
        </p:spPr>
      </p:pic>
    </p:spTree>
    <p:extLst>
      <p:ext uri="{BB962C8B-B14F-4D97-AF65-F5344CB8AC3E}">
        <p14:creationId xmlns:p14="http://schemas.microsoft.com/office/powerpoint/2010/main" val="5727157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92C4E-18B1-E9CD-07C5-1BB6D126CD22}"/>
              </a:ext>
            </a:extLst>
          </p:cNvPr>
          <p:cNvSpPr>
            <a:spLocks noGrp="1"/>
          </p:cNvSpPr>
          <p:nvPr>
            <p:ph type="title"/>
          </p:nvPr>
        </p:nvSpPr>
        <p:spPr/>
        <p:txBody>
          <a:bodyPr>
            <a:normAutofit fontScale="90000"/>
          </a:bodyPr>
          <a:lstStyle/>
          <a:p>
            <a:r>
              <a:rPr lang="en-US" b="1" dirty="0"/>
              <a:t>DDL - Data Definition Language</a:t>
            </a:r>
            <a:br>
              <a:rPr lang="en-US" b="1" dirty="0"/>
            </a:br>
            <a:endParaRPr lang="en-US" dirty="0"/>
          </a:p>
        </p:txBody>
      </p:sp>
      <p:graphicFrame>
        <p:nvGraphicFramePr>
          <p:cNvPr id="4" name="Content Placeholder 3">
            <a:extLst>
              <a:ext uri="{FF2B5EF4-FFF2-40B4-BE49-F238E27FC236}">
                <a16:creationId xmlns:a16="http://schemas.microsoft.com/office/drawing/2014/main" id="{E2011D18-CF9C-9419-D281-DC5F3C798516}"/>
              </a:ext>
            </a:extLst>
          </p:cNvPr>
          <p:cNvGraphicFramePr>
            <a:graphicFrameLocks noGrp="1"/>
          </p:cNvGraphicFramePr>
          <p:nvPr>
            <p:ph idx="1"/>
            <p:extLst>
              <p:ext uri="{D42A27DB-BD31-4B8C-83A1-F6EECF244321}">
                <p14:modId xmlns:p14="http://schemas.microsoft.com/office/powerpoint/2010/main" val="4208860362"/>
              </p:ext>
            </p:extLst>
          </p:nvPr>
        </p:nvGraphicFramePr>
        <p:xfrm>
          <a:off x="457200" y="802560"/>
          <a:ext cx="8086725" cy="7513174"/>
        </p:xfrm>
        <a:graphic>
          <a:graphicData uri="http://schemas.openxmlformats.org/drawingml/2006/table">
            <a:tbl>
              <a:tblPr/>
              <a:tblGrid>
                <a:gridCol w="3276435">
                  <a:extLst>
                    <a:ext uri="{9D8B030D-6E8A-4147-A177-3AD203B41FA5}">
                      <a16:colId xmlns:a16="http://schemas.microsoft.com/office/drawing/2014/main" val="2200831797"/>
                    </a:ext>
                  </a:extLst>
                </a:gridCol>
                <a:gridCol w="2405145">
                  <a:extLst>
                    <a:ext uri="{9D8B030D-6E8A-4147-A177-3AD203B41FA5}">
                      <a16:colId xmlns:a16="http://schemas.microsoft.com/office/drawing/2014/main" val="2260718273"/>
                    </a:ext>
                  </a:extLst>
                </a:gridCol>
                <a:gridCol w="2405145">
                  <a:extLst>
                    <a:ext uri="{9D8B030D-6E8A-4147-A177-3AD203B41FA5}">
                      <a16:colId xmlns:a16="http://schemas.microsoft.com/office/drawing/2014/main" val="1537896836"/>
                    </a:ext>
                  </a:extLst>
                </a:gridCol>
              </a:tblGrid>
              <a:tr h="300451">
                <a:tc>
                  <a:txBody>
                    <a:bodyPr/>
                    <a:lstStyle/>
                    <a:p>
                      <a:pPr algn="ctr" fontAlgn="base">
                        <a:buNone/>
                      </a:pPr>
                      <a:r>
                        <a:rPr lang="en-US" sz="2000" b="1" dirty="0">
                          <a:effectLst/>
                          <a:latin typeface="Times New Roman" panose="02020603050405020304" pitchFamily="18" charset="0"/>
                          <a:cs typeface="Times New Roman" panose="02020603050405020304" pitchFamily="18" charset="0"/>
                        </a:rPr>
                        <a:t>command</a:t>
                      </a:r>
                    </a:p>
                  </a:txBody>
                  <a:tcPr marL="15436" marR="15436" marT="38591" marB="3859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2000" b="1">
                          <a:effectLst/>
                          <a:latin typeface="Times New Roman" panose="02020603050405020304" pitchFamily="18" charset="0"/>
                          <a:cs typeface="Times New Roman" panose="02020603050405020304" pitchFamily="18" charset="0"/>
                        </a:rPr>
                        <a:t>Description</a:t>
                      </a:r>
                    </a:p>
                  </a:txBody>
                  <a:tcPr marL="38591" marR="38591" marT="38591" marB="3859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2000" b="1">
                          <a:effectLst/>
                          <a:latin typeface="Times New Roman" panose="02020603050405020304" pitchFamily="18" charset="0"/>
                          <a:cs typeface="Times New Roman" panose="02020603050405020304" pitchFamily="18" charset="0"/>
                        </a:rPr>
                        <a:t>Syntax</a:t>
                      </a:r>
                    </a:p>
                  </a:txBody>
                  <a:tcPr marL="38591" marR="38591" marT="38591" marB="3859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629226060"/>
                  </a:ext>
                </a:extLst>
              </a:tr>
              <a:tr h="1194865">
                <a:tc>
                  <a:txBody>
                    <a:bodyPr/>
                    <a:lstStyle/>
                    <a:p>
                      <a:pPr algn="ctr" fontAlgn="ctr">
                        <a:buNone/>
                      </a:pPr>
                      <a:r>
                        <a:rPr lang="en-US" sz="2000" b="0" u="sng">
                          <a:solidFill>
                            <a:srgbClr val="357960"/>
                          </a:solidFill>
                          <a:effectLst/>
                          <a:latin typeface="Times New Roman" panose="02020603050405020304" pitchFamily="18" charset="0"/>
                          <a:cs typeface="Times New Roman" panose="02020603050405020304" pitchFamily="18" charset="0"/>
                          <a:hlinkClick r:id="rId2"/>
                        </a:rPr>
                        <a:t>CREATE</a:t>
                      </a:r>
                      <a:endParaRPr lang="en-US" sz="2000" b="0">
                        <a:effectLst/>
                        <a:latin typeface="Times New Roman" panose="02020603050405020304" pitchFamily="18" charset="0"/>
                        <a:cs typeface="Times New Roman" panose="02020603050405020304" pitchFamily="18" charset="0"/>
                      </a:endParaRP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2000" b="0">
                          <a:effectLst/>
                          <a:latin typeface="Times New Roman" panose="02020603050405020304" pitchFamily="18" charset="0"/>
                          <a:cs typeface="Times New Roman" panose="02020603050405020304" pitchFamily="18" charset="0"/>
                        </a:rPr>
                        <a:t>Create database or its objects (table, index, function, views, store procedure and triggers)</a:t>
                      </a: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2000" b="0">
                          <a:effectLst/>
                          <a:latin typeface="Times New Roman" panose="02020603050405020304" pitchFamily="18" charset="0"/>
                          <a:cs typeface="Times New Roman" panose="02020603050405020304" pitchFamily="18" charset="0"/>
                        </a:rPr>
                        <a:t>CREATE TABLE table_name (column1 data_type, column2 data_type, ...);</a:t>
                      </a: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82953864"/>
                  </a:ext>
                </a:extLst>
              </a:tr>
              <a:tr h="547402">
                <a:tc>
                  <a:txBody>
                    <a:bodyPr/>
                    <a:lstStyle/>
                    <a:p>
                      <a:pPr algn="ctr" fontAlgn="ctr">
                        <a:buNone/>
                      </a:pPr>
                      <a:r>
                        <a:rPr lang="en-US" sz="2000" b="0" u="sng">
                          <a:solidFill>
                            <a:srgbClr val="357960"/>
                          </a:solidFill>
                          <a:effectLst/>
                          <a:latin typeface="Times New Roman" panose="02020603050405020304" pitchFamily="18" charset="0"/>
                          <a:cs typeface="Times New Roman" panose="02020603050405020304" pitchFamily="18" charset="0"/>
                          <a:hlinkClick r:id="rId3"/>
                        </a:rPr>
                        <a:t>DROP</a:t>
                      </a:r>
                      <a:endParaRPr lang="en-US" sz="2000" b="0">
                        <a:effectLst/>
                        <a:latin typeface="Times New Roman" panose="02020603050405020304" pitchFamily="18" charset="0"/>
                        <a:cs typeface="Times New Roman" panose="02020603050405020304" pitchFamily="18" charset="0"/>
                      </a:endParaRP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2000" b="0">
                          <a:effectLst/>
                          <a:latin typeface="Times New Roman" panose="02020603050405020304" pitchFamily="18" charset="0"/>
                          <a:cs typeface="Times New Roman" panose="02020603050405020304" pitchFamily="18" charset="0"/>
                        </a:rPr>
                        <a:t>Delete objects from the database</a:t>
                      </a: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2000" b="0">
                          <a:effectLst/>
                          <a:latin typeface="Times New Roman" panose="02020603050405020304" pitchFamily="18" charset="0"/>
                          <a:cs typeface="Times New Roman" panose="02020603050405020304" pitchFamily="18" charset="0"/>
                        </a:rPr>
                        <a:t>DROP TABLE table_name;</a:t>
                      </a: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706601321"/>
                  </a:ext>
                </a:extLst>
              </a:tr>
              <a:tr h="1181249">
                <a:tc>
                  <a:txBody>
                    <a:bodyPr/>
                    <a:lstStyle/>
                    <a:p>
                      <a:pPr algn="ctr" fontAlgn="ctr">
                        <a:buNone/>
                      </a:pPr>
                      <a:r>
                        <a:rPr lang="en-US" sz="2000" b="0" u="sng">
                          <a:solidFill>
                            <a:srgbClr val="357960"/>
                          </a:solidFill>
                          <a:effectLst/>
                          <a:latin typeface="Times New Roman" panose="02020603050405020304" pitchFamily="18" charset="0"/>
                          <a:cs typeface="Times New Roman" panose="02020603050405020304" pitchFamily="18" charset="0"/>
                          <a:hlinkClick r:id="rId4"/>
                        </a:rPr>
                        <a:t>ALTER</a:t>
                      </a:r>
                      <a:endParaRPr lang="en-US" sz="2000" b="0">
                        <a:effectLst/>
                        <a:latin typeface="Times New Roman" panose="02020603050405020304" pitchFamily="18" charset="0"/>
                        <a:cs typeface="Times New Roman" panose="02020603050405020304" pitchFamily="18" charset="0"/>
                      </a:endParaRP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2000" b="0">
                          <a:effectLst/>
                          <a:latin typeface="Times New Roman" panose="02020603050405020304" pitchFamily="18" charset="0"/>
                          <a:cs typeface="Times New Roman" panose="02020603050405020304" pitchFamily="18" charset="0"/>
                        </a:rPr>
                        <a:t>Alter the structure of the database</a:t>
                      </a: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2000" b="0">
                          <a:effectLst/>
                          <a:latin typeface="Times New Roman" panose="02020603050405020304" pitchFamily="18" charset="0"/>
                          <a:cs typeface="Times New Roman" panose="02020603050405020304" pitchFamily="18" charset="0"/>
                        </a:rPr>
                        <a:t>ALTER TABLE table_name ADD COLUMN column_name data_type;</a:t>
                      </a: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24687816"/>
                  </a:ext>
                </a:extLst>
              </a:tr>
              <a:tr h="1016527">
                <a:tc>
                  <a:txBody>
                    <a:bodyPr/>
                    <a:lstStyle/>
                    <a:p>
                      <a:pPr algn="ctr" fontAlgn="ctr">
                        <a:buNone/>
                      </a:pPr>
                      <a:r>
                        <a:rPr lang="en-US" sz="2000" b="0" u="sng">
                          <a:solidFill>
                            <a:srgbClr val="357960"/>
                          </a:solidFill>
                          <a:effectLst/>
                          <a:latin typeface="Times New Roman" panose="02020603050405020304" pitchFamily="18" charset="0"/>
                          <a:cs typeface="Times New Roman" panose="02020603050405020304" pitchFamily="18" charset="0"/>
                          <a:hlinkClick r:id="rId3"/>
                        </a:rPr>
                        <a:t>TRUNCATE</a:t>
                      </a:r>
                      <a:endParaRPr lang="en-US" sz="2000" b="0">
                        <a:effectLst/>
                        <a:latin typeface="Times New Roman" panose="02020603050405020304" pitchFamily="18" charset="0"/>
                        <a:cs typeface="Times New Roman" panose="02020603050405020304" pitchFamily="18" charset="0"/>
                      </a:endParaRP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2000" b="0">
                          <a:effectLst/>
                          <a:latin typeface="Times New Roman" panose="02020603050405020304" pitchFamily="18" charset="0"/>
                          <a:cs typeface="Times New Roman" panose="02020603050405020304" pitchFamily="18" charset="0"/>
                        </a:rPr>
                        <a:t>Remove all records from a table, including all spaces allocated for the records are removed</a:t>
                      </a: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2000" b="0" dirty="0">
                          <a:effectLst/>
                          <a:latin typeface="Times New Roman" panose="02020603050405020304" pitchFamily="18" charset="0"/>
                          <a:cs typeface="Times New Roman" panose="02020603050405020304" pitchFamily="18" charset="0"/>
                        </a:rPr>
                        <a:t>TRUNCATE TABLE </a:t>
                      </a:r>
                      <a:r>
                        <a:rPr lang="en-US" sz="2000" b="0" dirty="0" err="1">
                          <a:effectLst/>
                          <a:latin typeface="Times New Roman" panose="02020603050405020304" pitchFamily="18" charset="0"/>
                          <a:cs typeface="Times New Roman" panose="02020603050405020304" pitchFamily="18" charset="0"/>
                        </a:rPr>
                        <a:t>table_name</a:t>
                      </a:r>
                      <a:r>
                        <a:rPr lang="en-US" sz="2000" b="0" dirty="0">
                          <a:effectLst/>
                          <a:latin typeface="Times New Roman" panose="02020603050405020304" pitchFamily="18" charset="0"/>
                          <a:cs typeface="Times New Roman" panose="02020603050405020304" pitchFamily="18" charset="0"/>
                        </a:rPr>
                        <a:t>;</a:t>
                      </a: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1653750"/>
                  </a:ext>
                </a:extLst>
              </a:tr>
              <a:tr h="758684">
                <a:tc>
                  <a:txBody>
                    <a:bodyPr/>
                    <a:lstStyle/>
                    <a:p>
                      <a:pPr algn="ctr" fontAlgn="ctr">
                        <a:buNone/>
                      </a:pPr>
                      <a:endParaRPr lang="en-US" sz="2400" b="0" dirty="0">
                        <a:effectLst/>
                        <a:latin typeface="Times New Roman" panose="02020603050405020304" pitchFamily="18" charset="0"/>
                        <a:cs typeface="Times New Roman" panose="02020603050405020304" pitchFamily="18" charset="0"/>
                      </a:endParaRP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endParaRPr lang="en-US" sz="2000" b="0" dirty="0">
                        <a:effectLst/>
                        <a:latin typeface="Times New Roman" panose="02020603050405020304" pitchFamily="18" charset="0"/>
                        <a:cs typeface="Times New Roman" panose="02020603050405020304" pitchFamily="18" charset="0"/>
                      </a:endParaRP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endParaRPr lang="en-US" sz="2000" b="0">
                        <a:effectLst/>
                        <a:latin typeface="Times New Roman" panose="02020603050405020304" pitchFamily="18" charset="0"/>
                        <a:cs typeface="Times New Roman" panose="02020603050405020304" pitchFamily="18" charset="0"/>
                      </a:endParaRP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790396246"/>
                  </a:ext>
                </a:extLst>
              </a:tr>
              <a:tr h="758684">
                <a:tc>
                  <a:txBody>
                    <a:bodyPr/>
                    <a:lstStyle/>
                    <a:p>
                      <a:pPr algn="ctr" fontAlgn="ctr">
                        <a:buNone/>
                      </a:pPr>
                      <a:endParaRPr lang="en-US" sz="2000" b="0">
                        <a:effectLst/>
                        <a:latin typeface="Times New Roman" panose="02020603050405020304" pitchFamily="18" charset="0"/>
                        <a:cs typeface="Times New Roman" panose="02020603050405020304" pitchFamily="18" charset="0"/>
                      </a:endParaRP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endParaRPr lang="en-US" sz="2000" b="0" dirty="0">
                        <a:effectLst/>
                        <a:latin typeface="Times New Roman" panose="02020603050405020304" pitchFamily="18" charset="0"/>
                        <a:cs typeface="Times New Roman" panose="02020603050405020304" pitchFamily="18" charset="0"/>
                      </a:endParaRP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endParaRPr lang="en-US" sz="2000" b="0" dirty="0">
                        <a:effectLst/>
                        <a:latin typeface="Times New Roman" panose="02020603050405020304" pitchFamily="18" charset="0"/>
                        <a:cs typeface="Times New Roman" panose="02020603050405020304" pitchFamily="18" charset="0"/>
                      </a:endParaRPr>
                    </a:p>
                  </a:txBody>
                  <a:tcPr marL="38591" marR="38591" marT="54028" marB="5402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86279262"/>
                  </a:ext>
                </a:extLst>
              </a:tr>
            </a:tbl>
          </a:graphicData>
        </a:graphic>
      </p:graphicFrame>
    </p:spTree>
    <p:extLst>
      <p:ext uri="{BB962C8B-B14F-4D97-AF65-F5344CB8AC3E}">
        <p14:creationId xmlns:p14="http://schemas.microsoft.com/office/powerpoint/2010/main" val="37459959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914B8-905B-962D-BACA-83760A3BB594}"/>
              </a:ext>
            </a:extLst>
          </p:cNvPr>
          <p:cNvSpPr>
            <a:spLocks noGrp="1"/>
          </p:cNvSpPr>
          <p:nvPr>
            <p:ph type="title"/>
          </p:nvPr>
        </p:nvSpPr>
        <p:spPr/>
        <p:txBody>
          <a:bodyPr>
            <a:normAutofit fontScale="90000"/>
          </a:bodyPr>
          <a:lstStyle/>
          <a:p>
            <a:r>
              <a:rPr lang="en-US" b="1" dirty="0"/>
              <a:t>DML - Data Manipulation Language</a:t>
            </a:r>
            <a:br>
              <a:rPr lang="en-US" b="1" dirty="0"/>
            </a:br>
            <a:endParaRPr lang="en-US" dirty="0"/>
          </a:p>
        </p:txBody>
      </p:sp>
      <p:sp>
        <p:nvSpPr>
          <p:cNvPr id="3" name="Content Placeholder 2">
            <a:extLst>
              <a:ext uri="{FF2B5EF4-FFF2-40B4-BE49-F238E27FC236}">
                <a16:creationId xmlns:a16="http://schemas.microsoft.com/office/drawing/2014/main" id="{70CAE494-E40A-CA42-00C0-2D213D077D8B}"/>
              </a:ext>
            </a:extLst>
          </p:cNvPr>
          <p:cNvSpPr>
            <a:spLocks noGrp="1"/>
          </p:cNvSpPr>
          <p:nvPr>
            <p:ph idx="1"/>
          </p:nvPr>
        </p:nvSpPr>
        <p:spPr/>
        <p:txBody>
          <a:bodyPr/>
          <a:lstStyle/>
          <a:p>
            <a:r>
              <a:rPr lang="en-US" dirty="0"/>
              <a:t>With DML, you can insert new records, update existing ones, delete unwanted data or retrieve information.</a:t>
            </a:r>
          </a:p>
          <a:p>
            <a:endParaRPr lang="en-US" dirty="0"/>
          </a:p>
        </p:txBody>
      </p:sp>
      <p:graphicFrame>
        <p:nvGraphicFramePr>
          <p:cNvPr id="4" name="Table 3">
            <a:extLst>
              <a:ext uri="{FF2B5EF4-FFF2-40B4-BE49-F238E27FC236}">
                <a16:creationId xmlns:a16="http://schemas.microsoft.com/office/drawing/2014/main" id="{C2A6F9F2-69F8-75E2-3D54-6F4BFB69F253}"/>
              </a:ext>
            </a:extLst>
          </p:cNvPr>
          <p:cNvGraphicFramePr>
            <a:graphicFrameLocks noGrp="1"/>
          </p:cNvGraphicFramePr>
          <p:nvPr>
            <p:extLst>
              <p:ext uri="{D42A27DB-BD31-4B8C-83A1-F6EECF244321}">
                <p14:modId xmlns:p14="http://schemas.microsoft.com/office/powerpoint/2010/main" val="1374943504"/>
              </p:ext>
            </p:extLst>
          </p:nvPr>
        </p:nvGraphicFramePr>
        <p:xfrm>
          <a:off x="300037" y="3368516"/>
          <a:ext cx="8229600" cy="3215640"/>
        </p:xfrm>
        <a:graphic>
          <a:graphicData uri="http://schemas.openxmlformats.org/drawingml/2006/table">
            <a:tbl>
              <a:tblPr/>
              <a:tblGrid>
                <a:gridCol w="2628900">
                  <a:extLst>
                    <a:ext uri="{9D8B030D-6E8A-4147-A177-3AD203B41FA5}">
                      <a16:colId xmlns:a16="http://schemas.microsoft.com/office/drawing/2014/main" val="3579955929"/>
                    </a:ext>
                  </a:extLst>
                </a:gridCol>
                <a:gridCol w="2857500">
                  <a:extLst>
                    <a:ext uri="{9D8B030D-6E8A-4147-A177-3AD203B41FA5}">
                      <a16:colId xmlns:a16="http://schemas.microsoft.com/office/drawing/2014/main" val="851612319"/>
                    </a:ext>
                  </a:extLst>
                </a:gridCol>
                <a:gridCol w="2743200">
                  <a:extLst>
                    <a:ext uri="{9D8B030D-6E8A-4147-A177-3AD203B41FA5}">
                      <a16:colId xmlns:a16="http://schemas.microsoft.com/office/drawing/2014/main" val="2852323303"/>
                    </a:ext>
                  </a:extLst>
                </a:gridCol>
              </a:tblGrid>
              <a:tr h="0">
                <a:tc>
                  <a:txBody>
                    <a:bodyPr/>
                    <a:lstStyle/>
                    <a:p>
                      <a:pPr algn="ctr" fontAlgn="base">
                        <a:buNone/>
                      </a:pPr>
                      <a:r>
                        <a:rPr lang="en-US" sz="1800" b="1">
                          <a:effectLst/>
                          <a:latin typeface="Times New Roman" panose="02020603050405020304" pitchFamily="18" charset="0"/>
                          <a:cs typeface="Times New Roman" panose="02020603050405020304" pitchFamily="18" charset="0"/>
                        </a:rPr>
                        <a:t>Command</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800" b="1">
                          <a:effectLst/>
                          <a:latin typeface="Times New Roman" panose="02020603050405020304" pitchFamily="18" charset="0"/>
                          <a:cs typeface="Times New Roman" panose="02020603050405020304" pitchFamily="18" charset="0"/>
                        </a:rPr>
                        <a:t>Description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800" b="1">
                          <a:effectLst/>
                          <a:latin typeface="Times New Roman" panose="02020603050405020304" pitchFamily="18" charset="0"/>
                          <a:cs typeface="Times New Roman" panose="02020603050405020304" pitchFamily="18" charset="0"/>
                        </a:rPr>
                        <a:t>Syntax</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178042724"/>
                  </a:ext>
                </a:extLst>
              </a:tr>
              <a:tr h="0">
                <a:tc>
                  <a:txBody>
                    <a:bodyPr/>
                    <a:lstStyle/>
                    <a:p>
                      <a:pPr algn="ctr" fontAlgn="ctr">
                        <a:buNone/>
                      </a:pPr>
                      <a:r>
                        <a:rPr lang="en-US" sz="1600" b="0" u="sng">
                          <a:solidFill>
                            <a:srgbClr val="357960"/>
                          </a:solidFill>
                          <a:effectLst/>
                          <a:latin typeface="Times New Roman" panose="02020603050405020304" pitchFamily="18" charset="0"/>
                          <a:cs typeface="Times New Roman" panose="02020603050405020304" pitchFamily="18" charset="0"/>
                          <a:hlinkClick r:id="rId2"/>
                        </a:rPr>
                        <a:t>INSERT</a:t>
                      </a:r>
                      <a:endParaRPr lang="en-US" sz="1600" b="0">
                        <a:effectLst/>
                        <a:latin typeface="Times New Roman" panose="02020603050405020304" pitchFamily="18" charset="0"/>
                        <a:cs typeface="Times New Roman" panose="02020603050405020304" pitchFamily="18" charset="0"/>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a:effectLst/>
                          <a:latin typeface="Times New Roman" panose="02020603050405020304" pitchFamily="18" charset="0"/>
                          <a:cs typeface="Times New Roman" panose="02020603050405020304" pitchFamily="18" charset="0"/>
                        </a:rPr>
                        <a:t>Insert data into a table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a:effectLst/>
                          <a:latin typeface="Times New Roman" panose="02020603050405020304" pitchFamily="18" charset="0"/>
                          <a:cs typeface="Times New Roman" panose="02020603050405020304" pitchFamily="18" charset="0"/>
                        </a:rPr>
                        <a:t>INSERT INTO table_name (column1, column2, ...) VALUES (value1, value2,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973966324"/>
                  </a:ext>
                </a:extLst>
              </a:tr>
              <a:tr h="0">
                <a:tc>
                  <a:txBody>
                    <a:bodyPr/>
                    <a:lstStyle/>
                    <a:p>
                      <a:pPr algn="ctr" fontAlgn="ctr">
                        <a:buNone/>
                      </a:pPr>
                      <a:r>
                        <a:rPr lang="en-US" sz="1600" b="0" u="sng">
                          <a:solidFill>
                            <a:srgbClr val="357960"/>
                          </a:solidFill>
                          <a:effectLst/>
                          <a:latin typeface="Times New Roman" panose="02020603050405020304" pitchFamily="18" charset="0"/>
                          <a:cs typeface="Times New Roman" panose="02020603050405020304" pitchFamily="18" charset="0"/>
                          <a:hlinkClick r:id="rId3"/>
                        </a:rPr>
                        <a:t>UPDATE</a:t>
                      </a:r>
                      <a:endParaRPr lang="en-US" sz="1600" b="0">
                        <a:effectLst/>
                        <a:latin typeface="Times New Roman" panose="02020603050405020304" pitchFamily="18" charset="0"/>
                        <a:cs typeface="Times New Roman" panose="02020603050405020304" pitchFamily="18" charset="0"/>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a:effectLst/>
                          <a:latin typeface="Times New Roman" panose="02020603050405020304" pitchFamily="18" charset="0"/>
                          <a:cs typeface="Times New Roman" panose="02020603050405020304" pitchFamily="18" charset="0"/>
                        </a:rPr>
                        <a:t>Update existing data within a table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a:effectLst/>
                          <a:latin typeface="Times New Roman" panose="02020603050405020304" pitchFamily="18" charset="0"/>
                          <a:cs typeface="Times New Roman" panose="02020603050405020304" pitchFamily="18" charset="0"/>
                        </a:rPr>
                        <a:t>UPDATE table_name SET column1 = value1, column2 = value2 WHERE condition;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52432727"/>
                  </a:ext>
                </a:extLst>
              </a:tr>
              <a:tr h="0">
                <a:tc>
                  <a:txBody>
                    <a:bodyPr/>
                    <a:lstStyle/>
                    <a:p>
                      <a:pPr algn="ctr" fontAlgn="ctr">
                        <a:buNone/>
                      </a:pPr>
                      <a:r>
                        <a:rPr lang="en-US" sz="1600" b="0" u="sng">
                          <a:solidFill>
                            <a:srgbClr val="357960"/>
                          </a:solidFill>
                          <a:effectLst/>
                          <a:latin typeface="Times New Roman" panose="02020603050405020304" pitchFamily="18" charset="0"/>
                          <a:cs typeface="Times New Roman" panose="02020603050405020304" pitchFamily="18" charset="0"/>
                          <a:hlinkClick r:id="rId4"/>
                        </a:rPr>
                        <a:t>DELETE</a:t>
                      </a:r>
                      <a:endParaRPr lang="en-US" sz="1600" b="0">
                        <a:effectLst/>
                        <a:latin typeface="Times New Roman" panose="02020603050405020304" pitchFamily="18" charset="0"/>
                        <a:cs typeface="Times New Roman" panose="02020603050405020304" pitchFamily="18" charset="0"/>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a:effectLst/>
                          <a:latin typeface="Times New Roman" panose="02020603050405020304" pitchFamily="18" charset="0"/>
                          <a:cs typeface="Times New Roman" panose="02020603050405020304" pitchFamily="18" charset="0"/>
                        </a:rPr>
                        <a:t>Delete records from a database table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dirty="0">
                          <a:effectLst/>
                          <a:latin typeface="Times New Roman" panose="02020603050405020304" pitchFamily="18" charset="0"/>
                          <a:cs typeface="Times New Roman" panose="02020603050405020304" pitchFamily="18" charset="0"/>
                        </a:rPr>
                        <a:t>DELETE FROM </a:t>
                      </a:r>
                      <a:r>
                        <a:rPr lang="en-US" sz="1600" b="0" dirty="0" err="1">
                          <a:effectLst/>
                          <a:latin typeface="Times New Roman" panose="02020603050405020304" pitchFamily="18" charset="0"/>
                          <a:cs typeface="Times New Roman" panose="02020603050405020304" pitchFamily="18" charset="0"/>
                        </a:rPr>
                        <a:t>table_name</a:t>
                      </a:r>
                      <a:r>
                        <a:rPr lang="en-US" sz="1600" b="0" dirty="0">
                          <a:effectLst/>
                          <a:latin typeface="Times New Roman" panose="02020603050405020304" pitchFamily="18" charset="0"/>
                          <a:cs typeface="Times New Roman" panose="02020603050405020304" pitchFamily="18" charset="0"/>
                        </a:rPr>
                        <a:t> WHERE condition;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784552134"/>
                  </a:ext>
                </a:extLst>
              </a:tr>
            </a:tbl>
          </a:graphicData>
        </a:graphic>
      </p:graphicFrame>
    </p:spTree>
    <p:extLst>
      <p:ext uri="{BB962C8B-B14F-4D97-AF65-F5344CB8AC3E}">
        <p14:creationId xmlns:p14="http://schemas.microsoft.com/office/powerpoint/2010/main" val="76764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E9B1E-7904-9381-4702-29166CEC4335}"/>
              </a:ext>
            </a:extLst>
          </p:cNvPr>
          <p:cNvSpPr>
            <a:spLocks noGrp="1"/>
          </p:cNvSpPr>
          <p:nvPr>
            <p:ph type="title"/>
          </p:nvPr>
        </p:nvSpPr>
        <p:spPr/>
        <p:txBody>
          <a:bodyPr>
            <a:normAutofit fontScale="90000"/>
          </a:bodyPr>
          <a:lstStyle/>
          <a:p>
            <a:r>
              <a:rPr lang="en-US" b="1" dirty="0"/>
              <a:t>DQL - Data Query Language</a:t>
            </a:r>
            <a:br>
              <a:rPr lang="en-US" b="1" dirty="0"/>
            </a:br>
            <a:endParaRPr lang="en-US" dirty="0"/>
          </a:p>
        </p:txBody>
      </p:sp>
      <p:sp>
        <p:nvSpPr>
          <p:cNvPr id="3" name="Content Placeholder 2">
            <a:extLst>
              <a:ext uri="{FF2B5EF4-FFF2-40B4-BE49-F238E27FC236}">
                <a16:creationId xmlns:a16="http://schemas.microsoft.com/office/drawing/2014/main" id="{4EDBA466-31DF-4CD4-FF74-83DA7790F8DF}"/>
              </a:ext>
            </a:extLst>
          </p:cNvPr>
          <p:cNvSpPr>
            <a:spLocks noGrp="1"/>
          </p:cNvSpPr>
          <p:nvPr>
            <p:ph idx="1"/>
          </p:nvPr>
        </p:nvSpPr>
        <p:spPr/>
        <p:txBody>
          <a:bodyPr/>
          <a:lstStyle/>
          <a:p>
            <a:r>
              <a:rPr lang="en-US" dirty="0"/>
              <a:t>DQL is used to fetch data from the database. </a:t>
            </a:r>
          </a:p>
          <a:p>
            <a:endParaRPr lang="en-US" dirty="0"/>
          </a:p>
          <a:p>
            <a:endParaRPr lang="en-US" dirty="0"/>
          </a:p>
        </p:txBody>
      </p:sp>
      <p:graphicFrame>
        <p:nvGraphicFramePr>
          <p:cNvPr id="4" name="Table 3">
            <a:extLst>
              <a:ext uri="{FF2B5EF4-FFF2-40B4-BE49-F238E27FC236}">
                <a16:creationId xmlns:a16="http://schemas.microsoft.com/office/drawing/2014/main" id="{5A3C5B78-9B83-D053-14FE-CEEBF1DFC9A8}"/>
              </a:ext>
            </a:extLst>
          </p:cNvPr>
          <p:cNvGraphicFramePr>
            <a:graphicFrameLocks noGrp="1"/>
          </p:cNvGraphicFramePr>
          <p:nvPr>
            <p:extLst>
              <p:ext uri="{D42A27DB-BD31-4B8C-83A1-F6EECF244321}">
                <p14:modId xmlns:p14="http://schemas.microsoft.com/office/powerpoint/2010/main" val="3308147043"/>
              </p:ext>
            </p:extLst>
          </p:nvPr>
        </p:nvGraphicFramePr>
        <p:xfrm>
          <a:off x="1143000" y="1628615"/>
          <a:ext cx="7272339" cy="3708400"/>
        </p:xfrm>
        <a:graphic>
          <a:graphicData uri="http://schemas.openxmlformats.org/drawingml/2006/table">
            <a:tbl>
              <a:tblPr/>
              <a:tblGrid>
                <a:gridCol w="2424113">
                  <a:extLst>
                    <a:ext uri="{9D8B030D-6E8A-4147-A177-3AD203B41FA5}">
                      <a16:colId xmlns:a16="http://schemas.microsoft.com/office/drawing/2014/main" val="2783419598"/>
                    </a:ext>
                  </a:extLst>
                </a:gridCol>
                <a:gridCol w="2424113">
                  <a:extLst>
                    <a:ext uri="{9D8B030D-6E8A-4147-A177-3AD203B41FA5}">
                      <a16:colId xmlns:a16="http://schemas.microsoft.com/office/drawing/2014/main" val="2559910583"/>
                    </a:ext>
                  </a:extLst>
                </a:gridCol>
                <a:gridCol w="2424113">
                  <a:extLst>
                    <a:ext uri="{9D8B030D-6E8A-4147-A177-3AD203B41FA5}">
                      <a16:colId xmlns:a16="http://schemas.microsoft.com/office/drawing/2014/main" val="3788222366"/>
                    </a:ext>
                  </a:extLst>
                </a:gridCol>
              </a:tblGrid>
              <a:tr h="352925">
                <a:tc>
                  <a:txBody>
                    <a:bodyPr/>
                    <a:lstStyle/>
                    <a:p>
                      <a:pPr algn="ctr" fontAlgn="base">
                        <a:buNone/>
                      </a:pPr>
                      <a:r>
                        <a:rPr lang="en-US" sz="1800" b="1" dirty="0">
                          <a:effectLst/>
                          <a:latin typeface="Nunito" pitchFamily="2" charset="0"/>
                        </a:rPr>
                        <a:t>Command</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800" b="1">
                          <a:effectLst/>
                          <a:latin typeface="Nunito" pitchFamily="2" charset="0"/>
                        </a:rPr>
                        <a:t>Description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800" b="1">
                          <a:effectLst/>
                          <a:latin typeface="Nunito" pitchFamily="2" charset="0"/>
                        </a:rPr>
                        <a:t>Syntax</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794940896"/>
                  </a:ext>
                </a:extLst>
              </a:tr>
              <a:tr h="2277088">
                <a:tc>
                  <a:txBody>
                    <a:bodyPr/>
                    <a:lstStyle/>
                    <a:p>
                      <a:pPr algn="ctr" rtl="0" fontAlgn="base">
                        <a:spcAft>
                          <a:spcPts val="750"/>
                        </a:spcAft>
                        <a:buNone/>
                      </a:pPr>
                      <a:r>
                        <a:rPr lang="en-US" sz="2000" b="0" u="sng" dirty="0">
                          <a:solidFill>
                            <a:srgbClr val="357960"/>
                          </a:solidFill>
                          <a:effectLst/>
                          <a:latin typeface="Nunito" pitchFamily="2" charset="0"/>
                          <a:hlinkClick r:id="rId2"/>
                        </a:rPr>
                        <a:t>SELECT</a:t>
                      </a:r>
                      <a:endParaRPr lang="en-US" sz="1800" b="0" dirty="0">
                        <a:effectLst/>
                        <a:latin typeface="Nunito" pitchFamily="2" charset="0"/>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spcAft>
                          <a:spcPts val="750"/>
                        </a:spcAft>
                        <a:buNone/>
                      </a:pPr>
                      <a:r>
                        <a:rPr lang="en-US" sz="1800" b="0" dirty="0">
                          <a:effectLst/>
                          <a:latin typeface="Nunito" pitchFamily="2" charset="0"/>
                        </a:rPr>
                        <a:t>It is used to retrieve data from the database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spcAft>
                          <a:spcPts val="750"/>
                        </a:spcAft>
                        <a:buNone/>
                      </a:pPr>
                      <a:endParaRPr lang="en-US" sz="1800" b="0" dirty="0">
                        <a:effectLst/>
                        <a:latin typeface="Nunito" pitchFamily="2" charset="0"/>
                      </a:endParaRPr>
                    </a:p>
                    <a:p>
                      <a:pPr algn="ctr" rtl="0" fontAlgn="base">
                        <a:spcAft>
                          <a:spcPts val="750"/>
                        </a:spcAft>
                        <a:buNone/>
                      </a:pPr>
                      <a:endParaRPr lang="en-US" sz="1800" b="0" dirty="0">
                        <a:effectLst/>
                        <a:latin typeface="Nunito" pitchFamily="2" charset="0"/>
                      </a:endParaRPr>
                    </a:p>
                    <a:p>
                      <a:pPr algn="ctr" rtl="0" fontAlgn="base">
                        <a:spcAft>
                          <a:spcPts val="750"/>
                        </a:spcAft>
                        <a:buNone/>
                      </a:pPr>
                      <a:endParaRPr lang="en-US" sz="1800" b="0" dirty="0">
                        <a:effectLst/>
                        <a:latin typeface="Nunito" pitchFamily="2" charset="0"/>
                      </a:endParaRPr>
                    </a:p>
                    <a:p>
                      <a:pPr algn="ctr" rtl="0" fontAlgn="base">
                        <a:spcAft>
                          <a:spcPts val="750"/>
                        </a:spcAft>
                        <a:buNone/>
                      </a:pPr>
                      <a:r>
                        <a:rPr lang="en-US" sz="1800" b="0" dirty="0">
                          <a:effectLst/>
                          <a:latin typeface="Nunito" pitchFamily="2" charset="0"/>
                        </a:rPr>
                        <a:t>SELECT column1, column2, ...FROM </a:t>
                      </a:r>
                      <a:r>
                        <a:rPr lang="en-US" sz="1800" b="0" dirty="0" err="1">
                          <a:effectLst/>
                          <a:latin typeface="Nunito" pitchFamily="2" charset="0"/>
                        </a:rPr>
                        <a:t>table_name</a:t>
                      </a:r>
                      <a:r>
                        <a:rPr lang="en-US" sz="1800" b="0" dirty="0">
                          <a:effectLst/>
                          <a:latin typeface="Nunito" pitchFamily="2" charset="0"/>
                        </a:rPr>
                        <a:t> WHERE condition;</a:t>
                      </a:r>
                      <a:endParaRPr lang="en-US" sz="1800" b="0" kern="1200" dirty="0">
                        <a:solidFill>
                          <a:schemeClr val="tx1"/>
                        </a:solidFill>
                        <a:effectLst/>
                        <a:latin typeface="Nunito" pitchFamily="2" charset="0"/>
                        <a:ea typeface="+mn-ea"/>
                        <a:cs typeface="+mn-cs"/>
                      </a:endParaRPr>
                    </a:p>
                    <a:p>
                      <a:pPr algn="ctr" rtl="0" fontAlgn="base">
                        <a:spcAft>
                          <a:spcPts val="750"/>
                        </a:spcAft>
                        <a:buNone/>
                      </a:pPr>
                      <a:endParaRPr lang="en-US" sz="1800" b="0" kern="1200" dirty="0">
                        <a:solidFill>
                          <a:schemeClr val="tx1"/>
                        </a:solidFill>
                        <a:effectLst/>
                        <a:latin typeface="Nunito" pitchFamily="2" charset="0"/>
                        <a:ea typeface="+mn-ea"/>
                        <a:cs typeface="+mn-cs"/>
                      </a:endParaRPr>
                    </a:p>
                    <a:p>
                      <a:pPr algn="ctr" rtl="0" fontAlgn="base">
                        <a:spcAft>
                          <a:spcPts val="750"/>
                        </a:spcAft>
                        <a:buNone/>
                      </a:pPr>
                      <a:endParaRPr lang="en-US" sz="1800" b="0" dirty="0">
                        <a:effectLst/>
                        <a:latin typeface="Nunito" pitchFamily="2" charset="0"/>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08242343"/>
                  </a:ext>
                </a:extLst>
              </a:tr>
            </a:tbl>
          </a:graphicData>
        </a:graphic>
      </p:graphicFrame>
      <p:sp>
        <p:nvSpPr>
          <p:cNvPr id="6" name="TextBox 5">
            <a:extLst>
              <a:ext uri="{FF2B5EF4-FFF2-40B4-BE49-F238E27FC236}">
                <a16:creationId xmlns:a16="http://schemas.microsoft.com/office/drawing/2014/main" id="{E5C8FEA6-E030-A474-B1B1-25DFEA9CB6E6}"/>
              </a:ext>
            </a:extLst>
          </p:cNvPr>
          <p:cNvSpPr txBox="1"/>
          <p:nvPr/>
        </p:nvSpPr>
        <p:spPr>
          <a:xfrm>
            <a:off x="1964531" y="4475200"/>
            <a:ext cx="6236494" cy="646331"/>
          </a:xfrm>
          <a:prstGeom prst="rect">
            <a:avLst/>
          </a:prstGeom>
          <a:noFill/>
        </p:spPr>
        <p:txBody>
          <a:bodyPr wrap="square">
            <a:spAutoFit/>
          </a:bodyPr>
          <a:lstStyle/>
          <a:p>
            <a:endParaRPr lang="en-US" sz="1800" kern="1200" dirty="0">
              <a:solidFill>
                <a:schemeClr val="tx1"/>
              </a:solidFill>
              <a:effectLst/>
              <a:latin typeface="+mn-lt"/>
              <a:ea typeface="+mn-ea"/>
              <a:cs typeface="+mn-cs"/>
            </a:endParaRPr>
          </a:p>
          <a:p>
            <a:r>
              <a:rPr lang="en-US" sz="1800" kern="1200" dirty="0">
                <a:solidFill>
                  <a:schemeClr val="tx1"/>
                </a:solidFill>
                <a:effectLst/>
                <a:latin typeface="+mn-lt"/>
                <a:ea typeface="+mn-ea"/>
                <a:cs typeface="+mn-cs"/>
              </a:rPr>
              <a:t>SELECT * FROM </a:t>
            </a:r>
            <a:r>
              <a:rPr lang="en-US" sz="1800" kern="1200" dirty="0" err="1">
                <a:solidFill>
                  <a:schemeClr val="tx1"/>
                </a:solidFill>
                <a:effectLst/>
                <a:latin typeface="+mn-lt"/>
                <a:ea typeface="+mn-ea"/>
                <a:cs typeface="+mn-cs"/>
              </a:rPr>
              <a:t>table_name</a:t>
            </a:r>
            <a:r>
              <a:rPr lang="en-US" sz="180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22769632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C4305-8B6A-DD7D-08FA-05D073EFCBFE}"/>
              </a:ext>
            </a:extLst>
          </p:cNvPr>
          <p:cNvSpPr>
            <a:spLocks noGrp="1"/>
          </p:cNvSpPr>
          <p:nvPr>
            <p:ph type="title"/>
          </p:nvPr>
        </p:nvSpPr>
        <p:spPr/>
        <p:txBody>
          <a:bodyPr>
            <a:normAutofit fontScale="90000"/>
          </a:bodyPr>
          <a:lstStyle/>
          <a:p>
            <a:r>
              <a:rPr lang="en-US" b="1" dirty="0"/>
              <a:t>DCL - Data Control Language</a:t>
            </a:r>
            <a:br>
              <a:rPr lang="en-US" b="1" dirty="0"/>
            </a:br>
            <a:endParaRPr lang="en-US" dirty="0"/>
          </a:p>
        </p:txBody>
      </p:sp>
      <p:sp>
        <p:nvSpPr>
          <p:cNvPr id="3" name="Content Placeholder 2">
            <a:extLst>
              <a:ext uri="{FF2B5EF4-FFF2-40B4-BE49-F238E27FC236}">
                <a16:creationId xmlns:a16="http://schemas.microsoft.com/office/drawing/2014/main" id="{99FD66CA-213B-97E9-BD96-7496E5AAF780}"/>
              </a:ext>
            </a:extLst>
          </p:cNvPr>
          <p:cNvSpPr>
            <a:spLocks noGrp="1"/>
          </p:cNvSpPr>
          <p:nvPr>
            <p:ph idx="1"/>
          </p:nvPr>
        </p:nvSpPr>
        <p:spPr/>
        <p:txBody>
          <a:bodyPr>
            <a:normAutofit/>
          </a:bodyPr>
          <a:lstStyle/>
          <a:p>
            <a:r>
              <a:rPr lang="en-US" sz="2400" dirty="0"/>
              <a:t>DCL (Data Control Language) includes commands such as GRANT and REVOKE which mainly deal with the rights, permissions and other controls of the database system. </a:t>
            </a:r>
          </a:p>
          <a:p>
            <a:endParaRPr lang="en-US" sz="2400" dirty="0"/>
          </a:p>
        </p:txBody>
      </p:sp>
      <p:graphicFrame>
        <p:nvGraphicFramePr>
          <p:cNvPr id="4" name="Table 3">
            <a:extLst>
              <a:ext uri="{FF2B5EF4-FFF2-40B4-BE49-F238E27FC236}">
                <a16:creationId xmlns:a16="http://schemas.microsoft.com/office/drawing/2014/main" id="{50187DF6-BFAF-5BFC-32F8-CEB4C4C3124A}"/>
              </a:ext>
            </a:extLst>
          </p:cNvPr>
          <p:cNvGraphicFramePr>
            <a:graphicFrameLocks noGrp="1"/>
          </p:cNvGraphicFramePr>
          <p:nvPr>
            <p:extLst>
              <p:ext uri="{D42A27DB-BD31-4B8C-83A1-F6EECF244321}">
                <p14:modId xmlns:p14="http://schemas.microsoft.com/office/powerpoint/2010/main" val="4016598063"/>
              </p:ext>
            </p:extLst>
          </p:nvPr>
        </p:nvGraphicFramePr>
        <p:xfrm>
          <a:off x="457200" y="2900363"/>
          <a:ext cx="8043862" cy="3821758"/>
        </p:xfrm>
        <a:graphic>
          <a:graphicData uri="http://schemas.openxmlformats.org/drawingml/2006/table">
            <a:tbl>
              <a:tblPr/>
              <a:tblGrid>
                <a:gridCol w="3259064">
                  <a:extLst>
                    <a:ext uri="{9D8B030D-6E8A-4147-A177-3AD203B41FA5}">
                      <a16:colId xmlns:a16="http://schemas.microsoft.com/office/drawing/2014/main" val="2769638808"/>
                    </a:ext>
                  </a:extLst>
                </a:gridCol>
                <a:gridCol w="2392399">
                  <a:extLst>
                    <a:ext uri="{9D8B030D-6E8A-4147-A177-3AD203B41FA5}">
                      <a16:colId xmlns:a16="http://schemas.microsoft.com/office/drawing/2014/main" val="3469549046"/>
                    </a:ext>
                  </a:extLst>
                </a:gridCol>
                <a:gridCol w="2392399">
                  <a:extLst>
                    <a:ext uri="{9D8B030D-6E8A-4147-A177-3AD203B41FA5}">
                      <a16:colId xmlns:a16="http://schemas.microsoft.com/office/drawing/2014/main" val="1245980528"/>
                    </a:ext>
                  </a:extLst>
                </a:gridCol>
              </a:tblGrid>
              <a:tr h="379799">
                <a:tc>
                  <a:txBody>
                    <a:bodyPr/>
                    <a:lstStyle/>
                    <a:p>
                      <a:pPr algn="ctr" fontAlgn="base">
                        <a:buNone/>
                      </a:pPr>
                      <a:r>
                        <a:rPr lang="en-US" sz="1800" b="1">
                          <a:effectLst/>
                          <a:latin typeface="Nunito" pitchFamily="2" charset="0"/>
                        </a:rPr>
                        <a:t>Command</a:t>
                      </a:r>
                    </a:p>
                  </a:txBody>
                  <a:tcPr marL="26592" marR="26592" marT="66480" marB="664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800" b="1">
                          <a:effectLst/>
                          <a:latin typeface="Nunito" pitchFamily="2" charset="0"/>
                        </a:rPr>
                        <a:t>Description</a:t>
                      </a:r>
                    </a:p>
                  </a:txBody>
                  <a:tcPr marL="66480" marR="66480" marT="66480" marB="664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800" b="1">
                          <a:effectLst/>
                          <a:latin typeface="Nunito" pitchFamily="2" charset="0"/>
                        </a:rPr>
                        <a:t>Syntax</a:t>
                      </a:r>
                    </a:p>
                  </a:txBody>
                  <a:tcPr marL="66480" marR="66480" marT="66480" marB="664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847533859"/>
                  </a:ext>
                </a:extLst>
              </a:tr>
              <a:tr h="1537906">
                <a:tc>
                  <a:txBody>
                    <a:bodyPr/>
                    <a:lstStyle/>
                    <a:p>
                      <a:pPr algn="ctr" fontAlgn="ctr">
                        <a:buNone/>
                      </a:pPr>
                      <a:r>
                        <a:rPr lang="en-US" sz="1600" b="0" dirty="0">
                          <a:effectLst/>
                          <a:latin typeface="Nunito" pitchFamily="2" charset="0"/>
                        </a:rPr>
                        <a:t>GRANT</a:t>
                      </a:r>
                    </a:p>
                  </a:txBody>
                  <a:tcPr marL="66480" marR="66480" marT="93072" marB="9307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a:effectLst/>
                          <a:latin typeface="Nunito" pitchFamily="2" charset="0"/>
                        </a:rPr>
                        <a:t>Assigns new privileges to a user account, allowing access to specific database objects, actions or functions.</a:t>
                      </a:r>
                    </a:p>
                  </a:txBody>
                  <a:tcPr marL="66480" marR="66480" marT="93072" marB="9307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r>
                        <a:rPr lang="en-US" sz="1800" kern="1200" dirty="0">
                          <a:solidFill>
                            <a:schemeClr val="tx1"/>
                          </a:solidFill>
                          <a:effectLst/>
                          <a:latin typeface="+mn-lt"/>
                          <a:ea typeface="+mn-ea"/>
                          <a:cs typeface="+mn-cs"/>
                        </a:rPr>
                        <a:t>  GRANT privilege ON    </a:t>
                      </a:r>
                      <a:r>
                        <a:rPr lang="en-US" sz="1800" kern="1200" dirty="0" err="1">
                          <a:solidFill>
                            <a:schemeClr val="tx1"/>
                          </a:solidFill>
                          <a:effectLst/>
                          <a:latin typeface="+mn-lt"/>
                          <a:ea typeface="+mn-ea"/>
                          <a:cs typeface="+mn-cs"/>
                        </a:rPr>
                        <a:t>table_name</a:t>
                      </a:r>
                      <a:r>
                        <a:rPr lang="en-US" sz="1800" kern="1200" dirty="0">
                          <a:solidFill>
                            <a:schemeClr val="tx1"/>
                          </a:solidFill>
                          <a:effectLst/>
                          <a:latin typeface="+mn-lt"/>
                          <a:ea typeface="+mn-ea"/>
                          <a:cs typeface="+mn-cs"/>
                        </a:rPr>
                        <a:t> TO   </a:t>
                      </a:r>
                      <a:r>
                        <a:rPr lang="en-US" sz="1800" kern="1200" dirty="0" err="1">
                          <a:solidFill>
                            <a:schemeClr val="tx1"/>
                          </a:solidFill>
                          <a:effectLst/>
                          <a:latin typeface="+mn-lt"/>
                          <a:ea typeface="+mn-ea"/>
                          <a:cs typeface="+mn-cs"/>
                        </a:rPr>
                        <a:t>user_name</a:t>
                      </a:r>
                      <a:r>
                        <a:rPr lang="en-US" sz="1800" kern="1200" dirty="0">
                          <a:solidFill>
                            <a:schemeClr val="tx1"/>
                          </a:solidFill>
                          <a:effectLst/>
                          <a:latin typeface="+mn-lt"/>
                          <a:ea typeface="+mn-ea"/>
                          <a:cs typeface="+mn-cs"/>
                        </a:rPr>
                        <a:t>;</a:t>
                      </a:r>
                    </a:p>
                  </a:txBody>
                  <a:tcPr marL="66480" marR="66480" marT="93072" marB="9307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79596445"/>
                  </a:ext>
                </a:extLst>
              </a:tr>
              <a:tr h="1765294">
                <a:tc>
                  <a:txBody>
                    <a:bodyPr/>
                    <a:lstStyle/>
                    <a:p>
                      <a:pPr algn="ctr" fontAlgn="ctr">
                        <a:buNone/>
                      </a:pPr>
                      <a:r>
                        <a:rPr lang="en-US" sz="1600" b="0" dirty="0">
                          <a:effectLst/>
                          <a:latin typeface="Nunito" pitchFamily="2" charset="0"/>
                        </a:rPr>
                        <a:t>REVOKE</a:t>
                      </a:r>
                    </a:p>
                  </a:txBody>
                  <a:tcPr marL="66480" marR="66480" marT="93072" marB="9307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600" b="0">
                          <a:effectLst/>
                          <a:latin typeface="Nunito" pitchFamily="2" charset="0"/>
                        </a:rPr>
                        <a:t>Removes previously granted privileges from a user account, taking away their access to certain database objects or actions.</a:t>
                      </a:r>
                    </a:p>
                  </a:txBody>
                  <a:tcPr marL="66480" marR="66480" marT="93072" marB="9307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r>
                        <a:rPr lang="en-US" sz="1800" kern="1200" dirty="0">
                          <a:solidFill>
                            <a:schemeClr val="tx1"/>
                          </a:solidFill>
                          <a:effectLst/>
                          <a:latin typeface="+mn-lt"/>
                          <a:ea typeface="+mn-ea"/>
                          <a:cs typeface="+mn-cs"/>
                        </a:rPr>
                        <a:t>REVOKE privilege</a:t>
                      </a:r>
                    </a:p>
                    <a:p>
                      <a:r>
                        <a:rPr lang="en-US" sz="1800" kern="1200" dirty="0">
                          <a:solidFill>
                            <a:schemeClr val="tx1"/>
                          </a:solidFill>
                          <a:effectLst/>
                          <a:latin typeface="+mn-lt"/>
                          <a:ea typeface="+mn-ea"/>
                          <a:cs typeface="+mn-cs"/>
                        </a:rPr>
                        <a:t>ON </a:t>
                      </a:r>
                      <a:r>
                        <a:rPr lang="en-US" sz="1800" kern="1200" dirty="0" err="1">
                          <a:solidFill>
                            <a:schemeClr val="tx1"/>
                          </a:solidFill>
                          <a:effectLst/>
                          <a:latin typeface="+mn-lt"/>
                          <a:ea typeface="+mn-ea"/>
                          <a:cs typeface="+mn-cs"/>
                        </a:rPr>
                        <a:t>table_name</a:t>
                      </a:r>
                      <a:endParaRPr lang="en-US" sz="1800" kern="1200" dirty="0">
                        <a:solidFill>
                          <a:schemeClr val="tx1"/>
                        </a:solidFill>
                        <a:effectLst/>
                        <a:latin typeface="+mn-lt"/>
                        <a:ea typeface="+mn-ea"/>
                        <a:cs typeface="+mn-cs"/>
                      </a:endParaRPr>
                    </a:p>
                    <a:p>
                      <a:r>
                        <a:rPr lang="en-US" sz="1800" kern="1200" dirty="0">
                          <a:solidFill>
                            <a:schemeClr val="tx1"/>
                          </a:solidFill>
                          <a:effectLst/>
                          <a:latin typeface="+mn-lt"/>
                          <a:ea typeface="+mn-ea"/>
                          <a:cs typeface="+mn-cs"/>
                        </a:rPr>
                        <a:t>FROM </a:t>
                      </a:r>
                      <a:r>
                        <a:rPr lang="en-US" sz="1800" kern="1200" dirty="0" err="1">
                          <a:solidFill>
                            <a:schemeClr val="tx1"/>
                          </a:solidFill>
                          <a:effectLst/>
                          <a:latin typeface="+mn-lt"/>
                          <a:ea typeface="+mn-ea"/>
                          <a:cs typeface="+mn-cs"/>
                        </a:rPr>
                        <a:t>user_name</a:t>
                      </a:r>
                      <a:r>
                        <a:rPr lang="en-US" sz="1800" kern="1200" dirty="0">
                          <a:solidFill>
                            <a:schemeClr val="tx1"/>
                          </a:solidFill>
                          <a:effectLst/>
                          <a:latin typeface="+mn-lt"/>
                          <a:ea typeface="+mn-ea"/>
                          <a:cs typeface="+mn-cs"/>
                        </a:rPr>
                        <a:t>;</a:t>
                      </a:r>
                    </a:p>
                  </a:txBody>
                  <a:tcPr marL="66480" marR="66480" marT="93072" marB="93072"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88822505"/>
                  </a:ext>
                </a:extLst>
              </a:tr>
            </a:tbl>
          </a:graphicData>
        </a:graphic>
      </p:graphicFrame>
    </p:spTree>
    <p:extLst>
      <p:ext uri="{BB962C8B-B14F-4D97-AF65-F5344CB8AC3E}">
        <p14:creationId xmlns:p14="http://schemas.microsoft.com/office/powerpoint/2010/main" val="22673507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F543-DB5C-E528-FBAC-4DBF5A3F75A8}"/>
              </a:ext>
            </a:extLst>
          </p:cNvPr>
          <p:cNvSpPr>
            <a:spLocks noGrp="1"/>
          </p:cNvSpPr>
          <p:nvPr>
            <p:ph type="title"/>
          </p:nvPr>
        </p:nvSpPr>
        <p:spPr/>
        <p:txBody>
          <a:bodyPr>
            <a:normAutofit fontScale="90000"/>
          </a:bodyPr>
          <a:lstStyle/>
          <a:p>
            <a:r>
              <a:rPr lang="en-US" b="1" dirty="0"/>
              <a:t>TCL - Transaction Control Language</a:t>
            </a:r>
            <a:br>
              <a:rPr lang="en-US" b="1" dirty="0"/>
            </a:br>
            <a:endParaRPr lang="en-US" dirty="0"/>
          </a:p>
        </p:txBody>
      </p:sp>
      <p:sp>
        <p:nvSpPr>
          <p:cNvPr id="3" name="Content Placeholder 2">
            <a:extLst>
              <a:ext uri="{FF2B5EF4-FFF2-40B4-BE49-F238E27FC236}">
                <a16:creationId xmlns:a16="http://schemas.microsoft.com/office/drawing/2014/main" id="{58774158-DE3A-83B7-1ABB-26CA061E34ED}"/>
              </a:ext>
            </a:extLst>
          </p:cNvPr>
          <p:cNvSpPr>
            <a:spLocks noGrp="1"/>
          </p:cNvSpPr>
          <p:nvPr>
            <p:ph idx="1"/>
          </p:nvPr>
        </p:nvSpPr>
        <p:spPr>
          <a:xfrm>
            <a:off x="285750" y="1042987"/>
            <a:ext cx="8229600" cy="4525963"/>
          </a:xfrm>
        </p:spPr>
        <p:txBody>
          <a:bodyPr>
            <a:normAutofit/>
          </a:bodyPr>
          <a:lstStyle/>
          <a:p>
            <a:r>
              <a:rPr lang="en-US" sz="2400" dirty="0"/>
              <a:t>Each transaction begins with a specific task and ends when all the tasks in the group are successfully completed. If any of the tasks fail, transaction fails.</a:t>
            </a:r>
          </a:p>
          <a:p>
            <a:endParaRPr lang="en-US" sz="2400" dirty="0"/>
          </a:p>
        </p:txBody>
      </p:sp>
      <p:graphicFrame>
        <p:nvGraphicFramePr>
          <p:cNvPr id="4" name="Table 3">
            <a:extLst>
              <a:ext uri="{FF2B5EF4-FFF2-40B4-BE49-F238E27FC236}">
                <a16:creationId xmlns:a16="http://schemas.microsoft.com/office/drawing/2014/main" id="{42DCE2CF-E454-4BB0-A4D1-5AA334E312A9}"/>
              </a:ext>
            </a:extLst>
          </p:cNvPr>
          <p:cNvGraphicFramePr>
            <a:graphicFrameLocks noGrp="1"/>
          </p:cNvGraphicFramePr>
          <p:nvPr>
            <p:extLst>
              <p:ext uri="{D42A27DB-BD31-4B8C-83A1-F6EECF244321}">
                <p14:modId xmlns:p14="http://schemas.microsoft.com/office/powerpoint/2010/main" val="2000113972"/>
              </p:ext>
            </p:extLst>
          </p:nvPr>
        </p:nvGraphicFramePr>
        <p:xfrm>
          <a:off x="457200" y="2365851"/>
          <a:ext cx="8229600" cy="4305300"/>
        </p:xfrm>
        <a:graphic>
          <a:graphicData uri="http://schemas.openxmlformats.org/drawingml/2006/table">
            <a:tbl>
              <a:tblPr/>
              <a:tblGrid>
                <a:gridCol w="2743200">
                  <a:extLst>
                    <a:ext uri="{9D8B030D-6E8A-4147-A177-3AD203B41FA5}">
                      <a16:colId xmlns:a16="http://schemas.microsoft.com/office/drawing/2014/main" val="3823593305"/>
                    </a:ext>
                  </a:extLst>
                </a:gridCol>
                <a:gridCol w="2743200">
                  <a:extLst>
                    <a:ext uri="{9D8B030D-6E8A-4147-A177-3AD203B41FA5}">
                      <a16:colId xmlns:a16="http://schemas.microsoft.com/office/drawing/2014/main" val="1745303163"/>
                    </a:ext>
                  </a:extLst>
                </a:gridCol>
                <a:gridCol w="2743200">
                  <a:extLst>
                    <a:ext uri="{9D8B030D-6E8A-4147-A177-3AD203B41FA5}">
                      <a16:colId xmlns:a16="http://schemas.microsoft.com/office/drawing/2014/main" val="3501163439"/>
                    </a:ext>
                  </a:extLst>
                </a:gridCol>
              </a:tblGrid>
              <a:tr h="0">
                <a:tc>
                  <a:txBody>
                    <a:bodyPr/>
                    <a:lstStyle/>
                    <a:p>
                      <a:pPr algn="ctr" fontAlgn="base">
                        <a:buNone/>
                      </a:pPr>
                      <a:r>
                        <a:rPr lang="en-US" sz="2000" b="1">
                          <a:effectLst/>
                          <a:latin typeface="Nunito" pitchFamily="2" charset="0"/>
                        </a:rPr>
                        <a:t>Command</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2000" b="1">
                          <a:effectLst/>
                          <a:latin typeface="Nunito" pitchFamily="2" charset="0"/>
                        </a:rPr>
                        <a:t>Description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2000" b="1">
                          <a:effectLst/>
                          <a:latin typeface="Nunito" pitchFamily="2" charset="0"/>
                        </a:rPr>
                        <a:t>Syntax</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676830217"/>
                  </a:ext>
                </a:extLst>
              </a:tr>
              <a:tr h="0">
                <a:tc>
                  <a:txBody>
                    <a:bodyPr/>
                    <a:lstStyle/>
                    <a:p>
                      <a:pPr algn="ctr" fontAlgn="ctr">
                        <a:buNone/>
                      </a:pPr>
                      <a:r>
                        <a:rPr lang="en-US" sz="1800" b="0">
                          <a:effectLst/>
                          <a:latin typeface="Nunito" pitchFamily="2" charset="0"/>
                        </a:rPr>
                        <a:t>BEGIN TRANSACTION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Starts a new transaction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BEGIN TRANSACTION [transaction_name];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96464066"/>
                  </a:ext>
                </a:extLst>
              </a:tr>
              <a:tr h="0">
                <a:tc>
                  <a:txBody>
                    <a:bodyPr/>
                    <a:lstStyle/>
                    <a:p>
                      <a:pPr algn="ctr" fontAlgn="ctr">
                        <a:buNone/>
                      </a:pPr>
                      <a:r>
                        <a:rPr lang="en-US" sz="1800" b="0">
                          <a:effectLst/>
                          <a:latin typeface="Nunito" pitchFamily="2" charset="0"/>
                        </a:rPr>
                        <a:t>COMMIT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Saves all changes made during the transaction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COMMIT;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93714884"/>
                  </a:ext>
                </a:extLst>
              </a:tr>
              <a:tr h="0">
                <a:tc>
                  <a:txBody>
                    <a:bodyPr/>
                    <a:lstStyle/>
                    <a:p>
                      <a:pPr algn="ctr" fontAlgn="ctr">
                        <a:buNone/>
                      </a:pPr>
                      <a:r>
                        <a:rPr lang="en-US" sz="1800" b="0">
                          <a:effectLst/>
                          <a:latin typeface="Nunito" pitchFamily="2" charset="0"/>
                        </a:rPr>
                        <a:t>ROLLBACK</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Undoes all changes made during the transaction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ROLLBACK;</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53775627"/>
                  </a:ext>
                </a:extLst>
              </a:tr>
              <a:tr h="0">
                <a:tc>
                  <a:txBody>
                    <a:bodyPr/>
                    <a:lstStyle/>
                    <a:p>
                      <a:pPr algn="ctr" fontAlgn="ctr">
                        <a:buNone/>
                      </a:pPr>
                      <a:r>
                        <a:rPr lang="en-US" sz="1800" b="0">
                          <a:effectLst/>
                          <a:latin typeface="Nunito" pitchFamily="2" charset="0"/>
                        </a:rPr>
                        <a:t>SAVEPOINT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a:effectLst/>
                          <a:latin typeface="Nunito" pitchFamily="2" charset="0"/>
                        </a:rPr>
                        <a:t>Creates a savepoint within the current transaction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800" b="0" dirty="0">
                          <a:effectLst/>
                          <a:latin typeface="Nunito" pitchFamily="2" charset="0"/>
                        </a:rPr>
                        <a:t>SAVEPOINT </a:t>
                      </a:r>
                      <a:r>
                        <a:rPr lang="en-US" sz="1800" b="0" dirty="0" err="1">
                          <a:effectLst/>
                          <a:latin typeface="Nunito" pitchFamily="2" charset="0"/>
                        </a:rPr>
                        <a:t>savepoint_name</a:t>
                      </a:r>
                      <a:r>
                        <a:rPr lang="en-US" sz="1800" b="0" dirty="0">
                          <a:effectLst/>
                          <a:latin typeface="Nunito" pitchFamily="2" charset="0"/>
                        </a:rPr>
                        <a: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1447036"/>
                  </a:ext>
                </a:extLst>
              </a:tr>
            </a:tbl>
          </a:graphicData>
        </a:graphic>
      </p:graphicFrame>
    </p:spTree>
    <p:extLst>
      <p:ext uri="{BB962C8B-B14F-4D97-AF65-F5344CB8AC3E}">
        <p14:creationId xmlns:p14="http://schemas.microsoft.com/office/powerpoint/2010/main" val="24099189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7774</TotalTime>
  <Words>1986</Words>
  <Application>Microsoft Office PowerPoint</Application>
  <PresentationFormat>On-screen Show (4:3)</PresentationFormat>
  <Paragraphs>304</Paragraphs>
  <Slides>48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Nunito</vt:lpstr>
      <vt:lpstr>Times New Roman</vt:lpstr>
      <vt:lpstr>Wingdings</vt:lpstr>
      <vt:lpstr>Office Theme</vt:lpstr>
      <vt:lpstr>BERLIN JEBA B S</vt:lpstr>
      <vt:lpstr>UNIT 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DBMS Architecture 1-level, 2-Level, 3-Level</vt:lpstr>
      <vt:lpstr>1-Tier Architecture </vt:lpstr>
      <vt:lpstr>2-Tier Architecture </vt:lpstr>
      <vt:lpstr>3-Tier Architecture </vt:lpstr>
      <vt:lpstr>Relational Model in DBMS </vt:lpstr>
      <vt:lpstr>PowerPoint Presentation</vt:lpstr>
      <vt:lpstr>Key Terms in the Relational Model </vt:lpstr>
      <vt:lpstr>PowerPoint Presentation</vt:lpstr>
      <vt:lpstr>Types of Keys in the Relational Model </vt:lpstr>
      <vt:lpstr>Introduction of Relational Algebra in DBMS </vt:lpstr>
      <vt:lpstr>PowerPoint Presentation</vt:lpstr>
      <vt:lpstr>PowerPoint Presentation</vt:lpstr>
      <vt:lpstr>Projection (π) </vt:lpstr>
      <vt:lpstr>Union (∪)</vt:lpstr>
      <vt:lpstr>PowerPoint Presentation</vt:lpstr>
      <vt:lpstr>Set Difference (−)</vt:lpstr>
      <vt:lpstr>Cartesian Product (×)</vt:lpstr>
      <vt:lpstr>Rename (ρ)</vt:lpstr>
      <vt:lpstr>SQL Commands </vt:lpstr>
      <vt:lpstr>DDL - Data Definition Language </vt:lpstr>
      <vt:lpstr>DML - Data Manipulation Language </vt:lpstr>
      <vt:lpstr>DQL - Data Query Language </vt:lpstr>
      <vt:lpstr>DCL - Data Control Language </vt:lpstr>
      <vt:lpstr>TCL - Transaction Control Language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Berlin</dc:creator>
  <cp:keywords/>
  <dc:description>generated using python-pptx</dc:description>
  <cp:lastModifiedBy>Berlin</cp:lastModifiedBy>
  <cp:revision>12</cp:revision>
  <dcterms:created xsi:type="dcterms:W3CDTF">2013-01-27T09:14:16Z</dcterms:created>
  <dcterms:modified xsi:type="dcterms:W3CDTF">2026-02-02T14:25:48Z</dcterms:modified>
  <cp:category/>
</cp:coreProperties>
</file>
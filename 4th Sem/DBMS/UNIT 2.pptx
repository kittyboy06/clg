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70" r:id="rId23"/>
    <p:sldId id="271" r:id="rId24"/>
    <p:sldId id="272" r:id="rId25"/>
    <p:sldId id="274" r:id="rId26"/>
    <p:sldId id="273" r:id="rId27"/>
    <p:sldId id="278" r:id="rId28"/>
    <p:sldId id="276" r:id="rId29"/>
    <p:sldId id="277" r:id="rId30"/>
    <p:sldId id="279" r:id="rId31"/>
    <p:sldId id="280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7008-9B25-4354-7752-2491CB702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978E7-B9DD-92C1-8EFC-71451B42B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1297-DF9A-8608-45A5-D053B49D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8FFA0-F93F-5FBF-1E99-5BA50E44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FFE91-362C-99C6-1C41-345CEF06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2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1F92-4E2F-3B64-9D29-C93B20AB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C5FD-16C7-25EA-AA5C-3F2D2EDF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D15D9-6556-EADD-F9CB-02855A8D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25DE8-957F-9771-E8C2-0E950C8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F487A-6DB4-20A0-8E95-44BF189B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0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BBCE-D5C0-5B79-5E5F-4820E5B6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B8526-8126-D549-7FC6-189CEC201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64D5D-6134-2D29-E126-747D03DA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BDFA-30B1-F446-71E5-AEE2018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D33F-A63C-926F-522A-9A8EE328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CEDD-4CE4-72B1-7141-F33AE730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448C1-CADD-8DDD-65EB-FD21414CA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2FB2F-90F0-8C0D-2C6E-8D91EAF25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B909F-9BA7-22D1-0196-A8F9A216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2D01E-D0EE-67EE-F593-09DF2DD6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FCD4-ED5C-40E9-EFA8-C1C6357C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3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D811-0A8F-035E-EE14-B5F52A71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55579-399E-3757-F65E-0EC09446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21955-5CA0-393B-1424-394F86BCE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04699-02CE-D5AE-3BF1-F0945C640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F82BC-9EB0-C2A0-27A0-1DEF5C0C3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54A9C-E852-58DD-4066-FFBBF4D3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F772C-65C9-D625-6970-39984603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EB834-92D9-4827-5015-DDBD925F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5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F325-491A-A0BF-A948-41EB7F5E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8D503-54C0-E931-E892-E45DE645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B0E1B-C88D-1A55-43B9-B90B46A2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816FF-60E8-74B6-0B83-3BA249DC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0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92E30-E724-7DD2-D01D-D1EDD5FE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8F5B3-6679-EB67-B352-153205C3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4DB7-5342-5449-636D-3F679F7B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6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8CA6-8B5A-AB44-F1A1-2B698A36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AF46A-32DA-2A06-ED3D-485E509F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D56B0-8AAE-1C4E-44B6-7B220F586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C2FB-2CE8-5477-2E03-14D72613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DEC9A-5881-BD76-3EA7-76C2F573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C25B0-275E-9034-00AF-96DFD3BF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3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9AAA-2958-FF4F-F911-CD6358FD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F6A24-0256-D4F3-F90A-14076FC05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8FF59-A5D6-6791-81F0-28C7A0251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0E61D-B143-EBC2-80B6-27045061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7DAD1-E3DD-D4A8-D62A-FB9735E2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4C4E-4FE5-50D8-E7CF-E801E6E1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2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EC31-27E9-07D1-2335-46475E4C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E9547-FB4C-0325-8E44-46736123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08E4E-3D28-A7AC-FAD9-4167AF0E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25BED-4F14-39C6-4662-94BD684A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84E2A-7131-F077-0C4F-C7C11E8C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7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871C9-EC42-1BCE-A468-413B87E09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A4EA9-260B-E9D0-102D-FB78FA2A7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4C4FB-4968-2916-99FA-5E7EB60A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A229F-C317-6FBA-63EF-3082C408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1CF7B-48F5-194D-053E-AFCEEBA7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0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5341B-5A57-3011-DA69-0175B890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7773-7A86-F295-0F9C-879D747E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A71E5-5BCC-380E-99D5-D65D8404D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DE56B-DD6A-4D2D-8F52-26B2DA8BD34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9F77-EB92-7332-573C-784A903AD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2E5D6-7757-2349-A57A-496692A0F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6017B-C4B8-42D1-9EE7-2014A861C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3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bms/weak-entity-set-in-er-diagrams/" TargetMode="External"/><Relationship Id="rId2" Type="http://schemas.openxmlformats.org/officeDocument/2006/relationships/hyperlink" Target="https://www.geeksforgeeks.org/sql/create-schema-in-sql-serve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D444-3B56-4FF6-61DA-D2E0231FB7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61EF7-C29F-9914-1F0F-B1F07AE3F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51761409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C427-555C-76F6-D2CD-16D99751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Entity in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627F-B2DA-4425-22E3-6CDC29DA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entity in DBMS represents a real-world object or concept that can be </a:t>
            </a:r>
            <a:r>
              <a:rPr lang="en-US" u="sng" dirty="0"/>
              <a:t>uniquely identified </a:t>
            </a:r>
            <a:r>
              <a:rPr lang="en-US" dirty="0"/>
              <a:t>and stored in a database.</a:t>
            </a:r>
            <a:endParaRPr lang="en-US" b="1" dirty="0"/>
          </a:p>
          <a:p>
            <a:r>
              <a:rPr lang="en-US" dirty="0"/>
              <a:t>An </a:t>
            </a:r>
            <a:r>
              <a:rPr lang="en-US" b="1" dirty="0"/>
              <a:t>entity</a:t>
            </a:r>
            <a:r>
              <a:rPr lang="en-US" dirty="0"/>
              <a:t> is a person, place, object, event, or concept that exists independently and has attributes.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CC3D1-E1C1-C9BE-6909-B3DABE71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3" y="3586163"/>
            <a:ext cx="6538912" cy="326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0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1729-6B42-DEB8-6A87-B4EB33E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Entity-Relationship Model (ER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C60C7-F532-DDB0-3CAD-5A5E71A12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903788"/>
          </a:xfrm>
        </p:spPr>
        <p:txBody>
          <a:bodyPr>
            <a:normAutofit/>
          </a:bodyPr>
          <a:lstStyle/>
          <a:p>
            <a:r>
              <a:rPr lang="en-US" dirty="0"/>
              <a:t>The Entity-Relationship Model (ER Model) is a conceptual model for designing a database.</a:t>
            </a:r>
          </a:p>
          <a:p>
            <a:r>
              <a:rPr lang="en-US" dirty="0"/>
              <a:t> This model represents the logical structure of a database, including entities, their attributes, and relationships between them.</a:t>
            </a:r>
          </a:p>
          <a:p>
            <a:pPr fontAlgn="base"/>
            <a:r>
              <a:rPr lang="en-US" b="1" dirty="0"/>
              <a:t>Entity:</a:t>
            </a:r>
            <a:r>
              <a:rPr lang="en-US" dirty="0"/>
              <a:t> An object that is stored as data.</a:t>
            </a:r>
          </a:p>
          <a:p>
            <a:pPr fontAlgn="base"/>
            <a:r>
              <a:rPr lang="en-US" dirty="0"/>
              <a:t> </a:t>
            </a:r>
            <a:r>
              <a:rPr lang="en-US" dirty="0" err="1"/>
              <a:t>E.g</a:t>
            </a:r>
            <a:r>
              <a:rPr lang="en-US" dirty="0"/>
              <a:t>: </a:t>
            </a:r>
            <a:r>
              <a:rPr lang="en-US" i="1" dirty="0"/>
              <a:t>Student</a:t>
            </a:r>
            <a:r>
              <a:rPr lang="en-US" dirty="0"/>
              <a:t>, </a:t>
            </a:r>
            <a:r>
              <a:rPr lang="en-US" i="1" dirty="0"/>
              <a:t>Course,</a:t>
            </a:r>
            <a:r>
              <a:rPr lang="en-US" dirty="0"/>
              <a:t> or </a:t>
            </a:r>
            <a:r>
              <a:rPr lang="en-US" i="1" dirty="0"/>
              <a:t>Company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Attribute: </a:t>
            </a:r>
            <a:r>
              <a:rPr lang="en-US" dirty="0"/>
              <a:t>Properties that describe an entity.</a:t>
            </a:r>
          </a:p>
          <a:p>
            <a:pPr fontAlgn="base"/>
            <a:r>
              <a:rPr lang="en-US" dirty="0"/>
              <a:t> </a:t>
            </a:r>
            <a:r>
              <a:rPr lang="en-US" dirty="0" err="1"/>
              <a:t>E.g</a:t>
            </a:r>
            <a:r>
              <a:rPr lang="en-US" dirty="0"/>
              <a:t>: </a:t>
            </a:r>
            <a:r>
              <a:rPr lang="en-US" i="1" dirty="0" err="1"/>
              <a:t>StudentID</a:t>
            </a:r>
            <a:r>
              <a:rPr lang="en-US" dirty="0"/>
              <a:t>, </a:t>
            </a:r>
            <a:r>
              <a:rPr lang="en-US" i="1" dirty="0" err="1"/>
              <a:t>CourseName</a:t>
            </a:r>
            <a:r>
              <a:rPr lang="en-US" dirty="0"/>
              <a:t>, or </a:t>
            </a:r>
            <a:r>
              <a:rPr lang="en-US" i="1" dirty="0" err="1"/>
              <a:t>EmployeeEmail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Relationship:</a:t>
            </a:r>
            <a:r>
              <a:rPr lang="en-US" dirty="0"/>
              <a:t> A connection between entities.</a:t>
            </a:r>
          </a:p>
          <a:p>
            <a:pPr fontAlgn="base"/>
            <a:r>
              <a:rPr lang="en-US" dirty="0"/>
              <a:t> </a:t>
            </a:r>
            <a:r>
              <a:rPr lang="en-US" dirty="0" err="1"/>
              <a:t>E.g</a:t>
            </a:r>
            <a:r>
              <a:rPr lang="en-US" dirty="0"/>
              <a:t>: </a:t>
            </a:r>
            <a:r>
              <a:rPr lang="en-US" i="1" dirty="0"/>
              <a:t>Student</a:t>
            </a:r>
            <a:r>
              <a:rPr lang="en-US" dirty="0"/>
              <a:t> enrolls in a </a:t>
            </a:r>
            <a:r>
              <a:rPr lang="en-US" i="1" dirty="0"/>
              <a:t>Course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8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6055-1DA5-BE11-957E-073653DE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Symbols Used in ER Model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0AB82A-455D-D3A5-B485-3C8030E07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63" y="1240471"/>
            <a:ext cx="9629775" cy="54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15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CBB7B1-23BB-7F0B-D8FE-B4B2576AA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50" y="719138"/>
            <a:ext cx="11129963" cy="573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6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51BF-4191-936C-513E-9027A433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Entity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25215-9EFC-DF8D-344C-1BE4E0D2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13" y="1027906"/>
            <a:ext cx="11163300" cy="5715794"/>
          </a:xfrm>
        </p:spPr>
        <p:txBody>
          <a:bodyPr>
            <a:normAutofit/>
          </a:bodyPr>
          <a:lstStyle/>
          <a:p>
            <a:r>
              <a:rPr lang="en-US" b="1" dirty="0"/>
              <a:t>Strong Entity: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strong entity is not dependent on any other entity in the </a:t>
            </a:r>
            <a:r>
              <a:rPr lang="en-US" u="sng" dirty="0">
                <a:hlinkClick r:id="rId2"/>
              </a:rPr>
              <a:t>schema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strong entity will always have a primary key.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Strong entities are represented by a single rectangle.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Relationship of two strong entities is represented by a single diamond.</a:t>
            </a:r>
            <a:endParaRPr lang="en-US" b="1" dirty="0"/>
          </a:p>
          <a:p>
            <a:r>
              <a:rPr lang="en-US" b="1" dirty="0"/>
              <a:t>Weak Entity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weak entity is dependent on a strong entity.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Weak entity does not have any primary key.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 </a:t>
            </a:r>
            <a:r>
              <a:rPr lang="en-US" u="sng" dirty="0">
                <a:hlinkClick r:id="rId3"/>
              </a:rPr>
              <a:t>weak entity</a:t>
            </a:r>
            <a:r>
              <a:rPr lang="en-US" dirty="0"/>
              <a:t> is represented by a double rectangle.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relation between one strong and one weak entity is represented by a double diamond.</a:t>
            </a:r>
          </a:p>
        </p:txBody>
      </p:sp>
    </p:spTree>
    <p:extLst>
      <p:ext uri="{BB962C8B-B14F-4D97-AF65-F5344CB8AC3E}">
        <p14:creationId xmlns:p14="http://schemas.microsoft.com/office/powerpoint/2010/main" val="223510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8950A1-01B4-543F-2451-438C3C8E0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977106"/>
            <a:ext cx="7620000" cy="53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25DC-2183-DEEF-4397-1CCFD96F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			</a:t>
            </a:r>
            <a:br>
              <a:rPr lang="en-US" b="1" dirty="0"/>
            </a:br>
            <a:r>
              <a:rPr lang="en-US" b="1" dirty="0"/>
              <a:t>			Types of Attributes</a:t>
            </a:r>
            <a:br>
              <a:rPr lang="en-US" b="1" dirty="0"/>
            </a:br>
            <a:r>
              <a:rPr lang="en-US" b="1" dirty="0"/>
              <a:t>Key Attribute: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D85FC-59F6-5AFC-C06D-E823376B4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attribute which uniquely identifies each entity in the entity set is called the key attribute. </a:t>
            </a:r>
          </a:p>
          <a:p>
            <a:r>
              <a:rPr lang="en-US" dirty="0"/>
              <a:t>For example, </a:t>
            </a:r>
            <a:r>
              <a:rPr lang="en-US" dirty="0" err="1"/>
              <a:t>Roll_No</a:t>
            </a:r>
            <a:r>
              <a:rPr lang="en-US" dirty="0"/>
              <a:t> will be unique for each student. </a:t>
            </a:r>
          </a:p>
          <a:p>
            <a:r>
              <a:rPr lang="en-US" dirty="0"/>
              <a:t>In ER diagram, the key attribute is represented by an oval with an underline.</a:t>
            </a:r>
          </a:p>
        </p:txBody>
      </p:sp>
      <p:sp>
        <p:nvSpPr>
          <p:cNvPr id="4" name="AutoShape 2" descr="frame_3253">
            <a:extLst>
              <a:ext uri="{FF2B5EF4-FFF2-40B4-BE49-F238E27FC236}">
                <a16:creationId xmlns:a16="http://schemas.microsoft.com/office/drawing/2014/main" id="{AAD0DCFD-81D0-DADE-D37B-3A45A7DC0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EBC11-0540-E3A2-47B4-E826A985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23" y="4188618"/>
            <a:ext cx="3033713" cy="212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6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B20E-F4F6-F019-DE51-5BB8A3EA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Composite Attribute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A1B8-14F3-22BF-FD9D-FE6F60811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attribute composed of many other attributes is called a composite attribute.</a:t>
            </a:r>
          </a:p>
          <a:p>
            <a:r>
              <a:rPr lang="en-US" dirty="0"/>
              <a:t> For example, the Address attribute of the student Entity type consists of Street, City, State, and Country.</a:t>
            </a:r>
          </a:p>
          <a:p>
            <a:r>
              <a:rPr lang="en-US" dirty="0"/>
              <a:t> In ER diagram, the composite attribute is represented by an oval comprising of ovals.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7DD71-02B6-3B23-B26B-F88A18BD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4476750"/>
            <a:ext cx="76200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31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9D26-E70C-14E0-3948-F1A8B031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Multivalued Attribute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375B6-9A5D-952C-AAEB-DDE34782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attribute consisting of more than one value for a given entity.</a:t>
            </a:r>
          </a:p>
          <a:p>
            <a:r>
              <a:rPr lang="en-US" dirty="0"/>
              <a:t> For example, </a:t>
            </a:r>
            <a:r>
              <a:rPr lang="en-US" dirty="0" err="1"/>
              <a:t>Phone_No</a:t>
            </a:r>
            <a:r>
              <a:rPr lang="en-US" dirty="0"/>
              <a:t> (can be more than one for a given student).</a:t>
            </a:r>
          </a:p>
          <a:p>
            <a:r>
              <a:rPr lang="en-US" dirty="0"/>
              <a:t> In ER diagram, a multivalued attribute is represented by a double oval.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6B046-CB18-D98C-FA96-470FDFDB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74" y="3538537"/>
            <a:ext cx="4110037" cy="231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95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1B28-627D-4078-0FCF-12976862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Derived Attribute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9ECC6-EB82-DAB5-526A-CCF49E18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attribute that can be derived from other attributes of the entity type is known as a derived attribute.</a:t>
            </a:r>
          </a:p>
          <a:p>
            <a:r>
              <a:rPr lang="en-US" dirty="0"/>
              <a:t> e.g.; Age (can be derived from DOB). </a:t>
            </a:r>
          </a:p>
          <a:p>
            <a:r>
              <a:rPr lang="en-US" dirty="0"/>
              <a:t>In ER diagram, the derived attribute is represented by a dashed oval.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D5025-F234-8BD1-95E7-5FFE550E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364" y="3957638"/>
            <a:ext cx="4314824" cy="262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6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4F1460-B54D-3223-41C7-8E429C9D0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994" y="871538"/>
            <a:ext cx="10812462" cy="54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845-160E-5564-F4D0-C93FD1E1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Degree of a Relationship Set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9993-23DE-CD11-9D06-3CFA6429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55" y="1141413"/>
            <a:ext cx="10515600" cy="4351338"/>
          </a:xfrm>
        </p:spPr>
        <p:txBody>
          <a:bodyPr/>
          <a:lstStyle/>
          <a:p>
            <a:r>
              <a:rPr lang="en-US" sz="2400" b="1" dirty="0"/>
              <a:t>Unary/Recursive Relationship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sz="2400" dirty="0"/>
              <a:t>When there is only ONE entity set participating in a relation, the relationship is called a unary relationship. For example, one person is married to only one person.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EDFCB-1FA4-E47E-48CD-E4528472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2466975"/>
            <a:ext cx="3886199" cy="1355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2B49B-1E4A-F83D-214A-1BA9E67B2056}"/>
              </a:ext>
            </a:extLst>
          </p:cNvPr>
          <p:cNvSpPr txBox="1"/>
          <p:nvPr/>
        </p:nvSpPr>
        <p:spPr>
          <a:xfrm>
            <a:off x="551855" y="3923091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sz="2400" b="1" dirty="0"/>
              <a:t>Binary Relationship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 </a:t>
            </a:r>
            <a:r>
              <a:rPr lang="en-US" sz="2400" dirty="0"/>
              <a:t>When there are TWO entities set participating in a relationship, the relationship is called a binary relationship. For example, a Student is enrolled in a Course.</a:t>
            </a:r>
          </a:p>
          <a:p>
            <a:pPr algn="just"/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71B33-5C7D-3942-41BD-79300214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2" y="5358979"/>
            <a:ext cx="4474886" cy="13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2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8B11-7F8A-2BB4-EEC0-EE63AFE7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225425"/>
            <a:ext cx="10515600" cy="4351338"/>
          </a:xfrm>
        </p:spPr>
        <p:txBody>
          <a:bodyPr/>
          <a:lstStyle/>
          <a:p>
            <a:r>
              <a:rPr lang="en-US" b="1" dirty="0"/>
              <a:t>Ternary Relationship:</a:t>
            </a:r>
            <a:r>
              <a:rPr lang="en-US" dirty="0"/>
              <a:t> When there are three entity sets participating in a relationship, the relationship is called a ternary relationship.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CEDB0-A061-4B78-DB81-F4B66524F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7" y="1304926"/>
            <a:ext cx="4643438" cy="1874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93769F-2659-DF6E-524A-A26A0B98A595}"/>
              </a:ext>
            </a:extLst>
          </p:cNvPr>
          <p:cNvSpPr txBox="1"/>
          <p:nvPr/>
        </p:nvSpPr>
        <p:spPr>
          <a:xfrm>
            <a:off x="575072" y="3429000"/>
            <a:ext cx="9726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N-</a:t>
            </a:r>
            <a:r>
              <a:rPr lang="en-US" sz="2400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ary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 Relationship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there are n entities set participating in a relationship, the relationship is called an n-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ary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 relationship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7F83C-2D55-65F3-1402-8D440A66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7" y="4254778"/>
            <a:ext cx="5186363" cy="246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1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38AE-C4E0-A7E9-21B1-F0C730D87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Cardinality in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895E-CBE2-275F-1DD7-9A9CA170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13" y="1027906"/>
            <a:ext cx="10515600" cy="4351338"/>
          </a:xfrm>
        </p:spPr>
        <p:txBody>
          <a:bodyPr/>
          <a:lstStyle/>
          <a:p>
            <a:r>
              <a:rPr lang="en-US" dirty="0"/>
              <a:t>Cardinality refers to the number of </a:t>
            </a:r>
            <a:r>
              <a:rPr lang="en-US" dirty="0" err="1"/>
              <a:t>tubles</a:t>
            </a:r>
            <a:r>
              <a:rPr lang="en-US" dirty="0"/>
              <a:t> in a table is called cardinality.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803FD-D0EA-40C3-F16C-753F1984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732" y="2232024"/>
            <a:ext cx="5512593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36D2-FC24-FB3E-F028-5CDAACE0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Mapping Cardinality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88558-2406-9DEC-05C1-7969F753B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13" y="1253331"/>
            <a:ext cx="10515600" cy="50760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Denotes the number of entities to which another entity can be linked through a relationship.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One-to-One</a:t>
            </a:r>
          </a:p>
          <a:p>
            <a:pPr fontAlgn="base"/>
            <a:r>
              <a:rPr lang="en-US" dirty="0"/>
              <a:t>One-to-Many</a:t>
            </a:r>
          </a:p>
          <a:p>
            <a:pPr fontAlgn="base"/>
            <a:r>
              <a:rPr lang="en-US" dirty="0"/>
              <a:t>Many-to-One</a:t>
            </a:r>
          </a:p>
          <a:p>
            <a:pPr fontAlgn="base"/>
            <a:r>
              <a:rPr lang="en-US" dirty="0"/>
              <a:t>Many-to-Many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07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CF65-4F7B-5F5D-EA9E-399750C7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One-to-One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248153-A4E8-6D2C-A612-E137AD37A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4313" y="752475"/>
            <a:ext cx="2390775" cy="2676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EB0F8-F0DB-4565-1598-B6FE2D18418D}"/>
              </a:ext>
            </a:extLst>
          </p:cNvPr>
          <p:cNvSpPr txBox="1"/>
          <p:nvPr/>
        </p:nvSpPr>
        <p:spPr>
          <a:xfrm>
            <a:off x="1215626" y="3561743"/>
            <a:ext cx="87570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Entity in A is connected to at most one entity in B.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B115BE-CFA4-541A-71B3-1E989042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7" y="4146518"/>
            <a:ext cx="8053386" cy="257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11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F8C1-10EA-792E-C844-48D22EA3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One-to-Many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25E7EA-9FAB-53CB-FD5A-F32589F0D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4537" y="0"/>
            <a:ext cx="3005139" cy="3318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12810C-C225-5BFB-F670-8244C41AEAD5}"/>
              </a:ext>
            </a:extLst>
          </p:cNvPr>
          <p:cNvSpPr txBox="1"/>
          <p:nvPr/>
        </p:nvSpPr>
        <p:spPr>
          <a:xfrm>
            <a:off x="1003698" y="3308499"/>
            <a:ext cx="8183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 entity in A is associated with any number of entities in B.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F7A249-9162-FAB2-830E-433EEF8E9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463" y="3886200"/>
            <a:ext cx="9488089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61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EA0A-ECDD-DBDB-CDAC-AB67F13D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Many-to-One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BC76F5-822D-9FC3-75B7-4BFBE89F5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676" y="205475"/>
            <a:ext cx="2171700" cy="2677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A8F09A-4403-3622-F20B-82DCEC3E0602}"/>
              </a:ext>
            </a:extLst>
          </p:cNvPr>
          <p:cNvSpPr txBox="1"/>
          <p:nvPr/>
        </p:nvSpPr>
        <p:spPr>
          <a:xfrm>
            <a:off x="264319" y="2882812"/>
            <a:ext cx="11777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Elements in B can be associated with any number (zero or more) of entities or elements in A.</a:t>
            </a:r>
          </a:p>
          <a:p>
            <a:endParaRPr lang="en-US" sz="2400" dirty="0"/>
          </a:p>
        </p:txBody>
      </p:sp>
      <p:pic>
        <p:nvPicPr>
          <p:cNvPr id="2050" name="Picture 2" descr="Cardinality in DBMS - GeeksforGeeks">
            <a:extLst>
              <a:ext uri="{FF2B5EF4-FFF2-40B4-BE49-F238E27FC236}">
                <a16:creationId xmlns:a16="http://schemas.microsoft.com/office/drawing/2014/main" id="{360C8B5A-1B7D-747E-2336-E50FBF3D7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7" y="3671200"/>
            <a:ext cx="821055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05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8557-0359-F5DB-474B-0A1C1FB3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Many-to-Many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57D87D-492A-B054-D75F-7DF1A534B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9674" y="835202"/>
            <a:ext cx="3036451" cy="2757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7481C2-6FB7-F14F-FC22-0AFD56315DCF}"/>
              </a:ext>
            </a:extLst>
          </p:cNvPr>
          <p:cNvSpPr txBox="1"/>
          <p:nvPr/>
        </p:nvSpPr>
        <p:spPr>
          <a:xfrm>
            <a:off x="171450" y="3429000"/>
            <a:ext cx="1202055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US" sz="2400" dirty="0">
                <a:solidFill>
                  <a:srgbClr val="273239"/>
                </a:solidFill>
                <a:latin typeface="Nunito" pitchFamily="2" charset="0"/>
              </a:rPr>
              <a:t>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n entity in A is associated with any number of entities in B, and an entity in B is associated with any number of entities in A.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86B067-AC5F-DFB3-9248-C7BED784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807" y="4402138"/>
            <a:ext cx="8210550" cy="209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2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29598A-4FE2-C983-10BA-22209A9CD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812" y="1197372"/>
            <a:ext cx="7665426" cy="44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5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EC31-9FDE-DB94-4756-25B10C15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Enhanced-ER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2676-5C24-6655-9096-668DDDCDD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Enhanced ER (EER) Model is an extension of the traditional ER model.</a:t>
            </a:r>
          </a:p>
          <a:p>
            <a:endParaRPr lang="en-US" dirty="0"/>
          </a:p>
          <a:p>
            <a:r>
              <a:rPr lang="en-US" dirty="0"/>
              <a:t>In the Enhanced ER (EER) Model, several advanced concepts are used to represent complex data relationships, inheritance, and abstraction in databases.  </a:t>
            </a:r>
          </a:p>
        </p:txBody>
      </p:sp>
    </p:spTree>
    <p:extLst>
      <p:ext uri="{BB962C8B-B14F-4D97-AF65-F5344CB8AC3E}">
        <p14:creationId xmlns:p14="http://schemas.microsoft.com/office/powerpoint/2010/main" val="2668918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12785-D128-BCBE-0D23-08AA9F19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1" y="1081087"/>
            <a:ext cx="9929812" cy="4262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In addition to ER model concepts EE-R includes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Algerian" panose="04020705040A02060702" pitchFamily="82" charset="0"/>
              </a:rPr>
              <a:t>Subclasses and Super classes.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• Specialization and Generalization.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• Category or union type.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• Aggregation.</a:t>
            </a:r>
          </a:p>
        </p:txBody>
      </p:sp>
    </p:spTree>
    <p:extLst>
      <p:ext uri="{BB962C8B-B14F-4D97-AF65-F5344CB8AC3E}">
        <p14:creationId xmlns:p14="http://schemas.microsoft.com/office/powerpoint/2010/main" val="2196454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9285-D87E-55F5-7BD4-1E287081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Subclasses and Super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F988-11C6-514A-6FF2-437997A2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 class is an entity that can be divided into further subtype.</a:t>
            </a:r>
          </a:p>
          <a:p>
            <a:r>
              <a:rPr lang="en-US" dirty="0"/>
              <a:t> For example − consider Shape super class.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9F03B-DC29-6AEB-397C-38B738FB0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8" y="2986088"/>
            <a:ext cx="65151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AC59-C8E1-F8E0-1609-FD1A21BA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7563" cy="4351338"/>
          </a:xfrm>
        </p:spPr>
        <p:txBody>
          <a:bodyPr>
            <a:normAutofit/>
          </a:bodyPr>
          <a:lstStyle/>
          <a:p>
            <a:r>
              <a:rPr lang="en-US" sz="4400" dirty="0"/>
              <a:t>Specialization is a process of identifying subsets of an entity that share some different characteristic. It is a top down approach in which one entity is broken down into low level entity.</a:t>
            </a:r>
          </a:p>
          <a:p>
            <a:r>
              <a:rPr lang="en-US" sz="4400" dirty="0"/>
              <a:t>Example  :person into employee or student.</a:t>
            </a:r>
          </a:p>
        </p:txBody>
      </p:sp>
    </p:spTree>
    <p:extLst>
      <p:ext uri="{BB962C8B-B14F-4D97-AF65-F5344CB8AC3E}">
        <p14:creationId xmlns:p14="http://schemas.microsoft.com/office/powerpoint/2010/main" val="1545476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D120-FBF2-35ED-42DC-12B1112F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Specialization and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D521-5F57-0C9F-6E54-50CD3DEA6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b="1" dirty="0"/>
              <a:t>Generalization</a:t>
            </a:r>
            <a:r>
              <a:rPr lang="en-US" dirty="0"/>
              <a:t> is a bottom-up abstraction process where multiple entity types with common characteristics are combined into a higher-level, generalized entity type (superclass).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E11873-E417-B221-8187-B1FAC7A8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56" y="2935288"/>
            <a:ext cx="6415088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42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C5EDB-BF24-6141-7B35-B7679E228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685800"/>
            <a:ext cx="11372849" cy="5900738"/>
          </a:xfrm>
        </p:spPr>
        <p:txBody>
          <a:bodyPr>
            <a:normAutofit/>
          </a:bodyPr>
          <a:lstStyle/>
          <a:p>
            <a:r>
              <a:rPr lang="en-US" b="1" dirty="0"/>
              <a:t>Constraints on Generalizations </a:t>
            </a:r>
          </a:p>
          <a:p>
            <a:r>
              <a:rPr lang="en-US" sz="3600" b="1" dirty="0"/>
              <a:t>Disjoint</a:t>
            </a:r>
            <a:r>
              <a:rPr lang="en-US" sz="3600" dirty="0"/>
              <a:t> </a:t>
            </a:r>
          </a:p>
          <a:p>
            <a:r>
              <a:rPr lang="en-US" sz="3600" dirty="0"/>
              <a:t>A dis jointness constraint requires that an entity belong to no more than one lower-level entity set. </a:t>
            </a:r>
          </a:p>
          <a:p>
            <a:r>
              <a:rPr lang="en-US" sz="3600" b="1" dirty="0"/>
              <a:t>Overlapping</a:t>
            </a:r>
            <a:r>
              <a:rPr lang="en-US" sz="3600" dirty="0"/>
              <a:t> </a:t>
            </a:r>
          </a:p>
          <a:p>
            <a:r>
              <a:rPr lang="en-US" sz="3600" dirty="0"/>
              <a:t>In overlapping generalizations, the same entity may belong to more than one lower-level entity set within a single generalization. </a:t>
            </a:r>
          </a:p>
        </p:txBody>
      </p:sp>
    </p:spTree>
    <p:extLst>
      <p:ext uri="{BB962C8B-B14F-4D97-AF65-F5344CB8AC3E}">
        <p14:creationId xmlns:p14="http://schemas.microsoft.com/office/powerpoint/2010/main" val="3677519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C548-2BE8-2D30-89FD-93284F56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CD10F-32E4-87E0-FCDB-2077A623A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relationship between a whole object and its component.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96A43E-4E1D-19BC-0C99-ED8B399E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8" y="2692406"/>
            <a:ext cx="6219826" cy="348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69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4760-2442-8AA4-E3D3-DCF3BBC9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Functional dependencies in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B1174-A41F-7CA8-C5AB-5B467A9D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500188"/>
            <a:ext cx="10625137" cy="486251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Functional dependency is a concept that specifies the relationship between two sets of attributes where one attribute determines the value of another attribute. </a:t>
            </a:r>
          </a:p>
          <a:p>
            <a:endParaRPr lang="en-US" dirty="0"/>
          </a:p>
          <a:p>
            <a:r>
              <a:rPr lang="en-US" dirty="0"/>
              <a:t>It is denoted as X → Y, where the attribute set on the left side of the arrow, X is called Determinant, and Y is called the Dependent.</a:t>
            </a:r>
          </a:p>
        </p:txBody>
      </p:sp>
    </p:spTree>
    <p:extLst>
      <p:ext uri="{BB962C8B-B14F-4D97-AF65-F5344CB8AC3E}">
        <p14:creationId xmlns:p14="http://schemas.microsoft.com/office/powerpoint/2010/main" val="1793964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672EB7-8D5F-B8B7-7EDB-8D72CFA3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786365"/>
              </p:ext>
            </p:extLst>
          </p:nvPr>
        </p:nvGraphicFramePr>
        <p:xfrm>
          <a:off x="180977" y="724101"/>
          <a:ext cx="4248148" cy="3741420"/>
        </p:xfrm>
        <a:graphic>
          <a:graphicData uri="http://schemas.openxmlformats.org/drawingml/2006/table">
            <a:tbl>
              <a:tblPr/>
              <a:tblGrid>
                <a:gridCol w="1062037">
                  <a:extLst>
                    <a:ext uri="{9D8B030D-6E8A-4147-A177-3AD203B41FA5}">
                      <a16:colId xmlns:a16="http://schemas.microsoft.com/office/drawing/2014/main" val="608514052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4127803652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370420724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4223789668"/>
                    </a:ext>
                  </a:extLst>
                </a:gridCol>
              </a:tblGrid>
              <a:tr h="60425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b="1">
                          <a:effectLst/>
                          <a:latin typeface="Nunito" pitchFamily="2" charset="0"/>
                        </a:rPr>
                        <a:t>roll_no</a:t>
                      </a: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b="1">
                          <a:effectLst/>
                          <a:latin typeface="Nunito" pitchFamily="2" charset="0"/>
                        </a:rPr>
                        <a:t>name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b="1">
                          <a:effectLst/>
                          <a:latin typeface="Nunito" pitchFamily="2" charset="0"/>
                        </a:rPr>
                        <a:t>dept_name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b="1">
                          <a:effectLst/>
                          <a:latin typeface="Nunito" pitchFamily="2" charset="0"/>
                        </a:rPr>
                        <a:t>dept_building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394217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42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abc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CO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A4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25509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43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pqr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IT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A3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647108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44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xyz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effectLst/>
                          <a:latin typeface="Nunito" pitchFamily="2" charset="0"/>
                        </a:rPr>
                        <a:t>CO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A4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564320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45 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 err="1">
                          <a:effectLst/>
                          <a:latin typeface="Nunito" pitchFamily="2" charset="0"/>
                        </a:rPr>
                        <a:t>xyz</a:t>
                      </a:r>
                      <a:endParaRPr lang="en-US" sz="1600" b="0" dirty="0">
                        <a:effectLst/>
                        <a:latin typeface="Nunito" pitchFamily="2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IT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effectLst/>
                          <a:latin typeface="Nunito" pitchFamily="2" charset="0"/>
                        </a:rPr>
                        <a:t>A3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5627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46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mno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EC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B2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70304"/>
                  </a:ext>
                </a:extLst>
              </a:tr>
              <a:tr h="48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47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jkl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>
                          <a:effectLst/>
                          <a:latin typeface="Nunito" pitchFamily="2" charset="0"/>
                        </a:rPr>
                        <a:t>ME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effectLst/>
                          <a:latin typeface="Nunito" pitchFamily="2" charset="0"/>
                        </a:rPr>
                        <a:t>B2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2886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A929A47-607A-A963-9484-C4566071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231658"/>
            <a:ext cx="254317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31E06-EAAF-4F3E-41DA-7B426BEAFBF4}"/>
              </a:ext>
            </a:extLst>
          </p:cNvPr>
          <p:cNvSpPr txBox="1"/>
          <p:nvPr/>
        </p:nvSpPr>
        <p:spPr>
          <a:xfrm>
            <a:off x="4805361" y="114300"/>
            <a:ext cx="69532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u="sng" dirty="0">
                <a:solidFill>
                  <a:schemeClr val="accent5">
                    <a:lumMod val="75000"/>
                  </a:schemeClr>
                </a:solidFill>
              </a:rPr>
              <a:t>Valid functional dependencies:</a:t>
            </a:r>
          </a:p>
          <a:p>
            <a:pPr fontAlgn="base"/>
            <a:r>
              <a:rPr lang="en-US" sz="2000" dirty="0">
                <a:solidFill>
                  <a:srgbClr val="FF0000"/>
                </a:solidFill>
              </a:rPr>
              <a:t>rollno → { name, deptname, deptbuilding }→  </a:t>
            </a:r>
            <a:r>
              <a:rPr lang="en-US" sz="2000" dirty="0"/>
              <a:t>Here, roll_no can determine values of fields name, dept_name and dept_building, hence a valid Functional dependency</a:t>
            </a:r>
          </a:p>
          <a:p>
            <a:pPr fontAlgn="base"/>
            <a:r>
              <a:rPr lang="en-US" sz="2000" dirty="0">
                <a:solidFill>
                  <a:srgbClr val="FF0000"/>
                </a:solidFill>
              </a:rPr>
              <a:t>rollno → dept_name </a:t>
            </a:r>
            <a:r>
              <a:rPr lang="en-US" sz="2000" dirty="0"/>
              <a:t>, Since, roll_no can determine whole set of {name, dept_name, dept_building}, it can determine its subset dept_name also.</a:t>
            </a:r>
          </a:p>
          <a:p>
            <a:pPr fontAlgn="base"/>
            <a:r>
              <a:rPr lang="en-US" sz="2000" dirty="0">
                <a:solidFill>
                  <a:srgbClr val="FF0000"/>
                </a:solidFill>
              </a:rPr>
              <a:t>dept_name → </a:t>
            </a:r>
            <a:r>
              <a:rPr lang="en-US" sz="2000" dirty="0"/>
              <a:t>dept_building ,  Dept_name can identify the dept_building accurately.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787FC-4FF9-F52F-A3CE-E3802CABCEB0}"/>
              </a:ext>
            </a:extLst>
          </p:cNvPr>
          <p:cNvSpPr txBox="1"/>
          <p:nvPr/>
        </p:nvSpPr>
        <p:spPr>
          <a:xfrm>
            <a:off x="4695824" y="3365837"/>
            <a:ext cx="71723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5">
                    <a:lumMod val="75000"/>
                  </a:schemeClr>
                </a:solidFill>
              </a:rPr>
              <a:t>Invalid functional dependencies:</a:t>
            </a:r>
          </a:p>
          <a:p>
            <a:pPr fontAlgn="base"/>
            <a:r>
              <a:rPr lang="en-US" sz="2000" dirty="0">
                <a:solidFill>
                  <a:srgbClr val="FF0000"/>
                </a:solidFill>
              </a:rPr>
              <a:t>name → dept_name   </a:t>
            </a:r>
            <a:r>
              <a:rPr lang="en-US" sz="2000" dirty="0"/>
              <a:t>Students with the same name can have different dept_name, hence this is not a valid functional dependency.</a:t>
            </a:r>
          </a:p>
          <a:p>
            <a:pPr fontAlgn="base"/>
            <a:r>
              <a:rPr lang="en-US" sz="2000" dirty="0">
                <a:solidFill>
                  <a:srgbClr val="FF0000"/>
                </a:solidFill>
              </a:rPr>
              <a:t>dept_building → dept_name    </a:t>
            </a:r>
            <a:r>
              <a:rPr lang="en-US" sz="2000" dirty="0"/>
              <a:t>There can be multiple departments in the same building. Example, in the above table departments ME and EC are in the same building B2, hence dept_building → dept_name is an invalid functional dependency.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0187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ED3F-022B-330C-80BC-09BEB681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Lossless Decomposition in DBMS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CE6B3-412D-32D4-623D-7EA031FDE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3" y="1253331"/>
            <a:ext cx="10515600" cy="4351338"/>
          </a:xfrm>
        </p:spPr>
        <p:txBody>
          <a:bodyPr/>
          <a:lstStyle/>
          <a:p>
            <a:r>
              <a:rPr lang="en-US" dirty="0"/>
              <a:t>A lossless decomposition is a process of decomposing a relation schema into multiple relations in such a way that it preserves the information contained in the original relation.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D6530-4FA2-6EE2-26EA-1DD2CB95C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261223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52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DDBF-EFF1-12D0-C5F9-BE4256F9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A392-9122-1988-47EB-BDE727DE8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1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6495</TotalTime>
  <Words>1258</Words>
  <Application>Microsoft Office PowerPoint</Application>
  <PresentationFormat>Widescreen</PresentationFormat>
  <Paragraphs>135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Algerian</vt:lpstr>
      <vt:lpstr>Arial</vt:lpstr>
      <vt:lpstr>Calibri</vt:lpstr>
      <vt:lpstr>Calibri Light</vt:lpstr>
      <vt:lpstr>Nunito</vt:lpstr>
      <vt:lpstr>Times New Roman</vt:lpstr>
      <vt:lpstr>Wingdings</vt:lpstr>
      <vt:lpstr>Office Theme</vt:lpstr>
      <vt:lpstr>UNIT 2</vt:lpstr>
      <vt:lpstr>Entity in DBMS </vt:lpstr>
      <vt:lpstr>The Entity-Relationship Model (ER Model)</vt:lpstr>
      <vt:lpstr>Symbols Used in ER Model </vt:lpstr>
      <vt:lpstr>PowerPoint Presentation</vt:lpstr>
      <vt:lpstr>Types of Entity </vt:lpstr>
      <vt:lpstr>PowerPoint Presentation</vt:lpstr>
      <vt:lpstr>       Types of Attributes Key Attribute: </vt:lpstr>
      <vt:lpstr>Composite Attribute </vt:lpstr>
      <vt:lpstr>Multivalued Attribute </vt:lpstr>
      <vt:lpstr>Derived Attribute </vt:lpstr>
      <vt:lpstr>PowerPoint Presentation</vt:lpstr>
      <vt:lpstr>Degree of a Relationship Set </vt:lpstr>
      <vt:lpstr>PowerPoint Presentation</vt:lpstr>
      <vt:lpstr>Cardinality in DBMS </vt:lpstr>
      <vt:lpstr>Mapping Cardinality </vt:lpstr>
      <vt:lpstr>One-to-One </vt:lpstr>
      <vt:lpstr>One-to-Many </vt:lpstr>
      <vt:lpstr>Many-to-One </vt:lpstr>
      <vt:lpstr>Many-to-Many </vt:lpstr>
      <vt:lpstr>PowerPoint Presentation</vt:lpstr>
      <vt:lpstr>Enhanced-ER Model </vt:lpstr>
      <vt:lpstr>PowerPoint Presentation</vt:lpstr>
      <vt:lpstr>Subclasses and Super class</vt:lpstr>
      <vt:lpstr>PowerPoint Presentation</vt:lpstr>
      <vt:lpstr>Specialization and Generalization</vt:lpstr>
      <vt:lpstr>PowerPoint Presentation</vt:lpstr>
      <vt:lpstr>Aggregation</vt:lpstr>
      <vt:lpstr>Types of Functional dependencies in DBMS </vt:lpstr>
      <vt:lpstr>PowerPoint Presentation</vt:lpstr>
      <vt:lpstr>Lossless Decomposition in DBMS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Berlin</dc:creator>
  <cp:lastModifiedBy>Berlin</cp:lastModifiedBy>
  <cp:revision>7</cp:revision>
  <dcterms:created xsi:type="dcterms:W3CDTF">2026-01-23T15:20:16Z</dcterms:created>
  <dcterms:modified xsi:type="dcterms:W3CDTF">2026-02-02T14:26:11Z</dcterms:modified>
</cp:coreProperties>
</file>
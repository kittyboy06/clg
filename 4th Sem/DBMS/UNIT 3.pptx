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12" autoAdjust="0"/>
    <p:restoredTop sz="94660"/>
  </p:normalViewPr>
  <p:slideViewPr>
    <p:cSldViewPr snapToGrid="0">
      <p:cViewPr varScale="1">
        <p:scale>
          <a:sx n="79" d="100"/>
          <a:sy n="79" d="100"/>
        </p:scale>
        <p:origin x="44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1758AB-5A32-4784-86D3-9CB58404BFA0}" type="datetimeFigureOut">
              <a:rPr lang="en-US" smtClean="0"/>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98E966-2F65-4EB4-87C5-5FFF8ED3B799}" type="slidenum">
              <a:rPr lang="en-US" smtClean="0"/>
              <a:t>‹#›</a:t>
            </a:fld>
            <a:endParaRPr lang="en-US"/>
          </a:p>
        </p:txBody>
      </p:sp>
    </p:spTree>
    <p:extLst>
      <p:ext uri="{BB962C8B-B14F-4D97-AF65-F5344CB8AC3E}">
        <p14:creationId xmlns:p14="http://schemas.microsoft.com/office/powerpoint/2010/main" val="1456712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98E966-2F65-4EB4-87C5-5FFF8ED3B799}" type="slidenum">
              <a:rPr lang="en-US" smtClean="0"/>
              <a:t>32</a:t>
            </a:fld>
            <a:endParaRPr lang="en-US"/>
          </a:p>
        </p:txBody>
      </p:sp>
    </p:spTree>
    <p:extLst>
      <p:ext uri="{BB962C8B-B14F-4D97-AF65-F5344CB8AC3E}">
        <p14:creationId xmlns:p14="http://schemas.microsoft.com/office/powerpoint/2010/main" val="3724625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9281-4DF7-BD8F-C192-AEC934E6754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B811EFC-AF5C-6B51-BE90-BCAFAFBF81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63019AB-7009-F503-2D1E-7D2E51057CB1}"/>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5" name="Footer Placeholder 4">
            <a:extLst>
              <a:ext uri="{FF2B5EF4-FFF2-40B4-BE49-F238E27FC236}">
                <a16:creationId xmlns:a16="http://schemas.microsoft.com/office/drawing/2014/main" id="{6A00E8EE-21B2-C19E-9E6A-53778449BB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E0689-79CC-1EB3-F04D-C3374D73ED23}"/>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771777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5574A-FF8A-5CA1-F1D3-D0F7278C35C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C9F41F3-3BEF-3CD3-FF6C-02B593B37D8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FF666D-83EC-96A3-EB07-5BB0C980F6B3}"/>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5" name="Footer Placeholder 4">
            <a:extLst>
              <a:ext uri="{FF2B5EF4-FFF2-40B4-BE49-F238E27FC236}">
                <a16:creationId xmlns:a16="http://schemas.microsoft.com/office/drawing/2014/main" id="{9DF1BC8B-CB53-58A0-3818-3AD6202209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87FC69-F31B-7301-6439-7AA6A09EE043}"/>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3629881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EBAB3-0066-43C0-7247-7509D56CD5C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E2E36B2-4C63-220A-DBA4-9C94D5637F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0FC89E8-F82E-8D01-FD60-EE18A0FC4B62}"/>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5" name="Footer Placeholder 4">
            <a:extLst>
              <a:ext uri="{FF2B5EF4-FFF2-40B4-BE49-F238E27FC236}">
                <a16:creationId xmlns:a16="http://schemas.microsoft.com/office/drawing/2014/main" id="{AF5429D7-1C2E-D29E-3740-C288A4B98B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B25B03-C261-36B4-B1A5-2D38A3719284}"/>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830182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2BF3A-55D3-3E1F-6FEB-631D1A90059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3DDA8BE-C519-80C1-B2C9-9EFC85BF29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40CCBB8-2DA4-D164-FF20-0F1FD508C49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20ABC2F-FAB7-8E8C-B6CF-8396BFE5F1CC}"/>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6" name="Footer Placeholder 5">
            <a:extLst>
              <a:ext uri="{FF2B5EF4-FFF2-40B4-BE49-F238E27FC236}">
                <a16:creationId xmlns:a16="http://schemas.microsoft.com/office/drawing/2014/main" id="{44808564-48A2-D7D0-C67B-34DF58C81C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604C32-BF85-3593-1C78-CDDB52F4588A}"/>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1691711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8F754-6347-29D6-099B-0F4426EDC19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DA91020-011E-D8D8-8517-EDE0E7433F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04B5912-4F90-B1DA-CF7D-5EEB4FDF9B6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9FC7964-5709-FA0C-8394-4E93E4478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C55B324-D1DA-F711-0C94-B0ADBADE990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C0DC84F-C957-2555-52FF-03185B9E4F70}"/>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8" name="Footer Placeholder 7">
            <a:extLst>
              <a:ext uri="{FF2B5EF4-FFF2-40B4-BE49-F238E27FC236}">
                <a16:creationId xmlns:a16="http://schemas.microsoft.com/office/drawing/2014/main" id="{4BA2B096-3283-64DE-B6BA-C7189003F2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F7ED79-03AC-099E-9933-B7FD6BA67144}"/>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391606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8BA75-AD57-025C-436F-AB3A3043BE3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0ED64B3-489B-2D08-F371-4BD245930785}"/>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4" name="Footer Placeholder 3">
            <a:extLst>
              <a:ext uri="{FF2B5EF4-FFF2-40B4-BE49-F238E27FC236}">
                <a16:creationId xmlns:a16="http://schemas.microsoft.com/office/drawing/2014/main" id="{B12E28C8-9C99-EA9D-5FF3-309E5F461C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3ABE25-9350-0510-98AC-714A6D56768A}"/>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1532869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E3A97E-1D50-73E8-DE15-B156E6B7D07E}"/>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3" name="Footer Placeholder 2">
            <a:extLst>
              <a:ext uri="{FF2B5EF4-FFF2-40B4-BE49-F238E27FC236}">
                <a16:creationId xmlns:a16="http://schemas.microsoft.com/office/drawing/2014/main" id="{CAF7B3C9-65CE-D92D-BA77-9C3705083E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0CB9C5-6412-D00E-2B15-FF1FED543139}"/>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3366217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DC2A8-01C2-2E4A-FA8C-9C2C63608AF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514832B-CD91-B515-678E-A30C48BEA9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4C6F917-B70B-7DBB-3753-B8F5753185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7DF05BE-9D86-64F4-346B-44AC82F021A0}"/>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6" name="Footer Placeholder 5">
            <a:extLst>
              <a:ext uri="{FF2B5EF4-FFF2-40B4-BE49-F238E27FC236}">
                <a16:creationId xmlns:a16="http://schemas.microsoft.com/office/drawing/2014/main" id="{39F22D0F-6BF2-9945-6114-DBABF432C3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8BC81A-CF83-8769-98FC-A82001174EEF}"/>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3050640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0DCC2-1D3A-DB2A-9EA7-2F25DEE45B5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34CDEE0-717A-55A9-9862-720C8D3344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56A530-A394-945E-9AA3-D8AE1DAC63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21C97F0-9D1F-FFE3-0097-E26512589FA8}"/>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6" name="Footer Placeholder 5">
            <a:extLst>
              <a:ext uri="{FF2B5EF4-FFF2-40B4-BE49-F238E27FC236}">
                <a16:creationId xmlns:a16="http://schemas.microsoft.com/office/drawing/2014/main" id="{4C15EF56-FAE7-1664-51C0-45C589A3E0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BED85A-9877-9358-88D0-E917A3354911}"/>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930263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6C92B-05D1-22DE-64FC-FA466865FAE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4BCC374-0846-1637-437C-2A87BB18625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D42C84E-C6A5-C9B8-3D3B-6BA96999F0A4}"/>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5" name="Footer Placeholder 4">
            <a:extLst>
              <a:ext uri="{FF2B5EF4-FFF2-40B4-BE49-F238E27FC236}">
                <a16:creationId xmlns:a16="http://schemas.microsoft.com/office/drawing/2014/main" id="{6B588FE9-EC29-C191-93BE-AAFBDF1917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3E1BF3-918D-5EF8-715B-6C7E84A3C8CD}"/>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2408973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2A6974-FDA8-82E1-80A3-D9B4F05FF0A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3C3005A-DDE5-BD01-1D6A-8984B056424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D1CA52-6E70-112C-BD69-449EF80B4EC5}"/>
              </a:ext>
            </a:extLst>
          </p:cNvPr>
          <p:cNvSpPr>
            <a:spLocks noGrp="1"/>
          </p:cNvSpPr>
          <p:nvPr>
            <p:ph type="dt" sz="half" idx="10"/>
          </p:nvPr>
        </p:nvSpPr>
        <p:spPr/>
        <p:txBody>
          <a:bodyPr/>
          <a:lstStyle/>
          <a:p>
            <a:fld id="{6A9EB0FE-C714-43AE-9983-FAFEEA465627}" type="datetimeFigureOut">
              <a:rPr lang="en-US" smtClean="0"/>
              <a:t>2/24/2026</a:t>
            </a:fld>
            <a:endParaRPr lang="en-US"/>
          </a:p>
        </p:txBody>
      </p:sp>
      <p:sp>
        <p:nvSpPr>
          <p:cNvPr id="5" name="Footer Placeholder 4">
            <a:extLst>
              <a:ext uri="{FF2B5EF4-FFF2-40B4-BE49-F238E27FC236}">
                <a16:creationId xmlns:a16="http://schemas.microsoft.com/office/drawing/2014/main" id="{FF2D949C-6B63-BDDF-C8B1-FDB8B09E2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A0CC0D-6554-DB2D-2C46-4296370FCE55}"/>
              </a:ext>
            </a:extLst>
          </p:cNvPr>
          <p:cNvSpPr>
            <a:spLocks noGrp="1"/>
          </p:cNvSpPr>
          <p:nvPr>
            <p:ph type="sldNum" sz="quarter" idx="12"/>
          </p:nvPr>
        </p:nvSpPr>
        <p:spPr/>
        <p:txBody>
          <a:bodyPr/>
          <a:lstStyle/>
          <a:p>
            <a:fld id="{6E1B2441-2AB5-4C18-B2BE-B56AD65E74A2}" type="slidenum">
              <a:rPr lang="en-US" smtClean="0"/>
              <a:t>‹#›</a:t>
            </a:fld>
            <a:endParaRPr lang="en-US"/>
          </a:p>
        </p:txBody>
      </p:sp>
    </p:spTree>
    <p:extLst>
      <p:ext uri="{BB962C8B-B14F-4D97-AF65-F5344CB8AC3E}">
        <p14:creationId xmlns:p14="http://schemas.microsoft.com/office/powerpoint/2010/main" val="828639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D16B58-C99E-AE7F-9D6C-5EC1361EE8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0C99616-CA72-1E64-5F08-B7BA9D5BCD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6C4038-0D35-BBB9-942F-365E206A9A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9EB0FE-C714-43AE-9983-FAFEEA465627}" type="datetimeFigureOut">
              <a:rPr lang="en-US" smtClean="0"/>
              <a:t>2/24/2026</a:t>
            </a:fld>
            <a:endParaRPr lang="en-US"/>
          </a:p>
        </p:txBody>
      </p:sp>
      <p:sp>
        <p:nvSpPr>
          <p:cNvPr id="5" name="Footer Placeholder 4">
            <a:extLst>
              <a:ext uri="{FF2B5EF4-FFF2-40B4-BE49-F238E27FC236}">
                <a16:creationId xmlns:a16="http://schemas.microsoft.com/office/drawing/2014/main" id="{55906F2F-9F76-52C8-935E-A8D64BF6C2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5E243BE-6DFC-F9D9-0978-D7446CA68B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B2441-2AB5-4C18-B2BE-B56AD65E74A2}" type="slidenum">
              <a:rPr lang="en-US" smtClean="0"/>
              <a:t>‹#›</a:t>
            </a:fld>
            <a:endParaRPr lang="en-US"/>
          </a:p>
        </p:txBody>
      </p:sp>
    </p:spTree>
    <p:extLst>
      <p:ext uri="{BB962C8B-B14F-4D97-AF65-F5344CB8AC3E}">
        <p14:creationId xmlns:p14="http://schemas.microsoft.com/office/powerpoint/2010/main" val="151907702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gatevidyalay.com/cascading-schedule-cascading-rollback-cascadeless-schedule/" TargetMode="External"/><Relationship Id="rId2" Type="http://schemas.openxmlformats.org/officeDocument/2006/relationships/hyperlink" Target="https://www.gatevidyalay.com/recoverable-schedules-irrecoverable-schedules-non-serializable-schedule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CCAC5-5A98-ED8C-52CE-8A65F643F742}"/>
              </a:ext>
            </a:extLst>
          </p:cNvPr>
          <p:cNvSpPr>
            <a:spLocks noGrp="1"/>
          </p:cNvSpPr>
          <p:nvPr>
            <p:ph type="ctrTitle"/>
          </p:nvPr>
        </p:nvSpPr>
        <p:spPr/>
        <p:txBody>
          <a:bodyPr/>
          <a:lstStyle/>
          <a:p>
            <a:r>
              <a:rPr lang="en-US" dirty="0"/>
              <a:t>UNIT 3</a:t>
            </a:r>
          </a:p>
        </p:txBody>
      </p:sp>
      <p:sp>
        <p:nvSpPr>
          <p:cNvPr id="3" name="Subtitle 2">
            <a:extLst>
              <a:ext uri="{FF2B5EF4-FFF2-40B4-BE49-F238E27FC236}">
                <a16:creationId xmlns:a16="http://schemas.microsoft.com/office/drawing/2014/main" id="{9D897F4F-0D42-4CC3-DC15-A8083C4EE249}"/>
              </a:ext>
            </a:extLst>
          </p:cNvPr>
          <p:cNvSpPr>
            <a:spLocks noGrp="1"/>
          </p:cNvSpPr>
          <p:nvPr>
            <p:ph type="subTitle" idx="1"/>
          </p:nvPr>
        </p:nvSpPr>
        <p:spPr/>
        <p:txBody>
          <a:bodyPr>
            <a:normAutofit/>
          </a:bodyPr>
          <a:lstStyle/>
          <a:p>
            <a:r>
              <a:rPr lang="en-US" sz="3600" dirty="0">
                <a:latin typeface="Times New Roman" panose="02020603050405020304" pitchFamily="18" charset="0"/>
                <a:cs typeface="Times New Roman" panose="02020603050405020304" pitchFamily="18" charset="0"/>
              </a:rPr>
              <a:t>TRANSACTION PROCESSING</a:t>
            </a:r>
          </a:p>
        </p:txBody>
      </p:sp>
    </p:spTree>
    <p:extLst>
      <p:ext uri="{BB962C8B-B14F-4D97-AF65-F5344CB8AC3E}">
        <p14:creationId xmlns:p14="http://schemas.microsoft.com/office/powerpoint/2010/main" val="1770363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74DD-7D7C-4D39-FE9B-B67DFF80EBEE}"/>
              </a:ext>
            </a:extLst>
          </p:cNvPr>
          <p:cNvSpPr>
            <a:spLocks noGrp="1"/>
          </p:cNvSpPr>
          <p:nvPr>
            <p:ph type="title"/>
          </p:nvPr>
        </p:nvSpPr>
        <p:spPr/>
        <p:txBody>
          <a:bodyPr/>
          <a:lstStyle/>
          <a:p>
            <a:r>
              <a:rPr lang="en-US" b="1" dirty="0"/>
              <a:t>Transaction in DBMS</a:t>
            </a:r>
            <a:br>
              <a:rPr lang="en-US" b="1" dirty="0"/>
            </a:br>
            <a:endParaRPr lang="en-US" dirty="0"/>
          </a:p>
        </p:txBody>
      </p:sp>
      <p:sp>
        <p:nvSpPr>
          <p:cNvPr id="3" name="Content Placeholder 2">
            <a:extLst>
              <a:ext uri="{FF2B5EF4-FFF2-40B4-BE49-F238E27FC236}">
                <a16:creationId xmlns:a16="http://schemas.microsoft.com/office/drawing/2014/main" id="{CA4A7A0C-AD50-63B2-82B7-E7F766B1CA4D}"/>
              </a:ext>
            </a:extLst>
          </p:cNvPr>
          <p:cNvSpPr>
            <a:spLocks noGrp="1"/>
          </p:cNvSpPr>
          <p:nvPr>
            <p:ph idx="1"/>
          </p:nvPr>
        </p:nvSpPr>
        <p:spPr/>
        <p:txBody>
          <a:bodyPr/>
          <a:lstStyle/>
          <a:p>
            <a:r>
              <a:rPr lang="en-US" dirty="0"/>
              <a:t>A transaction refers to a sequence of one or more operations (such as read, write, update, or delete) performed on the database as a single logical unit of work.</a:t>
            </a:r>
          </a:p>
          <a:p>
            <a:pPr fontAlgn="base"/>
            <a:r>
              <a:rPr lang="en-US" dirty="0"/>
              <a:t>A transaction ensures that either all the operations are successfully executed (committed) or none of them take effect (rolled back).</a:t>
            </a:r>
          </a:p>
          <a:p>
            <a:pPr fontAlgn="base"/>
            <a:r>
              <a:rPr lang="en-US" dirty="0"/>
              <a:t>Transactions are designed to maintain the integrity, consistency and reliability of the database, even in the case of system failures or concurrent access.</a:t>
            </a:r>
          </a:p>
          <a:p>
            <a:endParaRPr lang="en-US" dirty="0"/>
          </a:p>
        </p:txBody>
      </p:sp>
    </p:spTree>
    <p:extLst>
      <p:ext uri="{BB962C8B-B14F-4D97-AF65-F5344CB8AC3E}">
        <p14:creationId xmlns:p14="http://schemas.microsoft.com/office/powerpoint/2010/main" val="254416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78D32C-2FE8-22FB-6D7D-0CB87151251B}"/>
              </a:ext>
            </a:extLst>
          </p:cNvPr>
          <p:cNvPicPr>
            <a:picLocks noGrp="1" noChangeAspect="1"/>
          </p:cNvPicPr>
          <p:nvPr>
            <p:ph idx="1"/>
          </p:nvPr>
        </p:nvPicPr>
        <p:blipFill>
          <a:blip r:embed="rId2"/>
          <a:stretch>
            <a:fillRect/>
          </a:stretch>
        </p:blipFill>
        <p:spPr>
          <a:xfrm>
            <a:off x="1771650" y="1524000"/>
            <a:ext cx="8801100" cy="4400550"/>
          </a:xfrm>
          <a:prstGeom prst="rect">
            <a:avLst/>
          </a:prstGeom>
        </p:spPr>
      </p:pic>
    </p:spTree>
    <p:extLst>
      <p:ext uri="{BB962C8B-B14F-4D97-AF65-F5344CB8AC3E}">
        <p14:creationId xmlns:p14="http://schemas.microsoft.com/office/powerpoint/2010/main" val="1132014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FFB13-ECAC-58AD-30DB-BA31378ED736}"/>
              </a:ext>
            </a:extLst>
          </p:cNvPr>
          <p:cNvSpPr>
            <a:spLocks noGrp="1"/>
          </p:cNvSpPr>
          <p:nvPr>
            <p:ph type="title"/>
          </p:nvPr>
        </p:nvSpPr>
        <p:spPr/>
        <p:txBody>
          <a:bodyPr>
            <a:normAutofit/>
          </a:bodyPr>
          <a:lstStyle/>
          <a:p>
            <a:r>
              <a:rPr lang="en-US" dirty="0"/>
              <a:t>Transaction Steps (as a single unit):</a:t>
            </a:r>
            <a:br>
              <a:rPr lang="en-US" dirty="0"/>
            </a:br>
            <a:endParaRPr lang="en-US" dirty="0"/>
          </a:p>
        </p:txBody>
      </p:sp>
      <p:sp>
        <p:nvSpPr>
          <p:cNvPr id="3" name="Content Placeholder 2">
            <a:extLst>
              <a:ext uri="{FF2B5EF4-FFF2-40B4-BE49-F238E27FC236}">
                <a16:creationId xmlns:a16="http://schemas.microsoft.com/office/drawing/2014/main" id="{B69881BA-2564-5923-F6DA-3FFFD218D11D}"/>
              </a:ext>
            </a:extLst>
          </p:cNvPr>
          <p:cNvSpPr>
            <a:spLocks noGrp="1"/>
          </p:cNvSpPr>
          <p:nvPr>
            <p:ph idx="1"/>
          </p:nvPr>
        </p:nvSpPr>
        <p:spPr>
          <a:xfrm>
            <a:off x="838200" y="1454150"/>
            <a:ext cx="8029575" cy="4832350"/>
          </a:xfrm>
        </p:spPr>
        <p:txBody>
          <a:bodyPr/>
          <a:lstStyle/>
          <a:p>
            <a:r>
              <a:rPr lang="en-US" dirty="0"/>
              <a:t>Read: balance of Account A.</a:t>
            </a:r>
          </a:p>
          <a:p>
            <a:r>
              <a:rPr lang="en-US" dirty="0"/>
              <a:t>Subtract: $100 from Account A's balance.</a:t>
            </a:r>
          </a:p>
          <a:p>
            <a:r>
              <a:rPr lang="en-US" dirty="0"/>
              <a:t>Write: the new balance back to Account A.</a:t>
            </a:r>
          </a:p>
          <a:p>
            <a:r>
              <a:rPr lang="en-US" dirty="0"/>
              <a:t>Read: balance of Account B.</a:t>
            </a:r>
          </a:p>
          <a:p>
            <a:r>
              <a:rPr lang="en-US" dirty="0"/>
              <a:t>Add: $100 to Account B's balance.</a:t>
            </a:r>
          </a:p>
          <a:p>
            <a:r>
              <a:rPr lang="en-US" dirty="0"/>
              <a:t>Write: the new balance back to Account B.</a:t>
            </a:r>
          </a:p>
        </p:txBody>
      </p:sp>
    </p:spTree>
    <p:extLst>
      <p:ext uri="{BB962C8B-B14F-4D97-AF65-F5344CB8AC3E}">
        <p14:creationId xmlns:p14="http://schemas.microsoft.com/office/powerpoint/2010/main" val="3038006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9D62-FFAB-B87D-2BC5-2EEE579F077F}"/>
              </a:ext>
            </a:extLst>
          </p:cNvPr>
          <p:cNvSpPr>
            <a:spLocks noGrp="1"/>
          </p:cNvSpPr>
          <p:nvPr>
            <p:ph type="title"/>
          </p:nvPr>
        </p:nvSpPr>
        <p:spPr/>
        <p:txBody>
          <a:bodyPr/>
          <a:lstStyle/>
          <a:p>
            <a:r>
              <a:rPr lang="en-US" b="1" dirty="0"/>
              <a:t>ACID Properties</a:t>
            </a:r>
            <a:endParaRPr lang="en-US" dirty="0"/>
          </a:p>
        </p:txBody>
      </p:sp>
      <p:sp>
        <p:nvSpPr>
          <p:cNvPr id="3" name="Content Placeholder 2">
            <a:extLst>
              <a:ext uri="{FF2B5EF4-FFF2-40B4-BE49-F238E27FC236}">
                <a16:creationId xmlns:a16="http://schemas.microsoft.com/office/drawing/2014/main" id="{97727CBC-EC25-025F-7928-1E12183F815B}"/>
              </a:ext>
            </a:extLst>
          </p:cNvPr>
          <p:cNvSpPr>
            <a:spLocks noGrp="1"/>
          </p:cNvSpPr>
          <p:nvPr>
            <p:ph idx="1"/>
          </p:nvPr>
        </p:nvSpPr>
        <p:spPr>
          <a:xfrm>
            <a:off x="595313" y="1609726"/>
            <a:ext cx="10515600" cy="4667250"/>
          </a:xfrm>
        </p:spPr>
        <p:txBody>
          <a:bodyPr>
            <a:normAutofit lnSpcReduction="10000"/>
          </a:bodyPr>
          <a:lstStyle/>
          <a:p>
            <a:r>
              <a:rPr lang="en-US" dirty="0"/>
              <a:t>Atomicity (All or Nothing): Either all steps complete successfully, or none of them do. If the system crashes after debiting Account A but before crediting Account B, the entire transaction is rolled back, and Account A's balance is restored.</a:t>
            </a:r>
          </a:p>
          <a:p>
            <a:r>
              <a:rPr lang="en-US" dirty="0"/>
              <a:t>Consistency: The database moves from one valid state (e.g., $1000 in A, $500 in B) to another valid state (e.g., $900 in A, $600 in B), maintaining rules like total money in the system remaining constant.</a:t>
            </a:r>
          </a:p>
          <a:p>
            <a:r>
              <a:rPr lang="en-US" dirty="0"/>
              <a:t>Isolation: If another user tries to access Account A or B during this transfer, they won't see the intermediate, incomplete state (e.g., Account A's new balance before Account B is updated).</a:t>
            </a:r>
          </a:p>
          <a:p>
            <a:r>
              <a:rPr lang="en-US" dirty="0"/>
              <a:t>Durability: Once the transaction is successfully committed (all steps done), the changes are permanent and survive system failures.</a:t>
            </a:r>
          </a:p>
        </p:txBody>
      </p:sp>
    </p:spTree>
    <p:extLst>
      <p:ext uri="{BB962C8B-B14F-4D97-AF65-F5344CB8AC3E}">
        <p14:creationId xmlns:p14="http://schemas.microsoft.com/office/powerpoint/2010/main" val="2659117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31B49-F59E-2948-B9B2-B8B9C055D8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5EC974-4403-0255-8694-074FE326CB24}"/>
              </a:ext>
            </a:extLst>
          </p:cNvPr>
          <p:cNvSpPr>
            <a:spLocks noGrp="1"/>
          </p:cNvSpPr>
          <p:nvPr>
            <p:ph idx="1"/>
          </p:nvPr>
        </p:nvSpPr>
        <p:spPr/>
        <p:txBody>
          <a:bodyPr/>
          <a:lstStyle/>
          <a:p>
            <a:r>
              <a:rPr lang="en-US" dirty="0"/>
              <a:t>E.g. transaction to transfer $50 from account A to account B: </a:t>
            </a:r>
          </a:p>
          <a:p>
            <a:r>
              <a:rPr lang="en-US" dirty="0"/>
              <a:t>1. read(A)</a:t>
            </a:r>
          </a:p>
          <a:p>
            <a:r>
              <a:rPr lang="en-US" dirty="0"/>
              <a:t> 2. A := A – 50 </a:t>
            </a:r>
          </a:p>
          <a:p>
            <a:r>
              <a:rPr lang="en-US" dirty="0"/>
              <a:t>3. write(A) </a:t>
            </a:r>
          </a:p>
          <a:p>
            <a:r>
              <a:rPr lang="en-US" dirty="0"/>
              <a:t>4. read(B)</a:t>
            </a:r>
          </a:p>
          <a:p>
            <a:r>
              <a:rPr lang="en-US" dirty="0"/>
              <a:t>5. B := B + 50 </a:t>
            </a:r>
          </a:p>
          <a:p>
            <a:r>
              <a:rPr lang="en-US" dirty="0"/>
              <a:t>6. write(B) </a:t>
            </a:r>
          </a:p>
        </p:txBody>
      </p:sp>
    </p:spTree>
    <p:extLst>
      <p:ext uri="{BB962C8B-B14F-4D97-AF65-F5344CB8AC3E}">
        <p14:creationId xmlns:p14="http://schemas.microsoft.com/office/powerpoint/2010/main" val="2270419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CD713-8FCA-C9D7-61F8-12E6ABC51F58}"/>
              </a:ext>
            </a:extLst>
          </p:cNvPr>
          <p:cNvSpPr>
            <a:spLocks noGrp="1"/>
          </p:cNvSpPr>
          <p:nvPr>
            <p:ph type="title"/>
          </p:nvPr>
        </p:nvSpPr>
        <p:spPr/>
        <p:txBody>
          <a:bodyPr/>
          <a:lstStyle/>
          <a:p>
            <a:r>
              <a:rPr lang="en-US" b="1" dirty="0"/>
              <a:t>Types of Schedules in DBMS</a:t>
            </a:r>
            <a:br>
              <a:rPr lang="en-US" b="1" dirty="0"/>
            </a:br>
            <a:endParaRPr lang="en-US" dirty="0"/>
          </a:p>
        </p:txBody>
      </p:sp>
      <p:sp>
        <p:nvSpPr>
          <p:cNvPr id="3" name="Content Placeholder 2">
            <a:extLst>
              <a:ext uri="{FF2B5EF4-FFF2-40B4-BE49-F238E27FC236}">
                <a16:creationId xmlns:a16="http://schemas.microsoft.com/office/drawing/2014/main" id="{E667B4E8-67AA-CF07-9DE8-107F2C1D216E}"/>
              </a:ext>
            </a:extLst>
          </p:cNvPr>
          <p:cNvSpPr>
            <a:spLocks noGrp="1"/>
          </p:cNvSpPr>
          <p:nvPr>
            <p:ph idx="1"/>
          </p:nvPr>
        </p:nvSpPr>
        <p:spPr>
          <a:xfrm>
            <a:off x="838200" y="1139825"/>
            <a:ext cx="10515600" cy="4351338"/>
          </a:xfrm>
        </p:spPr>
        <p:txBody>
          <a:bodyPr/>
          <a:lstStyle/>
          <a:p>
            <a:r>
              <a:rPr lang="en-US" dirty="0"/>
              <a:t>Scheduling is the process of determining the order in which transactions are executed. </a:t>
            </a:r>
          </a:p>
          <a:p>
            <a:r>
              <a:rPr lang="en-US" dirty="0"/>
              <a:t>When multiple transactions run concurrently, scheduling ensures that operations are executed in a way that prevents conflicts or overlaps between them.</a:t>
            </a:r>
          </a:p>
        </p:txBody>
      </p:sp>
      <p:pic>
        <p:nvPicPr>
          <p:cNvPr id="4" name="Picture 3">
            <a:extLst>
              <a:ext uri="{FF2B5EF4-FFF2-40B4-BE49-F238E27FC236}">
                <a16:creationId xmlns:a16="http://schemas.microsoft.com/office/drawing/2014/main" id="{FE2A85CC-87E7-33AC-16A0-27CD1E69DBF3}"/>
              </a:ext>
            </a:extLst>
          </p:cNvPr>
          <p:cNvPicPr>
            <a:picLocks noChangeAspect="1"/>
          </p:cNvPicPr>
          <p:nvPr/>
        </p:nvPicPr>
        <p:blipFill>
          <a:blip r:embed="rId2"/>
          <a:stretch>
            <a:fillRect/>
          </a:stretch>
        </p:blipFill>
        <p:spPr>
          <a:xfrm>
            <a:off x="3443288" y="2995612"/>
            <a:ext cx="7372350" cy="3686175"/>
          </a:xfrm>
          <a:prstGeom prst="rect">
            <a:avLst/>
          </a:prstGeom>
        </p:spPr>
      </p:pic>
    </p:spTree>
    <p:extLst>
      <p:ext uri="{BB962C8B-B14F-4D97-AF65-F5344CB8AC3E}">
        <p14:creationId xmlns:p14="http://schemas.microsoft.com/office/powerpoint/2010/main" val="299950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B3562E-CCF3-7F5C-ECA3-CA4ECCA3807D}"/>
              </a:ext>
            </a:extLst>
          </p:cNvPr>
          <p:cNvSpPr>
            <a:spLocks noGrp="1"/>
          </p:cNvSpPr>
          <p:nvPr>
            <p:ph idx="1"/>
          </p:nvPr>
        </p:nvSpPr>
        <p:spPr>
          <a:xfrm>
            <a:off x="666750" y="368300"/>
            <a:ext cx="10515600" cy="4351338"/>
          </a:xfrm>
        </p:spPr>
        <p:txBody>
          <a:bodyPr/>
          <a:lstStyle/>
          <a:p>
            <a:r>
              <a:rPr lang="en-US" b="1" dirty="0"/>
              <a:t>Serial Schedule:</a:t>
            </a:r>
          </a:p>
          <a:p>
            <a:pPr lvl="1"/>
            <a:r>
              <a:rPr lang="en-US" b="1" dirty="0"/>
              <a:t>Only one transaction runs at a time.</a:t>
            </a:r>
          </a:p>
          <a:p>
            <a:pPr lvl="1"/>
            <a:r>
              <a:rPr lang="en-US" b="1" dirty="0"/>
              <a:t>No concurrency issues.</a:t>
            </a:r>
          </a:p>
          <a:p>
            <a:pPr lvl="1"/>
            <a:r>
              <a:rPr lang="en-US" b="1" dirty="0"/>
              <a:t>Simple and always consistent.</a:t>
            </a:r>
          </a:p>
          <a:p>
            <a:r>
              <a:rPr lang="en-US" b="1" dirty="0"/>
              <a:t>Example: Consider the following schedule involving two transactions T1 and T2 .</a:t>
            </a:r>
          </a:p>
          <a:p>
            <a:pPr marL="0" indent="0">
              <a:buNone/>
            </a:pPr>
            <a:endParaRPr lang="en-US" b="1" dirty="0"/>
          </a:p>
          <a:p>
            <a:endParaRPr lang="en-US" b="1" dirty="0"/>
          </a:p>
          <a:p>
            <a:endParaRPr lang="en-US" dirty="0"/>
          </a:p>
        </p:txBody>
      </p:sp>
      <p:pic>
        <p:nvPicPr>
          <p:cNvPr id="4" name="Picture 3">
            <a:extLst>
              <a:ext uri="{FF2B5EF4-FFF2-40B4-BE49-F238E27FC236}">
                <a16:creationId xmlns:a16="http://schemas.microsoft.com/office/drawing/2014/main" id="{FC46B897-4E9A-86F1-27E3-9EF138E5F201}"/>
              </a:ext>
            </a:extLst>
          </p:cNvPr>
          <p:cNvPicPr>
            <a:picLocks noChangeAspect="1"/>
          </p:cNvPicPr>
          <p:nvPr/>
        </p:nvPicPr>
        <p:blipFill>
          <a:blip r:embed="rId2"/>
          <a:stretch>
            <a:fillRect/>
          </a:stretch>
        </p:blipFill>
        <p:spPr>
          <a:xfrm>
            <a:off x="2238374" y="3014662"/>
            <a:ext cx="4000500" cy="2971800"/>
          </a:xfrm>
          <a:prstGeom prst="rect">
            <a:avLst/>
          </a:prstGeom>
        </p:spPr>
      </p:pic>
    </p:spTree>
    <p:extLst>
      <p:ext uri="{BB962C8B-B14F-4D97-AF65-F5344CB8AC3E}">
        <p14:creationId xmlns:p14="http://schemas.microsoft.com/office/powerpoint/2010/main" val="3313742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12690E-5042-F59D-452B-A6532A496BD1}"/>
              </a:ext>
            </a:extLst>
          </p:cNvPr>
          <p:cNvSpPr>
            <a:spLocks noGrp="1"/>
          </p:cNvSpPr>
          <p:nvPr>
            <p:ph idx="1"/>
          </p:nvPr>
        </p:nvSpPr>
        <p:spPr>
          <a:xfrm>
            <a:off x="1038225" y="499268"/>
            <a:ext cx="10515600" cy="4351338"/>
          </a:xfrm>
        </p:spPr>
        <p:txBody>
          <a:bodyPr/>
          <a:lstStyle/>
          <a:p>
            <a:pPr fontAlgn="base"/>
            <a:r>
              <a:rPr lang="en-US" b="1" dirty="0"/>
              <a:t>Non-Serial Schedule</a:t>
            </a:r>
          </a:p>
          <a:p>
            <a:pPr fontAlgn="base"/>
            <a:r>
              <a:rPr lang="en-US" dirty="0"/>
              <a:t>Transactions execute in an interleaved manner in Non-Serial Schedule.</a:t>
            </a:r>
          </a:p>
          <a:p>
            <a:pPr fontAlgn="base"/>
            <a:r>
              <a:rPr lang="en-US" dirty="0"/>
              <a:t>Allows concurrency.</a:t>
            </a:r>
          </a:p>
          <a:p>
            <a:pPr fontAlgn="base"/>
            <a:r>
              <a:rPr lang="en-US" dirty="0"/>
              <a:t>Must be checked for correctness.</a:t>
            </a:r>
          </a:p>
          <a:p>
            <a:pPr fontAlgn="base"/>
            <a:r>
              <a:rPr lang="en-US" dirty="0"/>
              <a:t>May or may not be serializable.</a:t>
            </a:r>
          </a:p>
          <a:p>
            <a:endParaRPr lang="en-US" dirty="0"/>
          </a:p>
        </p:txBody>
      </p:sp>
      <p:pic>
        <p:nvPicPr>
          <p:cNvPr id="4" name="Picture 3">
            <a:extLst>
              <a:ext uri="{FF2B5EF4-FFF2-40B4-BE49-F238E27FC236}">
                <a16:creationId xmlns:a16="http://schemas.microsoft.com/office/drawing/2014/main" id="{8902755B-395C-7374-0257-EC4744058DAD}"/>
              </a:ext>
            </a:extLst>
          </p:cNvPr>
          <p:cNvPicPr>
            <a:picLocks noChangeAspect="1"/>
          </p:cNvPicPr>
          <p:nvPr/>
        </p:nvPicPr>
        <p:blipFill>
          <a:blip r:embed="rId2"/>
          <a:stretch>
            <a:fillRect/>
          </a:stretch>
        </p:blipFill>
        <p:spPr>
          <a:xfrm>
            <a:off x="2185988" y="3429000"/>
            <a:ext cx="6943725" cy="3368617"/>
          </a:xfrm>
          <a:prstGeom prst="rect">
            <a:avLst/>
          </a:prstGeom>
        </p:spPr>
      </p:pic>
    </p:spTree>
    <p:extLst>
      <p:ext uri="{BB962C8B-B14F-4D97-AF65-F5344CB8AC3E}">
        <p14:creationId xmlns:p14="http://schemas.microsoft.com/office/powerpoint/2010/main" val="1023233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6C1E-2978-9939-E433-AEE036990DBF}"/>
              </a:ext>
            </a:extLst>
          </p:cNvPr>
          <p:cNvSpPr>
            <a:spLocks noGrp="1"/>
          </p:cNvSpPr>
          <p:nvPr>
            <p:ph type="title"/>
          </p:nvPr>
        </p:nvSpPr>
        <p:spPr/>
        <p:txBody>
          <a:bodyPr/>
          <a:lstStyle/>
          <a:p>
            <a:r>
              <a:rPr lang="en-US" b="1" u="sng" dirty="0"/>
              <a:t>Serializability in DBMS-</a:t>
            </a:r>
            <a:br>
              <a:rPr lang="en-US" b="1" dirty="0"/>
            </a:br>
            <a:endParaRPr lang="en-US" dirty="0"/>
          </a:p>
        </p:txBody>
      </p:sp>
      <p:sp>
        <p:nvSpPr>
          <p:cNvPr id="3" name="Content Placeholder 2">
            <a:extLst>
              <a:ext uri="{FF2B5EF4-FFF2-40B4-BE49-F238E27FC236}">
                <a16:creationId xmlns:a16="http://schemas.microsoft.com/office/drawing/2014/main" id="{0FCC5BD1-A664-45A4-CCB6-4C43A894EDBB}"/>
              </a:ext>
            </a:extLst>
          </p:cNvPr>
          <p:cNvSpPr>
            <a:spLocks noGrp="1"/>
          </p:cNvSpPr>
          <p:nvPr>
            <p:ph idx="1"/>
          </p:nvPr>
        </p:nvSpPr>
        <p:spPr/>
        <p:txBody>
          <a:bodyPr/>
          <a:lstStyle/>
          <a:p>
            <a:pPr fontAlgn="base"/>
            <a:r>
              <a:rPr lang="en-US" dirty="0"/>
              <a:t>Some non-serial schedules may lead to inconsistency of the database.</a:t>
            </a:r>
          </a:p>
          <a:p>
            <a:pPr fontAlgn="base"/>
            <a:r>
              <a:rPr lang="en-US" dirty="0"/>
              <a:t>Serializability is a concept in transaction management that ensures transactions are executed in such a way that the final result is the same as if the transactions were executed one after the other (serially) rather </a:t>
            </a:r>
            <a:r>
              <a:rPr lang="en-US" dirty="0" err="1"/>
              <a:t>thn</a:t>
            </a:r>
            <a:r>
              <a:rPr lang="en-US" dirty="0"/>
              <a:t> concurrently.</a:t>
            </a:r>
          </a:p>
          <a:p>
            <a:pPr fontAlgn="base"/>
            <a:r>
              <a:rPr lang="en-US" b="1" u="sng" dirty="0"/>
              <a:t>Serializable Schedules-</a:t>
            </a:r>
            <a:endParaRPr lang="en-US" b="1" dirty="0"/>
          </a:p>
          <a:p>
            <a:pPr fontAlgn="base"/>
            <a:r>
              <a:rPr lang="en-US" dirty="0"/>
              <a:t> If a given non-serial schedule of ‘n’ transactions is equivalent to some serial schedule of ‘n’ transactions, then it is called as a </a:t>
            </a:r>
            <a:r>
              <a:rPr lang="en-US" b="1" dirty="0"/>
              <a:t>serializable schedule</a:t>
            </a:r>
            <a:r>
              <a:rPr lang="en-US" dirty="0"/>
              <a:t>.</a:t>
            </a:r>
          </a:p>
          <a:p>
            <a:pPr fontAlgn="base"/>
            <a:endParaRPr lang="en-US" dirty="0"/>
          </a:p>
          <a:p>
            <a:endParaRPr lang="en-US" dirty="0"/>
          </a:p>
        </p:txBody>
      </p:sp>
    </p:spTree>
    <p:extLst>
      <p:ext uri="{BB962C8B-B14F-4D97-AF65-F5344CB8AC3E}">
        <p14:creationId xmlns:p14="http://schemas.microsoft.com/office/powerpoint/2010/main" val="594614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08DE10-5918-93B2-75E0-6B58546DCCE6}"/>
              </a:ext>
            </a:extLst>
          </p:cNvPr>
          <p:cNvSpPr>
            <a:spLocks noGrp="1"/>
          </p:cNvSpPr>
          <p:nvPr>
            <p:ph idx="1"/>
          </p:nvPr>
        </p:nvSpPr>
        <p:spPr>
          <a:xfrm>
            <a:off x="1252538" y="482599"/>
            <a:ext cx="10515600" cy="5789613"/>
          </a:xfrm>
        </p:spPr>
        <p:txBody>
          <a:bodyPr/>
          <a:lstStyle/>
          <a:p>
            <a:pPr fontAlgn="base"/>
            <a:r>
              <a:rPr lang="en-US" b="1" u="sng" dirty="0"/>
              <a:t>Characteristics-</a:t>
            </a:r>
            <a:endParaRPr lang="en-US" dirty="0"/>
          </a:p>
          <a:p>
            <a:pPr fontAlgn="base"/>
            <a:r>
              <a:rPr lang="en-US" dirty="0"/>
              <a:t>Serializable schedules behave exactly same as serial schedules.</a:t>
            </a:r>
          </a:p>
          <a:p>
            <a:pPr fontAlgn="base"/>
            <a:r>
              <a:rPr lang="en-US" dirty="0"/>
              <a:t>Thus, serializable schedules are always-</a:t>
            </a:r>
          </a:p>
          <a:p>
            <a:pPr fontAlgn="base"/>
            <a:r>
              <a:rPr lang="en-US" dirty="0"/>
              <a:t>Consistent</a:t>
            </a:r>
          </a:p>
          <a:p>
            <a:pPr fontAlgn="base"/>
            <a:r>
              <a:rPr lang="en-US" b="1" u="sng" dirty="0">
                <a:hlinkClick r:id="rId2"/>
              </a:rPr>
              <a:t>Recoverable</a:t>
            </a:r>
            <a:endParaRPr lang="en-US" dirty="0"/>
          </a:p>
          <a:p>
            <a:pPr fontAlgn="base"/>
            <a:r>
              <a:rPr lang="en-US" b="1" u="sng" dirty="0" err="1">
                <a:hlinkClick r:id="rId3"/>
              </a:rPr>
              <a:t>Casacadeless</a:t>
            </a:r>
            <a:endParaRPr lang="en-US" dirty="0"/>
          </a:p>
          <a:p>
            <a:pPr fontAlgn="base"/>
            <a:r>
              <a:rPr lang="en-US" dirty="0"/>
              <a:t>Strict</a:t>
            </a:r>
          </a:p>
          <a:p>
            <a:endParaRPr lang="en-US" dirty="0"/>
          </a:p>
        </p:txBody>
      </p:sp>
    </p:spTree>
    <p:extLst>
      <p:ext uri="{BB962C8B-B14F-4D97-AF65-F5344CB8AC3E}">
        <p14:creationId xmlns:p14="http://schemas.microsoft.com/office/powerpoint/2010/main" val="1656291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272EA-24AB-D483-7AEA-7332DC579409}"/>
              </a:ext>
            </a:extLst>
          </p:cNvPr>
          <p:cNvSpPr>
            <a:spLocks noGrp="1"/>
          </p:cNvSpPr>
          <p:nvPr>
            <p:ph type="title"/>
          </p:nvPr>
        </p:nvSpPr>
        <p:spPr/>
        <p:txBody>
          <a:bodyPr/>
          <a:lstStyle/>
          <a:p>
            <a:r>
              <a:rPr lang="en-US" b="1" u="sng" dirty="0"/>
              <a:t>Types of Serializability-</a:t>
            </a:r>
            <a:br>
              <a:rPr lang="en-US" b="1" dirty="0"/>
            </a:br>
            <a:endParaRPr lang="en-US" dirty="0"/>
          </a:p>
        </p:txBody>
      </p:sp>
      <p:pic>
        <p:nvPicPr>
          <p:cNvPr id="4" name="Content Placeholder 3">
            <a:extLst>
              <a:ext uri="{FF2B5EF4-FFF2-40B4-BE49-F238E27FC236}">
                <a16:creationId xmlns:a16="http://schemas.microsoft.com/office/drawing/2014/main" id="{9B28255E-729D-D60E-360A-A963FD8552E5}"/>
              </a:ext>
            </a:extLst>
          </p:cNvPr>
          <p:cNvPicPr>
            <a:picLocks noGrp="1" noChangeAspect="1"/>
          </p:cNvPicPr>
          <p:nvPr>
            <p:ph idx="1"/>
          </p:nvPr>
        </p:nvPicPr>
        <p:blipFill>
          <a:blip r:embed="rId2"/>
          <a:stretch>
            <a:fillRect/>
          </a:stretch>
        </p:blipFill>
        <p:spPr>
          <a:xfrm>
            <a:off x="2609849" y="1690688"/>
            <a:ext cx="5343525" cy="3009900"/>
          </a:xfrm>
          <a:prstGeom prst="rect">
            <a:avLst/>
          </a:prstGeom>
        </p:spPr>
      </p:pic>
    </p:spTree>
    <p:extLst>
      <p:ext uri="{BB962C8B-B14F-4D97-AF65-F5344CB8AC3E}">
        <p14:creationId xmlns:p14="http://schemas.microsoft.com/office/powerpoint/2010/main" val="37661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D50D0-ECA0-6648-72E4-D2B819B8ECAF}"/>
              </a:ext>
            </a:extLst>
          </p:cNvPr>
          <p:cNvSpPr>
            <a:spLocks noGrp="1"/>
          </p:cNvSpPr>
          <p:nvPr>
            <p:ph type="title"/>
          </p:nvPr>
        </p:nvSpPr>
        <p:spPr/>
        <p:txBody>
          <a:bodyPr/>
          <a:lstStyle/>
          <a:p>
            <a:r>
              <a:rPr lang="en-US" b="1" u="sng" dirty="0"/>
              <a:t>Conflict Serializability-</a:t>
            </a:r>
            <a:br>
              <a:rPr lang="en-US" b="1" dirty="0"/>
            </a:br>
            <a:endParaRPr lang="en-US" dirty="0"/>
          </a:p>
        </p:txBody>
      </p:sp>
      <p:sp>
        <p:nvSpPr>
          <p:cNvPr id="3" name="Content Placeholder 2">
            <a:extLst>
              <a:ext uri="{FF2B5EF4-FFF2-40B4-BE49-F238E27FC236}">
                <a16:creationId xmlns:a16="http://schemas.microsoft.com/office/drawing/2014/main" id="{C79EB80D-9806-0728-095E-CCF3ABAA8A8C}"/>
              </a:ext>
            </a:extLst>
          </p:cNvPr>
          <p:cNvSpPr>
            <a:spLocks noGrp="1"/>
          </p:cNvSpPr>
          <p:nvPr>
            <p:ph idx="1"/>
          </p:nvPr>
        </p:nvSpPr>
        <p:spPr>
          <a:xfrm>
            <a:off x="695325" y="1253331"/>
            <a:ext cx="10515600" cy="5361782"/>
          </a:xfrm>
        </p:spPr>
        <p:txBody>
          <a:bodyPr>
            <a:normAutofit/>
          </a:bodyPr>
          <a:lstStyle/>
          <a:p>
            <a:pPr fontAlgn="base"/>
            <a:r>
              <a:rPr lang="en-US" b="1" u="sng" dirty="0"/>
              <a:t>Conflicting Operations-</a:t>
            </a:r>
            <a:endParaRPr lang="en-US" dirty="0"/>
          </a:p>
          <a:p>
            <a:pPr fontAlgn="base"/>
            <a:r>
              <a:rPr lang="en-US" dirty="0"/>
              <a:t>Two operations are called as </a:t>
            </a:r>
            <a:r>
              <a:rPr lang="en-US" b="1" dirty="0"/>
              <a:t>conflicting operations</a:t>
            </a:r>
            <a:r>
              <a:rPr lang="en-US" dirty="0"/>
              <a:t> if all the following conditions hold true for them-</a:t>
            </a:r>
          </a:p>
          <a:p>
            <a:pPr marL="0" indent="0" fontAlgn="base">
              <a:buNone/>
            </a:pPr>
            <a:r>
              <a:rPr lang="en-US" dirty="0"/>
              <a:t>1.Both the operations belong to different transactions</a:t>
            </a:r>
          </a:p>
          <a:p>
            <a:pPr marL="0" indent="0" fontAlgn="base">
              <a:buNone/>
            </a:pPr>
            <a:r>
              <a:rPr lang="en-US" dirty="0"/>
              <a:t>2.Both the operations access  the same data item</a:t>
            </a:r>
          </a:p>
          <a:p>
            <a:pPr marL="0" indent="0" fontAlgn="base">
              <a:buNone/>
            </a:pPr>
            <a:r>
              <a:rPr lang="en-US" dirty="0"/>
              <a:t>3.At least one of the two operations is a write operation</a:t>
            </a:r>
          </a:p>
          <a:p>
            <a:endParaRPr lang="en-US" dirty="0"/>
          </a:p>
          <a:p>
            <a:r>
              <a:rPr lang="en-US" dirty="0"/>
              <a:t>If a given non-serial schedule can be converted into a serial schedule by swapping its non-conflicting operations(without changing the result), then it is called as a </a:t>
            </a:r>
            <a:r>
              <a:rPr lang="en-US" b="1" dirty="0"/>
              <a:t>conflict serializable schedule</a:t>
            </a:r>
            <a:r>
              <a:rPr lang="en-US" dirty="0"/>
              <a:t>.</a:t>
            </a:r>
          </a:p>
          <a:p>
            <a:endParaRPr lang="en-US" dirty="0"/>
          </a:p>
        </p:txBody>
      </p:sp>
    </p:spTree>
    <p:extLst>
      <p:ext uri="{BB962C8B-B14F-4D97-AF65-F5344CB8AC3E}">
        <p14:creationId xmlns:p14="http://schemas.microsoft.com/office/powerpoint/2010/main" val="2535958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FF9C842-F83A-6211-EA91-67AB73B9CD25}"/>
              </a:ext>
            </a:extLst>
          </p:cNvPr>
          <p:cNvPicPr>
            <a:picLocks noGrp="1" noChangeAspect="1"/>
          </p:cNvPicPr>
          <p:nvPr>
            <p:ph idx="1"/>
          </p:nvPr>
        </p:nvPicPr>
        <p:blipFill>
          <a:blip r:embed="rId2"/>
          <a:stretch>
            <a:fillRect/>
          </a:stretch>
        </p:blipFill>
        <p:spPr>
          <a:xfrm>
            <a:off x="3000376" y="143668"/>
            <a:ext cx="4814887" cy="3142457"/>
          </a:xfrm>
          <a:prstGeom prst="rect">
            <a:avLst/>
          </a:prstGeom>
        </p:spPr>
      </p:pic>
      <p:sp>
        <p:nvSpPr>
          <p:cNvPr id="6" name="TextBox 5">
            <a:extLst>
              <a:ext uri="{FF2B5EF4-FFF2-40B4-BE49-F238E27FC236}">
                <a16:creationId xmlns:a16="http://schemas.microsoft.com/office/drawing/2014/main" id="{FDAC1C8E-0B5E-A68E-612B-5F0B23A0902C}"/>
              </a:ext>
            </a:extLst>
          </p:cNvPr>
          <p:cNvSpPr txBox="1"/>
          <p:nvPr/>
        </p:nvSpPr>
        <p:spPr>
          <a:xfrm>
            <a:off x="1228725" y="3743326"/>
            <a:ext cx="10787063" cy="1815882"/>
          </a:xfrm>
          <a:prstGeom prst="rect">
            <a:avLst/>
          </a:prstGeom>
          <a:noFill/>
        </p:spPr>
        <p:txBody>
          <a:bodyPr wrap="square">
            <a:spAutoFit/>
          </a:bodyPr>
          <a:lstStyle/>
          <a:p>
            <a:r>
              <a:rPr lang="en-US" sz="2800" dirty="0"/>
              <a:t>In this schedule,</a:t>
            </a:r>
          </a:p>
          <a:p>
            <a:endParaRPr lang="en-US" sz="2800" dirty="0"/>
          </a:p>
          <a:p>
            <a:r>
              <a:rPr lang="en-US" sz="2800" dirty="0"/>
              <a:t>W1 (A) and R2 (A) are called as conflicting operations.</a:t>
            </a:r>
          </a:p>
          <a:p>
            <a:r>
              <a:rPr lang="en-US" sz="2800" dirty="0"/>
              <a:t>This is because all the above conditions hold true for them.</a:t>
            </a:r>
          </a:p>
        </p:txBody>
      </p:sp>
    </p:spTree>
    <p:extLst>
      <p:ext uri="{BB962C8B-B14F-4D97-AF65-F5344CB8AC3E}">
        <p14:creationId xmlns:p14="http://schemas.microsoft.com/office/powerpoint/2010/main" val="2034260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63790-D9F1-B8A1-1A92-C44BB1BB7B2D}"/>
              </a:ext>
            </a:extLst>
          </p:cNvPr>
          <p:cNvSpPr>
            <a:spLocks noGrp="1"/>
          </p:cNvSpPr>
          <p:nvPr>
            <p:ph type="title"/>
          </p:nvPr>
        </p:nvSpPr>
        <p:spPr/>
        <p:txBody>
          <a:bodyPr/>
          <a:lstStyle/>
          <a:p>
            <a:r>
              <a:rPr lang="en-US" b="1" u="sng" dirty="0"/>
              <a:t>View Serializability-</a:t>
            </a:r>
            <a:br>
              <a:rPr lang="en-US" b="1" dirty="0"/>
            </a:br>
            <a:endParaRPr lang="en-US" dirty="0"/>
          </a:p>
        </p:txBody>
      </p:sp>
      <p:sp>
        <p:nvSpPr>
          <p:cNvPr id="3" name="Content Placeholder 2">
            <a:extLst>
              <a:ext uri="{FF2B5EF4-FFF2-40B4-BE49-F238E27FC236}">
                <a16:creationId xmlns:a16="http://schemas.microsoft.com/office/drawing/2014/main" id="{98FF3387-4EAB-4BB4-5D68-20793188B435}"/>
              </a:ext>
            </a:extLst>
          </p:cNvPr>
          <p:cNvSpPr>
            <a:spLocks noGrp="1"/>
          </p:cNvSpPr>
          <p:nvPr>
            <p:ph idx="1"/>
          </p:nvPr>
        </p:nvSpPr>
        <p:spPr/>
        <p:txBody>
          <a:bodyPr>
            <a:normAutofit/>
          </a:bodyPr>
          <a:lstStyle/>
          <a:p>
            <a:r>
              <a:rPr lang="en-US" dirty="0"/>
              <a:t>For view </a:t>
            </a:r>
            <a:r>
              <a:rPr lang="en-US" dirty="0" err="1"/>
              <a:t>serialiazability</a:t>
            </a:r>
            <a:r>
              <a:rPr lang="en-US" dirty="0"/>
              <a:t> we focus on the view (what data the transactions read and write) rather than conflicts.</a:t>
            </a:r>
          </a:p>
          <a:p>
            <a:pPr marL="0" indent="0" fontAlgn="base">
              <a:buNone/>
            </a:pPr>
            <a:r>
              <a:rPr lang="en-US" b="1" u="sng" dirty="0"/>
              <a:t>Condition:</a:t>
            </a:r>
            <a:endParaRPr lang="en-US" b="1" dirty="0"/>
          </a:p>
          <a:p>
            <a:pPr fontAlgn="base"/>
            <a:r>
              <a:rPr lang="en-US" dirty="0"/>
              <a:t> The transactions must read and write the same data items in the same order.</a:t>
            </a:r>
          </a:p>
          <a:p>
            <a:pPr fontAlgn="base"/>
            <a:r>
              <a:rPr lang="en-US" dirty="0"/>
              <a:t>The final result must match a serial execution.</a:t>
            </a:r>
          </a:p>
          <a:p>
            <a:endParaRPr lang="en-US" dirty="0"/>
          </a:p>
        </p:txBody>
      </p:sp>
    </p:spTree>
    <p:extLst>
      <p:ext uri="{BB962C8B-B14F-4D97-AF65-F5344CB8AC3E}">
        <p14:creationId xmlns:p14="http://schemas.microsoft.com/office/powerpoint/2010/main" val="1903878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7CED02-CC60-0999-B43B-EB6961B6D29F}"/>
              </a:ext>
            </a:extLst>
          </p:cNvPr>
          <p:cNvSpPr>
            <a:spLocks noGrp="1"/>
          </p:cNvSpPr>
          <p:nvPr>
            <p:ph idx="1"/>
          </p:nvPr>
        </p:nvSpPr>
        <p:spPr>
          <a:xfrm>
            <a:off x="709612" y="654050"/>
            <a:ext cx="10515600" cy="5975350"/>
          </a:xfrm>
        </p:spPr>
        <p:txBody>
          <a:bodyPr>
            <a:normAutofit/>
          </a:bodyPr>
          <a:lstStyle/>
          <a:p>
            <a:pPr fontAlgn="base"/>
            <a:r>
              <a:rPr lang="en-US" dirty="0"/>
              <a:t>1.li = read(Q), </a:t>
            </a:r>
            <a:r>
              <a:rPr lang="en-US" dirty="0" err="1"/>
              <a:t>lj</a:t>
            </a:r>
            <a:r>
              <a:rPr lang="en-US" dirty="0"/>
              <a:t> = read(Q). li and </a:t>
            </a:r>
            <a:r>
              <a:rPr lang="en-US" dirty="0" err="1"/>
              <a:t>lj</a:t>
            </a:r>
            <a:r>
              <a:rPr lang="en-US" dirty="0"/>
              <a:t> don‘t conflict.</a:t>
            </a:r>
          </a:p>
          <a:p>
            <a:pPr fontAlgn="base"/>
            <a:r>
              <a:rPr lang="en-US" dirty="0"/>
              <a:t>2. li = read(Q), </a:t>
            </a:r>
            <a:r>
              <a:rPr lang="en-US" dirty="0" err="1"/>
              <a:t>lj</a:t>
            </a:r>
            <a:r>
              <a:rPr lang="en-US" dirty="0"/>
              <a:t> = write(Q). They conflict. </a:t>
            </a:r>
          </a:p>
          <a:p>
            <a:pPr fontAlgn="base"/>
            <a:r>
              <a:rPr lang="en-US" dirty="0"/>
              <a:t>3. li = write(Q), </a:t>
            </a:r>
            <a:r>
              <a:rPr lang="en-US" dirty="0" err="1"/>
              <a:t>lj</a:t>
            </a:r>
            <a:r>
              <a:rPr lang="en-US" dirty="0"/>
              <a:t> = read(Q). They conflict </a:t>
            </a:r>
          </a:p>
          <a:p>
            <a:pPr fontAlgn="base"/>
            <a:r>
              <a:rPr lang="en-US" dirty="0"/>
              <a:t>4. li = write(Q), </a:t>
            </a:r>
            <a:r>
              <a:rPr lang="en-US" dirty="0" err="1"/>
              <a:t>lj</a:t>
            </a:r>
            <a:r>
              <a:rPr lang="en-US" dirty="0"/>
              <a:t> = write(Q). They conflict </a:t>
            </a:r>
          </a:p>
        </p:txBody>
      </p:sp>
    </p:spTree>
    <p:extLst>
      <p:ext uri="{BB962C8B-B14F-4D97-AF65-F5344CB8AC3E}">
        <p14:creationId xmlns:p14="http://schemas.microsoft.com/office/powerpoint/2010/main" val="442978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2E2B-083D-3C3F-6D42-B4B5981C996A}"/>
              </a:ext>
            </a:extLst>
          </p:cNvPr>
          <p:cNvSpPr>
            <a:spLocks noGrp="1"/>
          </p:cNvSpPr>
          <p:nvPr>
            <p:ph type="title"/>
          </p:nvPr>
        </p:nvSpPr>
        <p:spPr>
          <a:xfrm>
            <a:off x="545592" y="219647"/>
            <a:ext cx="10515600" cy="1036130"/>
          </a:xfrm>
        </p:spPr>
        <p:txBody>
          <a:bodyPr/>
          <a:lstStyle/>
          <a:p>
            <a:r>
              <a:rPr lang="en-US" b="1" dirty="0">
                <a:solidFill>
                  <a:schemeClr val="accent4">
                    <a:lumMod val="60000"/>
                    <a:lumOff val="40000"/>
                  </a:schemeClr>
                </a:solidFill>
              </a:rPr>
              <a:t>TRANSACTION RECOVERY </a:t>
            </a:r>
          </a:p>
        </p:txBody>
      </p:sp>
      <p:sp>
        <p:nvSpPr>
          <p:cNvPr id="3" name="Content Placeholder 2">
            <a:extLst>
              <a:ext uri="{FF2B5EF4-FFF2-40B4-BE49-F238E27FC236}">
                <a16:creationId xmlns:a16="http://schemas.microsoft.com/office/drawing/2014/main" id="{BFCE5A1B-38BC-DA98-FD57-606578AFA2F1}"/>
              </a:ext>
            </a:extLst>
          </p:cNvPr>
          <p:cNvSpPr>
            <a:spLocks noGrp="1"/>
          </p:cNvSpPr>
          <p:nvPr>
            <p:ph idx="1"/>
          </p:nvPr>
        </p:nvSpPr>
        <p:spPr>
          <a:xfrm>
            <a:off x="443484" y="1255777"/>
            <a:ext cx="11305032" cy="5382576"/>
          </a:xfrm>
        </p:spPr>
        <p:txBody>
          <a:bodyPr>
            <a:normAutofit/>
          </a:bodyPr>
          <a:lstStyle/>
          <a:p>
            <a:r>
              <a:rPr lang="en-US" dirty="0"/>
              <a:t>Database Systems, like any other computer system, are subject to failures. </a:t>
            </a:r>
          </a:p>
          <a:p>
            <a:r>
              <a:rPr lang="en-US" dirty="0"/>
              <a:t>Whether it's a sudden power outage, a software bug, or a hardware crash, a Database Management System (DBMS) needs a way to get back up and running without losing data or leaving it in a corrupted state. </a:t>
            </a:r>
          </a:p>
          <a:p>
            <a:r>
              <a:rPr lang="en-US" dirty="0"/>
              <a:t>This process of restoring the database to a correct and consistent state is called recovery.</a:t>
            </a:r>
          </a:p>
          <a:p>
            <a:pPr fontAlgn="base"/>
            <a:r>
              <a:rPr lang="en-US" dirty="0"/>
              <a:t>The main aim of recovery is to maintain "atomicity" and "durability", which are two important parts of the ACID properties:</a:t>
            </a:r>
          </a:p>
          <a:p>
            <a:pPr fontAlgn="base"/>
            <a:r>
              <a:rPr lang="en-US" b="1" dirty="0"/>
              <a:t>Atomicity</a:t>
            </a:r>
            <a:r>
              <a:rPr lang="en-US" dirty="0"/>
              <a:t>: A transaction should either complete fully or not at all.</a:t>
            </a:r>
          </a:p>
          <a:p>
            <a:pPr fontAlgn="base"/>
            <a:r>
              <a:rPr lang="en-US" b="1" dirty="0"/>
              <a:t>Durability</a:t>
            </a:r>
            <a:r>
              <a:rPr lang="en-US" dirty="0"/>
              <a:t>: Once a transaction is committed, its changes must stay in the database even if a failure occurs afterward.</a:t>
            </a:r>
          </a:p>
          <a:p>
            <a:endParaRPr lang="en-US" dirty="0"/>
          </a:p>
        </p:txBody>
      </p:sp>
    </p:spTree>
    <p:extLst>
      <p:ext uri="{BB962C8B-B14F-4D97-AF65-F5344CB8AC3E}">
        <p14:creationId xmlns:p14="http://schemas.microsoft.com/office/powerpoint/2010/main" val="2575374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F5838-862A-4126-3085-AECCA526CEE7}"/>
              </a:ext>
            </a:extLst>
          </p:cNvPr>
          <p:cNvSpPr>
            <a:spLocks noGrp="1"/>
          </p:cNvSpPr>
          <p:nvPr>
            <p:ph type="title"/>
          </p:nvPr>
        </p:nvSpPr>
        <p:spPr>
          <a:xfrm>
            <a:off x="838200" y="365125"/>
            <a:ext cx="10515600" cy="866267"/>
          </a:xfrm>
        </p:spPr>
        <p:txBody>
          <a:bodyPr>
            <a:normAutofit fontScale="90000"/>
          </a:bodyPr>
          <a:lstStyle/>
          <a:p>
            <a:r>
              <a:rPr lang="en-US" b="1" dirty="0"/>
              <a:t>Types of Recovery Techniques</a:t>
            </a:r>
            <a:br>
              <a:rPr lang="en-US" b="1" dirty="0"/>
            </a:br>
            <a:endParaRPr lang="en-US" dirty="0"/>
          </a:p>
        </p:txBody>
      </p:sp>
      <p:sp>
        <p:nvSpPr>
          <p:cNvPr id="3" name="Content Placeholder 2">
            <a:extLst>
              <a:ext uri="{FF2B5EF4-FFF2-40B4-BE49-F238E27FC236}">
                <a16:creationId xmlns:a16="http://schemas.microsoft.com/office/drawing/2014/main" id="{C261D255-F9A0-28C5-79D0-585E3B11C6BB}"/>
              </a:ext>
            </a:extLst>
          </p:cNvPr>
          <p:cNvSpPr>
            <a:spLocks noGrp="1"/>
          </p:cNvSpPr>
          <p:nvPr>
            <p:ph idx="1"/>
          </p:nvPr>
        </p:nvSpPr>
        <p:spPr>
          <a:xfrm>
            <a:off x="704088" y="1106297"/>
            <a:ext cx="10515600" cy="5386578"/>
          </a:xfrm>
        </p:spPr>
        <p:txBody>
          <a:bodyPr>
            <a:normAutofit/>
          </a:bodyPr>
          <a:lstStyle/>
          <a:p>
            <a:r>
              <a:rPr lang="en-US" b="1" dirty="0"/>
              <a:t>1. Log-Based Recovery</a:t>
            </a:r>
          </a:p>
          <a:p>
            <a:pPr fontAlgn="base"/>
            <a:r>
              <a:rPr lang="en-US" dirty="0"/>
              <a:t>One of the most common recovery methods in modern databases. The keeps a log file (or journal) on stable storage that records every change—insert, update, or delete—before it is applied to the database.</a:t>
            </a:r>
          </a:p>
          <a:p>
            <a:pPr fontAlgn="base"/>
            <a:r>
              <a:rPr lang="en-US" dirty="0"/>
              <a:t>If a failure occurs, the DBMS reads the log to decide what to do:</a:t>
            </a:r>
          </a:p>
          <a:p>
            <a:pPr fontAlgn="base"/>
            <a:r>
              <a:rPr lang="en-US" b="1" dirty="0"/>
              <a:t>Undo</a:t>
            </a:r>
            <a:r>
              <a:rPr lang="en-US" dirty="0"/>
              <a:t>: Reverse changes from transactions that didn’t finish (ensuring atomicity).</a:t>
            </a:r>
          </a:p>
          <a:p>
            <a:pPr fontAlgn="base"/>
            <a:r>
              <a:rPr lang="en-US" b="1" dirty="0"/>
              <a:t>Redo</a:t>
            </a:r>
            <a:r>
              <a:rPr lang="en-US" dirty="0"/>
              <a:t>: Reapply changes from committed transactions (ensuring durability).</a:t>
            </a:r>
          </a:p>
          <a:p>
            <a:endParaRPr lang="en-US" dirty="0"/>
          </a:p>
        </p:txBody>
      </p:sp>
    </p:spTree>
    <p:extLst>
      <p:ext uri="{BB962C8B-B14F-4D97-AF65-F5344CB8AC3E}">
        <p14:creationId xmlns:p14="http://schemas.microsoft.com/office/powerpoint/2010/main" val="4222662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DFFF-BDA7-1230-285C-6D4F4E387E0C}"/>
              </a:ext>
            </a:extLst>
          </p:cNvPr>
          <p:cNvSpPr>
            <a:spLocks noGrp="1"/>
          </p:cNvSpPr>
          <p:nvPr>
            <p:ph type="title"/>
          </p:nvPr>
        </p:nvSpPr>
        <p:spPr>
          <a:xfrm>
            <a:off x="838200" y="365125"/>
            <a:ext cx="10515600" cy="841883"/>
          </a:xfrm>
        </p:spPr>
        <p:txBody>
          <a:bodyPr>
            <a:normAutofit fontScale="90000"/>
          </a:bodyPr>
          <a:lstStyle/>
          <a:p>
            <a:r>
              <a:rPr lang="en-US" b="1" dirty="0"/>
              <a:t>Shadow Paging</a:t>
            </a:r>
            <a:br>
              <a:rPr lang="en-US" b="1" dirty="0"/>
            </a:br>
            <a:endParaRPr lang="en-US" dirty="0"/>
          </a:p>
        </p:txBody>
      </p:sp>
      <p:sp>
        <p:nvSpPr>
          <p:cNvPr id="3" name="Content Placeholder 2">
            <a:extLst>
              <a:ext uri="{FF2B5EF4-FFF2-40B4-BE49-F238E27FC236}">
                <a16:creationId xmlns:a16="http://schemas.microsoft.com/office/drawing/2014/main" id="{13EA9DFD-F26B-69A1-65D5-B5A89C1E3607}"/>
              </a:ext>
            </a:extLst>
          </p:cNvPr>
          <p:cNvSpPr>
            <a:spLocks noGrp="1"/>
          </p:cNvSpPr>
          <p:nvPr>
            <p:ph idx="1"/>
          </p:nvPr>
        </p:nvSpPr>
        <p:spPr>
          <a:xfrm>
            <a:off x="752856" y="1106296"/>
            <a:ext cx="10515600" cy="5513959"/>
          </a:xfrm>
        </p:spPr>
        <p:txBody>
          <a:bodyPr>
            <a:normAutofit lnSpcReduction="10000"/>
          </a:bodyPr>
          <a:lstStyle/>
          <a:p>
            <a:r>
              <a:rPr lang="en-US" dirty="0"/>
              <a:t>Shadow Paging is an alternative recovery technique that avoids the need for a log.</a:t>
            </a:r>
          </a:p>
          <a:p>
            <a:r>
              <a:rPr lang="en-US" dirty="0"/>
              <a:t> It works by keeping two versions of the database pages during a transaction:</a:t>
            </a:r>
          </a:p>
          <a:p>
            <a:pPr marL="0" indent="0">
              <a:buNone/>
            </a:pPr>
            <a:r>
              <a:rPr lang="en-US" dirty="0"/>
              <a:t>            </a:t>
            </a:r>
            <a:r>
              <a:rPr lang="en-US" dirty="0">
                <a:solidFill>
                  <a:schemeClr val="accent4">
                    <a:lumMod val="60000"/>
                    <a:lumOff val="40000"/>
                  </a:schemeClr>
                </a:solidFill>
              </a:rPr>
              <a:t>current page table and a shadow page table</a:t>
            </a:r>
          </a:p>
          <a:p>
            <a:pPr fontAlgn="base"/>
            <a:r>
              <a:rPr lang="en-US" dirty="0"/>
              <a:t>The shadow page table points to the original, unmodified database pages from before the transaction began. It's a "shadow" of the consistent database state.</a:t>
            </a:r>
          </a:p>
          <a:p>
            <a:pPr fontAlgn="base"/>
            <a:r>
              <a:rPr lang="en-US" dirty="0"/>
              <a:t>When a transaction starts modifying data, new copies of the modified pages are created. The current page table is updated to point to these new pages while the shadow page table remains unchanged.</a:t>
            </a:r>
          </a:p>
          <a:p>
            <a:pPr fontAlgn="base"/>
            <a:r>
              <a:rPr lang="en-US" dirty="0"/>
              <a:t>If the transaction commits, the current page table becomes the new shadow. If it fails, the system discards the modified pages and reverts to the shadow- no undo/redo needed.</a:t>
            </a:r>
          </a:p>
          <a:p>
            <a:pPr marL="0" indent="0">
              <a:buNone/>
            </a:pPr>
            <a:endParaRPr lang="en-US" dirty="0">
              <a:solidFill>
                <a:schemeClr val="accent4">
                  <a:lumMod val="60000"/>
                  <a:lumOff val="40000"/>
                </a:schemeClr>
              </a:solidFill>
            </a:endParaRPr>
          </a:p>
        </p:txBody>
      </p:sp>
    </p:spTree>
    <p:extLst>
      <p:ext uri="{BB962C8B-B14F-4D97-AF65-F5344CB8AC3E}">
        <p14:creationId xmlns:p14="http://schemas.microsoft.com/office/powerpoint/2010/main" val="283263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28FF1-73E5-B965-B938-F8D97B7584AA}"/>
              </a:ext>
            </a:extLst>
          </p:cNvPr>
          <p:cNvSpPr>
            <a:spLocks noGrp="1"/>
          </p:cNvSpPr>
          <p:nvPr>
            <p:ph type="title"/>
          </p:nvPr>
        </p:nvSpPr>
        <p:spPr>
          <a:xfrm>
            <a:off x="838200" y="365125"/>
            <a:ext cx="10515600" cy="1000379"/>
          </a:xfrm>
        </p:spPr>
        <p:txBody>
          <a:bodyPr>
            <a:normAutofit fontScale="90000"/>
          </a:bodyPr>
          <a:lstStyle/>
          <a:p>
            <a:r>
              <a:rPr lang="en-US" b="1" dirty="0"/>
              <a:t>Checkpointing: Making Recovery Faster</a:t>
            </a:r>
            <a:br>
              <a:rPr lang="en-US" b="1" dirty="0"/>
            </a:br>
            <a:endParaRPr lang="en-US" dirty="0"/>
          </a:p>
        </p:txBody>
      </p:sp>
      <p:sp>
        <p:nvSpPr>
          <p:cNvPr id="3" name="Content Placeholder 2">
            <a:extLst>
              <a:ext uri="{FF2B5EF4-FFF2-40B4-BE49-F238E27FC236}">
                <a16:creationId xmlns:a16="http://schemas.microsoft.com/office/drawing/2014/main" id="{BA681349-19CA-B881-FB7A-47069C6768D6}"/>
              </a:ext>
            </a:extLst>
          </p:cNvPr>
          <p:cNvSpPr>
            <a:spLocks noGrp="1"/>
          </p:cNvSpPr>
          <p:nvPr>
            <p:ph idx="1"/>
          </p:nvPr>
        </p:nvSpPr>
        <p:spPr>
          <a:xfrm>
            <a:off x="714632" y="1365504"/>
            <a:ext cx="10515600" cy="4758055"/>
          </a:xfrm>
        </p:spPr>
        <p:txBody>
          <a:bodyPr>
            <a:normAutofit lnSpcReduction="10000"/>
          </a:bodyPr>
          <a:lstStyle/>
          <a:p>
            <a:pPr fontAlgn="base"/>
            <a:r>
              <a:rPr lang="en-US" dirty="0"/>
              <a:t>Forces all log records from memory to stable storage.</a:t>
            </a:r>
          </a:p>
          <a:p>
            <a:pPr fontAlgn="base"/>
            <a:r>
              <a:rPr lang="en-US" dirty="0"/>
              <a:t>Forces all modified database pages from memory to stable storage.</a:t>
            </a:r>
          </a:p>
          <a:p>
            <a:pPr fontAlgn="base"/>
            <a:r>
              <a:rPr lang="en-US" dirty="0"/>
              <a:t>Writes a special checkpoint record into the log file.</a:t>
            </a:r>
          </a:p>
          <a:p>
            <a:pPr fontAlgn="base"/>
            <a:endParaRPr lang="en-US" dirty="0"/>
          </a:p>
          <a:p>
            <a:pPr marL="0" indent="0" fontAlgn="base">
              <a:buNone/>
            </a:pPr>
            <a:endParaRPr lang="en-US" dirty="0"/>
          </a:p>
          <a:p>
            <a:r>
              <a:rPr lang="en-US" dirty="0"/>
              <a:t>When recovery is needed, the DBMS finds the last checkpoint. It knows that any transaction that committed before the checkpoint is already permanently saved. </a:t>
            </a:r>
          </a:p>
          <a:p>
            <a:r>
              <a:rPr lang="en-US" dirty="0"/>
              <a:t>Therefore, it only needs to scan the log from the checkpoint onward to figure out which transactions to undo or redo, drastically speeding up the recovery time.</a:t>
            </a:r>
          </a:p>
        </p:txBody>
      </p:sp>
    </p:spTree>
    <p:extLst>
      <p:ext uri="{BB962C8B-B14F-4D97-AF65-F5344CB8AC3E}">
        <p14:creationId xmlns:p14="http://schemas.microsoft.com/office/powerpoint/2010/main" val="3959157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7CB5-659A-B9E6-2953-F436B232A837}"/>
              </a:ext>
            </a:extLst>
          </p:cNvPr>
          <p:cNvSpPr>
            <a:spLocks noGrp="1"/>
          </p:cNvSpPr>
          <p:nvPr>
            <p:ph type="title"/>
          </p:nvPr>
        </p:nvSpPr>
        <p:spPr>
          <a:xfrm>
            <a:off x="838200" y="352933"/>
            <a:ext cx="10515600" cy="1110107"/>
          </a:xfrm>
        </p:spPr>
        <p:txBody>
          <a:bodyPr>
            <a:normAutofit fontScale="90000"/>
          </a:bodyPr>
          <a:lstStyle/>
          <a:p>
            <a:r>
              <a:rPr lang="en-US" b="1" dirty="0"/>
              <a:t>Aries Recovery Algorithm Phases</a:t>
            </a:r>
            <a:br>
              <a:rPr lang="en-US" b="1" dirty="0"/>
            </a:br>
            <a:br>
              <a:rPr lang="en-US" dirty="0"/>
            </a:br>
            <a:endParaRPr lang="en-US" dirty="0"/>
          </a:p>
        </p:txBody>
      </p:sp>
      <p:sp>
        <p:nvSpPr>
          <p:cNvPr id="3" name="Content Placeholder 2">
            <a:extLst>
              <a:ext uri="{FF2B5EF4-FFF2-40B4-BE49-F238E27FC236}">
                <a16:creationId xmlns:a16="http://schemas.microsoft.com/office/drawing/2014/main" id="{F65A2566-E02B-3C71-CFA5-262C84D6765F}"/>
              </a:ext>
            </a:extLst>
          </p:cNvPr>
          <p:cNvSpPr>
            <a:spLocks noGrp="1"/>
          </p:cNvSpPr>
          <p:nvPr>
            <p:ph idx="1"/>
          </p:nvPr>
        </p:nvSpPr>
        <p:spPr>
          <a:xfrm>
            <a:off x="691896" y="907986"/>
            <a:ext cx="10515600" cy="4351338"/>
          </a:xfrm>
        </p:spPr>
        <p:txBody>
          <a:bodyPr/>
          <a:lstStyle/>
          <a:p>
            <a:pPr marL="0" indent="0">
              <a:buNone/>
            </a:pPr>
            <a:r>
              <a:rPr lang="en-US" b="1" dirty="0"/>
              <a:t>1. Analysis Phase</a:t>
            </a:r>
          </a:p>
          <a:p>
            <a:pPr marL="0" indent="0">
              <a:buNone/>
            </a:pPr>
            <a:r>
              <a:rPr lang="en-US" b="1" dirty="0"/>
              <a:t>2.Redo Phase</a:t>
            </a:r>
          </a:p>
          <a:p>
            <a:pPr marL="0" indent="0">
              <a:buNone/>
            </a:pPr>
            <a:r>
              <a:rPr lang="en-US" b="1" dirty="0"/>
              <a:t>3.Undo Phase</a:t>
            </a:r>
          </a:p>
          <a:p>
            <a:pPr marL="0" indent="0">
              <a:buNone/>
            </a:pPr>
            <a:endParaRPr lang="en-US" b="1" dirty="0"/>
          </a:p>
          <a:p>
            <a:pPr marL="0" indent="0">
              <a:buNone/>
            </a:pPr>
            <a:endParaRPr lang="en-US" b="1" dirty="0"/>
          </a:p>
          <a:p>
            <a:pPr marL="0" indent="0">
              <a:buNone/>
            </a:pPr>
            <a:r>
              <a:rPr lang="en-US" b="1" dirty="0">
                <a:solidFill>
                  <a:srgbClr val="FF0000"/>
                </a:solidFill>
              </a:rPr>
              <a:t>Analysis Phase:</a:t>
            </a:r>
          </a:p>
          <a:p>
            <a:pPr marL="0" indent="0">
              <a:buNone/>
            </a:pPr>
            <a:r>
              <a:rPr lang="en-US" dirty="0"/>
              <a:t>The Analysis Phase identifies the database's state and determines which log entries need to be processed for recovery.</a:t>
            </a:r>
            <a:endParaRPr lang="en-US" b="1" dirty="0">
              <a:solidFill>
                <a:srgbClr val="FF0000"/>
              </a:solidFill>
            </a:endParaRPr>
          </a:p>
          <a:p>
            <a:pPr marL="0" indent="0">
              <a:buNone/>
            </a:pPr>
            <a:endParaRPr lang="en-US" b="1" dirty="0"/>
          </a:p>
          <a:p>
            <a:endParaRPr lang="en-US" dirty="0"/>
          </a:p>
        </p:txBody>
      </p:sp>
    </p:spTree>
    <p:extLst>
      <p:ext uri="{BB962C8B-B14F-4D97-AF65-F5344CB8AC3E}">
        <p14:creationId xmlns:p14="http://schemas.microsoft.com/office/powerpoint/2010/main" val="2183803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801F9F-99E6-B1E3-C25C-5D68240E54BF}"/>
              </a:ext>
            </a:extLst>
          </p:cNvPr>
          <p:cNvSpPr>
            <a:spLocks noGrp="1"/>
          </p:cNvSpPr>
          <p:nvPr>
            <p:ph idx="1"/>
          </p:nvPr>
        </p:nvSpPr>
        <p:spPr>
          <a:xfrm>
            <a:off x="496824" y="508888"/>
            <a:ext cx="11305032" cy="6062599"/>
          </a:xfrm>
        </p:spPr>
        <p:txBody>
          <a:bodyPr>
            <a:normAutofit fontScale="77500" lnSpcReduction="20000"/>
          </a:bodyPr>
          <a:lstStyle/>
          <a:p>
            <a:pPr marL="0" indent="0">
              <a:buNone/>
            </a:pPr>
            <a:r>
              <a:rPr lang="en-US" b="1" dirty="0">
                <a:solidFill>
                  <a:srgbClr val="FF0000"/>
                </a:solidFill>
              </a:rPr>
              <a:t>Analysis Phase:</a:t>
            </a:r>
          </a:p>
          <a:p>
            <a:pPr marL="0" indent="0">
              <a:buNone/>
            </a:pPr>
            <a:r>
              <a:rPr lang="en-US" dirty="0"/>
              <a:t>The Analysis Phase identifies the database's state and determines which log entries need to be processed for recovery.</a:t>
            </a:r>
          </a:p>
          <a:p>
            <a:r>
              <a:rPr lang="en-US" b="1" dirty="0"/>
              <a:t>Example:</a:t>
            </a:r>
            <a:r>
              <a:rPr lang="en-US" dirty="0"/>
              <a:t> Suppose we have a log with the following entries:</a:t>
            </a:r>
          </a:p>
          <a:p>
            <a:r>
              <a:rPr lang="en-US" b="1" dirty="0"/>
              <a:t>&lt;T1, Start&gt;</a:t>
            </a:r>
            <a:br>
              <a:rPr lang="en-US" dirty="0"/>
            </a:br>
            <a:r>
              <a:rPr lang="en-US" dirty="0"/>
              <a:t> </a:t>
            </a:r>
          </a:p>
          <a:p>
            <a:r>
              <a:rPr lang="en-US" b="1" dirty="0"/>
              <a:t>&lt;T1, Write(A, 10)&gt;</a:t>
            </a:r>
            <a:br>
              <a:rPr lang="en-US" dirty="0"/>
            </a:br>
            <a:r>
              <a:rPr lang="en-US" dirty="0"/>
              <a:t> </a:t>
            </a:r>
          </a:p>
          <a:p>
            <a:r>
              <a:rPr lang="en-US" b="1" dirty="0"/>
              <a:t>&lt;T1, Commit&gt;</a:t>
            </a:r>
            <a:br>
              <a:rPr lang="en-US" dirty="0"/>
            </a:br>
            <a:r>
              <a:rPr lang="en-US" dirty="0"/>
              <a:t> </a:t>
            </a:r>
          </a:p>
          <a:p>
            <a:r>
              <a:rPr lang="en-US" b="1" dirty="0"/>
              <a:t>&lt;T2, Start&gt;</a:t>
            </a:r>
            <a:br>
              <a:rPr lang="en-US" dirty="0"/>
            </a:br>
            <a:r>
              <a:rPr lang="en-US" dirty="0"/>
              <a:t> </a:t>
            </a:r>
          </a:p>
          <a:p>
            <a:r>
              <a:rPr lang="en-US" b="1" dirty="0"/>
              <a:t>&lt;T2, Write(B, 20)&gt;</a:t>
            </a:r>
            <a:br>
              <a:rPr lang="en-US" dirty="0"/>
            </a:br>
            <a:r>
              <a:rPr lang="en-US" dirty="0"/>
              <a:t> </a:t>
            </a:r>
          </a:p>
          <a:p>
            <a:r>
              <a:rPr lang="en-US" b="1" dirty="0"/>
              <a:t>&lt;T2, Abort&gt;</a:t>
            </a:r>
            <a:endParaRPr lang="en-US" dirty="0"/>
          </a:p>
          <a:p>
            <a:pPr marL="0" indent="0">
              <a:buNone/>
            </a:pPr>
            <a:endParaRPr lang="en-US" dirty="0"/>
          </a:p>
          <a:p>
            <a:r>
              <a:rPr lang="en-US" dirty="0"/>
              <a:t>The system reads the log to identify active transactions (T2) and committed transactions (T1). </a:t>
            </a:r>
            <a:br>
              <a:rPr lang="en-US" dirty="0"/>
            </a:br>
            <a:r>
              <a:rPr lang="en-US" dirty="0"/>
              <a:t> </a:t>
            </a:r>
          </a:p>
          <a:p>
            <a:r>
              <a:rPr lang="en-US" dirty="0"/>
              <a:t>It also records the state of database pages that were modified by active transactions.</a:t>
            </a:r>
          </a:p>
          <a:p>
            <a:pPr marL="0" indent="0">
              <a:buNone/>
            </a:pPr>
            <a:endParaRPr lang="en-US" b="1" dirty="0">
              <a:solidFill>
                <a:srgbClr val="FF0000"/>
              </a:solidFill>
            </a:endParaRPr>
          </a:p>
          <a:p>
            <a:pPr marL="0" indent="0">
              <a:buNone/>
            </a:pPr>
            <a:endParaRPr lang="en-US" b="1" dirty="0"/>
          </a:p>
          <a:p>
            <a:endParaRPr lang="en-US" dirty="0"/>
          </a:p>
        </p:txBody>
      </p:sp>
    </p:spTree>
    <p:extLst>
      <p:ext uri="{BB962C8B-B14F-4D97-AF65-F5344CB8AC3E}">
        <p14:creationId xmlns:p14="http://schemas.microsoft.com/office/powerpoint/2010/main" val="1469687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B56A3-DD1B-97C2-19B7-F75639852DEA}"/>
              </a:ext>
            </a:extLst>
          </p:cNvPr>
          <p:cNvSpPr>
            <a:spLocks noGrp="1"/>
          </p:cNvSpPr>
          <p:nvPr>
            <p:ph type="title"/>
          </p:nvPr>
        </p:nvSpPr>
        <p:spPr/>
        <p:txBody>
          <a:bodyPr/>
          <a:lstStyle/>
          <a:p>
            <a:r>
              <a:rPr lang="en-US" sz="4000" b="1" dirty="0">
                <a:solidFill>
                  <a:srgbClr val="FF0000"/>
                </a:solidFill>
              </a:rPr>
              <a:t>Redo Phase</a:t>
            </a:r>
            <a:br>
              <a:rPr lang="en-US" b="1" dirty="0"/>
            </a:br>
            <a:endParaRPr lang="en-US" dirty="0"/>
          </a:p>
        </p:txBody>
      </p:sp>
      <p:sp>
        <p:nvSpPr>
          <p:cNvPr id="3" name="Content Placeholder 2">
            <a:extLst>
              <a:ext uri="{FF2B5EF4-FFF2-40B4-BE49-F238E27FC236}">
                <a16:creationId xmlns:a16="http://schemas.microsoft.com/office/drawing/2014/main" id="{461DE5E1-D48F-6C14-F861-0956CE32A881}"/>
              </a:ext>
            </a:extLst>
          </p:cNvPr>
          <p:cNvSpPr>
            <a:spLocks noGrp="1"/>
          </p:cNvSpPr>
          <p:nvPr>
            <p:ph idx="1"/>
          </p:nvPr>
        </p:nvSpPr>
        <p:spPr>
          <a:xfrm>
            <a:off x="557784" y="1253331"/>
            <a:ext cx="10515600" cy="4351338"/>
          </a:xfrm>
        </p:spPr>
        <p:txBody>
          <a:bodyPr/>
          <a:lstStyle/>
          <a:p>
            <a:r>
              <a:rPr lang="en-US" dirty="0"/>
              <a:t>The Redo Phase re-applies changes recorded in the log to ensure that all committed transactions are properly reflected in the database. </a:t>
            </a:r>
          </a:p>
          <a:p>
            <a:endParaRPr lang="en-US" b="1" dirty="0"/>
          </a:p>
          <a:p>
            <a:r>
              <a:rPr lang="en-US" b="1" dirty="0"/>
              <a:t> </a:t>
            </a:r>
            <a:r>
              <a:rPr lang="en-US" b="1" dirty="0">
                <a:solidFill>
                  <a:srgbClr val="FF0000"/>
                </a:solidFill>
              </a:rPr>
              <a:t>Undo Phase</a:t>
            </a:r>
          </a:p>
          <a:p>
            <a:pPr marL="0" indent="0">
              <a:buNone/>
            </a:pPr>
            <a:endParaRPr lang="en-US" b="1" dirty="0">
              <a:solidFill>
                <a:srgbClr val="FF0000"/>
              </a:solidFill>
            </a:endParaRPr>
          </a:p>
          <a:p>
            <a:r>
              <a:rPr lang="en-US" dirty="0"/>
              <a:t>The Undo Phase reverses changes made by aborted transactions, restoring the database to a consistent state by undoing any modifications from these transactions.</a:t>
            </a:r>
          </a:p>
          <a:p>
            <a:endParaRPr lang="en-US" dirty="0"/>
          </a:p>
        </p:txBody>
      </p:sp>
    </p:spTree>
    <p:extLst>
      <p:ext uri="{BB962C8B-B14F-4D97-AF65-F5344CB8AC3E}">
        <p14:creationId xmlns:p14="http://schemas.microsoft.com/office/powerpoint/2010/main" val="3864076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5FD133-9EE7-374D-4F33-718093D6166A}"/>
              </a:ext>
            </a:extLst>
          </p:cNvPr>
          <p:cNvSpPr>
            <a:spLocks noGrp="1"/>
          </p:cNvSpPr>
          <p:nvPr>
            <p:ph idx="1"/>
          </p:nvPr>
        </p:nvSpPr>
        <p:spPr>
          <a:xfrm>
            <a:off x="374904" y="292608"/>
            <a:ext cx="5586984" cy="6449568"/>
          </a:xfrm>
        </p:spPr>
        <p:txBody>
          <a:bodyPr>
            <a:normAutofit fontScale="47500" lnSpcReduction="20000"/>
          </a:bodyPr>
          <a:lstStyle/>
          <a:p>
            <a:r>
              <a:rPr lang="en-US" sz="3200" b="1" dirty="0"/>
              <a:t>Example of Aries Recovery Algorithm in DBMS</a:t>
            </a:r>
          </a:p>
          <a:p>
            <a:r>
              <a:rPr lang="en-US" sz="3200" dirty="0"/>
              <a:t>Let's consider a more detailed scenario:</a:t>
            </a:r>
          </a:p>
          <a:p>
            <a:r>
              <a:rPr lang="en-US" sz="3200" b="1" dirty="0"/>
              <a:t>Initial State</a:t>
            </a:r>
            <a:r>
              <a:rPr lang="en-US" sz="3200" dirty="0"/>
              <a:t>:</a:t>
            </a:r>
          </a:p>
          <a:p>
            <a:r>
              <a:rPr lang="en-US" sz="3200" dirty="0"/>
              <a:t>Page A: 0</a:t>
            </a:r>
            <a:br>
              <a:rPr lang="en-US" sz="3200" dirty="0"/>
            </a:br>
            <a:r>
              <a:rPr lang="en-US" sz="3200" dirty="0"/>
              <a:t> </a:t>
            </a:r>
          </a:p>
          <a:p>
            <a:r>
              <a:rPr lang="en-US" sz="3200" dirty="0"/>
              <a:t>Page B: 0</a:t>
            </a:r>
            <a:br>
              <a:rPr lang="en-US" sz="3200" dirty="0"/>
            </a:br>
            <a:r>
              <a:rPr lang="en-US" sz="3200" dirty="0"/>
              <a:t> </a:t>
            </a:r>
          </a:p>
          <a:p>
            <a:r>
              <a:rPr lang="en-US" sz="3200" b="1" dirty="0"/>
              <a:t>Transactions</a:t>
            </a:r>
            <a:r>
              <a:rPr lang="en-US" sz="3200" dirty="0"/>
              <a:t>:</a:t>
            </a:r>
          </a:p>
          <a:p>
            <a:r>
              <a:rPr lang="en-US" sz="3200" b="1" dirty="0"/>
              <a:t>T1</a:t>
            </a:r>
            <a:r>
              <a:rPr lang="en-US" sz="3200" dirty="0"/>
              <a:t> writes A = 10 and commits.</a:t>
            </a:r>
            <a:br>
              <a:rPr lang="en-US" sz="3200" dirty="0"/>
            </a:br>
            <a:r>
              <a:rPr lang="en-US" sz="3200" dirty="0"/>
              <a:t> </a:t>
            </a:r>
          </a:p>
          <a:p>
            <a:r>
              <a:rPr lang="en-US" sz="3200" b="1" dirty="0"/>
              <a:t>T2</a:t>
            </a:r>
            <a:r>
              <a:rPr lang="en-US" sz="3200" dirty="0"/>
              <a:t> writes B = 20 and aborts.</a:t>
            </a:r>
            <a:br>
              <a:rPr lang="en-US" sz="3200" dirty="0"/>
            </a:br>
            <a:r>
              <a:rPr lang="en-US" sz="3200" dirty="0"/>
              <a:t> </a:t>
            </a:r>
          </a:p>
          <a:p>
            <a:r>
              <a:rPr lang="en-US" sz="3200" b="1" dirty="0"/>
              <a:t>Log Entries</a:t>
            </a:r>
            <a:endParaRPr lang="en-US" sz="3200" dirty="0"/>
          </a:p>
          <a:p>
            <a:r>
              <a:rPr lang="en-US" sz="3200" b="1" dirty="0"/>
              <a:t>&lt;T1, Start&gt;</a:t>
            </a:r>
            <a:br>
              <a:rPr lang="en-US" sz="3200" dirty="0"/>
            </a:br>
            <a:r>
              <a:rPr lang="en-US" sz="3200" dirty="0"/>
              <a:t> </a:t>
            </a:r>
          </a:p>
          <a:p>
            <a:r>
              <a:rPr lang="en-US" sz="3200" b="1" dirty="0"/>
              <a:t>&lt;T1, Write(A, 10)&gt;</a:t>
            </a:r>
            <a:br>
              <a:rPr lang="en-US" sz="3200" dirty="0"/>
            </a:br>
            <a:r>
              <a:rPr lang="en-US" sz="3200" dirty="0"/>
              <a:t> </a:t>
            </a:r>
          </a:p>
          <a:p>
            <a:r>
              <a:rPr lang="en-US" sz="3200" b="1" dirty="0"/>
              <a:t>&lt;T1, Commit&gt;</a:t>
            </a:r>
            <a:br>
              <a:rPr lang="en-US" sz="3200" dirty="0"/>
            </a:br>
            <a:r>
              <a:rPr lang="en-US" sz="3200" dirty="0"/>
              <a:t> </a:t>
            </a:r>
          </a:p>
          <a:p>
            <a:r>
              <a:rPr lang="en-US" sz="3200" b="1" dirty="0"/>
              <a:t>&lt;T2, Start&gt;</a:t>
            </a:r>
            <a:br>
              <a:rPr lang="en-US" sz="3200" dirty="0"/>
            </a:br>
            <a:r>
              <a:rPr lang="en-US" sz="3200" dirty="0"/>
              <a:t> </a:t>
            </a:r>
          </a:p>
          <a:p>
            <a:r>
              <a:rPr lang="en-US" sz="3200" b="1" dirty="0"/>
              <a:t>&lt;T2, Write(B, 20)&gt;</a:t>
            </a:r>
            <a:br>
              <a:rPr lang="en-US" sz="3200" dirty="0"/>
            </a:br>
            <a:r>
              <a:rPr lang="en-US" sz="3200" dirty="0"/>
              <a:t> </a:t>
            </a:r>
          </a:p>
          <a:p>
            <a:r>
              <a:rPr lang="en-US" sz="3200" b="1" dirty="0"/>
              <a:t>&lt;T2, Abort&gt;</a:t>
            </a:r>
            <a:br>
              <a:rPr lang="en-US" sz="3200" dirty="0"/>
            </a:br>
            <a:r>
              <a:rPr lang="en-US" sz="3200" dirty="0"/>
              <a:t> </a:t>
            </a:r>
          </a:p>
          <a:p>
            <a:endParaRPr lang="en-US" dirty="0"/>
          </a:p>
        </p:txBody>
      </p:sp>
      <p:sp>
        <p:nvSpPr>
          <p:cNvPr id="5" name="TextBox 4">
            <a:extLst>
              <a:ext uri="{FF2B5EF4-FFF2-40B4-BE49-F238E27FC236}">
                <a16:creationId xmlns:a16="http://schemas.microsoft.com/office/drawing/2014/main" id="{5F68FC9C-BE98-FFF1-846B-10656E8AAE09}"/>
              </a:ext>
            </a:extLst>
          </p:cNvPr>
          <p:cNvSpPr txBox="1"/>
          <p:nvPr/>
        </p:nvSpPr>
        <p:spPr>
          <a:xfrm>
            <a:off x="4828032" y="1120676"/>
            <a:ext cx="6096000" cy="2308324"/>
          </a:xfrm>
          <a:prstGeom prst="rect">
            <a:avLst/>
          </a:prstGeom>
          <a:noFill/>
        </p:spPr>
        <p:txBody>
          <a:bodyPr wrap="square">
            <a:spAutoFit/>
          </a:bodyPr>
          <a:lstStyle/>
          <a:p>
            <a:r>
              <a:rPr lang="en-US" sz="1800" b="1" dirty="0"/>
              <a:t>After Crash</a:t>
            </a:r>
            <a:r>
              <a:rPr lang="en-US" sz="1800" dirty="0"/>
              <a:t>:</a:t>
            </a:r>
          </a:p>
          <a:p>
            <a:r>
              <a:rPr lang="en-US" sz="1800" dirty="0"/>
              <a:t>Checkpoint indicates page A was modified.</a:t>
            </a:r>
            <a:br>
              <a:rPr lang="en-US" sz="1800" dirty="0"/>
            </a:br>
            <a:r>
              <a:rPr lang="en-US" sz="1800" dirty="0"/>
              <a:t> </a:t>
            </a:r>
          </a:p>
          <a:p>
            <a:r>
              <a:rPr lang="en-US" sz="1800" dirty="0"/>
              <a:t>Analysis Phase finds T1 committed, T2 aborted.</a:t>
            </a:r>
            <a:br>
              <a:rPr lang="en-US" sz="1800" dirty="0"/>
            </a:br>
            <a:r>
              <a:rPr lang="en-US" sz="1800" dirty="0"/>
              <a:t> </a:t>
            </a:r>
          </a:p>
          <a:p>
            <a:r>
              <a:rPr lang="en-US" sz="1800" dirty="0"/>
              <a:t>Redo Phase reapplies T1’s write to page A.</a:t>
            </a:r>
            <a:br>
              <a:rPr lang="en-US" sz="1800" dirty="0"/>
            </a:br>
            <a:r>
              <a:rPr lang="en-US" sz="1800" dirty="0"/>
              <a:t> </a:t>
            </a:r>
          </a:p>
          <a:p>
            <a:r>
              <a:rPr lang="en-US" sz="1800" dirty="0"/>
              <a:t>Undo Phase rolls back T2’s write to page B.</a:t>
            </a:r>
          </a:p>
        </p:txBody>
      </p:sp>
    </p:spTree>
    <p:extLst>
      <p:ext uri="{BB962C8B-B14F-4D97-AF65-F5344CB8AC3E}">
        <p14:creationId xmlns:p14="http://schemas.microsoft.com/office/powerpoint/2010/main" val="1124446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22026-2BF6-1D13-5E4D-A8F7AAC00CF9}"/>
              </a:ext>
            </a:extLst>
          </p:cNvPr>
          <p:cNvSpPr>
            <a:spLocks noGrp="1"/>
          </p:cNvSpPr>
          <p:nvPr>
            <p:ph type="title"/>
          </p:nvPr>
        </p:nvSpPr>
        <p:spPr/>
        <p:txBody>
          <a:bodyPr/>
          <a:lstStyle/>
          <a:p>
            <a:r>
              <a:rPr lang="en-US" b="1" dirty="0"/>
              <a:t>Transaction Isolation Levels in DBMS</a:t>
            </a:r>
            <a:br>
              <a:rPr lang="en-US" b="1" dirty="0"/>
            </a:br>
            <a:endParaRPr lang="en-US" dirty="0"/>
          </a:p>
        </p:txBody>
      </p:sp>
      <p:sp>
        <p:nvSpPr>
          <p:cNvPr id="3" name="Content Placeholder 2">
            <a:extLst>
              <a:ext uri="{FF2B5EF4-FFF2-40B4-BE49-F238E27FC236}">
                <a16:creationId xmlns:a16="http://schemas.microsoft.com/office/drawing/2014/main" id="{A15D88A7-5C64-5802-89B9-8395513EB8A8}"/>
              </a:ext>
            </a:extLst>
          </p:cNvPr>
          <p:cNvSpPr>
            <a:spLocks noGrp="1"/>
          </p:cNvSpPr>
          <p:nvPr>
            <p:ph idx="1"/>
          </p:nvPr>
        </p:nvSpPr>
        <p:spPr/>
        <p:txBody>
          <a:bodyPr/>
          <a:lstStyle/>
          <a:p>
            <a:r>
              <a:rPr lang="en-US" b="1" dirty="0"/>
              <a:t>What is Isolation Level?</a:t>
            </a:r>
          </a:p>
          <a:p>
            <a:r>
              <a:rPr lang="en-US" dirty="0"/>
              <a:t>As we know, to maintain consistency in a database, it follows </a:t>
            </a:r>
            <a:r>
              <a:rPr lang="en-US" b="1" dirty="0"/>
              <a:t>ACID</a:t>
            </a:r>
            <a:r>
              <a:rPr lang="en-US" dirty="0"/>
              <a:t> properties. </a:t>
            </a:r>
          </a:p>
          <a:p>
            <a:r>
              <a:rPr lang="en-US" dirty="0"/>
              <a:t>Among these four properties (Atomicity, Consistency, Isolation, and Durability) </a:t>
            </a:r>
          </a:p>
          <a:p>
            <a:r>
              <a:rPr lang="en-US" dirty="0"/>
              <a:t>Isolation means that a transaction should take place in a system in such a way that it is the only transaction that is accessing the resources in a database system.</a:t>
            </a:r>
          </a:p>
        </p:txBody>
      </p:sp>
    </p:spTree>
    <p:extLst>
      <p:ext uri="{BB962C8B-B14F-4D97-AF65-F5344CB8AC3E}">
        <p14:creationId xmlns:p14="http://schemas.microsoft.com/office/powerpoint/2010/main" val="4104453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9B1C7-0538-DB44-B668-B2A81D3AE8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42817E-C16B-789B-71F7-63D8E40C6723}"/>
              </a:ext>
            </a:extLst>
          </p:cNvPr>
          <p:cNvSpPr>
            <a:spLocks noGrp="1"/>
          </p:cNvSpPr>
          <p:nvPr>
            <p:ph idx="1"/>
          </p:nvPr>
        </p:nvSpPr>
        <p:spPr/>
        <p:txBody>
          <a:bodyPr/>
          <a:lstStyle/>
          <a:p>
            <a:r>
              <a:rPr lang="en-US" b="1" dirty="0"/>
              <a:t>What is an “Isolation Level”?</a:t>
            </a:r>
          </a:p>
          <a:p>
            <a:r>
              <a:rPr lang="en-US" b="1" dirty="0"/>
              <a:t>Database isolation</a:t>
            </a:r>
            <a:r>
              <a:rPr lang="en-US" dirty="0"/>
              <a:t> defines the degree to which a transaction must be isolated from the data modifications made by any other transaction(even though in reality there can be a large number of concurrently running transactions). The overarching goal is to prevent reads and writes of temporary, aborted, or otherwise incorrect data written by concurrent transactions.</a:t>
            </a:r>
          </a:p>
          <a:p>
            <a:r>
              <a:rPr lang="en-US" b="1" dirty="0"/>
              <a:t>Transaction isolation level is defined by the following phenomena</a:t>
            </a:r>
          </a:p>
          <a:p>
            <a:endParaRPr lang="en-US" dirty="0"/>
          </a:p>
          <a:p>
            <a:endParaRPr lang="en-US" dirty="0"/>
          </a:p>
        </p:txBody>
      </p:sp>
    </p:spTree>
    <p:extLst>
      <p:ext uri="{BB962C8B-B14F-4D97-AF65-F5344CB8AC3E}">
        <p14:creationId xmlns:p14="http://schemas.microsoft.com/office/powerpoint/2010/main" val="1623118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07703-ED7B-58CE-3BD0-CC8FF3ACAF0D}"/>
              </a:ext>
            </a:extLst>
          </p:cNvPr>
          <p:cNvSpPr>
            <a:spLocks noGrp="1"/>
          </p:cNvSpPr>
          <p:nvPr>
            <p:ph type="title"/>
          </p:nvPr>
        </p:nvSpPr>
        <p:spPr/>
        <p:txBody>
          <a:bodyPr>
            <a:normAutofit fontScale="90000"/>
          </a:bodyPr>
          <a:lstStyle/>
          <a:p>
            <a:r>
              <a:rPr lang="en-US" b="1" dirty="0"/>
              <a:t>Transaction isolation level is defined by the following phenomena</a:t>
            </a:r>
            <a:br>
              <a:rPr lang="en-US" b="1" dirty="0"/>
            </a:br>
            <a:endParaRPr lang="en-US" dirty="0"/>
          </a:p>
        </p:txBody>
      </p:sp>
      <p:sp>
        <p:nvSpPr>
          <p:cNvPr id="3" name="Content Placeholder 2">
            <a:extLst>
              <a:ext uri="{FF2B5EF4-FFF2-40B4-BE49-F238E27FC236}">
                <a16:creationId xmlns:a16="http://schemas.microsoft.com/office/drawing/2014/main" id="{0F68C76D-D0E3-E692-648A-A800ABCC01D1}"/>
              </a:ext>
            </a:extLst>
          </p:cNvPr>
          <p:cNvSpPr>
            <a:spLocks noGrp="1"/>
          </p:cNvSpPr>
          <p:nvPr>
            <p:ph idx="1"/>
          </p:nvPr>
        </p:nvSpPr>
        <p:spPr>
          <a:xfrm>
            <a:off x="484632" y="1690688"/>
            <a:ext cx="10515600" cy="4351338"/>
          </a:xfrm>
        </p:spPr>
        <p:txBody>
          <a:bodyPr/>
          <a:lstStyle/>
          <a:p>
            <a:r>
              <a:rPr lang="en-US"/>
              <a:t>A transaction reads data written by a concurrent uncommitted transaction. (uncommitted data is called “dirty.”)</a:t>
            </a:r>
            <a:endParaRPr lang="en-US" dirty="0"/>
          </a:p>
        </p:txBody>
      </p:sp>
      <p:pic>
        <p:nvPicPr>
          <p:cNvPr id="5" name="Picture 4">
            <a:extLst>
              <a:ext uri="{FF2B5EF4-FFF2-40B4-BE49-F238E27FC236}">
                <a16:creationId xmlns:a16="http://schemas.microsoft.com/office/drawing/2014/main" id="{323E4984-8FC0-96FE-7657-F8A70EC3228C}"/>
              </a:ext>
            </a:extLst>
          </p:cNvPr>
          <p:cNvPicPr>
            <a:picLocks noChangeAspect="1"/>
          </p:cNvPicPr>
          <p:nvPr/>
        </p:nvPicPr>
        <p:blipFill>
          <a:blip r:embed="rId2"/>
          <a:stretch>
            <a:fillRect/>
          </a:stretch>
        </p:blipFill>
        <p:spPr>
          <a:xfrm>
            <a:off x="2827972" y="2782062"/>
            <a:ext cx="4475102" cy="2692146"/>
          </a:xfrm>
          <a:prstGeom prst="rect">
            <a:avLst/>
          </a:prstGeom>
        </p:spPr>
      </p:pic>
    </p:spTree>
    <p:extLst>
      <p:ext uri="{BB962C8B-B14F-4D97-AF65-F5344CB8AC3E}">
        <p14:creationId xmlns:p14="http://schemas.microsoft.com/office/powerpoint/2010/main" val="15023682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53578-45E2-2CB0-86F9-A5E5A45F51C9}"/>
              </a:ext>
            </a:extLst>
          </p:cNvPr>
          <p:cNvSpPr>
            <a:spLocks noGrp="1"/>
          </p:cNvSpPr>
          <p:nvPr>
            <p:ph type="title"/>
          </p:nvPr>
        </p:nvSpPr>
        <p:spPr/>
        <p:txBody>
          <a:bodyPr/>
          <a:lstStyle/>
          <a:p>
            <a:r>
              <a:rPr lang="en-US" b="1" dirty="0"/>
              <a:t>Non-Repeatable Reads</a:t>
            </a:r>
            <a:br>
              <a:rPr lang="en-US" b="1" dirty="0"/>
            </a:br>
            <a:endParaRPr lang="en-US" dirty="0"/>
          </a:p>
        </p:txBody>
      </p:sp>
      <p:sp>
        <p:nvSpPr>
          <p:cNvPr id="3" name="Content Placeholder 2">
            <a:extLst>
              <a:ext uri="{FF2B5EF4-FFF2-40B4-BE49-F238E27FC236}">
                <a16:creationId xmlns:a16="http://schemas.microsoft.com/office/drawing/2014/main" id="{7891485F-295D-BD49-C953-67DB2774C5A7}"/>
              </a:ext>
            </a:extLst>
          </p:cNvPr>
          <p:cNvSpPr>
            <a:spLocks noGrp="1"/>
          </p:cNvSpPr>
          <p:nvPr>
            <p:ph idx="1"/>
          </p:nvPr>
        </p:nvSpPr>
        <p:spPr/>
        <p:txBody>
          <a:bodyPr/>
          <a:lstStyle/>
          <a:p>
            <a:r>
              <a:rPr lang="en-US" dirty="0"/>
              <a:t>A transaction re-reads data it has previously read and finds that data has been modified by another transaction (that has been committed since the initial read).</a:t>
            </a:r>
          </a:p>
          <a:p>
            <a:endParaRPr lang="en-US" dirty="0"/>
          </a:p>
          <a:p>
            <a:endParaRPr lang="en-US" dirty="0"/>
          </a:p>
        </p:txBody>
      </p:sp>
      <p:pic>
        <p:nvPicPr>
          <p:cNvPr id="5" name="Picture 4">
            <a:extLst>
              <a:ext uri="{FF2B5EF4-FFF2-40B4-BE49-F238E27FC236}">
                <a16:creationId xmlns:a16="http://schemas.microsoft.com/office/drawing/2014/main" id="{226C9DB6-5342-D6A2-1E24-1E0E8C51E1CD}"/>
              </a:ext>
            </a:extLst>
          </p:cNvPr>
          <p:cNvPicPr>
            <a:picLocks noChangeAspect="1"/>
          </p:cNvPicPr>
          <p:nvPr/>
        </p:nvPicPr>
        <p:blipFill>
          <a:blip r:embed="rId2"/>
          <a:stretch>
            <a:fillRect/>
          </a:stretch>
        </p:blipFill>
        <p:spPr>
          <a:xfrm>
            <a:off x="3334512" y="3313557"/>
            <a:ext cx="3962400" cy="1962150"/>
          </a:xfrm>
          <a:prstGeom prst="rect">
            <a:avLst/>
          </a:prstGeom>
        </p:spPr>
      </p:pic>
    </p:spTree>
    <p:extLst>
      <p:ext uri="{BB962C8B-B14F-4D97-AF65-F5344CB8AC3E}">
        <p14:creationId xmlns:p14="http://schemas.microsoft.com/office/powerpoint/2010/main" val="968136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1D6C4-7E00-EBDB-2F93-306786844EE8}"/>
              </a:ext>
            </a:extLst>
          </p:cNvPr>
          <p:cNvSpPr>
            <a:spLocks noGrp="1"/>
          </p:cNvSpPr>
          <p:nvPr>
            <p:ph type="title"/>
          </p:nvPr>
        </p:nvSpPr>
        <p:spPr/>
        <p:txBody>
          <a:bodyPr/>
          <a:lstStyle/>
          <a:p>
            <a:r>
              <a:rPr lang="en-US" b="1" dirty="0"/>
              <a:t>Phantom Reads</a:t>
            </a:r>
            <a:br>
              <a:rPr lang="en-US" b="1" dirty="0"/>
            </a:br>
            <a:endParaRPr lang="en-US" dirty="0"/>
          </a:p>
        </p:txBody>
      </p:sp>
      <p:sp>
        <p:nvSpPr>
          <p:cNvPr id="3" name="Content Placeholder 2">
            <a:extLst>
              <a:ext uri="{FF2B5EF4-FFF2-40B4-BE49-F238E27FC236}">
                <a16:creationId xmlns:a16="http://schemas.microsoft.com/office/drawing/2014/main" id="{C7024B35-8BA8-5612-8D2C-3789DB011A86}"/>
              </a:ext>
            </a:extLst>
          </p:cNvPr>
          <p:cNvSpPr>
            <a:spLocks noGrp="1"/>
          </p:cNvSpPr>
          <p:nvPr>
            <p:ph idx="1"/>
          </p:nvPr>
        </p:nvSpPr>
        <p:spPr/>
        <p:txBody>
          <a:bodyPr/>
          <a:lstStyle/>
          <a:p>
            <a:r>
              <a:rPr lang="en-US" dirty="0"/>
              <a:t>A transaction re-executes a query returning a set of rows that satisfy a search condition and finds that the set of rows satisfying the condition has changed due to another recently-committed transaction.</a:t>
            </a:r>
          </a:p>
          <a:p>
            <a:endParaRPr lang="en-US" dirty="0"/>
          </a:p>
          <a:p>
            <a:endParaRPr lang="en-US" dirty="0"/>
          </a:p>
        </p:txBody>
      </p:sp>
      <p:pic>
        <p:nvPicPr>
          <p:cNvPr id="5" name="Picture 4">
            <a:extLst>
              <a:ext uri="{FF2B5EF4-FFF2-40B4-BE49-F238E27FC236}">
                <a16:creationId xmlns:a16="http://schemas.microsoft.com/office/drawing/2014/main" id="{068EADFA-0EC2-4FC6-E634-EB0116137296}"/>
              </a:ext>
            </a:extLst>
          </p:cNvPr>
          <p:cNvPicPr>
            <a:picLocks noChangeAspect="1"/>
          </p:cNvPicPr>
          <p:nvPr/>
        </p:nvPicPr>
        <p:blipFill>
          <a:blip r:embed="rId2"/>
          <a:stretch>
            <a:fillRect/>
          </a:stretch>
        </p:blipFill>
        <p:spPr>
          <a:xfrm>
            <a:off x="3211639" y="3771519"/>
            <a:ext cx="3476625" cy="1924050"/>
          </a:xfrm>
          <a:prstGeom prst="rect">
            <a:avLst/>
          </a:prstGeom>
        </p:spPr>
      </p:pic>
    </p:spTree>
    <p:extLst>
      <p:ext uri="{BB962C8B-B14F-4D97-AF65-F5344CB8AC3E}">
        <p14:creationId xmlns:p14="http://schemas.microsoft.com/office/powerpoint/2010/main" val="605258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D8841-56E1-6121-8D27-1E4AB8414AC6}"/>
              </a:ext>
            </a:extLst>
          </p:cNvPr>
          <p:cNvSpPr>
            <a:spLocks noGrp="1"/>
          </p:cNvSpPr>
          <p:nvPr>
            <p:ph type="title"/>
          </p:nvPr>
        </p:nvSpPr>
        <p:spPr/>
        <p:txBody>
          <a:bodyPr>
            <a:normAutofit fontScale="90000"/>
          </a:bodyPr>
          <a:lstStyle/>
          <a:p>
            <a:r>
              <a:rPr lang="en-US" b="1" dirty="0"/>
              <a:t>Based on these phenomena, These four isolation levels have been defined</a:t>
            </a:r>
            <a:br>
              <a:rPr lang="en-US" b="1" dirty="0"/>
            </a:br>
            <a:endParaRPr lang="en-US" dirty="0"/>
          </a:p>
        </p:txBody>
      </p:sp>
      <p:sp>
        <p:nvSpPr>
          <p:cNvPr id="3" name="Content Placeholder 2">
            <a:extLst>
              <a:ext uri="{FF2B5EF4-FFF2-40B4-BE49-F238E27FC236}">
                <a16:creationId xmlns:a16="http://schemas.microsoft.com/office/drawing/2014/main" id="{717DC948-B106-6BED-0310-1473B3970414}"/>
              </a:ext>
            </a:extLst>
          </p:cNvPr>
          <p:cNvSpPr>
            <a:spLocks noGrp="1"/>
          </p:cNvSpPr>
          <p:nvPr>
            <p:ph idx="1"/>
          </p:nvPr>
        </p:nvSpPr>
        <p:spPr/>
        <p:txBody>
          <a:bodyPr/>
          <a:lstStyle/>
          <a:p>
            <a:r>
              <a:rPr lang="en-US" b="1" dirty="0"/>
              <a:t>Read Uncommitted</a:t>
            </a:r>
          </a:p>
          <a:p>
            <a:r>
              <a:rPr lang="en-US" b="1" dirty="0"/>
              <a:t>Read Committed</a:t>
            </a:r>
          </a:p>
          <a:p>
            <a:r>
              <a:rPr lang="en-US" b="1" dirty="0"/>
              <a:t>Repeatable Read</a:t>
            </a:r>
          </a:p>
          <a:p>
            <a:r>
              <a:rPr lang="en-US" b="1" dirty="0"/>
              <a:t>Serializable</a:t>
            </a:r>
          </a:p>
          <a:p>
            <a:br>
              <a:rPr lang="en-US" dirty="0"/>
            </a:br>
            <a:endParaRPr lang="en-US" dirty="0"/>
          </a:p>
        </p:txBody>
      </p:sp>
    </p:spTree>
    <p:extLst>
      <p:ext uri="{BB962C8B-B14F-4D97-AF65-F5344CB8AC3E}">
        <p14:creationId xmlns:p14="http://schemas.microsoft.com/office/powerpoint/2010/main" val="3388298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EADB3D-297A-D839-FC5A-647EC86FE2FF}"/>
              </a:ext>
            </a:extLst>
          </p:cNvPr>
          <p:cNvSpPr>
            <a:spLocks noGrp="1"/>
          </p:cNvSpPr>
          <p:nvPr>
            <p:ph idx="1"/>
          </p:nvPr>
        </p:nvSpPr>
        <p:spPr>
          <a:xfrm>
            <a:off x="667512" y="582040"/>
            <a:ext cx="10988040" cy="5830951"/>
          </a:xfrm>
        </p:spPr>
        <p:txBody>
          <a:bodyPr>
            <a:normAutofit fontScale="85000" lnSpcReduction="20000"/>
          </a:bodyPr>
          <a:lstStyle/>
          <a:p>
            <a:pPr fontAlgn="base"/>
            <a:r>
              <a:rPr lang="en-US" b="1" dirty="0"/>
              <a:t>The four standard isolation levels are:</a:t>
            </a:r>
          </a:p>
          <a:p>
            <a:pPr fontAlgn="base"/>
            <a:r>
              <a:rPr lang="en-US" b="1" dirty="0"/>
              <a:t>1. Read Uncommitted</a:t>
            </a:r>
            <a:endParaRPr lang="en-US" dirty="0"/>
          </a:p>
          <a:p>
            <a:pPr fontAlgn="base"/>
            <a:r>
              <a:rPr lang="en-US" dirty="0"/>
              <a:t>This is the lowest level of isolation where a transaction can see uncommitted changes made by other transactions. This can result in dirty reads, non-repeatable reads, and phantom reads.</a:t>
            </a:r>
          </a:p>
          <a:p>
            <a:pPr fontAlgn="base"/>
            <a:r>
              <a:rPr lang="en-US" b="1" dirty="0"/>
              <a:t>2. Read Committed</a:t>
            </a:r>
            <a:endParaRPr lang="en-US" dirty="0"/>
          </a:p>
          <a:p>
            <a:pPr fontAlgn="base"/>
            <a:r>
              <a:rPr lang="en-US" dirty="0"/>
              <a:t>In this isolation level, a transaction can only see changes made by other committed transactions. This eliminates dirty reads but can still result in non-repeatable reads and phantom reads.</a:t>
            </a:r>
          </a:p>
          <a:p>
            <a:pPr fontAlgn="base"/>
            <a:r>
              <a:rPr lang="en-US" b="1" dirty="0"/>
              <a:t>3. Repeatable Read</a:t>
            </a:r>
            <a:endParaRPr lang="en-US" dirty="0"/>
          </a:p>
          <a:p>
            <a:pPr fontAlgn="base"/>
            <a:r>
              <a:rPr lang="en-US" dirty="0"/>
              <a:t>This isolation level guarantees that a transaction will see the same data throughout its duration, even if other transactions commit changes to the data. However, phantom reads are still possible.</a:t>
            </a:r>
          </a:p>
          <a:p>
            <a:pPr fontAlgn="base"/>
            <a:r>
              <a:rPr lang="en-US" b="1" dirty="0"/>
              <a:t>4. Serializable</a:t>
            </a:r>
            <a:endParaRPr lang="en-US" dirty="0"/>
          </a:p>
          <a:p>
            <a:pPr fontAlgn="base"/>
            <a:r>
              <a:rPr lang="en-US" dirty="0"/>
              <a:t>This is the highest isolation level where a transaction is executed as if it were the only transaction in the system. All transactions must be executed sequentially, which ensures that there are no dirty reads, non-repeatable reads, or phantom reads.</a:t>
            </a:r>
          </a:p>
          <a:p>
            <a:endParaRPr lang="en-US" dirty="0"/>
          </a:p>
        </p:txBody>
      </p:sp>
    </p:spTree>
    <p:extLst>
      <p:ext uri="{BB962C8B-B14F-4D97-AF65-F5344CB8AC3E}">
        <p14:creationId xmlns:p14="http://schemas.microsoft.com/office/powerpoint/2010/main" val="2859007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9755D26-9970-73D7-E601-9FEBCDA014AB}"/>
              </a:ext>
            </a:extLst>
          </p:cNvPr>
          <p:cNvPicPr>
            <a:picLocks noGrp="1" noChangeAspect="1"/>
          </p:cNvPicPr>
          <p:nvPr>
            <p:ph idx="1"/>
          </p:nvPr>
        </p:nvPicPr>
        <p:blipFill>
          <a:blip r:embed="rId3"/>
          <a:stretch>
            <a:fillRect/>
          </a:stretch>
        </p:blipFill>
        <p:spPr>
          <a:xfrm>
            <a:off x="268225" y="914400"/>
            <a:ext cx="9971722" cy="5029200"/>
          </a:xfrm>
          <a:prstGeom prst="rect">
            <a:avLst/>
          </a:prstGeom>
        </p:spPr>
      </p:pic>
    </p:spTree>
    <p:extLst>
      <p:ext uri="{BB962C8B-B14F-4D97-AF65-F5344CB8AC3E}">
        <p14:creationId xmlns:p14="http://schemas.microsoft.com/office/powerpoint/2010/main" val="784935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7C0-DBF2-637C-0566-0F0EDA4DD3FB}"/>
              </a:ext>
            </a:extLst>
          </p:cNvPr>
          <p:cNvSpPr>
            <a:spLocks noGrp="1"/>
          </p:cNvSpPr>
          <p:nvPr>
            <p:ph type="title"/>
          </p:nvPr>
        </p:nvSpPr>
        <p:spPr/>
        <p:txBody>
          <a:bodyPr/>
          <a:lstStyle/>
          <a:p>
            <a:r>
              <a:rPr lang="en-US" b="1" dirty="0"/>
              <a:t>CONTENT BEYOND SYLLABUS</a:t>
            </a:r>
          </a:p>
        </p:txBody>
      </p:sp>
      <p:sp>
        <p:nvSpPr>
          <p:cNvPr id="3" name="Content Placeholder 2">
            <a:extLst>
              <a:ext uri="{FF2B5EF4-FFF2-40B4-BE49-F238E27FC236}">
                <a16:creationId xmlns:a16="http://schemas.microsoft.com/office/drawing/2014/main" id="{FA4EAFAF-EAC5-3D97-6A4D-776EF59A203E}"/>
              </a:ext>
            </a:extLst>
          </p:cNvPr>
          <p:cNvSpPr>
            <a:spLocks noGrp="1"/>
          </p:cNvSpPr>
          <p:nvPr>
            <p:ph idx="1"/>
          </p:nvPr>
        </p:nvSpPr>
        <p:spPr>
          <a:xfrm>
            <a:off x="594360" y="1423289"/>
            <a:ext cx="10515600" cy="4351338"/>
          </a:xfrm>
        </p:spPr>
        <p:txBody>
          <a:bodyPr/>
          <a:lstStyle/>
          <a:p>
            <a:pPr marL="0" indent="0">
              <a:buNone/>
            </a:pPr>
            <a:r>
              <a:rPr lang="en-US" b="1" dirty="0"/>
              <a:t>Thomas Write Rule in DBMS</a:t>
            </a:r>
          </a:p>
          <a:p>
            <a:pPr fontAlgn="base"/>
            <a:r>
              <a:rPr lang="en-US" b="1" dirty="0"/>
              <a:t>Developed by:</a:t>
            </a:r>
            <a:r>
              <a:rPr lang="en-US" dirty="0"/>
              <a:t> R. H. Thomas (1979)</a:t>
            </a:r>
          </a:p>
          <a:p>
            <a:pPr fontAlgn="base"/>
            <a:r>
              <a:rPr lang="en-US" b="1" dirty="0"/>
              <a:t>Type:</a:t>
            </a:r>
            <a:r>
              <a:rPr lang="en-US" dirty="0"/>
              <a:t> Timestamp-based concurrency control</a:t>
            </a:r>
          </a:p>
          <a:p>
            <a:pPr fontAlgn="base"/>
            <a:r>
              <a:rPr lang="en-US" b="1" dirty="0"/>
              <a:t>Goal:</a:t>
            </a:r>
            <a:r>
              <a:rPr lang="en-US" dirty="0"/>
              <a:t> Reduce unnecessary rollbacks while maintaining view serializability</a:t>
            </a:r>
          </a:p>
          <a:p>
            <a:endParaRPr lang="en-US" dirty="0"/>
          </a:p>
        </p:txBody>
      </p:sp>
      <p:graphicFrame>
        <p:nvGraphicFramePr>
          <p:cNvPr id="4" name="Table 3">
            <a:extLst>
              <a:ext uri="{FF2B5EF4-FFF2-40B4-BE49-F238E27FC236}">
                <a16:creationId xmlns:a16="http://schemas.microsoft.com/office/drawing/2014/main" id="{9938B2F4-69CA-1D92-D5E5-ACA8441106F1}"/>
              </a:ext>
            </a:extLst>
          </p:cNvPr>
          <p:cNvGraphicFramePr>
            <a:graphicFrameLocks noGrp="1"/>
          </p:cNvGraphicFramePr>
          <p:nvPr>
            <p:extLst>
              <p:ext uri="{D42A27DB-BD31-4B8C-83A1-F6EECF244321}">
                <p14:modId xmlns:p14="http://schemas.microsoft.com/office/powerpoint/2010/main" val="773252061"/>
              </p:ext>
            </p:extLst>
          </p:nvPr>
        </p:nvGraphicFramePr>
        <p:xfrm>
          <a:off x="594360" y="3999167"/>
          <a:ext cx="10515600" cy="2087880"/>
        </p:xfrm>
        <a:graphic>
          <a:graphicData uri="http://schemas.openxmlformats.org/drawingml/2006/table">
            <a:tbl>
              <a:tblPr/>
              <a:tblGrid>
                <a:gridCol w="5257800">
                  <a:extLst>
                    <a:ext uri="{9D8B030D-6E8A-4147-A177-3AD203B41FA5}">
                      <a16:colId xmlns:a16="http://schemas.microsoft.com/office/drawing/2014/main" val="658847836"/>
                    </a:ext>
                  </a:extLst>
                </a:gridCol>
                <a:gridCol w="5257800">
                  <a:extLst>
                    <a:ext uri="{9D8B030D-6E8A-4147-A177-3AD203B41FA5}">
                      <a16:colId xmlns:a16="http://schemas.microsoft.com/office/drawing/2014/main" val="2169318356"/>
                    </a:ext>
                  </a:extLst>
                </a:gridCol>
              </a:tblGrid>
              <a:tr h="0">
                <a:tc>
                  <a:txBody>
                    <a:bodyPr/>
                    <a:lstStyle/>
                    <a:p>
                      <a:pPr algn="ctr" fontAlgn="base">
                        <a:buNone/>
                      </a:pPr>
                      <a:r>
                        <a:rPr lang="en-US" sz="1800" b="1" dirty="0">
                          <a:effectLst/>
                          <a:latin typeface="Nunito" pitchFamily="2" charset="0"/>
                        </a:rPr>
                        <a:t>Symbol</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800" b="1">
                          <a:effectLst/>
                          <a:latin typeface="Nunito" pitchFamily="2" charset="0"/>
                        </a:rPr>
                        <a:t>Meaning</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105084741"/>
                  </a:ext>
                </a:extLst>
              </a:tr>
              <a:tr h="0">
                <a:tc>
                  <a:txBody>
                    <a:bodyPr/>
                    <a:lstStyle/>
                    <a:p>
                      <a:pPr algn="ctr" fontAlgn="ctr">
                        <a:buNone/>
                      </a:pPr>
                      <a:r>
                        <a:rPr lang="en-US" sz="1800" b="0" dirty="0">
                          <a:effectLst/>
                          <a:latin typeface="Nunito" pitchFamily="2" charset="0"/>
                        </a:rPr>
                        <a:t>TS(T)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Timestamp of transaction 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44209785"/>
                  </a:ext>
                </a:extLst>
              </a:tr>
              <a:tr h="0">
                <a:tc>
                  <a:txBody>
                    <a:bodyPr/>
                    <a:lstStyle/>
                    <a:p>
                      <a:pPr algn="ctr" fontAlgn="ctr">
                        <a:buNone/>
                      </a:pPr>
                      <a:r>
                        <a:rPr lang="en-US" sz="1800" b="0" dirty="0">
                          <a:effectLst/>
                          <a:latin typeface="Nunito" pitchFamily="2" charset="0"/>
                        </a:rPr>
                        <a:t>R_TS(X)</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Timestamp of the last read on data item X</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41523139"/>
                  </a:ext>
                </a:extLst>
              </a:tr>
              <a:tr h="0">
                <a:tc>
                  <a:txBody>
                    <a:bodyPr/>
                    <a:lstStyle/>
                    <a:p>
                      <a:pPr algn="ctr" fontAlgn="ctr">
                        <a:buNone/>
                      </a:pPr>
                      <a:r>
                        <a:rPr lang="en-US" sz="1800" b="0" dirty="0">
                          <a:effectLst/>
                          <a:latin typeface="Nunito" pitchFamily="2" charset="0"/>
                        </a:rPr>
                        <a:t>W_TS(X)</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dirty="0">
                          <a:effectLst/>
                          <a:latin typeface="Nunito" pitchFamily="2" charset="0"/>
                        </a:rPr>
                        <a:t>Timestamp of the last write on data item X</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80023848"/>
                  </a:ext>
                </a:extLst>
              </a:tr>
            </a:tbl>
          </a:graphicData>
        </a:graphic>
      </p:graphicFrame>
    </p:spTree>
    <p:extLst>
      <p:ext uri="{BB962C8B-B14F-4D97-AF65-F5344CB8AC3E}">
        <p14:creationId xmlns:p14="http://schemas.microsoft.com/office/powerpoint/2010/main" val="2677143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A7FF-0B5D-31BB-3DFD-D3F6CD890B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B74523-46D8-E512-5A98-D5E9468D5640}"/>
              </a:ext>
            </a:extLst>
          </p:cNvPr>
          <p:cNvSpPr>
            <a:spLocks noGrp="1"/>
          </p:cNvSpPr>
          <p:nvPr>
            <p:ph idx="1"/>
          </p:nvPr>
        </p:nvSpPr>
        <p:spPr/>
        <p:txBody>
          <a:bodyPr>
            <a:normAutofit fontScale="77500" lnSpcReduction="20000"/>
          </a:bodyPr>
          <a:lstStyle/>
          <a:p>
            <a:pPr fontAlgn="base"/>
            <a:r>
              <a:rPr lang="en-US" b="1" dirty="0"/>
              <a:t>Write Operation Conditions in TWR</a:t>
            </a:r>
          </a:p>
          <a:p>
            <a:pPr fontAlgn="base"/>
            <a:r>
              <a:rPr lang="en-US" b="1" dirty="0"/>
              <a:t>1. Abort the Transaction:</a:t>
            </a:r>
          </a:p>
          <a:p>
            <a:pPr fontAlgn="base"/>
            <a:r>
              <a:rPr lang="en-US" dirty="0"/>
              <a:t>If R_TS(X) &gt; TS(T)</a:t>
            </a:r>
          </a:p>
          <a:p>
            <a:pPr fontAlgn="base"/>
            <a:r>
              <a:rPr lang="en-US" dirty="0"/>
              <a:t>A newer transaction has already read X, so writing now would violate serializability.</a:t>
            </a:r>
          </a:p>
          <a:p>
            <a:pPr fontAlgn="base"/>
            <a:r>
              <a:rPr lang="en-US" dirty="0"/>
              <a:t>Action: Abort and rollback T.</a:t>
            </a:r>
          </a:p>
          <a:p>
            <a:pPr fontAlgn="base"/>
            <a:r>
              <a:rPr lang="en-US" b="1" dirty="0"/>
              <a:t>2. Ignore Outdated Writes (Allow Execution Without Writing):</a:t>
            </a:r>
          </a:p>
          <a:p>
            <a:pPr fontAlgn="base"/>
            <a:r>
              <a:rPr lang="en-US" dirty="0"/>
              <a:t>If W_TS(X) &gt; TS(T)</a:t>
            </a:r>
          </a:p>
          <a:p>
            <a:pPr fontAlgn="base"/>
            <a:r>
              <a:rPr lang="en-US" dirty="0"/>
              <a:t>A newer write has already updated X. Writing now is obsolete.</a:t>
            </a:r>
          </a:p>
          <a:p>
            <a:pPr fontAlgn="base"/>
            <a:r>
              <a:rPr lang="en-US" dirty="0"/>
              <a:t>Action: Ignore the write; continue the transaction.</a:t>
            </a:r>
          </a:p>
          <a:p>
            <a:pPr fontAlgn="base"/>
            <a:r>
              <a:rPr lang="en-US" b="1" dirty="0"/>
              <a:t>3. Execute Write Operation (Normal Execution):</a:t>
            </a:r>
          </a:p>
          <a:p>
            <a:pPr fontAlgn="base"/>
            <a:r>
              <a:rPr lang="en-US" dirty="0"/>
              <a:t>If neither condition above is true</a:t>
            </a:r>
          </a:p>
          <a:p>
            <a:pPr fontAlgn="base"/>
            <a:r>
              <a:rPr lang="en-US" dirty="0"/>
              <a:t>Action: Execute </a:t>
            </a:r>
            <a:r>
              <a:rPr lang="en-US" dirty="0" err="1"/>
              <a:t>W_item</a:t>
            </a:r>
            <a:r>
              <a:rPr lang="en-US" dirty="0"/>
              <a:t>(X) and update W_TS(X) = TS(T)</a:t>
            </a:r>
          </a:p>
          <a:p>
            <a:endParaRPr lang="en-US" dirty="0"/>
          </a:p>
        </p:txBody>
      </p:sp>
    </p:spTree>
    <p:extLst>
      <p:ext uri="{BB962C8B-B14F-4D97-AF65-F5344CB8AC3E}">
        <p14:creationId xmlns:p14="http://schemas.microsoft.com/office/powerpoint/2010/main" val="1702866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29997</TotalTime>
  <Words>2282</Words>
  <Application>Microsoft Office PowerPoint</Application>
  <PresentationFormat>Widescreen</PresentationFormat>
  <Paragraphs>203</Paragraphs>
  <Slides>34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Nunito</vt:lpstr>
      <vt:lpstr>Times New Roman</vt:lpstr>
      <vt:lpstr>Office Theme</vt:lpstr>
      <vt:lpstr>UNIT 3</vt:lpstr>
      <vt:lpstr>Transaction in DBMS </vt:lpstr>
      <vt:lpstr>PowerPoint Presentation</vt:lpstr>
      <vt:lpstr>Transaction Steps (as a single unit): </vt:lpstr>
      <vt:lpstr>ACID Properties</vt:lpstr>
      <vt:lpstr>PowerPoint Presentation</vt:lpstr>
      <vt:lpstr>Types of Schedules in DBMS </vt:lpstr>
      <vt:lpstr>PowerPoint Presentation</vt:lpstr>
      <vt:lpstr>PowerPoint Presentation</vt:lpstr>
      <vt:lpstr>Serializability in DBMS- </vt:lpstr>
      <vt:lpstr>PowerPoint Presentation</vt:lpstr>
      <vt:lpstr>Types of Serializability- </vt:lpstr>
      <vt:lpstr>Conflict Serializability- </vt:lpstr>
      <vt:lpstr>PowerPoint Presentation</vt:lpstr>
      <vt:lpstr>View Serializability- </vt:lpstr>
      <vt:lpstr>PowerPoint Presentation</vt:lpstr>
      <vt:lpstr>TRANSACTION RECOVERY </vt:lpstr>
      <vt:lpstr>Types of Recovery Techniques </vt:lpstr>
      <vt:lpstr>Shadow Paging </vt:lpstr>
      <vt:lpstr>Checkpointing: Making Recovery Faster </vt:lpstr>
      <vt:lpstr>Aries Recovery Algorithm Phases  </vt:lpstr>
      <vt:lpstr>PowerPoint Presentation</vt:lpstr>
      <vt:lpstr>Redo Phase </vt:lpstr>
      <vt:lpstr>PowerPoint Presentation</vt:lpstr>
      <vt:lpstr>Transaction Isolation Levels in DBMS </vt:lpstr>
      <vt:lpstr>PowerPoint Presentation</vt:lpstr>
      <vt:lpstr>Transaction isolation level is defined by the following phenomena </vt:lpstr>
      <vt:lpstr>Non-Repeatable Reads </vt:lpstr>
      <vt:lpstr>Phantom Reads </vt:lpstr>
      <vt:lpstr>Based on these phenomena, These four isolation levels have been defined </vt:lpstr>
      <vt:lpstr>PowerPoint Presentation</vt:lpstr>
      <vt:lpstr>PowerPoint Presentation</vt:lpstr>
      <vt:lpstr>CONTENT BEYOND SYLLABUS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Berlin</dc:creator>
  <cp:lastModifiedBy>Berlin</cp:lastModifiedBy>
  <cp:revision>6</cp:revision>
  <dcterms:created xsi:type="dcterms:W3CDTF">2026-02-04T05:52:35Z</dcterms:created>
  <dcterms:modified xsi:type="dcterms:W3CDTF">2026-02-26T07:04:12Z</dcterms:modified>
</cp:coreProperties>
</file>
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6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C71E47A-FB88-4ED3-B43D-B7052E6C980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871148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71E47A-FB88-4ED3-B43D-B7052E6C980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80434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71E47A-FB88-4ED3-B43D-B7052E6C980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14034231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C71E47A-FB88-4ED3-B43D-B7052E6C9803}"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130510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C71E47A-FB88-4ED3-B43D-B7052E6C9803}" type="datetimeFigureOut">
              <a:rPr lang="en-US" smtClean="0"/>
              <a:t>3/2/2026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4060909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C71E47A-FB88-4ED3-B43D-B7052E6C9803}" type="datetimeFigureOut">
              <a:rPr lang="en-US" smtClean="0"/>
              <a:t>3/2/2026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1135684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71E47A-FB88-4ED3-B43D-B7052E6C9803}" type="datetimeFigureOut">
              <a:rPr lang="en-US" smtClean="0"/>
              <a:t>3/2/2026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2978919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71E47A-FB88-4ED3-B43D-B7052E6C9803}"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3535947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71E47A-FB88-4ED3-B43D-B7052E6C9803}"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3065501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71E47A-FB88-4ED3-B43D-B7052E6C980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5744999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71E47A-FB88-4ED3-B43D-B7052E6C9803}"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29847E-83A1-4476-B192-7262118E9107}" type="slidenum">
              <a:rPr lang="en-US" smtClean="0"/>
              <a:t>‹#›</a:t>
            </a:fld>
            <a:endParaRPr lang="en-US"/>
          </a:p>
        </p:txBody>
      </p:sp>
    </p:spTree>
    <p:extLst>
      <p:ext uri="{BB962C8B-B14F-4D97-AF65-F5344CB8AC3E}">
        <p14:creationId xmlns:p14="http://schemas.microsoft.com/office/powerpoint/2010/main" val="2813279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71E47A-FB88-4ED3-B43D-B7052E6C9803}" type="datetimeFigureOut">
              <a:rPr lang="en-US" smtClean="0"/>
              <a:t>3/2/2026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29847E-83A1-4476-B192-7262118E9107}" type="slidenum">
              <a:rPr lang="en-US" smtClean="0"/>
              <a:t>‹#›</a:t>
            </a:fld>
            <a:endParaRPr lang="en-US"/>
          </a:p>
        </p:txBody>
      </p:sp>
    </p:spTree>
    <p:extLst>
      <p:ext uri="{BB962C8B-B14F-4D97-AF65-F5344CB8AC3E}">
        <p14:creationId xmlns:p14="http://schemas.microsoft.com/office/powerpoint/2010/main" val="14620480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79550"/>
            <a:ext cx="9144000" cy="618186"/>
          </a:xfrm>
        </p:spPr>
        <p:txBody>
          <a:bodyPr>
            <a:normAutofit fontScale="90000"/>
          </a:bodyPr>
          <a:lstStyle/>
          <a:p>
            <a:r>
              <a:rPr lang="en-US" sz="3600" dirty="0" smtClean="0">
                <a:latin typeface="Times New Roman" panose="02020603050405020304" pitchFamily="18" charset="0"/>
                <a:cs typeface="Times New Roman" panose="02020603050405020304" pitchFamily="18" charset="0"/>
              </a:rPr>
              <a:t>ASSESSMENT OF NUTRITIONAL KNOWLEDGE</a:t>
            </a:r>
            <a:endParaRPr lang="en-US" sz="36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875763" y="1365161"/>
            <a:ext cx="10303099" cy="4971245"/>
          </a:xfrm>
        </p:spPr>
        <p:txBody>
          <a:bodyPr>
            <a:normAutofit fontScale="92500" lnSpcReduction="10000"/>
          </a:bodyPr>
          <a:lstStyle/>
          <a:p>
            <a:pPr algn="l"/>
            <a:r>
              <a:rPr lang="en-US" dirty="0">
                <a:latin typeface="Times New Roman" panose="02020603050405020304" pitchFamily="18" charset="0"/>
                <a:cs typeface="Times New Roman" panose="02020603050405020304" pitchFamily="18" charset="0"/>
              </a:rPr>
              <a:t>Nutrition knowledge, broadly defined, refers to knowledge of concepts and processes related to nutrition and health including knowledge of diet and health, diet and disease, foods representing major sources of nutrients, and dietary guidelines and </a:t>
            </a:r>
            <a:r>
              <a:rPr lang="en-US" dirty="0" smtClean="0">
                <a:latin typeface="Times New Roman" panose="02020603050405020304" pitchFamily="18" charset="0"/>
                <a:cs typeface="Times New Roman" panose="02020603050405020304" pitchFamily="18" charset="0"/>
              </a:rPr>
              <a:t>recommendations.</a:t>
            </a:r>
          </a:p>
          <a:p>
            <a:r>
              <a:rPr lang="en-US" dirty="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Assessment of Nutritional Knowledge</a:t>
            </a:r>
          </a:p>
          <a:p>
            <a:pPr algn="l"/>
            <a:r>
              <a:rPr lang="en-US" b="1" dirty="0" smtClean="0">
                <a:latin typeface="Times New Roman" panose="02020603050405020304" pitchFamily="18" charset="0"/>
                <a:cs typeface="Times New Roman" panose="02020603050405020304" pitchFamily="18" charset="0"/>
              </a:rPr>
              <a:t>Assessment of Nutritional Knowledge</a:t>
            </a:r>
            <a:r>
              <a:rPr lang="en-US" dirty="0" smtClean="0">
                <a:latin typeface="Times New Roman" panose="02020603050405020304" pitchFamily="18" charset="0"/>
                <a:cs typeface="Times New Roman" panose="02020603050405020304" pitchFamily="18" charset="0"/>
              </a:rPr>
              <a:t> refers to the process of evaluating an individual’s understanding of nutrition concepts, healthy eating practices, nutrients, and their role in maintaining health.</a:t>
            </a:r>
          </a:p>
          <a:p>
            <a:pPr algn="l"/>
            <a:r>
              <a:rPr lang="en-US" b="1" dirty="0" smtClean="0">
                <a:latin typeface="Times New Roman" panose="02020603050405020304" pitchFamily="18" charset="0"/>
                <a:cs typeface="Times New Roman" panose="02020603050405020304" pitchFamily="18" charset="0"/>
              </a:rPr>
              <a:t>It helps to determine</a:t>
            </a:r>
            <a:r>
              <a:rPr lang="en-US" dirty="0" smtClean="0">
                <a:latin typeface="Times New Roman" panose="02020603050405020304" pitchFamily="18" charset="0"/>
                <a:cs typeface="Times New Roman" panose="02020603050405020304" pitchFamily="18" charset="0"/>
              </a:rPr>
              <a:t>:</a:t>
            </a:r>
          </a:p>
          <a:p>
            <a:pPr algn="l"/>
            <a:r>
              <a:rPr lang="en-US" dirty="0" smtClean="0">
                <a:latin typeface="Times New Roman" panose="02020603050405020304" pitchFamily="18" charset="0"/>
                <a:cs typeface="Times New Roman" panose="02020603050405020304" pitchFamily="18" charset="0"/>
              </a:rPr>
              <a:t>Awareness about nutrients (carbohydrates, proteins, fats, vitamins, minerals)</a:t>
            </a:r>
          </a:p>
          <a:p>
            <a:pPr algn="l"/>
            <a:r>
              <a:rPr lang="en-US" dirty="0" smtClean="0">
                <a:latin typeface="Times New Roman" panose="02020603050405020304" pitchFamily="18" charset="0"/>
                <a:cs typeface="Times New Roman" panose="02020603050405020304" pitchFamily="18" charset="0"/>
              </a:rPr>
              <a:t>Understanding of balanced diet</a:t>
            </a:r>
          </a:p>
          <a:p>
            <a:pPr algn="l"/>
            <a:r>
              <a:rPr lang="en-US" dirty="0" smtClean="0">
                <a:latin typeface="Times New Roman" panose="02020603050405020304" pitchFamily="18" charset="0"/>
                <a:cs typeface="Times New Roman" panose="02020603050405020304" pitchFamily="18" charset="0"/>
              </a:rPr>
              <a:t>Knowledge of RDA (Recommended Dietary Allowance)</a:t>
            </a:r>
          </a:p>
          <a:p>
            <a:pPr algn="l"/>
            <a:r>
              <a:rPr lang="en-US" dirty="0" smtClean="0">
                <a:latin typeface="Times New Roman" panose="02020603050405020304" pitchFamily="18" charset="0"/>
                <a:cs typeface="Times New Roman" panose="02020603050405020304" pitchFamily="18" charset="0"/>
              </a:rPr>
              <a:t>Awareness of deficiency diseases</a:t>
            </a:r>
          </a:p>
          <a:p>
            <a:pPr algn="l"/>
            <a:r>
              <a:rPr lang="en-US" dirty="0" smtClean="0">
                <a:latin typeface="Times New Roman" panose="02020603050405020304" pitchFamily="18" charset="0"/>
                <a:cs typeface="Times New Roman" panose="02020603050405020304" pitchFamily="18" charset="0"/>
              </a:rPr>
              <a:t>Understanding of food sources and healthy food choices</a:t>
            </a:r>
          </a:p>
          <a:p>
            <a:pPr algn="l"/>
            <a:endParaRPr lang="en-US" dirty="0"/>
          </a:p>
        </p:txBody>
      </p:sp>
    </p:spTree>
    <p:extLst>
      <p:ext uri="{BB962C8B-B14F-4D97-AF65-F5344CB8AC3E}">
        <p14:creationId xmlns:p14="http://schemas.microsoft.com/office/powerpoint/2010/main" val="28100299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latin typeface="Times New Roman" panose="02020603050405020304" pitchFamily="18" charset="0"/>
                <a:cs typeface="Times New Roman" panose="02020603050405020304" pitchFamily="18" charset="0"/>
              </a:rPr>
              <a:t>NATIONAL AND INTERNATIONAL FOOD REGULATORY AGENCIES</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0" indent="0" algn="just">
              <a:buNone/>
            </a:pPr>
            <a:r>
              <a:rPr lang="en-US"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Food Regulatory Agency</a:t>
            </a:r>
            <a:r>
              <a:rPr lang="en-US" dirty="0" smtClean="0">
                <a:latin typeface="Times New Roman" panose="02020603050405020304" pitchFamily="18" charset="0"/>
                <a:cs typeface="Times New Roman" panose="02020603050405020304" pitchFamily="18" charset="0"/>
              </a:rPr>
              <a:t> is an official government body responsible for ensuring that food produced, processed, distributed, and sold to the public is </a:t>
            </a:r>
            <a:r>
              <a:rPr lang="en-US" b="1" dirty="0" smtClean="0">
                <a:latin typeface="Times New Roman" panose="02020603050405020304" pitchFamily="18" charset="0"/>
                <a:cs typeface="Times New Roman" panose="02020603050405020304" pitchFamily="18" charset="0"/>
              </a:rPr>
              <a:t>safe, hygienic, and properly labeled</a:t>
            </a:r>
            <a:r>
              <a:rPr lang="en-US" dirty="0" smtClean="0">
                <a:latin typeface="Times New Roman" panose="02020603050405020304" pitchFamily="18" charset="0"/>
                <a:cs typeface="Times New Roman" panose="02020603050405020304" pitchFamily="18" charset="0"/>
              </a:rPr>
              <a:t>.</a:t>
            </a:r>
          </a:p>
          <a:p>
            <a:pPr marL="0" indent="0" algn="just">
              <a:buNone/>
            </a:pPr>
            <a:r>
              <a:rPr lang="en-US" b="1" dirty="0" smtClean="0">
                <a:latin typeface="Times New Roman" panose="02020603050405020304" pitchFamily="18" charset="0"/>
                <a:cs typeface="Times New Roman" panose="02020603050405020304" pitchFamily="18" charset="0"/>
              </a:rPr>
              <a:t>Need for a Food Regulatory Agency</a:t>
            </a:r>
          </a:p>
          <a:p>
            <a:pPr marL="0" indent="0" algn="just">
              <a:buNone/>
            </a:pPr>
            <a:r>
              <a:rPr lang="en-US" dirty="0" smtClean="0">
                <a:latin typeface="Times New Roman" panose="02020603050405020304" pitchFamily="18" charset="0"/>
                <a:cs typeface="Times New Roman" panose="02020603050405020304" pitchFamily="18" charset="0"/>
              </a:rPr>
              <a:t>A </a:t>
            </a:r>
            <a:r>
              <a:rPr lang="en-US" b="1" dirty="0" smtClean="0">
                <a:latin typeface="Times New Roman" panose="02020603050405020304" pitchFamily="18" charset="0"/>
                <a:cs typeface="Times New Roman" panose="02020603050405020304" pitchFamily="18" charset="0"/>
              </a:rPr>
              <a:t>Food Regulatory Agency</a:t>
            </a:r>
            <a:r>
              <a:rPr lang="en-US" dirty="0" smtClean="0">
                <a:latin typeface="Times New Roman" panose="02020603050405020304" pitchFamily="18" charset="0"/>
                <a:cs typeface="Times New Roman" panose="02020603050405020304" pitchFamily="18" charset="0"/>
              </a:rPr>
              <a:t> is necessary to ensure that the food consumed by the public is </a:t>
            </a:r>
            <a:r>
              <a:rPr lang="en-US" b="1" dirty="0" smtClean="0">
                <a:latin typeface="Times New Roman" panose="02020603050405020304" pitchFamily="18" charset="0"/>
                <a:cs typeface="Times New Roman" panose="02020603050405020304" pitchFamily="18" charset="0"/>
              </a:rPr>
              <a:t>safe, hygienic, and nutritious</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smtClean="0">
                <a:latin typeface="Times New Roman" panose="02020603050405020304" pitchFamily="18" charset="0"/>
                <a:cs typeface="Times New Roman" panose="02020603050405020304" pitchFamily="18" charset="0"/>
              </a:rPr>
              <a:t>1. Protection of Public Health</a:t>
            </a:r>
          </a:p>
          <a:p>
            <a:pPr marL="0" indent="0" algn="just">
              <a:buNone/>
            </a:pPr>
            <a:r>
              <a:rPr lang="en-US" dirty="0" smtClean="0">
                <a:latin typeface="Times New Roman" panose="02020603050405020304" pitchFamily="18" charset="0"/>
                <a:cs typeface="Times New Roman" panose="02020603050405020304" pitchFamily="18" charset="0"/>
              </a:rPr>
              <a:t>2. Prevention of Food Adulteration</a:t>
            </a:r>
          </a:p>
          <a:p>
            <a:pPr marL="0" indent="0" algn="just">
              <a:buNone/>
            </a:pPr>
            <a:r>
              <a:rPr lang="en-US" dirty="0" smtClean="0">
                <a:latin typeface="Times New Roman" panose="02020603050405020304" pitchFamily="18" charset="0"/>
                <a:cs typeface="Times New Roman" panose="02020603050405020304" pitchFamily="18" charset="0"/>
              </a:rPr>
              <a:t>3. Standardization of Food Quality</a:t>
            </a:r>
          </a:p>
          <a:p>
            <a:pPr marL="0" indent="0" algn="just">
              <a:buNone/>
            </a:pPr>
            <a:r>
              <a:rPr lang="en-US" dirty="0" smtClean="0">
                <a:latin typeface="Times New Roman" panose="02020603050405020304" pitchFamily="18" charset="0"/>
                <a:cs typeface="Times New Roman" panose="02020603050405020304" pitchFamily="18" charset="0"/>
              </a:rPr>
              <a:t>4. Regulation of Food Industries</a:t>
            </a:r>
          </a:p>
          <a:p>
            <a:pPr marL="0" indent="0" algn="just">
              <a:buNone/>
            </a:pPr>
            <a:r>
              <a:rPr lang="en-US" dirty="0" smtClean="0">
                <a:latin typeface="Times New Roman" panose="02020603050405020304" pitchFamily="18" charset="0"/>
                <a:cs typeface="Times New Roman" panose="02020603050405020304" pitchFamily="18" charset="0"/>
              </a:rPr>
              <a:t>5. Consumer Protection</a:t>
            </a:r>
          </a:p>
          <a:p>
            <a:pPr marL="0" indent="0" algn="just">
              <a:buNone/>
            </a:pPr>
            <a:r>
              <a:rPr lang="en-US" dirty="0" smtClean="0">
                <a:latin typeface="Times New Roman" panose="02020603050405020304" pitchFamily="18" charset="0"/>
                <a:cs typeface="Times New Roman" panose="02020603050405020304" pitchFamily="18" charset="0"/>
              </a:rPr>
              <a:t>6. Control of Imported and Exported Foods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679139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latin typeface="Times New Roman" panose="02020603050405020304" pitchFamily="18" charset="0"/>
                <a:cs typeface="Times New Roman" panose="02020603050405020304" pitchFamily="18" charset="0"/>
              </a:rPr>
              <a:t>NATIONAL FOOD REGULATORY AGENCY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90163"/>
            <a:ext cx="10515600" cy="4386800"/>
          </a:xfrm>
        </p:spPr>
        <p:txBody>
          <a:bodyPr>
            <a:normAutofit fontScale="92500" lnSpcReduction="10000"/>
          </a:bodyPr>
          <a:lstStyle/>
          <a:p>
            <a:pPr marL="0" indent="0" algn="ctr">
              <a:buNone/>
            </a:pPr>
            <a:r>
              <a:rPr lang="en-US" dirty="0" smtClean="0">
                <a:latin typeface="Times New Roman" panose="02020603050405020304" pitchFamily="18" charset="0"/>
                <a:cs typeface="Times New Roman" panose="02020603050405020304" pitchFamily="18" charset="0"/>
              </a:rPr>
              <a:t>FSSAI</a:t>
            </a:r>
          </a:p>
          <a:p>
            <a:pPr marL="0" indent="0" algn="just">
              <a:buNone/>
            </a:pPr>
            <a:r>
              <a:rPr lang="en-US" dirty="0" smtClean="0">
                <a:latin typeface="Times New Roman" panose="02020603050405020304" pitchFamily="18" charset="0"/>
                <a:cs typeface="Times New Roman" panose="02020603050405020304" pitchFamily="18" charset="0"/>
              </a:rPr>
              <a:t>Food Safety and Standards Authority of India, established under the Food Safety and Standards Act, 2006, is the regulating body related to food safety and laying down of standards of food in India.</a:t>
            </a:r>
          </a:p>
          <a:p>
            <a:pPr marL="0" indent="0" algn="ctr">
              <a:buNone/>
            </a:pPr>
            <a:r>
              <a:rPr lang="en-US" dirty="0" smtClean="0">
                <a:latin typeface="Times New Roman" panose="02020603050405020304" pitchFamily="18" charset="0"/>
                <a:cs typeface="Times New Roman" panose="02020603050405020304" pitchFamily="18" charset="0"/>
              </a:rPr>
              <a:t>OBJECTIVES OF FSSAI</a:t>
            </a:r>
          </a:p>
          <a:p>
            <a:pPr marL="0" indent="0">
              <a:buNone/>
            </a:pPr>
            <a:r>
              <a:rPr lang="en-US" dirty="0" smtClean="0">
                <a:latin typeface="Times New Roman" panose="02020603050405020304" pitchFamily="18" charset="0"/>
                <a:cs typeface="Times New Roman" panose="02020603050405020304" pitchFamily="18" charset="0"/>
              </a:rPr>
              <a:t>The objectives are to protect public health by </a:t>
            </a:r>
          </a:p>
          <a:p>
            <a:r>
              <a:rPr lang="en-US" dirty="0" smtClean="0">
                <a:latin typeface="Times New Roman" panose="02020603050405020304" pitchFamily="18" charset="0"/>
                <a:cs typeface="Times New Roman" panose="02020603050405020304" pitchFamily="18" charset="0"/>
              </a:rPr>
              <a:t>reducing risk of food borne illnesses, </a:t>
            </a:r>
          </a:p>
          <a:p>
            <a:r>
              <a:rPr lang="en-US" dirty="0" smtClean="0">
                <a:latin typeface="Times New Roman" panose="02020603050405020304" pitchFamily="18" charset="0"/>
                <a:cs typeface="Times New Roman" panose="02020603050405020304" pitchFamily="18" charset="0"/>
              </a:rPr>
              <a:t>to protect consumers from unsanitary, </a:t>
            </a:r>
          </a:p>
          <a:p>
            <a:r>
              <a:rPr lang="en-US" dirty="0" smtClean="0">
                <a:latin typeface="Times New Roman" panose="02020603050405020304" pitchFamily="18" charset="0"/>
                <a:cs typeface="Times New Roman" panose="02020603050405020304" pitchFamily="18" charset="0"/>
              </a:rPr>
              <a:t>unwholesome, </a:t>
            </a:r>
          </a:p>
          <a:p>
            <a:r>
              <a:rPr lang="en-US" dirty="0" smtClean="0">
                <a:latin typeface="Times New Roman" panose="02020603050405020304" pitchFamily="18" charset="0"/>
                <a:cs typeface="Times New Roman" panose="02020603050405020304" pitchFamily="18" charset="0"/>
              </a:rPr>
              <a:t>mislabeled or adulterated food.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585364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smtClean="0">
                <a:latin typeface="Times New Roman" panose="02020603050405020304" pitchFamily="18" charset="0"/>
                <a:cs typeface="Times New Roman" panose="02020603050405020304" pitchFamily="18" charset="0"/>
              </a:rPr>
              <a:t>INTERNATIONAL FOOD REGULATORY AGENCIES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latin typeface="Times New Roman" panose="02020603050405020304" pitchFamily="18" charset="0"/>
                <a:cs typeface="Times New Roman" panose="02020603050405020304" pitchFamily="18" charset="0"/>
              </a:rPr>
              <a:t>World Health Organization and Food and Agriculture Organization (WHO, FAO) </a:t>
            </a:r>
          </a:p>
          <a:p>
            <a:pPr marL="0" indent="0">
              <a:buNone/>
            </a:pPr>
            <a:r>
              <a:rPr lang="en-US" dirty="0" smtClean="0">
                <a:latin typeface="Times New Roman" panose="02020603050405020304" pitchFamily="18" charset="0"/>
                <a:cs typeface="Times New Roman" panose="02020603050405020304" pitchFamily="18" charset="0"/>
              </a:rPr>
              <a:t>The five key principles of food hygiene, according to WHO, are: </a:t>
            </a:r>
          </a:p>
          <a:p>
            <a:r>
              <a:rPr lang="en-US" dirty="0" smtClean="0">
                <a:latin typeface="Times New Roman" panose="02020603050405020304" pitchFamily="18" charset="0"/>
                <a:cs typeface="Times New Roman" panose="02020603050405020304" pitchFamily="18" charset="0"/>
              </a:rPr>
              <a:t> Prevent cross-- contamination of food with pathogens spreading from people, pets, and pests</a:t>
            </a:r>
          </a:p>
          <a:p>
            <a:r>
              <a:rPr lang="en-US" dirty="0" smtClean="0">
                <a:latin typeface="Times New Roman" panose="02020603050405020304" pitchFamily="18" charset="0"/>
                <a:cs typeface="Times New Roman" panose="02020603050405020304" pitchFamily="18" charset="0"/>
              </a:rPr>
              <a:t> Separate raw and cooked foods to prevent contaminating the cooked foods</a:t>
            </a:r>
          </a:p>
          <a:p>
            <a:r>
              <a:rPr lang="en-US" dirty="0" smtClean="0">
                <a:latin typeface="Times New Roman" panose="02020603050405020304" pitchFamily="18" charset="0"/>
                <a:cs typeface="Times New Roman" panose="02020603050405020304" pitchFamily="18" charset="0"/>
              </a:rPr>
              <a:t> Cook foods for the appropriate length of time and at the appropriate temperature to kill pathogens </a:t>
            </a:r>
          </a:p>
          <a:p>
            <a:r>
              <a:rPr lang="en-US" dirty="0" smtClean="0">
                <a:latin typeface="Times New Roman" panose="02020603050405020304" pitchFamily="18" charset="0"/>
                <a:cs typeface="Times New Roman" panose="02020603050405020304" pitchFamily="18" charset="0"/>
              </a:rPr>
              <a:t>Storage of food at the proper temperature</a:t>
            </a:r>
          </a:p>
          <a:p>
            <a:r>
              <a:rPr lang="en-US" dirty="0" smtClean="0">
                <a:latin typeface="Times New Roman" panose="02020603050405020304" pitchFamily="18" charset="0"/>
                <a:cs typeface="Times New Roman" panose="02020603050405020304" pitchFamily="18" charset="0"/>
              </a:rPr>
              <a:t> Use safe water and raw materials </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63864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7157"/>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INTERNATIONAL FOOD REGULATORY AGENCIES</a:t>
            </a:r>
            <a:endParaRPr lang="en-US" sz="3200" dirty="0"/>
          </a:p>
        </p:txBody>
      </p:sp>
      <p:sp>
        <p:nvSpPr>
          <p:cNvPr id="3" name="Content Placeholder 2"/>
          <p:cNvSpPr>
            <a:spLocks noGrp="1"/>
          </p:cNvSpPr>
          <p:nvPr>
            <p:ph idx="1"/>
          </p:nvPr>
        </p:nvSpPr>
        <p:spPr>
          <a:xfrm>
            <a:off x="838200" y="1236372"/>
            <a:ext cx="10515600" cy="4940591"/>
          </a:xfrm>
        </p:spPr>
        <p:txBody>
          <a:bodyPr/>
          <a:lstStyle/>
          <a:p>
            <a:pPr marL="0" indent="0" algn="just">
              <a:buNone/>
            </a:pPr>
            <a:r>
              <a:rPr lang="en-US" b="1" dirty="0" smtClean="0">
                <a:latin typeface="Times New Roman" panose="02020603050405020304" pitchFamily="18" charset="0"/>
                <a:cs typeface="Times New Roman" panose="02020603050405020304" pitchFamily="18" charset="0"/>
              </a:rPr>
              <a:t>FAO and WHO </a:t>
            </a:r>
            <a:r>
              <a:rPr lang="en-US" dirty="0" smtClean="0">
                <a:latin typeface="Times New Roman" panose="02020603050405020304" pitchFamily="18" charset="0"/>
                <a:cs typeface="Times New Roman" panose="02020603050405020304" pitchFamily="18" charset="0"/>
              </a:rPr>
              <a:t>provide expert scientific advice on many aspects of food quality, safety and nutrition relevant to the work of the Codex </a:t>
            </a:r>
            <a:r>
              <a:rPr lang="en-US" dirty="0" err="1" smtClean="0">
                <a:latin typeface="Times New Roman" panose="02020603050405020304" pitchFamily="18" charset="0"/>
                <a:cs typeface="Times New Roman" panose="02020603050405020304" pitchFamily="18" charset="0"/>
              </a:rPr>
              <a:t>Alimentarius</a:t>
            </a:r>
            <a:r>
              <a:rPr lang="en-US" dirty="0" smtClean="0">
                <a:latin typeface="Times New Roman" panose="02020603050405020304" pitchFamily="18" charset="0"/>
                <a:cs typeface="Times New Roman" panose="02020603050405020304" pitchFamily="18" charset="0"/>
              </a:rPr>
              <a:t> Commission.</a:t>
            </a:r>
          </a:p>
          <a:p>
            <a:pPr marL="0" indent="0" algn="just">
              <a:buNone/>
            </a:pPr>
            <a:r>
              <a:rPr lang="en-US" b="1" dirty="0" smtClean="0">
                <a:latin typeface="Times New Roman" panose="02020603050405020304" pitchFamily="18" charset="0"/>
                <a:cs typeface="Times New Roman" panose="02020603050405020304" pitchFamily="18" charset="0"/>
              </a:rPr>
              <a:t>Codex </a:t>
            </a:r>
            <a:r>
              <a:rPr lang="en-US" b="1" dirty="0" err="1" smtClean="0">
                <a:latin typeface="Times New Roman" panose="02020603050405020304" pitchFamily="18" charset="0"/>
                <a:cs typeface="Times New Roman" panose="02020603050405020304" pitchFamily="18" charset="0"/>
              </a:rPr>
              <a:t>Alimenatrius</a:t>
            </a:r>
            <a:r>
              <a:rPr lang="en-US" b="1" dirty="0" smtClean="0">
                <a:latin typeface="Times New Roman" panose="02020603050405020304" pitchFamily="18" charset="0"/>
                <a:cs typeface="Times New Roman" panose="02020603050405020304" pitchFamily="18" charset="0"/>
              </a:rPr>
              <a:t> </a:t>
            </a:r>
          </a:p>
          <a:p>
            <a:pPr marL="0" indent="0" algn="just">
              <a:buNone/>
            </a:pPr>
            <a:r>
              <a:rPr lang="en-US" dirty="0" smtClean="0">
                <a:latin typeface="Times New Roman" panose="02020603050405020304" pitchFamily="18" charset="0"/>
                <a:cs typeface="Times New Roman" panose="02020603050405020304" pitchFamily="18" charset="0"/>
              </a:rPr>
              <a:t>The Codex </a:t>
            </a:r>
            <a:r>
              <a:rPr lang="en-US" dirty="0" err="1" smtClean="0">
                <a:latin typeface="Times New Roman" panose="02020603050405020304" pitchFamily="18" charset="0"/>
                <a:cs typeface="Times New Roman" panose="02020603050405020304" pitchFamily="18" charset="0"/>
              </a:rPr>
              <a:t>Alimentarius</a:t>
            </a:r>
            <a:r>
              <a:rPr lang="en-US" dirty="0" smtClean="0">
                <a:latin typeface="Times New Roman" panose="02020603050405020304" pitchFamily="18" charset="0"/>
                <a:cs typeface="Times New Roman" panose="02020603050405020304" pitchFamily="18" charset="0"/>
              </a:rPr>
              <a:t> is involved in setting up of international food standards, guidelines and codes of practice to contribute to the safety, quality and fairness in international food trade. </a:t>
            </a:r>
          </a:p>
          <a:p>
            <a:pPr marL="0" indent="0" algn="just">
              <a:buNone/>
            </a:pPr>
            <a:r>
              <a:rPr lang="en-US" dirty="0" smtClean="0">
                <a:latin typeface="Times New Roman" panose="02020603050405020304" pitchFamily="18" charset="0"/>
                <a:cs typeface="Times New Roman" panose="02020603050405020304" pitchFamily="18" charset="0"/>
              </a:rPr>
              <a:t>Consumers can trust the safety and quality of the food products they buy.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6033164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0790"/>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INTERNATIONAL FOOD REGULATORY AGENCIES</a:t>
            </a:r>
            <a:endParaRPr lang="en-US" sz="3200" dirty="0"/>
          </a:p>
        </p:txBody>
      </p:sp>
      <p:sp>
        <p:nvSpPr>
          <p:cNvPr id="3" name="Content Placeholder 2"/>
          <p:cNvSpPr>
            <a:spLocks noGrp="1"/>
          </p:cNvSpPr>
          <p:nvPr>
            <p:ph idx="1"/>
          </p:nvPr>
        </p:nvSpPr>
        <p:spPr>
          <a:xfrm>
            <a:off x="838200" y="965916"/>
            <a:ext cx="10515600" cy="5211047"/>
          </a:xfrm>
        </p:spPr>
        <p:txBody>
          <a:bodyPr/>
          <a:lstStyle/>
          <a:p>
            <a:pPr marL="0" indent="0" algn="ctr">
              <a:buNone/>
            </a:pPr>
            <a:r>
              <a:rPr lang="en-US" b="1" dirty="0" smtClean="0">
                <a:latin typeface="Times New Roman" panose="02020603050405020304" pitchFamily="18" charset="0"/>
                <a:cs typeface="Times New Roman" panose="02020603050405020304" pitchFamily="18" charset="0"/>
              </a:rPr>
              <a:t>International Organization for Standardization (ISO)</a:t>
            </a:r>
          </a:p>
          <a:p>
            <a:pPr marL="0" indent="0" algn="just">
              <a:buNone/>
            </a:pPr>
            <a:r>
              <a:rPr lang="en-US" dirty="0" smtClean="0">
                <a:latin typeface="Times New Roman" panose="02020603050405020304" pitchFamily="18" charset="0"/>
                <a:cs typeface="Times New Roman" panose="02020603050405020304" pitchFamily="18" charset="0"/>
              </a:rPr>
              <a:t> ISO 22000 is a standard developed by the International Organization for Standardization dealing with food safety.</a:t>
            </a:r>
          </a:p>
          <a:p>
            <a:pPr marL="0" indent="0" algn="just">
              <a:buNone/>
            </a:pPr>
            <a:r>
              <a:rPr lang="en-US" dirty="0" smtClean="0">
                <a:latin typeface="Times New Roman" panose="02020603050405020304" pitchFamily="18" charset="0"/>
                <a:cs typeface="Times New Roman" panose="02020603050405020304" pitchFamily="18" charset="0"/>
              </a:rPr>
              <a:t> It is a general derivative of ISO 9000.</a:t>
            </a:r>
          </a:p>
          <a:p>
            <a:pPr marL="0" indent="0" algn="just">
              <a:buNone/>
            </a:pPr>
            <a:r>
              <a:rPr lang="en-US" dirty="0" smtClean="0">
                <a:latin typeface="Times New Roman" panose="02020603050405020304" pitchFamily="18" charset="0"/>
                <a:cs typeface="Times New Roman" panose="02020603050405020304" pitchFamily="18" charset="0"/>
              </a:rPr>
              <a:t>The ISO 22000 international standard specifies the requirements for a food safety management system that involves the following elements: </a:t>
            </a:r>
          </a:p>
          <a:p>
            <a:pPr algn="just"/>
            <a:r>
              <a:rPr lang="en-US" dirty="0" smtClean="0">
                <a:latin typeface="Times New Roman" panose="02020603050405020304" pitchFamily="18" charset="0"/>
                <a:cs typeface="Times New Roman" panose="02020603050405020304" pitchFamily="18" charset="0"/>
              </a:rPr>
              <a:t>Interactive communication </a:t>
            </a:r>
          </a:p>
          <a:p>
            <a:pPr algn="just"/>
            <a:r>
              <a:rPr lang="en-US" dirty="0" smtClean="0">
                <a:latin typeface="Times New Roman" panose="02020603050405020304" pitchFamily="18" charset="0"/>
                <a:cs typeface="Times New Roman" panose="02020603050405020304" pitchFamily="18" charset="0"/>
              </a:rPr>
              <a:t> System management </a:t>
            </a:r>
          </a:p>
          <a:p>
            <a:pPr algn="just"/>
            <a:r>
              <a:rPr lang="en-US" dirty="0" smtClean="0">
                <a:latin typeface="Times New Roman" panose="02020603050405020304" pitchFamily="18" charset="0"/>
                <a:cs typeface="Times New Roman" panose="02020603050405020304" pitchFamily="18" charset="0"/>
              </a:rPr>
              <a:t>Prerequisite programs </a:t>
            </a:r>
          </a:p>
          <a:p>
            <a:pPr marL="0" indent="0" algn="just">
              <a:buNone/>
            </a:pPr>
            <a:r>
              <a:rPr lang="en-US" dirty="0" smtClean="0">
                <a:latin typeface="Times New Roman" panose="02020603050405020304" pitchFamily="18" charset="0"/>
                <a:cs typeface="Times New Roman" panose="02020603050405020304" pitchFamily="18" charset="0"/>
              </a:rPr>
              <a:t>ISO is developing additional standards that are related to ISO 22000. These standards will be known as the ISO 22000 family of standards.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98509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7912"/>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INTERNATIONAL FOOD REGULATORY AGENCIES</a:t>
            </a:r>
            <a:endParaRPr lang="en-US" sz="3200" dirty="0"/>
          </a:p>
        </p:txBody>
      </p:sp>
      <p:sp>
        <p:nvSpPr>
          <p:cNvPr id="3" name="Content Placeholder 2"/>
          <p:cNvSpPr>
            <a:spLocks noGrp="1"/>
          </p:cNvSpPr>
          <p:nvPr>
            <p:ph idx="1"/>
          </p:nvPr>
        </p:nvSpPr>
        <p:spPr>
          <a:xfrm>
            <a:off x="838200" y="1056068"/>
            <a:ext cx="10515600" cy="5035639"/>
          </a:xfrm>
        </p:spPr>
        <p:txBody>
          <a:bodyPr>
            <a:normAutofit fontScale="77500" lnSpcReduction="20000"/>
          </a:bodyPr>
          <a:lstStyle/>
          <a:p>
            <a:pPr marL="0" indent="0" algn="just">
              <a:buNone/>
            </a:pPr>
            <a:r>
              <a:rPr lang="en-US" dirty="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he following standards make up the ISO 22000 family of standards: </a:t>
            </a:r>
          </a:p>
          <a:p>
            <a:pPr algn="just"/>
            <a:r>
              <a:rPr lang="en-US" dirty="0" smtClean="0">
                <a:latin typeface="Times New Roman" panose="02020603050405020304" pitchFamily="18" charset="0"/>
                <a:cs typeface="Times New Roman" panose="02020603050405020304" pitchFamily="18" charset="0"/>
              </a:rPr>
              <a:t> ISO 22000 is about </a:t>
            </a:r>
            <a:r>
              <a:rPr lang="en-US" b="1" dirty="0" smtClean="0">
                <a:latin typeface="Times New Roman" panose="02020603050405020304" pitchFamily="18" charset="0"/>
                <a:cs typeface="Times New Roman" panose="02020603050405020304" pitchFamily="18" charset="0"/>
              </a:rPr>
              <a:t>Food safety management systems </a:t>
            </a:r>
            <a:r>
              <a:rPr lang="en-US" dirty="0" smtClean="0">
                <a:latin typeface="Times New Roman" panose="02020603050405020304" pitchFamily="18" charset="0"/>
                <a:cs typeface="Times New Roman" panose="02020603050405020304" pitchFamily="18" charset="0"/>
              </a:rPr>
              <a:t>which are requirements for any organization in the food chain. </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ISO 22001 gives the Guidelines on the application of ISO 9001:2000 for the </a:t>
            </a:r>
            <a:r>
              <a:rPr lang="en-US" b="1" dirty="0" smtClean="0">
                <a:latin typeface="Times New Roman" panose="02020603050405020304" pitchFamily="18" charset="0"/>
                <a:cs typeface="Times New Roman" panose="02020603050405020304" pitchFamily="18" charset="0"/>
              </a:rPr>
              <a:t>food and drink industry</a:t>
            </a:r>
            <a:r>
              <a:rPr lang="en-US" dirty="0" smtClean="0">
                <a:latin typeface="Times New Roman" panose="02020603050405020304" pitchFamily="18" charset="0"/>
                <a:cs typeface="Times New Roman" panose="02020603050405020304" pitchFamily="18" charset="0"/>
              </a:rPr>
              <a:t> (replaces: ISO 15161:2001). </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ISO/TS 22002 deals with the Prerequisite programs on food safety in Food manufacturing </a:t>
            </a:r>
          </a:p>
          <a:p>
            <a:pPr algn="just"/>
            <a:r>
              <a:rPr lang="en-US" dirty="0" smtClean="0">
                <a:latin typeface="Times New Roman" panose="02020603050405020304" pitchFamily="18" charset="0"/>
                <a:cs typeface="Times New Roman" panose="02020603050405020304" pitchFamily="18" charset="0"/>
              </a:rPr>
              <a:t> ISO TS 22003 sets standards for Food safety management systems for bodies providing audit and certification of food safety management systems. </a:t>
            </a:r>
          </a:p>
          <a:p>
            <a:pPr algn="just"/>
            <a:r>
              <a:rPr lang="en-US" dirty="0" smtClean="0">
                <a:latin typeface="Times New Roman" panose="02020603050405020304" pitchFamily="18" charset="0"/>
                <a:cs typeface="Times New Roman" panose="02020603050405020304" pitchFamily="18" charset="0"/>
              </a:rPr>
              <a:t>ISO TS 22004 is for Food safety management systems - Guidance on the application of ISO 22000:2005. </a:t>
            </a:r>
          </a:p>
          <a:p>
            <a:pPr algn="just"/>
            <a:r>
              <a:rPr lang="en-US" dirty="0" smtClean="0">
                <a:latin typeface="Times New Roman" panose="02020603050405020304" pitchFamily="18" charset="0"/>
                <a:cs typeface="Times New Roman" panose="02020603050405020304" pitchFamily="18" charset="0"/>
              </a:rPr>
              <a:t>ISO 22005 gives guidelines to be followed on Traceability in the feed and food chain - General principles and basic requirements for system design and implementation. </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ISO 22006 is regarding Quality management systems - Guidance on the application of ISO 9002:2000 for crop production. </a:t>
            </a:r>
            <a:endParaRPr lang="en-US" dirty="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ISO 22000 is also used in the Food Safety Systems Certification (FSSC) Scheme FS22000. FS22000 is a Global Food Safety Initiative (GFSI) approved scheme.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645556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7912"/>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INTERNATIONAL FOOD REGULATORY AGENCIES</a:t>
            </a:r>
            <a:endParaRPr lang="en-US" sz="3200" dirty="0"/>
          </a:p>
        </p:txBody>
      </p:sp>
      <p:sp>
        <p:nvSpPr>
          <p:cNvPr id="3" name="Content Placeholder 2"/>
          <p:cNvSpPr>
            <a:spLocks noGrp="1"/>
          </p:cNvSpPr>
          <p:nvPr>
            <p:ph idx="1"/>
          </p:nvPr>
        </p:nvSpPr>
        <p:spPr>
          <a:xfrm>
            <a:off x="579549" y="1223493"/>
            <a:ext cx="11011437" cy="4953470"/>
          </a:xfrm>
        </p:spPr>
        <p:txBody>
          <a:bodyPr>
            <a:normAutofit/>
          </a:bodyPr>
          <a:lstStyle/>
          <a:p>
            <a:pPr marL="0" indent="0" algn="ctr">
              <a:buNone/>
            </a:pPr>
            <a:r>
              <a:rPr lang="en-US" b="1" dirty="0" smtClean="0">
                <a:latin typeface="Times New Roman" panose="02020603050405020304" pitchFamily="18" charset="0"/>
                <a:cs typeface="Times New Roman" panose="02020603050405020304" pitchFamily="18" charset="0"/>
              </a:rPr>
              <a:t>United States-- Food and Drug Administration </a:t>
            </a:r>
          </a:p>
          <a:p>
            <a:pPr algn="just"/>
            <a:r>
              <a:rPr lang="en-US" dirty="0" smtClean="0">
                <a:latin typeface="Times New Roman" panose="02020603050405020304" pitchFamily="18" charset="0"/>
                <a:cs typeface="Times New Roman" panose="02020603050405020304" pitchFamily="18" charset="0"/>
              </a:rPr>
              <a:t>The FDA Food Safety Modernization Act (FSMA) aims to ensure the U.S. food supply is safe by shifting the focus from responding to contamination to preventing it.</a:t>
            </a:r>
          </a:p>
          <a:p>
            <a:pPr algn="just"/>
            <a:r>
              <a:rPr lang="en-US" dirty="0" smtClean="0">
                <a:latin typeface="Times New Roman" panose="02020603050405020304" pitchFamily="18" charset="0"/>
                <a:cs typeface="Times New Roman" panose="02020603050405020304" pitchFamily="18" charset="0"/>
              </a:rPr>
              <a:t> The USFDA is directly concerned with all aspects covering food safety like recalls, outbreaks &amp; emergencies, safety alerts and advisories, outbreak investigations, and keeping food safe in emergencies.</a:t>
            </a:r>
          </a:p>
          <a:p>
            <a:pPr marL="0" indent="0" algn="ctr">
              <a:buNone/>
            </a:pPr>
            <a:r>
              <a:rPr lang="en-US" b="1" dirty="0" smtClean="0">
                <a:latin typeface="Times New Roman" panose="02020603050405020304" pitchFamily="18" charset="0"/>
                <a:cs typeface="Times New Roman" panose="02020603050405020304" pitchFamily="18" charset="0"/>
              </a:rPr>
              <a:t>Health Canada </a:t>
            </a:r>
          </a:p>
          <a:p>
            <a:r>
              <a:rPr lang="en-US" dirty="0" smtClean="0">
                <a:latin typeface="Times New Roman" panose="02020603050405020304" pitchFamily="18" charset="0"/>
                <a:cs typeface="Times New Roman" panose="02020603050405020304" pitchFamily="18" charset="0"/>
              </a:rPr>
              <a:t>Maintaining the safety of Canada's food supply is a shared responsibility among government, industry and consumers.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07482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74278"/>
          </a:xfrm>
        </p:spPr>
        <p:txBody>
          <a:bodyPr>
            <a:normAutofit/>
          </a:bodyPr>
          <a:lstStyle/>
          <a:p>
            <a:pPr algn="ctr"/>
            <a:r>
              <a:rPr lang="en-US" sz="3200" dirty="0" smtClean="0">
                <a:latin typeface="Times New Roman" panose="02020603050405020304" pitchFamily="18" charset="0"/>
                <a:cs typeface="Times New Roman" panose="02020603050405020304" pitchFamily="18" charset="0"/>
              </a:rPr>
              <a:t>NUTRITIONAL ASSESSMENT</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313645" y="1532586"/>
            <a:ext cx="9144000" cy="4644377"/>
          </a:xfrm>
        </p:spPr>
        <p:txBody>
          <a:bodyPr/>
          <a:lstStyle/>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Nutritional Assessment is an interpretation of anthropometric, biochemical(laboratory), clinical and dietary survey data to tell whether a person /group of people is well nourished or malnourished(over nourished or under nourished).</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There are </a:t>
            </a:r>
            <a:r>
              <a:rPr lang="en-US" b="1" dirty="0" smtClean="0">
                <a:latin typeface="Times New Roman" panose="02020603050405020304" pitchFamily="18" charset="0"/>
                <a:cs typeface="Times New Roman" panose="02020603050405020304" pitchFamily="18" charset="0"/>
              </a:rPr>
              <a:t>direct</a:t>
            </a:r>
            <a:r>
              <a:rPr lang="en-US" dirty="0" smtClean="0">
                <a:latin typeface="Times New Roman" panose="02020603050405020304" pitchFamily="18" charset="0"/>
                <a:cs typeface="Times New Roman" panose="02020603050405020304" pitchFamily="18" charset="0"/>
              </a:rPr>
              <a:t> and </a:t>
            </a:r>
            <a:r>
              <a:rPr lang="en-US" b="1" dirty="0" smtClean="0">
                <a:latin typeface="Times New Roman" panose="02020603050405020304" pitchFamily="18" charset="0"/>
                <a:cs typeface="Times New Roman" panose="02020603050405020304" pitchFamily="18" charset="0"/>
              </a:rPr>
              <a:t>indirect</a:t>
            </a:r>
            <a:r>
              <a:rPr lang="en-US" dirty="0" smtClean="0">
                <a:latin typeface="Times New Roman" panose="02020603050405020304" pitchFamily="18" charset="0"/>
                <a:cs typeface="Times New Roman" panose="02020603050405020304" pitchFamily="18" charset="0"/>
              </a:rPr>
              <a:t> methods of assessing Nutritional status.</a:t>
            </a:r>
          </a:p>
          <a:p>
            <a:pPr marL="0" indent="0" algn="just">
              <a:buNone/>
            </a:pPr>
            <a:endParaRPr lang="en-US" dirty="0" smtClean="0">
              <a:latin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9617835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dirty="0" smtClean="0">
                <a:latin typeface="Times New Roman" panose="02020603050405020304" pitchFamily="18" charset="0"/>
                <a:cs typeface="Times New Roman" panose="02020603050405020304" pitchFamily="18" charset="0"/>
              </a:rPr>
              <a:t>DIRECT NUTRITIONAL </a:t>
            </a:r>
            <a:r>
              <a:rPr lang="en-US" sz="4000" dirty="0">
                <a:latin typeface="Times New Roman" panose="02020603050405020304" pitchFamily="18" charset="0"/>
                <a:cs typeface="Times New Roman" panose="02020603050405020304" pitchFamily="18" charset="0"/>
              </a:rPr>
              <a:t>ASSESSMENT</a:t>
            </a:r>
            <a:endParaRPr lang="en-US" sz="4000" dirty="0"/>
          </a:p>
        </p:txBody>
      </p:sp>
      <p:sp>
        <p:nvSpPr>
          <p:cNvPr id="3" name="Content Placeholder 2"/>
          <p:cNvSpPr>
            <a:spLocks noGrp="1"/>
          </p:cNvSpPr>
          <p:nvPr>
            <p:ph idx="1"/>
          </p:nvPr>
        </p:nvSpPr>
        <p:spPr>
          <a:xfrm>
            <a:off x="838200" y="1690688"/>
            <a:ext cx="10515600" cy="4486275"/>
          </a:xfrm>
        </p:spPr>
        <p:txBody>
          <a:bodyPr/>
          <a:lstStyle/>
          <a:p>
            <a:pPr marL="0" indent="0" algn="just">
              <a:buNone/>
            </a:pPr>
            <a:r>
              <a:rPr lang="en-US" dirty="0" smtClean="0">
                <a:latin typeface="Times New Roman" panose="02020603050405020304" pitchFamily="18" charset="0"/>
                <a:cs typeface="Times New Roman" panose="02020603050405020304" pitchFamily="18" charset="0"/>
              </a:rPr>
              <a:t>The direct involve the direct measurement of body dimensions and proportions , determination of tissue or body fluid concentration of nutrients, dietary intake, appearance of the clinical symptoms and signs related to a specific nutrient dependent functional impairment abbreviated as the ABCDs</a:t>
            </a:r>
          </a:p>
          <a:p>
            <a:pPr algn="just"/>
            <a:r>
              <a:rPr lang="en-US" dirty="0" smtClean="0">
                <a:latin typeface="Times New Roman" panose="02020603050405020304" pitchFamily="18" charset="0"/>
                <a:cs typeface="Times New Roman" panose="02020603050405020304" pitchFamily="18" charset="0"/>
              </a:rPr>
              <a:t>A= Anthropometry</a:t>
            </a:r>
          </a:p>
          <a:p>
            <a:pPr algn="just"/>
            <a:r>
              <a:rPr lang="en-US" dirty="0" smtClean="0">
                <a:latin typeface="Times New Roman" panose="02020603050405020304" pitchFamily="18" charset="0"/>
                <a:cs typeface="Times New Roman" panose="02020603050405020304" pitchFamily="18" charset="0"/>
              </a:rPr>
              <a:t>B=Biochemical/Biophysical</a:t>
            </a:r>
          </a:p>
          <a:p>
            <a:pPr algn="just"/>
            <a:r>
              <a:rPr lang="en-US" dirty="0" smtClean="0">
                <a:latin typeface="Times New Roman" panose="02020603050405020304" pitchFamily="18" charset="0"/>
                <a:cs typeface="Times New Roman" panose="02020603050405020304" pitchFamily="18" charset="0"/>
              </a:rPr>
              <a:t>C=Clinical</a:t>
            </a:r>
          </a:p>
          <a:p>
            <a:pPr algn="just"/>
            <a:r>
              <a:rPr lang="en-US" dirty="0" smtClean="0">
                <a:latin typeface="Times New Roman" panose="02020603050405020304" pitchFamily="18" charset="0"/>
                <a:cs typeface="Times New Roman" panose="02020603050405020304" pitchFamily="18" charset="0"/>
              </a:rPr>
              <a:t>D=Dietary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23262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7005"/>
          </a:xfrm>
        </p:spPr>
        <p:txBody>
          <a:bodyPr/>
          <a:lstStyle/>
          <a:p>
            <a:pPr algn="ctr"/>
            <a:r>
              <a:rPr lang="en-US" dirty="0">
                <a:latin typeface="Times New Roman" panose="02020603050405020304" pitchFamily="18" charset="0"/>
                <a:cs typeface="Times New Roman" panose="02020603050405020304" pitchFamily="18" charset="0"/>
              </a:rPr>
              <a:t>DIRECT NUTRITIONAL ASSESSMENT</a:t>
            </a:r>
            <a:endParaRPr lang="en-US" dirty="0"/>
          </a:p>
        </p:txBody>
      </p:sp>
      <p:sp>
        <p:nvSpPr>
          <p:cNvPr id="3" name="Content Placeholder 2"/>
          <p:cNvSpPr>
            <a:spLocks noGrp="1"/>
          </p:cNvSpPr>
          <p:nvPr>
            <p:ph idx="1"/>
          </p:nvPr>
        </p:nvSpPr>
        <p:spPr>
          <a:xfrm>
            <a:off x="838200" y="1262130"/>
            <a:ext cx="10515600" cy="4914833"/>
          </a:xfrm>
        </p:spPr>
        <p:txBody>
          <a:bodyPr/>
          <a:lstStyle/>
          <a:p>
            <a:pPr marL="0" indent="0" algn="ctr">
              <a:buNone/>
            </a:pPr>
            <a:r>
              <a:rPr lang="en-US" b="1" dirty="0">
                <a:latin typeface="Times New Roman" panose="02020603050405020304" pitchFamily="18" charset="0"/>
                <a:cs typeface="Times New Roman" panose="02020603050405020304" pitchFamily="18" charset="0"/>
              </a:rPr>
              <a:t>ANTHROPOMETRIC ASSESSMENTS </a:t>
            </a:r>
          </a:p>
          <a:p>
            <a:pPr marL="0" indent="0" algn="just">
              <a:buNone/>
            </a:pPr>
            <a:r>
              <a:rPr lang="en-US" dirty="0" smtClean="0">
                <a:latin typeface="Times New Roman" panose="02020603050405020304" pitchFamily="18" charset="0"/>
                <a:cs typeface="Times New Roman" panose="02020603050405020304" pitchFamily="18" charset="0"/>
              </a:rPr>
              <a:t>Anthropometry </a:t>
            </a:r>
            <a:r>
              <a:rPr lang="en-US" dirty="0">
                <a:latin typeface="Times New Roman" panose="02020603050405020304" pitchFamily="18" charset="0"/>
                <a:cs typeface="Times New Roman" panose="02020603050405020304" pitchFamily="18" charset="0"/>
              </a:rPr>
              <a:t>comes from two Greek words: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err="1" smtClean="0">
                <a:latin typeface="Times New Roman" panose="02020603050405020304" pitchFamily="18" charset="0"/>
                <a:cs typeface="Times New Roman" panose="02020603050405020304" pitchFamily="18" charset="0"/>
              </a:rPr>
              <a:t>Anthropo</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Human, and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err="1" smtClean="0">
                <a:latin typeface="Times New Roman" panose="02020603050405020304" pitchFamily="18" charset="0"/>
                <a:cs typeface="Times New Roman" panose="02020603050405020304" pitchFamily="18" charset="0"/>
              </a:rPr>
              <a:t>Metry</a:t>
            </a:r>
            <a:r>
              <a:rPr lang="en-US" dirty="0" smtClean="0">
                <a:latin typeface="Times New Roman" panose="02020603050405020304" pitchFamily="18" charset="0"/>
                <a:cs typeface="Times New Roman" panose="02020603050405020304" pitchFamily="18" charset="0"/>
              </a:rPr>
              <a:t>/</a:t>
            </a:r>
            <a:r>
              <a:rPr lang="en-US" dirty="0" err="1" smtClean="0">
                <a:latin typeface="Times New Roman" panose="02020603050405020304" pitchFamily="18" charset="0"/>
                <a:cs typeface="Times New Roman" panose="02020603050405020304" pitchFamily="18" charset="0"/>
              </a:rPr>
              <a:t>metron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measurement.</a:t>
            </a:r>
          </a:p>
          <a:p>
            <a:pPr marL="0" indent="0" algn="just">
              <a:buNone/>
            </a:pPr>
            <a:r>
              <a:rPr lang="en-US" dirty="0" err="1" smtClean="0">
                <a:latin typeface="Times New Roman" panose="02020603050405020304" pitchFamily="18" charset="0"/>
                <a:cs typeface="Times New Roman" panose="02020603050405020304" pitchFamily="18" charset="0"/>
              </a:rPr>
              <a:t>Definition:Anthropometry</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refers to measurement of variations of physical dimension and gross composition of human body at different levels and degrees of </a:t>
            </a:r>
            <a:r>
              <a:rPr lang="en-US" dirty="0" smtClean="0">
                <a:latin typeface="Times New Roman" panose="02020603050405020304" pitchFamily="18" charset="0"/>
                <a:cs typeface="Times New Roman" panose="02020603050405020304" pitchFamily="18" charset="0"/>
              </a:rPr>
              <a:t>nutrition. </a:t>
            </a:r>
            <a:endParaRPr lang="en-US" dirty="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Are </a:t>
            </a:r>
            <a:r>
              <a:rPr lang="en-US" dirty="0">
                <a:latin typeface="Times New Roman" panose="02020603050405020304" pitchFamily="18" charset="0"/>
                <a:cs typeface="Times New Roman" panose="02020603050405020304" pitchFamily="18" charset="0"/>
              </a:rPr>
              <a:t>used to assess the size, shape and composition of the human </a:t>
            </a:r>
            <a:r>
              <a:rPr lang="en-US" dirty="0" smtClean="0">
                <a:latin typeface="Times New Roman" panose="02020603050405020304" pitchFamily="18" charset="0"/>
                <a:cs typeface="Times New Roman" panose="02020603050405020304" pitchFamily="18" charset="0"/>
              </a:rPr>
              <a:t>body</a:t>
            </a:r>
          </a:p>
          <a:p>
            <a:pPr marL="0" indent="0" algn="just">
              <a:buNone/>
            </a:pPr>
            <a:r>
              <a:rPr lang="en-US" dirty="0" smtClean="0">
                <a:latin typeface="Times New Roman" panose="02020603050405020304" pitchFamily="18" charset="0"/>
                <a:cs typeface="Times New Roman" panose="02020603050405020304" pitchFamily="18" charset="0"/>
              </a:rPr>
              <a:t>Could </a:t>
            </a:r>
            <a:r>
              <a:rPr lang="en-US" dirty="0">
                <a:latin typeface="Times New Roman" panose="02020603050405020304" pitchFamily="18" charset="0"/>
                <a:cs typeface="Times New Roman" panose="02020603050405020304" pitchFamily="18" charset="0"/>
              </a:rPr>
              <a:t>be used both in the clinical and field set-ups</a:t>
            </a:r>
          </a:p>
        </p:txBody>
      </p:sp>
    </p:spTree>
    <p:extLst>
      <p:ext uri="{BB962C8B-B14F-4D97-AF65-F5344CB8AC3E}">
        <p14:creationId xmlns:p14="http://schemas.microsoft.com/office/powerpoint/2010/main" val="34293438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610"/>
          </a:xfrm>
        </p:spPr>
        <p:txBody>
          <a:bodyPr>
            <a:normAutofit/>
          </a:bodyPr>
          <a:lstStyle/>
          <a:p>
            <a:pPr algn="ctr"/>
            <a:r>
              <a:rPr lang="en-US" sz="3600" dirty="0">
                <a:latin typeface="Times New Roman" panose="02020603050405020304" pitchFamily="18" charset="0"/>
                <a:cs typeface="Times New Roman" panose="02020603050405020304" pitchFamily="18" charset="0"/>
              </a:rPr>
              <a:t>DIRECT NUTRITIONAL ASSESSMENT</a:t>
            </a:r>
            <a:endParaRPr lang="en-US" sz="3600" dirty="0"/>
          </a:p>
        </p:txBody>
      </p:sp>
      <p:sp>
        <p:nvSpPr>
          <p:cNvPr id="3" name="Content Placeholder 2"/>
          <p:cNvSpPr>
            <a:spLocks noGrp="1"/>
          </p:cNvSpPr>
          <p:nvPr>
            <p:ph idx="1"/>
          </p:nvPr>
        </p:nvSpPr>
        <p:spPr>
          <a:xfrm>
            <a:off x="838200" y="1481070"/>
            <a:ext cx="10515600" cy="4695892"/>
          </a:xfrm>
        </p:spPr>
        <p:txBody>
          <a:bodyPr/>
          <a:lstStyle/>
          <a:p>
            <a:pPr marL="0" indent="0" algn="ctr">
              <a:buNone/>
            </a:pPr>
            <a:r>
              <a:rPr lang="en-US" b="1" dirty="0">
                <a:latin typeface="Times New Roman" panose="02020603050405020304" pitchFamily="18" charset="0"/>
                <a:cs typeface="Times New Roman" panose="02020603050405020304" pitchFamily="18" charset="0"/>
              </a:rPr>
              <a:t>Purposes of Anthropometric </a:t>
            </a:r>
            <a:r>
              <a:rPr lang="en-US" b="1" dirty="0" smtClean="0">
                <a:latin typeface="Times New Roman" panose="02020603050405020304" pitchFamily="18" charset="0"/>
                <a:cs typeface="Times New Roman" panose="02020603050405020304" pitchFamily="18" charset="0"/>
              </a:rPr>
              <a:t>measurements</a:t>
            </a:r>
          </a:p>
          <a:p>
            <a:pPr marL="0" indent="0">
              <a:buNone/>
            </a:pPr>
            <a:r>
              <a:rPr lang="en-US" dirty="0" smtClean="0">
                <a:latin typeface="Times New Roman" panose="02020603050405020304" pitchFamily="18" charset="0"/>
                <a:cs typeface="Times New Roman" panose="02020603050405020304" pitchFamily="18" charset="0"/>
              </a:rPr>
              <a:t>Anthropometric </a:t>
            </a:r>
            <a:r>
              <a:rPr lang="en-US" dirty="0">
                <a:latin typeface="Times New Roman" panose="02020603050405020304" pitchFamily="18" charset="0"/>
                <a:cs typeface="Times New Roman" panose="02020603050405020304" pitchFamily="18" charset="0"/>
              </a:rPr>
              <a:t>measurements are performed with two major </a:t>
            </a:r>
            <a:r>
              <a:rPr lang="en-US" dirty="0" smtClean="0">
                <a:latin typeface="Times New Roman" panose="02020603050405020304" pitchFamily="18" charset="0"/>
                <a:cs typeface="Times New Roman" panose="02020603050405020304" pitchFamily="18" charset="0"/>
              </a:rPr>
              <a:t>purposes:</a:t>
            </a:r>
          </a:p>
          <a:p>
            <a:pPr marL="0" indent="0">
              <a:buNone/>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CHILDREN: to assess physical </a:t>
            </a:r>
            <a:r>
              <a:rPr lang="en-US" dirty="0" smtClean="0">
                <a:latin typeface="Times New Roman" panose="02020603050405020304" pitchFamily="18" charset="0"/>
                <a:cs typeface="Times New Roman" panose="02020603050405020304" pitchFamily="18" charset="0"/>
              </a:rPr>
              <a:t>growth.</a:t>
            </a:r>
          </a:p>
          <a:p>
            <a:pPr marL="0" indent="0">
              <a:buNone/>
            </a:pPr>
            <a:r>
              <a:rPr lang="en-US" dirty="0" smtClean="0">
                <a:latin typeface="Times New Roman" panose="02020603050405020304" pitchFamily="18" charset="0"/>
                <a:cs typeface="Times New Roman" panose="02020603050405020304" pitchFamily="18" charset="0"/>
              </a:rPr>
              <a:t>IN </a:t>
            </a:r>
            <a:r>
              <a:rPr lang="en-US" dirty="0">
                <a:latin typeface="Times New Roman" panose="02020603050405020304" pitchFamily="18" charset="0"/>
                <a:cs typeface="Times New Roman" panose="02020603050405020304" pitchFamily="18" charset="0"/>
              </a:rPr>
              <a:t>ADULTS: to assess changes in body composition or </a:t>
            </a:r>
            <a:r>
              <a:rPr lang="en-US" dirty="0" smtClean="0">
                <a:latin typeface="Times New Roman" panose="02020603050405020304" pitchFamily="18" charset="0"/>
                <a:cs typeface="Times New Roman" panose="02020603050405020304" pitchFamily="18" charset="0"/>
              </a:rPr>
              <a:t>weight.</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63045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3669"/>
          </a:xfrm>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DIRECT NUTRITIONAL ASSESSMENT</a:t>
            </a:r>
            <a:endParaRPr lang="en-US" sz="4000" dirty="0"/>
          </a:p>
        </p:txBody>
      </p:sp>
      <p:sp>
        <p:nvSpPr>
          <p:cNvPr id="3" name="Content Placeholder 2"/>
          <p:cNvSpPr>
            <a:spLocks noGrp="1"/>
          </p:cNvSpPr>
          <p:nvPr>
            <p:ph idx="1"/>
          </p:nvPr>
        </p:nvSpPr>
        <p:spPr>
          <a:xfrm>
            <a:off x="838200" y="1094704"/>
            <a:ext cx="10515600" cy="5537916"/>
          </a:xfrm>
        </p:spPr>
        <p:txBody>
          <a:bodyPr/>
          <a:lstStyle/>
          <a:p>
            <a:pPr marL="0" indent="0" algn="ctr">
              <a:buNone/>
            </a:pPr>
            <a:r>
              <a:rPr lang="en-US" b="1" dirty="0">
                <a:latin typeface="Times New Roman" panose="02020603050405020304" pitchFamily="18" charset="0"/>
                <a:cs typeface="Times New Roman" panose="02020603050405020304" pitchFamily="18" charset="0"/>
              </a:rPr>
              <a:t>ANTHROPOMETRIC MEASUREMENTS OF </a:t>
            </a:r>
            <a:r>
              <a:rPr lang="en-US" b="1" dirty="0" smtClean="0">
                <a:latin typeface="Times New Roman" panose="02020603050405020304" pitchFamily="18" charset="0"/>
                <a:cs typeface="Times New Roman" panose="02020603050405020304" pitchFamily="18" charset="0"/>
              </a:rPr>
              <a:t>GROWTH</a:t>
            </a:r>
          </a:p>
          <a:p>
            <a:pPr marL="0" indent="0" algn="just">
              <a:buNone/>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Growth is most rapid in first year of life.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Children adapt to the chronic nutritional insult by either reducing their rate of growth or by totally failing to grow. </a:t>
            </a:r>
            <a:endParaRPr lang="en-US" dirty="0" smtClean="0">
              <a:latin typeface="Times New Roman" panose="02020603050405020304" pitchFamily="18" charset="0"/>
              <a:cs typeface="Times New Roman" panose="02020603050405020304" pitchFamily="18" charset="0"/>
            </a:endParaRPr>
          </a:p>
          <a:p>
            <a:pPr marL="0" indent="0" algn="just">
              <a:buNone/>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Therefore Growth performance of children is an excellent reflection of their underlying nutritional status</a:t>
            </a:r>
            <a:r>
              <a:rPr lang="en-US" dirty="0" smtClean="0">
                <a:latin typeface="Times New Roman" panose="02020603050405020304" pitchFamily="18" charset="0"/>
                <a:cs typeface="Times New Roman" panose="02020603050405020304" pitchFamily="18" charset="0"/>
              </a:rPr>
              <a:t>.</a:t>
            </a:r>
          </a:p>
          <a:p>
            <a:pPr marL="0" indent="0" algn="just">
              <a:buNone/>
            </a:pPr>
            <a:r>
              <a:rPr lang="en-US" dirty="0" smtClean="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Assessment of growth performance of children is one very important purpose of anthropometric </a:t>
            </a:r>
            <a:r>
              <a:rPr lang="en-US" dirty="0" smtClean="0">
                <a:latin typeface="Times New Roman" panose="02020603050405020304" pitchFamily="18" charset="0"/>
                <a:cs typeface="Times New Roman" panose="02020603050405020304" pitchFamily="18" charset="0"/>
              </a:rPr>
              <a:t>measurements.</a:t>
            </a:r>
          </a:p>
          <a:p>
            <a:pPr algn="just"/>
            <a:r>
              <a:rPr lang="en-US" dirty="0" smtClean="0">
                <a:latin typeface="Times New Roman" panose="02020603050405020304" pitchFamily="18" charset="0"/>
                <a:cs typeface="Times New Roman" panose="02020603050405020304" pitchFamily="18" charset="0"/>
              </a:rPr>
              <a:t>Common </a:t>
            </a:r>
            <a:r>
              <a:rPr lang="en-US" dirty="0">
                <a:latin typeface="Times New Roman" panose="02020603050405020304" pitchFamily="18" charset="0"/>
                <a:cs typeface="Times New Roman" panose="02020603050405020304" pitchFamily="18" charset="0"/>
              </a:rPr>
              <a:t>anthropometric measurements are weight, height/length, </a:t>
            </a:r>
            <a:r>
              <a:rPr lang="en-US" dirty="0" smtClean="0">
                <a:latin typeface="Times New Roman" panose="02020603050405020304" pitchFamily="18" charset="0"/>
                <a:cs typeface="Times New Roman" panose="02020603050405020304" pitchFamily="18" charset="0"/>
              </a:rPr>
              <a:t>MUAC(Mid-Upper Arm Circumference), </a:t>
            </a:r>
            <a:r>
              <a:rPr lang="en-US" dirty="0">
                <a:latin typeface="Times New Roman" panose="02020603050405020304" pitchFamily="18" charset="0"/>
                <a:cs typeface="Times New Roman" panose="02020603050405020304" pitchFamily="18" charset="0"/>
              </a:rPr>
              <a:t>head circumference</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Most </a:t>
            </a:r>
            <a:r>
              <a:rPr lang="en-US" dirty="0">
                <a:latin typeface="Times New Roman" panose="02020603050405020304" pitchFamily="18" charset="0"/>
                <a:cs typeface="Times New Roman" panose="02020603050405020304" pitchFamily="18" charset="0"/>
              </a:rPr>
              <a:t>accurate and sensitive method of measuring growth is weight gain.</a:t>
            </a:r>
          </a:p>
        </p:txBody>
      </p:sp>
    </p:spTree>
    <p:extLst>
      <p:ext uri="{BB962C8B-B14F-4D97-AF65-F5344CB8AC3E}">
        <p14:creationId xmlns:p14="http://schemas.microsoft.com/office/powerpoint/2010/main" val="23190913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61399"/>
          </a:xfrm>
        </p:spPr>
        <p:txBody>
          <a:bodyPr>
            <a:normAutofit/>
          </a:bodyPr>
          <a:lstStyle/>
          <a:p>
            <a:pPr algn="ctr"/>
            <a:r>
              <a:rPr lang="en-US" sz="4000" dirty="0" smtClean="0">
                <a:latin typeface="Times New Roman" panose="02020603050405020304" pitchFamily="18" charset="0"/>
                <a:cs typeface="Times New Roman" panose="02020603050405020304" pitchFamily="18" charset="0"/>
              </a:rPr>
              <a:t>ANTHROPOMETRIC MEASUREMENTS</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26524"/>
            <a:ext cx="10515600" cy="4850439"/>
          </a:xfrm>
        </p:spPr>
        <p:txBody>
          <a:bodyPr/>
          <a:lstStyle/>
          <a:p>
            <a:pPr marL="514350" indent="-514350" algn="just">
              <a:buAutoNum type="arabicPeriod"/>
            </a:pPr>
            <a:r>
              <a:rPr lang="en-US" dirty="0" smtClean="0">
                <a:latin typeface="Times New Roman" panose="02020603050405020304" pitchFamily="18" charset="0"/>
                <a:cs typeface="Times New Roman" panose="02020603050405020304" pitchFamily="18" charset="0"/>
              </a:rPr>
              <a:t>WEIGHT</a:t>
            </a:r>
          </a:p>
          <a:p>
            <a:pPr algn="just"/>
            <a:r>
              <a:rPr lang="en-US" dirty="0" smtClean="0">
                <a:latin typeface="Times New Roman" panose="02020603050405020304" pitchFamily="18" charset="0"/>
                <a:cs typeface="Times New Roman" panose="02020603050405020304" pitchFamily="18" charset="0"/>
              </a:rPr>
              <a:t>A weighing sling (spring balance),also called </a:t>
            </a:r>
          </a:p>
          <a:p>
            <a:pPr marL="0" indent="0" algn="just">
              <a:buNone/>
            </a:pPr>
            <a:r>
              <a:rPr lang="en-US" dirty="0" smtClean="0">
                <a:latin typeface="Times New Roman" panose="02020603050405020304" pitchFamily="18" charset="0"/>
                <a:cs typeface="Times New Roman" panose="02020603050405020304" pitchFamily="18" charset="0"/>
              </a:rPr>
              <a:t>SALTER SCALE is used for measuring the </a:t>
            </a:r>
          </a:p>
          <a:p>
            <a:pPr marL="0" indent="0" algn="just">
              <a:buNone/>
            </a:pPr>
            <a:r>
              <a:rPr lang="en-US" dirty="0" smtClean="0">
                <a:latin typeface="Times New Roman" panose="02020603050405020304" pitchFamily="18" charset="0"/>
                <a:cs typeface="Times New Roman" panose="02020603050405020304" pitchFamily="18" charset="0"/>
              </a:rPr>
              <a:t>weigh of the children under 2 years, to the </a:t>
            </a:r>
          </a:p>
          <a:p>
            <a:pPr marL="0" indent="0" algn="just">
              <a:buNone/>
            </a:pPr>
            <a:r>
              <a:rPr lang="en-US" dirty="0" smtClean="0">
                <a:latin typeface="Times New Roman" panose="02020603050405020304" pitchFamily="18" charset="0"/>
                <a:cs typeface="Times New Roman" panose="02020603050405020304" pitchFamily="18" charset="0"/>
              </a:rPr>
              <a:t>nearest 0.1kg.</a:t>
            </a:r>
          </a:p>
          <a:p>
            <a:pPr algn="just"/>
            <a:r>
              <a:rPr lang="en-US" dirty="0" smtClean="0">
                <a:latin typeface="Times New Roman" panose="02020603050405020304" pitchFamily="18" charset="0"/>
                <a:cs typeface="Times New Roman" panose="02020603050405020304" pitchFamily="18" charset="0"/>
              </a:rPr>
              <a:t>In adults and children over 2 years a beam </a:t>
            </a:r>
          </a:p>
          <a:p>
            <a:pPr marL="0" indent="0" algn="just">
              <a:buNone/>
            </a:pPr>
            <a:r>
              <a:rPr lang="en-US" dirty="0" smtClean="0">
                <a:latin typeface="Times New Roman" panose="02020603050405020304" pitchFamily="18" charset="0"/>
                <a:cs typeface="Times New Roman" panose="02020603050405020304" pitchFamily="18" charset="0"/>
              </a:rPr>
              <a:t>balance is used and the measurement is also </a:t>
            </a:r>
          </a:p>
          <a:p>
            <a:pPr marL="0" indent="0" algn="just">
              <a:buNone/>
            </a:pPr>
            <a:r>
              <a:rPr lang="en-US" dirty="0" smtClean="0">
                <a:latin typeface="Times New Roman" panose="02020603050405020304" pitchFamily="18" charset="0"/>
                <a:cs typeface="Times New Roman" panose="02020603050405020304" pitchFamily="18" charset="0"/>
              </a:rPr>
              <a:t>to the nearest 0.1 kg.</a:t>
            </a:r>
          </a:p>
          <a:p>
            <a:pPr algn="just"/>
            <a:r>
              <a:rPr lang="en-US" dirty="0" smtClean="0">
                <a:latin typeface="Times New Roman" panose="02020603050405020304" pitchFamily="18" charset="0"/>
                <a:cs typeface="Times New Roman" panose="02020603050405020304" pitchFamily="18" charset="0"/>
              </a:rPr>
              <a:t>Re-adjust the scale to zero before each weighing.</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714444" y="1719263"/>
            <a:ext cx="3078051" cy="3702744"/>
          </a:xfrm>
          <a:prstGeom prst="rect">
            <a:avLst/>
          </a:prstGeom>
        </p:spPr>
      </p:pic>
    </p:spTree>
    <p:extLst>
      <p:ext uri="{BB962C8B-B14F-4D97-AF65-F5344CB8AC3E}">
        <p14:creationId xmlns:p14="http://schemas.microsoft.com/office/powerpoint/2010/main" val="183259685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ANTHROPOMETRIC MEASUREMENTS</a:t>
            </a:r>
            <a:endParaRPr lang="en-US" dirty="0"/>
          </a:p>
        </p:txBody>
      </p:sp>
      <p:sp>
        <p:nvSpPr>
          <p:cNvPr id="3" name="Content Placeholder 2"/>
          <p:cNvSpPr>
            <a:spLocks noGrp="1"/>
          </p:cNvSpPr>
          <p:nvPr>
            <p:ph idx="1"/>
          </p:nvPr>
        </p:nvSpPr>
        <p:spPr/>
        <p:txBody>
          <a:bodyPr/>
          <a:lstStyle/>
          <a:p>
            <a:pPr marL="0" indent="0">
              <a:buNone/>
            </a:pPr>
            <a:r>
              <a:rPr lang="en-US" dirty="0" smtClean="0">
                <a:latin typeface="Times New Roman" panose="02020603050405020304" pitchFamily="18" charset="0"/>
                <a:cs typeface="Times New Roman" panose="02020603050405020304" pitchFamily="18" charset="0"/>
              </a:rPr>
              <a:t>2. HEIGHT</a:t>
            </a:r>
          </a:p>
          <a:p>
            <a:r>
              <a:rPr lang="en-US" dirty="0" smtClean="0">
                <a:latin typeface="Times New Roman" panose="02020603050405020304" pitchFamily="18" charset="0"/>
                <a:cs typeface="Times New Roman" panose="02020603050405020304" pitchFamily="18" charset="0"/>
              </a:rPr>
              <a:t>Measured with the adult or child in </a:t>
            </a:r>
          </a:p>
          <a:p>
            <a:r>
              <a:rPr lang="en-US" dirty="0" smtClean="0">
                <a:latin typeface="Times New Roman" panose="02020603050405020304" pitchFamily="18" charset="0"/>
                <a:cs typeface="Times New Roman" panose="02020603050405020304" pitchFamily="18" charset="0"/>
              </a:rPr>
              <a:t>the standing position.</a:t>
            </a:r>
          </a:p>
          <a:p>
            <a:r>
              <a:rPr lang="en-US" dirty="0" smtClean="0">
                <a:latin typeface="Times New Roman" panose="02020603050405020304" pitchFamily="18" charset="0"/>
                <a:cs typeface="Times New Roman" panose="02020603050405020304" pitchFamily="18" charset="0"/>
              </a:rPr>
              <a:t>Either a </a:t>
            </a:r>
            <a:r>
              <a:rPr lang="en-US" dirty="0" err="1" smtClean="0">
                <a:latin typeface="Times New Roman" panose="02020603050405020304" pitchFamily="18" charset="0"/>
                <a:cs typeface="Times New Roman" panose="02020603050405020304" pitchFamily="18" charset="0"/>
              </a:rPr>
              <a:t>stadiometer</a:t>
            </a:r>
            <a:r>
              <a:rPr lang="en-US" dirty="0" smtClean="0">
                <a:latin typeface="Times New Roman" panose="02020603050405020304" pitchFamily="18" charset="0"/>
                <a:cs typeface="Times New Roman" panose="02020603050405020304" pitchFamily="18" charset="0"/>
              </a:rPr>
              <a:t> or a portable </a:t>
            </a:r>
          </a:p>
          <a:p>
            <a:r>
              <a:rPr lang="en-US" dirty="0" err="1" smtClean="0">
                <a:latin typeface="Times New Roman" panose="02020603050405020304" pitchFamily="18" charset="0"/>
                <a:cs typeface="Times New Roman" panose="02020603050405020304" pitchFamily="18" charset="0"/>
              </a:rPr>
              <a:t>anthropometer</a:t>
            </a:r>
            <a:r>
              <a:rPr lang="en-US" dirty="0" smtClean="0">
                <a:latin typeface="Times New Roman" panose="02020603050405020304" pitchFamily="18" charset="0"/>
                <a:cs typeface="Times New Roman" panose="02020603050405020304" pitchFamily="18" charset="0"/>
              </a:rPr>
              <a:t> can be used for </a:t>
            </a:r>
          </a:p>
          <a:p>
            <a:r>
              <a:rPr lang="en-US" dirty="0" smtClean="0">
                <a:latin typeface="Times New Roman" panose="02020603050405020304" pitchFamily="18" charset="0"/>
                <a:cs typeface="Times New Roman" panose="02020603050405020304" pitchFamily="18" charset="0"/>
              </a:rPr>
              <a:t>measuring.</a:t>
            </a:r>
          </a:p>
          <a:p>
            <a:r>
              <a:rPr lang="en-US" dirty="0" smtClean="0">
                <a:latin typeface="Times New Roman" panose="02020603050405020304" pitchFamily="18" charset="0"/>
                <a:cs typeface="Times New Roman" panose="02020603050405020304" pitchFamily="18" charset="0"/>
              </a:rPr>
              <a:t>Measurements are recorded to the </a:t>
            </a:r>
          </a:p>
          <a:p>
            <a:r>
              <a:rPr lang="en-US" dirty="0" smtClean="0">
                <a:latin typeface="Times New Roman" panose="02020603050405020304" pitchFamily="18" charset="0"/>
                <a:cs typeface="Times New Roman" panose="02020603050405020304" pitchFamily="18" charset="0"/>
              </a:rPr>
              <a:t>nearest millimeter.</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620009" y="2058697"/>
            <a:ext cx="4733791" cy="4253203"/>
          </a:xfrm>
          <a:prstGeom prst="rect">
            <a:avLst/>
          </a:prstGeom>
        </p:spPr>
      </p:pic>
    </p:spTree>
    <p:extLst>
      <p:ext uri="{BB962C8B-B14F-4D97-AF65-F5344CB8AC3E}">
        <p14:creationId xmlns:p14="http://schemas.microsoft.com/office/powerpoint/2010/main" val="114674958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87157"/>
          </a:xfrm>
        </p:spPr>
        <p:txBody>
          <a:bodyPr/>
          <a:lstStyle/>
          <a:p>
            <a:pPr algn="ctr"/>
            <a:r>
              <a:rPr lang="en-US" dirty="0">
                <a:latin typeface="Times New Roman" panose="02020603050405020304" pitchFamily="18" charset="0"/>
                <a:cs typeface="Times New Roman" panose="02020603050405020304" pitchFamily="18" charset="0"/>
              </a:rPr>
              <a:t>ANTHROPOMETRIC MEASUREMENTS</a:t>
            </a:r>
            <a:endParaRPr lang="en-US" dirty="0"/>
          </a:p>
        </p:txBody>
      </p:sp>
      <p:sp>
        <p:nvSpPr>
          <p:cNvPr id="3" name="Content Placeholder 2"/>
          <p:cNvSpPr>
            <a:spLocks noGrp="1"/>
          </p:cNvSpPr>
          <p:nvPr>
            <p:ph idx="1"/>
          </p:nvPr>
        </p:nvSpPr>
        <p:spPr>
          <a:xfrm>
            <a:off x="386365" y="1223493"/>
            <a:ext cx="11281893" cy="4953470"/>
          </a:xfrm>
        </p:spPr>
        <p:txBody>
          <a:bodyPr>
            <a:normAutofit lnSpcReduction="10000"/>
          </a:bodyPr>
          <a:lstStyle/>
          <a:p>
            <a:pPr marL="0" indent="0">
              <a:buNone/>
            </a:pPr>
            <a:r>
              <a:rPr lang="en-US" dirty="0" smtClean="0">
                <a:latin typeface="Times New Roman" panose="02020603050405020304" pitchFamily="18" charset="0"/>
                <a:cs typeface="Times New Roman" panose="02020603050405020304" pitchFamily="18" charset="0"/>
              </a:rPr>
              <a:t>HEAD CIRCUMFERENCE (HC)</a:t>
            </a:r>
          </a:p>
          <a:p>
            <a:r>
              <a:rPr lang="en-US" dirty="0" smtClean="0">
                <a:latin typeface="Times New Roman" panose="02020603050405020304" pitchFamily="18" charset="0"/>
                <a:cs typeface="Times New Roman" panose="02020603050405020304" pitchFamily="18" charset="0"/>
              </a:rPr>
              <a:t>Measurement of the head along the </a:t>
            </a:r>
          </a:p>
          <a:p>
            <a:pPr marL="0" indent="0">
              <a:buNone/>
            </a:pPr>
            <a:r>
              <a:rPr lang="en-US" dirty="0" smtClean="0">
                <a:latin typeface="Times New Roman" panose="02020603050405020304" pitchFamily="18" charset="0"/>
                <a:cs typeface="Times New Roman" panose="02020603050405020304" pitchFamily="18" charset="0"/>
              </a:rPr>
              <a:t>   supra orbital ridge (forehead) anteriorly </a:t>
            </a:r>
          </a:p>
          <a:p>
            <a:pPr marL="0" indent="0">
              <a:buNone/>
            </a:pPr>
            <a:r>
              <a:rPr lang="en-US" dirty="0" smtClean="0">
                <a:latin typeface="Times New Roman" panose="02020603050405020304" pitchFamily="18" charset="0"/>
                <a:cs typeface="Times New Roman" panose="02020603050405020304" pitchFamily="18" charset="0"/>
              </a:rPr>
              <a:t>   and occipital prominence(the prominent </a:t>
            </a:r>
          </a:p>
          <a:p>
            <a:pPr marL="0" indent="0">
              <a:buNone/>
            </a:pPr>
            <a:r>
              <a:rPr lang="en-US" dirty="0" smtClean="0">
                <a:latin typeface="Times New Roman" panose="02020603050405020304" pitchFamily="18" charset="0"/>
                <a:cs typeface="Times New Roman" panose="02020603050405020304" pitchFamily="18" charset="0"/>
              </a:rPr>
              <a:t>   area on the back part of the head)posteriorly.</a:t>
            </a:r>
          </a:p>
          <a:p>
            <a:r>
              <a:rPr lang="en-US" dirty="0" smtClean="0">
                <a:latin typeface="Times New Roman" panose="02020603050405020304" pitchFamily="18" charset="0"/>
                <a:cs typeface="Times New Roman" panose="02020603050405020304" pitchFamily="18" charset="0"/>
              </a:rPr>
              <a:t>Measured using flexible , non-stretchable </a:t>
            </a:r>
          </a:p>
          <a:p>
            <a:pPr marL="0" indent="0">
              <a:buNone/>
            </a:pPr>
            <a:r>
              <a:rPr lang="en-US" dirty="0" smtClean="0">
                <a:latin typeface="Times New Roman" panose="02020603050405020304" pitchFamily="18" charset="0"/>
                <a:cs typeface="Times New Roman" panose="02020603050405020304" pitchFamily="18" charset="0"/>
              </a:rPr>
              <a:t>   measuring tape around 0.6cm wide.</a:t>
            </a:r>
          </a:p>
          <a:p>
            <a:r>
              <a:rPr lang="en-US" dirty="0" smtClean="0">
                <a:latin typeface="Times New Roman" panose="02020603050405020304" pitchFamily="18" charset="0"/>
                <a:cs typeface="Times New Roman" panose="02020603050405020304" pitchFamily="18" charset="0"/>
              </a:rPr>
              <a:t>HC is useful in assessing chronic nutritional </a:t>
            </a:r>
          </a:p>
          <a:p>
            <a:pPr marL="0" indent="0">
              <a:buNone/>
            </a:pPr>
            <a:r>
              <a:rPr lang="en-US" dirty="0" smtClean="0">
                <a:latin typeface="Times New Roman" panose="02020603050405020304" pitchFamily="18" charset="0"/>
                <a:cs typeface="Times New Roman" panose="02020603050405020304" pitchFamily="18" charset="0"/>
              </a:rPr>
              <a:t>  problems in children under 2 years old.</a:t>
            </a:r>
          </a:p>
          <a:p>
            <a:r>
              <a:rPr lang="en-US" dirty="0" smtClean="0">
                <a:latin typeface="Times New Roman" panose="02020603050405020304" pitchFamily="18" charset="0"/>
                <a:cs typeface="Times New Roman" panose="02020603050405020304" pitchFamily="18" charset="0"/>
              </a:rPr>
              <a:t>After 2 years HC is not useful.</a:t>
            </a:r>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490875" y="1352281"/>
            <a:ext cx="3582399" cy="4533363"/>
          </a:xfrm>
          <a:prstGeom prst="rect">
            <a:avLst/>
          </a:prstGeom>
        </p:spPr>
      </p:pic>
    </p:spTree>
    <p:extLst>
      <p:ext uri="{BB962C8B-B14F-4D97-AF65-F5344CB8AC3E}">
        <p14:creationId xmlns:p14="http://schemas.microsoft.com/office/powerpoint/2010/main" val="16028721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4278"/>
          </a:xfrm>
        </p:spPr>
        <p:txBody>
          <a:bodyPr/>
          <a:lstStyle/>
          <a:p>
            <a:pPr algn="ctr"/>
            <a:r>
              <a:rPr lang="en-US" dirty="0">
                <a:latin typeface="Times New Roman" panose="02020603050405020304" pitchFamily="18" charset="0"/>
                <a:cs typeface="Times New Roman" panose="02020603050405020304" pitchFamily="18" charset="0"/>
              </a:rPr>
              <a:t>ANTHROPOMETRIC MEASUREMENTS</a:t>
            </a:r>
            <a:endParaRPr lang="en-US" dirty="0"/>
          </a:p>
        </p:txBody>
      </p:sp>
      <p:sp>
        <p:nvSpPr>
          <p:cNvPr id="3" name="Content Placeholder 2"/>
          <p:cNvSpPr>
            <a:spLocks noGrp="1"/>
          </p:cNvSpPr>
          <p:nvPr>
            <p:ph idx="1"/>
          </p:nvPr>
        </p:nvSpPr>
        <p:spPr>
          <a:xfrm>
            <a:off x="838200" y="1339404"/>
            <a:ext cx="10515600" cy="4837559"/>
          </a:xfrm>
        </p:spPr>
        <p:txBody>
          <a:bodyPr/>
          <a:lstStyle/>
          <a:p>
            <a:pPr marL="0" indent="0" algn="ctr">
              <a:buNone/>
            </a:pPr>
            <a:r>
              <a:rPr lang="en-GB" dirty="0" smtClean="0">
                <a:latin typeface="Times New Roman" panose="02020603050405020304" pitchFamily="18" charset="0"/>
                <a:cs typeface="Times New Roman" panose="02020603050405020304" pitchFamily="18" charset="0"/>
              </a:rPr>
              <a:t>MID-UPPER ARM CIRCUMFERENCE</a:t>
            </a:r>
          </a:p>
          <a:p>
            <a:r>
              <a:rPr lang="en-GB" dirty="0">
                <a:latin typeface="Times New Roman" panose="02020603050405020304" pitchFamily="18" charset="0"/>
                <a:cs typeface="Times New Roman" panose="02020603050405020304" pitchFamily="18" charset="0"/>
              </a:rPr>
              <a:t>It is recommended to use a tape to measure the midpoint of the arm between the shoulder and the tip of the elbow.</a:t>
            </a:r>
          </a:p>
          <a:p>
            <a:r>
              <a:rPr lang="en-GB" dirty="0">
                <a:latin typeface="Times New Roman" panose="02020603050405020304" pitchFamily="18" charset="0"/>
                <a:cs typeface="Times New Roman" panose="02020603050405020304" pitchFamily="18" charset="0"/>
              </a:rPr>
              <a:t>MUAC should be measured on only those who are 6 years and below.</a:t>
            </a:r>
          </a:p>
          <a:p>
            <a:r>
              <a:rPr lang="en-GB" dirty="0">
                <a:latin typeface="Times New Roman" panose="02020603050405020304" pitchFamily="18" charset="0"/>
                <a:cs typeface="Times New Roman" panose="02020603050405020304" pitchFamily="18" charset="0"/>
              </a:rPr>
              <a:t>To measure MUAC, a flexible measuring tape is wrapped around the mid-upper arm of the child.</a:t>
            </a:r>
          </a:p>
          <a:p>
            <a:r>
              <a:rPr lang="en-GB" dirty="0">
                <a:latin typeface="Times New Roman" panose="02020603050405020304" pitchFamily="18" charset="0"/>
                <a:cs typeface="Times New Roman" panose="02020603050405020304" pitchFamily="18" charset="0"/>
              </a:rPr>
              <a:t>MUAC should then be measured on the left upper arm while the arm is hanging down the side of the body and relaxed</a:t>
            </a:r>
            <a:r>
              <a:rPr lang="en-GB" dirty="0"/>
              <a:t>. </a:t>
            </a:r>
            <a:endParaRPr lang="en-GB" dirty="0" smtClean="0"/>
          </a:p>
          <a:p>
            <a:pPr lvl="4"/>
            <a:endParaRPr lang="en-GB" dirty="0"/>
          </a:p>
          <a:p>
            <a:pPr marL="0" indent="0">
              <a:buNone/>
            </a:pPr>
            <a:endParaRPr lang="en-US" dirty="0"/>
          </a:p>
        </p:txBody>
      </p:sp>
      <p:pic>
        <p:nvPicPr>
          <p:cNvPr id="4" name="Picture 3"/>
          <p:cNvPicPr>
            <a:picLocks noChangeAspect="1"/>
          </p:cNvPicPr>
          <p:nvPr/>
        </p:nvPicPr>
        <p:blipFill>
          <a:blip r:embed="rId2"/>
          <a:stretch>
            <a:fillRect/>
          </a:stretch>
        </p:blipFill>
        <p:spPr>
          <a:xfrm>
            <a:off x="4007342" y="5207827"/>
            <a:ext cx="4016196" cy="1443005"/>
          </a:xfrm>
          <a:prstGeom prst="rect">
            <a:avLst/>
          </a:prstGeom>
        </p:spPr>
      </p:pic>
    </p:spTree>
    <p:extLst>
      <p:ext uri="{BB962C8B-B14F-4D97-AF65-F5344CB8AC3E}">
        <p14:creationId xmlns:p14="http://schemas.microsoft.com/office/powerpoint/2010/main" val="1152923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4278"/>
          </a:xfrm>
        </p:spPr>
        <p:txBody>
          <a:bodyPr>
            <a:normAutofit/>
          </a:bodyPr>
          <a:lstStyle/>
          <a:p>
            <a:pPr algn="ctr"/>
            <a:r>
              <a:rPr lang="en-US" sz="3600" dirty="0">
                <a:latin typeface="Times New Roman" panose="02020603050405020304" pitchFamily="18" charset="0"/>
                <a:cs typeface="Times New Roman" panose="02020603050405020304" pitchFamily="18" charset="0"/>
              </a:rPr>
              <a:t>ANTHROPOMETRIC MEASUREMENTS</a:t>
            </a:r>
            <a:endParaRPr lang="en-US" sz="3600" dirty="0"/>
          </a:p>
        </p:txBody>
      </p:sp>
      <p:sp>
        <p:nvSpPr>
          <p:cNvPr id="3" name="Content Placeholder 2"/>
          <p:cNvSpPr>
            <a:spLocks noGrp="1"/>
          </p:cNvSpPr>
          <p:nvPr>
            <p:ph idx="1"/>
          </p:nvPr>
        </p:nvSpPr>
        <p:spPr>
          <a:xfrm>
            <a:off x="838200" y="1339404"/>
            <a:ext cx="10515600" cy="5318973"/>
          </a:xfrm>
        </p:spPr>
        <p:txBody>
          <a:bodyPr/>
          <a:lstStyle/>
          <a:p>
            <a:pPr marL="0" indent="0" algn="ctr">
              <a:buNone/>
            </a:pPr>
            <a:r>
              <a:rPr lang="en-US" dirty="0" smtClean="0">
                <a:latin typeface="Times New Roman" panose="02020603050405020304" pitchFamily="18" charset="0"/>
                <a:cs typeface="Times New Roman" panose="02020603050405020304" pitchFamily="18" charset="0"/>
              </a:rPr>
              <a:t>SKIN FOLD MEASUREMENT</a:t>
            </a:r>
          </a:p>
          <a:p>
            <a:pPr algn="just"/>
            <a:r>
              <a:rPr lang="en-US" dirty="0" smtClean="0">
                <a:latin typeface="Times New Roman" panose="02020603050405020304" pitchFamily="18" charset="0"/>
                <a:cs typeface="Times New Roman" panose="02020603050405020304" pitchFamily="18" charset="0"/>
              </a:rPr>
              <a:t>A tape is used to measure the midpoint of the arm between the shoulder and tip of the elbow. Fix the caliper at zero before the measurement.</a:t>
            </a:r>
          </a:p>
          <a:p>
            <a:pPr algn="just"/>
            <a:r>
              <a:rPr lang="en-US" dirty="0" smtClean="0">
                <a:latin typeface="Times New Roman" panose="02020603050405020304" pitchFamily="18" charset="0"/>
                <a:cs typeface="Times New Roman" panose="02020603050405020304" pitchFamily="18" charset="0"/>
              </a:rPr>
              <a:t>Skin fold(</a:t>
            </a:r>
            <a:r>
              <a:rPr lang="en-US" dirty="0" err="1" smtClean="0">
                <a:latin typeface="Times New Roman" panose="02020603050405020304" pitchFamily="18" charset="0"/>
                <a:cs typeface="Times New Roman" panose="02020603050405020304" pitchFamily="18" charset="0"/>
              </a:rPr>
              <a:t>i.e.,triceps</a:t>
            </a:r>
            <a:r>
              <a:rPr lang="en-US" dirty="0" smtClean="0">
                <a:latin typeface="Times New Roman" panose="02020603050405020304" pitchFamily="18" charset="0"/>
                <a:cs typeface="Times New Roman" panose="02020603050405020304" pitchFamily="18" charset="0"/>
              </a:rPr>
              <a:t>) should be measured at the upper part of the arm.</a:t>
            </a:r>
          </a:p>
          <a:p>
            <a:pPr algn="just"/>
            <a:r>
              <a:rPr lang="en-US" dirty="0" smtClean="0">
                <a:latin typeface="Times New Roman" panose="02020603050405020304" pitchFamily="18" charset="0"/>
                <a:cs typeface="Times New Roman" panose="02020603050405020304" pitchFamily="18" charset="0"/>
              </a:rPr>
              <a:t>Hold the body tissue leaving the muscle. </a:t>
            </a:r>
            <a:r>
              <a:rPr lang="en-US" dirty="0" err="1" smtClean="0">
                <a:latin typeface="Times New Roman" panose="02020603050405020304" pitchFamily="18" charset="0"/>
                <a:cs typeface="Times New Roman" panose="02020603050405020304" pitchFamily="18" charset="0"/>
              </a:rPr>
              <a:t>Calliper</a:t>
            </a:r>
            <a:r>
              <a:rPr lang="en-US" dirty="0" smtClean="0">
                <a:latin typeface="Times New Roman" panose="02020603050405020304" pitchFamily="18" charset="0"/>
                <a:cs typeface="Times New Roman" panose="02020603050405020304" pitchFamily="18" charset="0"/>
              </a:rPr>
              <a:t> leaver is released so its spring tension is exerted on the skinfold and maintain pinch while reading the </a:t>
            </a:r>
            <a:r>
              <a:rPr lang="en-US" dirty="0" err="1" smtClean="0">
                <a:latin typeface="Times New Roman" panose="02020603050405020304" pitchFamily="18" charset="0"/>
                <a:cs typeface="Times New Roman" panose="02020603050405020304" pitchFamily="18" charset="0"/>
              </a:rPr>
              <a:t>calliper</a:t>
            </a:r>
            <a:r>
              <a:rPr lang="en-US" dirty="0" smtClean="0">
                <a:latin typeface="Times New Roman" panose="02020603050405020304" pitchFamily="18" charset="0"/>
                <a:cs typeface="Times New Roman" panose="02020603050405020304" pitchFamily="18" charset="0"/>
              </a:rPr>
              <a:t>.</a:t>
            </a:r>
          </a:p>
          <a:p>
            <a:pPr lvl="2" algn="just"/>
            <a:endParaRPr lang="en-US"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249440" y="4454673"/>
            <a:ext cx="3477884" cy="2203704"/>
          </a:xfrm>
          <a:prstGeom prst="rect">
            <a:avLst/>
          </a:prstGeom>
        </p:spPr>
      </p:pic>
    </p:spTree>
    <p:extLst>
      <p:ext uri="{BB962C8B-B14F-4D97-AF65-F5344CB8AC3E}">
        <p14:creationId xmlns:p14="http://schemas.microsoft.com/office/powerpoint/2010/main" val="20268903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ANTHROPOMETRIC MEASUREMENTS</a:t>
            </a:r>
            <a:endParaRPr lang="en-US" dirty="0"/>
          </a:p>
        </p:txBody>
      </p:sp>
      <p:sp>
        <p:nvSpPr>
          <p:cNvPr id="3" name="Content Placeholder 2"/>
          <p:cNvSpPr>
            <a:spLocks noGrp="1"/>
          </p:cNvSpPr>
          <p:nvPr>
            <p:ph idx="1"/>
          </p:nvPr>
        </p:nvSpPr>
        <p:spPr/>
        <p:txBody>
          <a:bodyPr/>
          <a:lstStyle/>
          <a:p>
            <a:pPr marL="0" indent="0" algn="ctr">
              <a:buNone/>
            </a:pPr>
            <a:r>
              <a:rPr lang="en-US" dirty="0" smtClean="0">
                <a:latin typeface="Times New Roman" panose="02020603050405020304" pitchFamily="18" charset="0"/>
                <a:cs typeface="Times New Roman" panose="02020603050405020304" pitchFamily="18" charset="0"/>
              </a:rPr>
              <a:t>Measurements that access body composition</a:t>
            </a:r>
          </a:p>
          <a:p>
            <a:r>
              <a:rPr lang="en-US" dirty="0" smtClean="0">
                <a:latin typeface="Times New Roman" panose="02020603050405020304" pitchFamily="18" charset="0"/>
                <a:cs typeface="Times New Roman" panose="02020603050405020304" pitchFamily="18" charset="0"/>
              </a:rPr>
              <a:t>Body Mass Index(weight/Square of Height)</a:t>
            </a:r>
          </a:p>
          <a:p>
            <a:r>
              <a:rPr lang="en-US" dirty="0" smtClean="0">
                <a:latin typeface="Times New Roman" panose="02020603050405020304" pitchFamily="18" charset="0"/>
                <a:cs typeface="Times New Roman" panose="02020603050405020304" pitchFamily="18" charset="0"/>
              </a:rPr>
              <a:t>Waist-Hip-Ratio</a:t>
            </a:r>
          </a:p>
          <a:p>
            <a:r>
              <a:rPr lang="en-US" dirty="0" smtClean="0">
                <a:latin typeface="Times New Roman" panose="02020603050405020304" pitchFamily="18" charset="0"/>
                <a:cs typeface="Times New Roman" panose="02020603050405020304" pitchFamily="18" charset="0"/>
              </a:rPr>
              <a:t>Waist-Height-Ratio</a:t>
            </a:r>
          </a:p>
          <a:p>
            <a:r>
              <a:rPr lang="en-US" dirty="0" smtClean="0">
                <a:latin typeface="Times New Roman" panose="02020603050405020304" pitchFamily="18" charset="0"/>
                <a:cs typeface="Times New Roman" panose="02020603050405020304" pitchFamily="18" charset="0"/>
              </a:rPr>
              <a:t>Mid-upper-arm muscle circumference</a:t>
            </a:r>
          </a:p>
          <a:p>
            <a:r>
              <a:rPr lang="en-US" dirty="0" smtClean="0">
                <a:latin typeface="Times New Roman" panose="02020603050405020304" pitchFamily="18" charset="0"/>
                <a:cs typeface="Times New Roman" panose="02020603050405020304" pitchFamily="18" charset="0"/>
              </a:rPr>
              <a:t>Growth indices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9022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25793"/>
          </a:xfrm>
        </p:spPr>
        <p:txBody>
          <a:bodyPr/>
          <a:lstStyle/>
          <a:p>
            <a:pPr algn="ctr"/>
            <a:r>
              <a:rPr lang="en-US" dirty="0" smtClean="0">
                <a:latin typeface="Times New Roman" panose="02020603050405020304" pitchFamily="18" charset="0"/>
                <a:cs typeface="Times New Roman" panose="02020603050405020304" pitchFamily="18" charset="0"/>
              </a:rPr>
              <a:t>DIET SURVEY</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90918"/>
            <a:ext cx="10515600" cy="4786045"/>
          </a:xfrm>
        </p:spPr>
        <p:txBody>
          <a:bodyPr/>
          <a:lstStyle/>
          <a:p>
            <a:pPr marL="101600" lvl="0" indent="0" algn="just">
              <a:spcBef>
                <a:spcPts val="0"/>
              </a:spcBef>
              <a:buSzPts val="2000"/>
              <a:buNone/>
            </a:pPr>
            <a:r>
              <a:rPr lang="en-US" dirty="0">
                <a:latin typeface="Times New Roman" panose="02020603050405020304" pitchFamily="18" charset="0"/>
                <a:cs typeface="Times New Roman" panose="02020603050405020304" pitchFamily="18" charset="0"/>
              </a:rPr>
              <a:t>Diet survey is systematic inquiry into the food supplies and food consumption of individual and population groups is made.</a:t>
            </a:r>
          </a:p>
          <a:p>
            <a:pPr marL="457200" lvl="0" indent="0" algn="just">
              <a:spcBef>
                <a:spcPts val="0"/>
              </a:spcBef>
              <a:buNone/>
            </a:pPr>
            <a:endParaRPr lang="en-US" b="1" dirty="0" smtClean="0">
              <a:solidFill>
                <a:schemeClr val="dk1"/>
              </a:solidFill>
              <a:latin typeface="Times New Roman" panose="02020603050405020304" pitchFamily="18" charset="0"/>
              <a:cs typeface="Times New Roman" panose="02020603050405020304" pitchFamily="18" charset="0"/>
            </a:endParaRPr>
          </a:p>
          <a:p>
            <a:pPr marL="457200" lvl="0" indent="0" algn="ctr">
              <a:spcBef>
                <a:spcPts val="0"/>
              </a:spcBef>
              <a:buNone/>
            </a:pPr>
            <a:r>
              <a:rPr lang="en-US" b="1" dirty="0" smtClean="0">
                <a:solidFill>
                  <a:schemeClr val="dk1"/>
                </a:solidFill>
                <a:latin typeface="Times New Roman" panose="02020603050405020304" pitchFamily="18" charset="0"/>
                <a:cs typeface="Times New Roman" panose="02020603050405020304" pitchFamily="18" charset="0"/>
              </a:rPr>
              <a:t>Needs </a:t>
            </a:r>
            <a:r>
              <a:rPr lang="en-US" b="1" dirty="0">
                <a:solidFill>
                  <a:schemeClr val="dk1"/>
                </a:solidFill>
                <a:latin typeface="Times New Roman" panose="02020603050405020304" pitchFamily="18" charset="0"/>
                <a:cs typeface="Times New Roman" panose="02020603050405020304" pitchFamily="18" charset="0"/>
              </a:rPr>
              <a:t>and </a:t>
            </a:r>
            <a:r>
              <a:rPr lang="en-US" b="1" dirty="0" smtClean="0">
                <a:solidFill>
                  <a:schemeClr val="dk1"/>
                </a:solidFill>
                <a:latin typeface="Times New Roman" panose="02020603050405020304" pitchFamily="18" charset="0"/>
                <a:cs typeface="Times New Roman" panose="02020603050405020304" pitchFamily="18" charset="0"/>
              </a:rPr>
              <a:t>Importance </a:t>
            </a:r>
            <a:r>
              <a:rPr lang="en-US" b="1" dirty="0">
                <a:solidFill>
                  <a:schemeClr val="dk1"/>
                </a:solidFill>
                <a:latin typeface="Times New Roman" panose="02020603050405020304" pitchFamily="18" charset="0"/>
                <a:cs typeface="Times New Roman" panose="02020603050405020304" pitchFamily="18" charset="0"/>
              </a:rPr>
              <a:t>of dietary survey </a:t>
            </a:r>
          </a:p>
          <a:p>
            <a:pPr marL="457200" lvl="0" indent="-368300" algn="just">
              <a:spcBef>
                <a:spcPts val="0"/>
              </a:spcBef>
              <a:buClr>
                <a:schemeClr val="dk1"/>
              </a:buClr>
              <a:buSzPts val="2200"/>
              <a:buChar char="●"/>
            </a:pPr>
            <a:r>
              <a:rPr lang="en-US" dirty="0">
                <a:solidFill>
                  <a:schemeClr val="dk1"/>
                </a:solidFill>
                <a:latin typeface="Times New Roman" panose="02020603050405020304" pitchFamily="18" charset="0"/>
                <a:cs typeface="Times New Roman" panose="02020603050405020304" pitchFamily="18" charset="0"/>
              </a:rPr>
              <a:t>Accurate information on dietary patterns of community would help in assessing the nutritional status of the people.</a:t>
            </a:r>
          </a:p>
          <a:p>
            <a:pPr marL="457200" lvl="0" indent="-368300" algn="just">
              <a:spcBef>
                <a:spcPts val="0"/>
              </a:spcBef>
              <a:buClr>
                <a:schemeClr val="dk1"/>
              </a:buClr>
              <a:buSzPts val="2200"/>
              <a:buChar char="●"/>
            </a:pPr>
            <a:r>
              <a:rPr lang="en-US" dirty="0">
                <a:solidFill>
                  <a:schemeClr val="dk1"/>
                </a:solidFill>
                <a:latin typeface="Times New Roman" panose="02020603050405020304" pitchFamily="18" charset="0"/>
                <a:cs typeface="Times New Roman" panose="02020603050405020304" pitchFamily="18" charset="0"/>
              </a:rPr>
              <a:t>Helps in determining the relationship between nutritional intake and deficiency diseases. </a:t>
            </a:r>
          </a:p>
          <a:p>
            <a:pPr marL="457200" lvl="0" indent="-368300" algn="just">
              <a:spcBef>
                <a:spcPts val="0"/>
              </a:spcBef>
              <a:buClr>
                <a:schemeClr val="dk1"/>
              </a:buClr>
              <a:buSzPts val="2200"/>
              <a:buChar char="●"/>
            </a:pPr>
            <a:r>
              <a:rPr lang="en-US" dirty="0" smtClean="0">
                <a:solidFill>
                  <a:schemeClr val="dk1"/>
                </a:solidFill>
                <a:latin typeface="Times New Roman" panose="02020603050405020304" pitchFamily="18" charset="0"/>
                <a:cs typeface="Times New Roman" panose="02020603050405020304" pitchFamily="18" charset="0"/>
              </a:rPr>
              <a:t>Helps </a:t>
            </a:r>
            <a:r>
              <a:rPr lang="en-US" dirty="0">
                <a:solidFill>
                  <a:schemeClr val="dk1"/>
                </a:solidFill>
                <a:latin typeface="Times New Roman" panose="02020603050405020304" pitchFamily="18" charset="0"/>
                <a:cs typeface="Times New Roman" panose="02020603050405020304" pitchFamily="18" charset="0"/>
              </a:rPr>
              <a:t>in understanding dietary status of the community. </a:t>
            </a:r>
          </a:p>
          <a:p>
            <a:endParaRPr lang="en-US" dirty="0"/>
          </a:p>
        </p:txBody>
      </p:sp>
    </p:spTree>
    <p:extLst>
      <p:ext uri="{BB962C8B-B14F-4D97-AF65-F5344CB8AC3E}">
        <p14:creationId xmlns:p14="http://schemas.microsoft.com/office/powerpoint/2010/main" val="41666580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06852"/>
          </a:xfrm>
        </p:spPr>
        <p:txBody>
          <a:bodyPr/>
          <a:lstStyle/>
          <a:p>
            <a:pPr algn="ctr"/>
            <a:r>
              <a:rPr lang="en-US" dirty="0">
                <a:latin typeface="Times New Roman" panose="02020603050405020304" pitchFamily="18" charset="0"/>
                <a:cs typeface="Times New Roman" panose="02020603050405020304" pitchFamily="18" charset="0"/>
              </a:rPr>
              <a:t>DIET SURVEY</a:t>
            </a:r>
            <a:endParaRPr lang="en-US" dirty="0"/>
          </a:p>
        </p:txBody>
      </p:sp>
      <p:sp>
        <p:nvSpPr>
          <p:cNvPr id="3" name="Content Placeholder 2"/>
          <p:cNvSpPr>
            <a:spLocks noGrp="1"/>
          </p:cNvSpPr>
          <p:nvPr>
            <p:ph idx="1"/>
          </p:nvPr>
        </p:nvSpPr>
        <p:spPr>
          <a:xfrm>
            <a:off x="838200" y="1390918"/>
            <a:ext cx="10515600" cy="4786045"/>
          </a:xfrm>
        </p:spPr>
        <p:txBody>
          <a:bodyPr>
            <a:normAutofit fontScale="92500" lnSpcReduction="20000"/>
          </a:bodyPr>
          <a:lstStyle/>
          <a:p>
            <a:pPr marL="0" lvl="0" indent="0">
              <a:spcBef>
                <a:spcPts val="0"/>
              </a:spcBef>
              <a:buNone/>
            </a:pPr>
            <a:r>
              <a:rPr lang="en-US" sz="3000" dirty="0">
                <a:solidFill>
                  <a:schemeClr val="dk1"/>
                </a:solidFill>
                <a:latin typeface="Times New Roman" panose="02020603050405020304" pitchFamily="18" charset="0"/>
                <a:cs typeface="Times New Roman" panose="02020603050405020304" pitchFamily="18" charset="0"/>
              </a:rPr>
              <a:t>Commonly used </a:t>
            </a:r>
            <a:r>
              <a:rPr lang="en-US" sz="3000" dirty="0" smtClean="0">
                <a:solidFill>
                  <a:schemeClr val="dk1"/>
                </a:solidFill>
                <a:latin typeface="Times New Roman" panose="02020603050405020304" pitchFamily="18" charset="0"/>
                <a:cs typeface="Times New Roman" panose="02020603050405020304" pitchFamily="18" charset="0"/>
              </a:rPr>
              <a:t>methods </a:t>
            </a:r>
            <a:r>
              <a:rPr lang="en-US" sz="3000" dirty="0">
                <a:solidFill>
                  <a:schemeClr val="dk1"/>
                </a:solidFill>
                <a:latin typeface="Times New Roman" panose="02020603050405020304" pitchFamily="18" charset="0"/>
                <a:cs typeface="Times New Roman" panose="02020603050405020304" pitchFamily="18" charset="0"/>
              </a:rPr>
              <a:t>are:</a:t>
            </a:r>
          </a:p>
          <a:p>
            <a:pPr marL="457200" lvl="0" indent="-368300">
              <a:spcBef>
                <a:spcPts val="1600"/>
              </a:spcBef>
              <a:buClr>
                <a:schemeClr val="dk1"/>
              </a:buClr>
              <a:buSzPts val="2200"/>
              <a:buAutoNum type="arabicPeriod"/>
            </a:pPr>
            <a:r>
              <a:rPr lang="en-US" sz="3000" dirty="0">
                <a:solidFill>
                  <a:schemeClr val="dk1"/>
                </a:solidFill>
                <a:latin typeface="Times New Roman" panose="02020603050405020304" pitchFamily="18" charset="0"/>
                <a:cs typeface="Times New Roman" panose="02020603050405020304" pitchFamily="18" charset="0"/>
              </a:rPr>
              <a:t>Family diet survey </a:t>
            </a:r>
          </a:p>
          <a:p>
            <a:pPr marL="914400" lvl="1" indent="-368300">
              <a:spcBef>
                <a:spcPts val="0"/>
              </a:spcBef>
              <a:buClr>
                <a:schemeClr val="dk1"/>
              </a:buClr>
              <a:buSzPts val="2200"/>
              <a:buAutoNum type="alphaLcPeriod"/>
            </a:pPr>
            <a:r>
              <a:rPr lang="en-US" sz="2600" dirty="0">
                <a:solidFill>
                  <a:schemeClr val="dk1"/>
                </a:solidFill>
                <a:latin typeface="Times New Roman" panose="02020603050405020304" pitchFamily="18" charset="0"/>
                <a:cs typeface="Times New Roman" panose="02020603050405020304" pitchFamily="18" charset="0"/>
              </a:rPr>
              <a:t>weighment method </a:t>
            </a:r>
          </a:p>
          <a:p>
            <a:pPr marL="914400" lvl="1" indent="-368300">
              <a:spcBef>
                <a:spcPts val="0"/>
              </a:spcBef>
              <a:buClr>
                <a:schemeClr val="dk1"/>
              </a:buClr>
              <a:buSzPts val="2200"/>
              <a:buAutoNum type="alphaLcPeriod"/>
            </a:pPr>
            <a:r>
              <a:rPr lang="en-US" sz="2600" dirty="0">
                <a:solidFill>
                  <a:schemeClr val="dk1"/>
                </a:solidFill>
                <a:latin typeface="Times New Roman" panose="02020603050405020304" pitchFamily="18" charset="0"/>
                <a:cs typeface="Times New Roman" panose="02020603050405020304" pitchFamily="18" charset="0"/>
              </a:rPr>
              <a:t>consumption expenditure survey</a:t>
            </a:r>
          </a:p>
          <a:p>
            <a:pPr marL="0" lvl="0" indent="0">
              <a:spcBef>
                <a:spcPts val="1600"/>
              </a:spcBef>
              <a:buNone/>
            </a:pPr>
            <a:r>
              <a:rPr lang="en-US" sz="3000" dirty="0">
                <a:solidFill>
                  <a:schemeClr val="dk1"/>
                </a:solidFill>
                <a:latin typeface="Times New Roman" panose="02020603050405020304" pitchFamily="18" charset="0"/>
                <a:cs typeface="Times New Roman" panose="02020603050405020304" pitchFamily="18" charset="0"/>
              </a:rPr>
              <a:t>2. Assessment of dietary intake of individual </a:t>
            </a:r>
          </a:p>
          <a:p>
            <a:pPr marL="914400" lvl="1" indent="-368300">
              <a:spcBef>
                <a:spcPts val="1600"/>
              </a:spcBef>
              <a:buClr>
                <a:schemeClr val="dk1"/>
              </a:buClr>
              <a:buSzPts val="2200"/>
              <a:buAutoNum type="alphaLcPeriod"/>
            </a:pPr>
            <a:r>
              <a:rPr lang="en-US" sz="2600" dirty="0">
                <a:solidFill>
                  <a:schemeClr val="dk1"/>
                </a:solidFill>
                <a:latin typeface="Times New Roman" panose="02020603050405020304" pitchFamily="18" charset="0"/>
                <a:cs typeface="Times New Roman" panose="02020603050405020304" pitchFamily="18" charset="0"/>
              </a:rPr>
              <a:t>24 hour recall method </a:t>
            </a:r>
          </a:p>
          <a:p>
            <a:pPr marL="914400" lvl="1" indent="-368300">
              <a:spcBef>
                <a:spcPts val="0"/>
              </a:spcBef>
              <a:buClr>
                <a:schemeClr val="dk1"/>
              </a:buClr>
              <a:buSzPts val="2200"/>
              <a:buAutoNum type="alphaLcPeriod"/>
            </a:pPr>
            <a:r>
              <a:rPr lang="en-US" sz="2600" dirty="0">
                <a:solidFill>
                  <a:schemeClr val="dk1"/>
                </a:solidFill>
                <a:latin typeface="Times New Roman" panose="02020603050405020304" pitchFamily="18" charset="0"/>
                <a:cs typeface="Times New Roman" panose="02020603050405020304" pitchFamily="18" charset="0"/>
              </a:rPr>
              <a:t>food record </a:t>
            </a:r>
          </a:p>
          <a:p>
            <a:pPr marL="914400" lvl="1" indent="-368300">
              <a:spcBef>
                <a:spcPts val="0"/>
              </a:spcBef>
              <a:buClr>
                <a:schemeClr val="dk1"/>
              </a:buClr>
              <a:buSzPts val="2200"/>
              <a:buAutoNum type="alphaLcPeriod"/>
            </a:pPr>
            <a:r>
              <a:rPr lang="en-US" sz="2600" dirty="0">
                <a:solidFill>
                  <a:schemeClr val="dk1"/>
                </a:solidFill>
                <a:latin typeface="Times New Roman" panose="02020603050405020304" pitchFamily="18" charset="0"/>
                <a:cs typeface="Times New Roman" panose="02020603050405020304" pitchFamily="18" charset="0"/>
              </a:rPr>
              <a:t>Diet history   </a:t>
            </a:r>
            <a:endParaRPr lang="en-US" sz="2600" dirty="0" smtClean="0">
              <a:solidFill>
                <a:schemeClr val="dk1"/>
              </a:solidFill>
              <a:latin typeface="Times New Roman" panose="02020603050405020304" pitchFamily="18" charset="0"/>
              <a:cs typeface="Times New Roman" panose="02020603050405020304" pitchFamily="18" charset="0"/>
            </a:endParaRPr>
          </a:p>
          <a:p>
            <a:pPr marL="546100" lvl="1" indent="0">
              <a:spcBef>
                <a:spcPts val="0"/>
              </a:spcBef>
              <a:buClr>
                <a:schemeClr val="dk1"/>
              </a:buClr>
              <a:buSzPts val="2200"/>
              <a:buNone/>
            </a:pPr>
            <a:r>
              <a:rPr lang="en-US" sz="2600" dirty="0" smtClean="0">
                <a:solidFill>
                  <a:schemeClr val="dk1"/>
                </a:solidFill>
                <a:latin typeface="Times New Roman" panose="02020603050405020304" pitchFamily="18" charset="0"/>
                <a:cs typeface="Times New Roman" panose="02020603050405020304" pitchFamily="18" charset="0"/>
              </a:rPr>
              <a:t>                       </a:t>
            </a:r>
            <a:endParaRPr lang="en-US" sz="2600" dirty="0">
              <a:solidFill>
                <a:schemeClr val="dk1"/>
              </a:solidFill>
              <a:latin typeface="Times New Roman" panose="02020603050405020304" pitchFamily="18" charset="0"/>
              <a:cs typeface="Times New Roman" panose="02020603050405020304" pitchFamily="18" charset="0"/>
            </a:endParaRPr>
          </a:p>
          <a:p>
            <a:pPr marL="0" lvl="0" indent="0">
              <a:spcBef>
                <a:spcPts val="0"/>
              </a:spcBef>
              <a:buNone/>
            </a:pPr>
            <a:r>
              <a:rPr lang="en-US" sz="3000" dirty="0">
                <a:solidFill>
                  <a:schemeClr val="dk1"/>
                </a:solidFill>
                <a:latin typeface="Times New Roman" panose="02020603050405020304" pitchFamily="18" charset="0"/>
                <a:cs typeface="Times New Roman" panose="02020603050405020304" pitchFamily="18" charset="0"/>
              </a:rPr>
              <a:t>3. Qualitative Survey </a:t>
            </a:r>
          </a:p>
          <a:p>
            <a:pPr marL="0" lvl="0" indent="0">
              <a:spcBef>
                <a:spcPts val="1600"/>
              </a:spcBef>
              <a:buNone/>
            </a:pPr>
            <a:r>
              <a:rPr lang="en-US" sz="3000" dirty="0">
                <a:solidFill>
                  <a:schemeClr val="dk1"/>
                </a:solidFill>
                <a:latin typeface="Times New Roman" panose="02020603050405020304" pitchFamily="18" charset="0"/>
                <a:cs typeface="Times New Roman" panose="02020603050405020304" pitchFamily="18" charset="0"/>
              </a:rPr>
              <a:t>4. Institutional diet survey </a:t>
            </a:r>
          </a:p>
          <a:p>
            <a:pPr marL="0" lvl="0" indent="0">
              <a:spcBef>
                <a:spcPts val="1600"/>
              </a:spcBef>
              <a:spcAft>
                <a:spcPts val="1600"/>
              </a:spcAft>
              <a:buNone/>
            </a:pPr>
            <a:r>
              <a:rPr lang="en-US" sz="3000" dirty="0">
                <a:solidFill>
                  <a:schemeClr val="dk1"/>
                </a:solidFill>
                <a:latin typeface="Times New Roman" panose="02020603050405020304" pitchFamily="18" charset="0"/>
                <a:cs typeface="Times New Roman" panose="02020603050405020304" pitchFamily="18" charset="0"/>
              </a:rPr>
              <a:t>5. Food balance sheets</a:t>
            </a:r>
          </a:p>
          <a:p>
            <a:endParaRPr lang="en-US" dirty="0"/>
          </a:p>
        </p:txBody>
      </p:sp>
    </p:spTree>
    <p:extLst>
      <p:ext uri="{BB962C8B-B14F-4D97-AF65-F5344CB8AC3E}">
        <p14:creationId xmlns:p14="http://schemas.microsoft.com/office/powerpoint/2010/main" val="2354327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5337"/>
          </a:xfrm>
        </p:spPr>
        <p:txBody>
          <a:bodyPr/>
          <a:lstStyle/>
          <a:p>
            <a:pPr algn="ctr"/>
            <a:r>
              <a:rPr lang="en-US" dirty="0">
                <a:latin typeface="Times New Roman" panose="02020603050405020304" pitchFamily="18" charset="0"/>
                <a:cs typeface="Times New Roman" panose="02020603050405020304" pitchFamily="18" charset="0"/>
              </a:rPr>
              <a:t>DIET SURVEY</a:t>
            </a:r>
            <a:endParaRPr lang="en-US" dirty="0"/>
          </a:p>
        </p:txBody>
      </p:sp>
      <p:sp>
        <p:nvSpPr>
          <p:cNvPr id="3" name="Content Placeholder 2"/>
          <p:cNvSpPr>
            <a:spLocks noGrp="1"/>
          </p:cNvSpPr>
          <p:nvPr>
            <p:ph idx="1"/>
          </p:nvPr>
        </p:nvSpPr>
        <p:spPr>
          <a:xfrm>
            <a:off x="838200" y="1120462"/>
            <a:ext cx="10515600" cy="5396248"/>
          </a:xfrm>
        </p:spPr>
        <p:txBody>
          <a:bodyPr>
            <a:normAutofit fontScale="92500" lnSpcReduction="10000"/>
          </a:bodyPr>
          <a:lstStyle/>
          <a:p>
            <a:pPr marL="514350" indent="-514350">
              <a:buAutoNum type="arabicPeriod"/>
            </a:pPr>
            <a:r>
              <a:rPr lang="en-US" dirty="0" smtClean="0">
                <a:latin typeface="Times New Roman" panose="02020603050405020304" pitchFamily="18" charset="0"/>
                <a:cs typeface="Times New Roman" panose="02020603050405020304" pitchFamily="18" charset="0"/>
              </a:rPr>
              <a:t>Family Diet </a:t>
            </a:r>
            <a:r>
              <a:rPr lang="en-US" dirty="0" smtClean="0">
                <a:latin typeface="Times New Roman" panose="02020603050405020304" pitchFamily="18" charset="0"/>
                <a:cs typeface="Times New Roman" panose="02020603050405020304" pitchFamily="18" charset="0"/>
              </a:rPr>
              <a:t>Survey</a:t>
            </a:r>
          </a:p>
          <a:p>
            <a:pPr marL="0" indent="0">
              <a:buNone/>
            </a:pPr>
            <a:r>
              <a:rPr lang="en-US" dirty="0">
                <a:latin typeface="Times New Roman" panose="02020603050405020304" pitchFamily="18" charset="0"/>
                <a:cs typeface="Times New Roman" panose="02020603050405020304" pitchFamily="18" charset="0"/>
              </a:rPr>
              <a:t>Family diet survey collect information on the diet at the household level. The result are expressed as per capita or per consumption unit. </a:t>
            </a:r>
          </a:p>
          <a:p>
            <a:pPr marL="0" indent="0">
              <a:buNone/>
            </a:pPr>
            <a:r>
              <a:rPr lang="en-US" b="1" dirty="0" smtClean="0">
                <a:latin typeface="Times New Roman" panose="02020603050405020304" pitchFamily="18" charset="0"/>
                <a:cs typeface="Times New Roman" panose="02020603050405020304" pitchFamily="18" charset="0"/>
              </a:rPr>
              <a:t>				Weighment </a:t>
            </a:r>
            <a:r>
              <a:rPr lang="en-US" b="1" dirty="0">
                <a:latin typeface="Times New Roman" panose="02020603050405020304" pitchFamily="18" charset="0"/>
                <a:cs typeface="Times New Roman" panose="02020603050405020304" pitchFamily="18" charset="0"/>
              </a:rPr>
              <a:t>Method </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This method of diet survey  involves actual weighing of raw foods on a </a:t>
            </a:r>
            <a:r>
              <a:rPr lang="en-US" dirty="0" smtClean="0">
                <a:latin typeface="Times New Roman" panose="02020603050405020304" pitchFamily="18" charset="0"/>
                <a:cs typeface="Times New Roman" panose="02020603050405020304" pitchFamily="18" charset="0"/>
              </a:rPr>
              <a:t>   given </a:t>
            </a:r>
            <a:r>
              <a:rPr lang="en-US" dirty="0">
                <a:latin typeface="Times New Roman" panose="02020603050405020304" pitchFamily="18" charset="0"/>
                <a:cs typeface="Times New Roman" panose="02020603050405020304" pitchFamily="18" charset="0"/>
              </a:rPr>
              <a:t>day it is ideal to conduct the survey for 7 days for true picture of the </a:t>
            </a:r>
            <a:r>
              <a:rPr lang="en-US" dirty="0" smtClean="0">
                <a:latin typeface="Times New Roman" panose="02020603050405020304" pitchFamily="18" charset="0"/>
                <a:cs typeface="Times New Roman" panose="02020603050405020304" pitchFamily="18" charset="0"/>
              </a:rPr>
              <a:t>diet.</a:t>
            </a:r>
          </a:p>
          <a:p>
            <a:pPr marL="546100" indent="-457200">
              <a:spcBef>
                <a:spcPts val="0"/>
              </a:spcBef>
              <a:buSzPts val="2200"/>
            </a:pPr>
            <a:r>
              <a:rPr lang="en-US" dirty="0">
                <a:latin typeface="Times New Roman" panose="02020603050405020304" pitchFamily="18" charset="0"/>
                <a:cs typeface="Times New Roman" panose="02020603050405020304" pitchFamily="18" charset="0"/>
              </a:rPr>
              <a:t>In this method every day food is weighted in the morning and evening, before actual cooking. only edible portion of raw food is weighed.</a:t>
            </a:r>
          </a:p>
          <a:p>
            <a:pPr marL="546100" indent="-457200">
              <a:spcBef>
                <a:spcPts val="0"/>
              </a:spcBef>
              <a:buSzPts val="2200"/>
            </a:pPr>
            <a:r>
              <a:rPr lang="en-US" dirty="0">
                <a:latin typeface="Times New Roman" panose="02020603050405020304" pitchFamily="18" charset="0"/>
                <a:cs typeface="Times New Roman" panose="02020603050405020304" pitchFamily="18" charset="0"/>
              </a:rPr>
              <a:t>Information of all the family members who will be consuming the meal on that day is collected according to the age and physiological status</a:t>
            </a:r>
            <a:r>
              <a:rPr lang="en-US" dirty="0" smtClean="0">
                <a:latin typeface="Times New Roman" panose="02020603050405020304" pitchFamily="18" charset="0"/>
                <a:cs typeface="Times New Roman" panose="02020603050405020304" pitchFamily="18" charset="0"/>
              </a:rPr>
              <a:t>.</a:t>
            </a:r>
          </a:p>
          <a:p>
            <a:pPr marL="546100" indent="-457200">
              <a:spcBef>
                <a:spcPts val="0"/>
              </a:spcBef>
              <a:buSzPts val="2200"/>
            </a:pPr>
            <a:r>
              <a:rPr lang="en-US" dirty="0">
                <a:latin typeface="Times New Roman" panose="02020603050405020304" pitchFamily="18" charset="0"/>
                <a:cs typeface="Times New Roman" panose="02020603050405020304" pitchFamily="18" charset="0"/>
              </a:rPr>
              <a:t>Food are converted into nutrients by referring to food consumption tables. </a:t>
            </a:r>
          </a:p>
          <a:p>
            <a:pPr marL="546100" indent="-457200">
              <a:spcBef>
                <a:spcPts val="0"/>
              </a:spcBef>
              <a:buSzPts val="2200"/>
            </a:pP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nutrient intake expressed as per consumption unit or per capita.</a:t>
            </a:r>
          </a:p>
          <a:p>
            <a:pPr marL="546100" indent="-457200">
              <a:spcBef>
                <a:spcPts val="0"/>
              </a:spcBef>
              <a:buSzPts val="2200"/>
            </a:pPr>
            <a:r>
              <a:rPr lang="en-US" dirty="0">
                <a:solidFill>
                  <a:schemeClr val="dk1"/>
                </a:solidFill>
                <a:latin typeface="Times New Roman" panose="02020603050405020304" pitchFamily="18" charset="0"/>
                <a:cs typeface="Times New Roman" panose="02020603050405020304" pitchFamily="18" charset="0"/>
              </a:rPr>
              <a:t>This method does not give the actual intake of individual in the family. </a:t>
            </a:r>
            <a:endParaRPr lang="en-US" dirty="0" smtClean="0">
              <a:solidFill>
                <a:schemeClr val="dk1"/>
              </a:solidFill>
              <a:latin typeface="Times New Roman" panose="02020603050405020304" pitchFamily="18" charset="0"/>
              <a:cs typeface="Times New Roman" panose="02020603050405020304" pitchFamily="18" charset="0"/>
            </a:endParaRPr>
          </a:p>
          <a:p>
            <a:pPr marL="546100" indent="-457200">
              <a:spcBef>
                <a:spcPts val="0"/>
              </a:spcBef>
              <a:buSzPts val="2200"/>
            </a:pPr>
            <a:r>
              <a:rPr lang="en-US" dirty="0" smtClean="0">
                <a:solidFill>
                  <a:schemeClr val="dk1"/>
                </a:solidFill>
                <a:latin typeface="Times New Roman" panose="02020603050405020304" pitchFamily="18" charset="0"/>
                <a:cs typeface="Times New Roman" panose="02020603050405020304" pitchFamily="18" charset="0"/>
              </a:rPr>
              <a:t>This method is accurate as it involves direct weighing of food items.</a:t>
            </a:r>
            <a:endParaRPr lang="en-US" dirty="0">
              <a:solidFill>
                <a:schemeClr val="dk1"/>
              </a:solidFill>
              <a:latin typeface="Times New Roman" panose="02020603050405020304" pitchFamily="18" charset="0"/>
              <a:cs typeface="Times New Roman" panose="02020603050405020304" pitchFamily="18" charset="0"/>
            </a:endParaRPr>
          </a:p>
          <a:p>
            <a:pPr marL="457200" lvl="0" indent="-368300">
              <a:spcBef>
                <a:spcPts val="0"/>
              </a:spcBef>
              <a:buSzPts val="2200"/>
              <a:buChar char="●"/>
            </a:pPr>
            <a:endParaRPr lang="en-US" dirty="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764010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0790"/>
          </a:xfrm>
        </p:spPr>
        <p:txBody>
          <a:bodyPr>
            <a:normAutofit/>
          </a:bodyPr>
          <a:lstStyle/>
          <a:p>
            <a:pPr algn="ctr"/>
            <a:r>
              <a:rPr lang="en-US" sz="3600" dirty="0">
                <a:latin typeface="Times New Roman" panose="02020603050405020304" pitchFamily="18" charset="0"/>
                <a:cs typeface="Times New Roman" panose="02020603050405020304" pitchFamily="18" charset="0"/>
              </a:rPr>
              <a:t>DIET SURVEY</a:t>
            </a:r>
            <a:endParaRPr lang="en-US" sz="3600" dirty="0"/>
          </a:p>
        </p:txBody>
      </p:sp>
      <p:sp>
        <p:nvSpPr>
          <p:cNvPr id="3" name="Content Placeholder 2"/>
          <p:cNvSpPr>
            <a:spLocks noGrp="1"/>
          </p:cNvSpPr>
          <p:nvPr>
            <p:ph idx="1"/>
          </p:nvPr>
        </p:nvSpPr>
        <p:spPr>
          <a:xfrm>
            <a:off x="489397" y="965916"/>
            <a:ext cx="10864403" cy="5211047"/>
          </a:xfrm>
        </p:spPr>
        <p:txBody>
          <a:bodyPr>
            <a:normAutofit fontScale="77500" lnSpcReduction="20000"/>
          </a:bodyPr>
          <a:lstStyle/>
          <a:p>
            <a:pPr marL="0" lvl="0" indent="0" algn="ctr">
              <a:spcBef>
                <a:spcPts val="1600"/>
              </a:spcBef>
              <a:buNone/>
            </a:pPr>
            <a:r>
              <a:rPr lang="en-US" b="1" dirty="0">
                <a:solidFill>
                  <a:schemeClr val="dk1"/>
                </a:solidFill>
                <a:latin typeface="Times New Roman" panose="02020603050405020304" pitchFamily="18" charset="0"/>
                <a:cs typeface="Times New Roman" panose="02020603050405020304" pitchFamily="18" charset="0"/>
              </a:rPr>
              <a:t>Consumption Expenditure Survey </a:t>
            </a:r>
          </a:p>
          <a:p>
            <a:pPr marL="457200" lvl="0" indent="-361950">
              <a:spcBef>
                <a:spcPts val="1600"/>
              </a:spcBef>
              <a:buClr>
                <a:schemeClr val="dk1"/>
              </a:buClr>
              <a:buSzPts val="2100"/>
              <a:buChar char="●"/>
            </a:pPr>
            <a:r>
              <a:rPr lang="en-US" dirty="0">
                <a:solidFill>
                  <a:schemeClr val="dk1"/>
                </a:solidFill>
                <a:latin typeface="Times New Roman" panose="02020603050405020304" pitchFamily="18" charset="0"/>
                <a:cs typeface="Times New Roman" panose="02020603050405020304" pitchFamily="18" charset="0"/>
              </a:rPr>
              <a:t>In this method ,the money spent on food as well as non food items is assessed by a specially designed questionnaire. </a:t>
            </a:r>
          </a:p>
          <a:p>
            <a:pPr marL="457200" lvl="0" indent="-361950">
              <a:spcBef>
                <a:spcPts val="0"/>
              </a:spcBef>
              <a:buClr>
                <a:schemeClr val="dk1"/>
              </a:buClr>
              <a:buSzPts val="2100"/>
              <a:buChar char="●"/>
            </a:pPr>
            <a:r>
              <a:rPr lang="en-US" dirty="0">
                <a:solidFill>
                  <a:schemeClr val="dk1"/>
                </a:solidFill>
                <a:latin typeface="Times New Roman" panose="02020603050405020304" pitchFamily="18" charset="0"/>
                <a:cs typeface="Times New Roman" panose="02020603050405020304" pitchFamily="18" charset="0"/>
              </a:rPr>
              <a:t>This method is less cumbersome as it avoids actual weighing of foods.</a:t>
            </a:r>
          </a:p>
          <a:p>
            <a:pPr marL="0" indent="0">
              <a:buNone/>
            </a:pPr>
            <a:r>
              <a:rPr lang="en-GB" b="1" dirty="0" smtClean="0">
                <a:solidFill>
                  <a:schemeClr val="dk1"/>
                </a:solidFill>
                <a:latin typeface="Times New Roman" panose="02020603050405020304" pitchFamily="18" charset="0"/>
                <a:cs typeface="Times New Roman" panose="02020603050405020304" pitchFamily="18" charset="0"/>
              </a:rPr>
              <a:t>2. Assessment </a:t>
            </a:r>
            <a:r>
              <a:rPr lang="en-GB" b="1" dirty="0">
                <a:solidFill>
                  <a:schemeClr val="dk1"/>
                </a:solidFill>
                <a:latin typeface="Times New Roman" panose="02020603050405020304" pitchFamily="18" charset="0"/>
                <a:cs typeface="Times New Roman" panose="02020603050405020304" pitchFamily="18" charset="0"/>
              </a:rPr>
              <a:t>of Dietary Intake Of Individual                          </a:t>
            </a:r>
            <a:endParaRPr lang="en-GB" b="1" dirty="0" smtClean="0">
              <a:solidFill>
                <a:schemeClr val="dk1"/>
              </a:solidFill>
              <a:latin typeface="Times New Roman" panose="02020603050405020304" pitchFamily="18" charset="0"/>
              <a:cs typeface="Times New Roman" panose="02020603050405020304" pitchFamily="18" charset="0"/>
            </a:endParaRPr>
          </a:p>
          <a:p>
            <a:pPr marL="0" indent="0" algn="ctr">
              <a:buNone/>
            </a:pPr>
            <a:r>
              <a:rPr lang="en-GB" b="1" dirty="0" smtClean="0">
                <a:solidFill>
                  <a:schemeClr val="dk1"/>
                </a:solidFill>
                <a:latin typeface="Times New Roman" panose="02020603050405020304" pitchFamily="18" charset="0"/>
                <a:cs typeface="Times New Roman" panose="02020603050405020304" pitchFamily="18" charset="0"/>
              </a:rPr>
              <a:t>24 </a:t>
            </a:r>
            <a:r>
              <a:rPr lang="en-GB" b="1" dirty="0">
                <a:solidFill>
                  <a:schemeClr val="dk1"/>
                </a:solidFill>
                <a:latin typeface="Times New Roman" panose="02020603050405020304" pitchFamily="18" charset="0"/>
                <a:cs typeface="Times New Roman" panose="02020603050405020304" pitchFamily="18" charset="0"/>
              </a:rPr>
              <a:t>hours recall </a:t>
            </a:r>
            <a:r>
              <a:rPr lang="en-GB" b="1" dirty="0" smtClean="0">
                <a:solidFill>
                  <a:schemeClr val="dk1"/>
                </a:solidFill>
                <a:latin typeface="Times New Roman" panose="02020603050405020304" pitchFamily="18" charset="0"/>
                <a:cs typeface="Times New Roman" panose="02020603050405020304" pitchFamily="18" charset="0"/>
              </a:rPr>
              <a:t>method</a:t>
            </a:r>
          </a:p>
          <a:p>
            <a:pPr marL="457200" indent="-457200">
              <a:lnSpc>
                <a:spcPct val="110000"/>
              </a:lnSpc>
              <a:spcBef>
                <a:spcPts val="600"/>
              </a:spcBef>
            </a:pPr>
            <a:r>
              <a:rPr lang="en-US" dirty="0">
                <a:latin typeface="Times New Roman" panose="02020603050405020304" pitchFamily="18" charset="0"/>
                <a:cs typeface="Times New Roman" panose="02020603050405020304" pitchFamily="18" charset="0"/>
              </a:rPr>
              <a:t>A 24-hour dietary recall (24HR) is a structured interview intended to capture detailed information about all foods and beverages eaten by a respondent in the past 24 hours.</a:t>
            </a:r>
          </a:p>
          <a:p>
            <a:pPr marL="457200" indent="-457200">
              <a:lnSpc>
                <a:spcPct val="110000"/>
              </a:lnSpc>
              <a:spcBef>
                <a:spcPts val="600"/>
              </a:spcBef>
            </a:pPr>
            <a:r>
              <a:rPr lang="en-US" dirty="0">
                <a:latin typeface="Times New Roman" panose="02020603050405020304" pitchFamily="18" charset="0"/>
                <a:cs typeface="Times New Roman" panose="02020603050405020304" pitchFamily="18" charset="0"/>
              </a:rPr>
              <a:t>This can be done via a face-to-face interview or telephone. </a:t>
            </a:r>
          </a:p>
          <a:p>
            <a:pPr marL="457200" indent="-457200">
              <a:lnSpc>
                <a:spcPct val="110000"/>
              </a:lnSpc>
              <a:spcBef>
                <a:spcPts val="600"/>
              </a:spcBef>
            </a:pPr>
            <a:r>
              <a:rPr lang="en-US" dirty="0">
                <a:latin typeface="Times New Roman" panose="02020603050405020304" pitchFamily="18" charset="0"/>
                <a:cs typeface="Times New Roman" panose="02020603050405020304" pitchFamily="18" charset="0"/>
              </a:rPr>
              <a:t>The interview is often structured, with a standardized and pretested protocol involving probing questions that help the respondent remember all the items consumed and relevant food and beverage descriptions.</a:t>
            </a:r>
          </a:p>
          <a:p>
            <a:pPr marL="457200" indent="-457200">
              <a:lnSpc>
                <a:spcPct val="110000"/>
              </a:lnSpc>
              <a:spcBef>
                <a:spcPts val="600"/>
              </a:spcBef>
            </a:pPr>
            <a:r>
              <a:rPr lang="en-US" dirty="0">
                <a:latin typeface="Times New Roman" panose="02020603050405020304" pitchFamily="18" charset="0"/>
                <a:cs typeface="Times New Roman" panose="02020603050405020304" pitchFamily="18" charset="0"/>
              </a:rPr>
              <a:t>Information on food type, preparation methods, recipes, brand names of commercial products, and estimated portion size are usually required.</a:t>
            </a:r>
          </a:p>
          <a:p>
            <a:pPr marL="0" indent="0">
              <a:buNone/>
            </a:pPr>
            <a:endParaRPr lang="en-US" dirty="0"/>
          </a:p>
        </p:txBody>
      </p:sp>
    </p:spTree>
    <p:extLst>
      <p:ext uri="{BB962C8B-B14F-4D97-AF65-F5344CB8AC3E}">
        <p14:creationId xmlns:p14="http://schemas.microsoft.com/office/powerpoint/2010/main" val="612709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71247"/>
          </a:xfrm>
        </p:spPr>
        <p:txBody>
          <a:bodyPr/>
          <a:lstStyle/>
          <a:p>
            <a:pPr algn="ctr"/>
            <a:r>
              <a:rPr lang="en-US" dirty="0">
                <a:latin typeface="Times New Roman" panose="02020603050405020304" pitchFamily="18" charset="0"/>
                <a:cs typeface="Times New Roman" panose="02020603050405020304" pitchFamily="18" charset="0"/>
              </a:rPr>
              <a:t>DIET SURVEY</a:t>
            </a:r>
            <a:endParaRPr lang="en-US" dirty="0"/>
          </a:p>
        </p:txBody>
      </p:sp>
      <p:sp>
        <p:nvSpPr>
          <p:cNvPr id="3" name="Content Placeholder 2"/>
          <p:cNvSpPr>
            <a:spLocks noGrp="1"/>
          </p:cNvSpPr>
          <p:nvPr>
            <p:ph idx="1"/>
          </p:nvPr>
        </p:nvSpPr>
        <p:spPr>
          <a:xfrm>
            <a:off x="838200" y="1236372"/>
            <a:ext cx="10515600" cy="4940591"/>
          </a:xfrm>
        </p:spPr>
        <p:txBody>
          <a:bodyPr>
            <a:normAutofit fontScale="77500" lnSpcReduction="20000"/>
          </a:bodyPr>
          <a:lstStyle/>
          <a:p>
            <a:pPr marL="0" indent="0" algn="ctr">
              <a:buNone/>
            </a:pPr>
            <a:r>
              <a:rPr lang="en-US" b="1" dirty="0" smtClean="0">
                <a:latin typeface="Times New Roman" panose="02020603050405020304" pitchFamily="18" charset="0"/>
                <a:cs typeface="Times New Roman" panose="02020603050405020304" pitchFamily="18" charset="0"/>
              </a:rPr>
              <a:t>Food Record</a:t>
            </a:r>
          </a:p>
          <a:p>
            <a:pPr marL="0" lvl="0" indent="0">
              <a:spcBef>
                <a:spcPts val="1600"/>
              </a:spcBef>
              <a:buNone/>
            </a:pPr>
            <a:r>
              <a:rPr lang="en-US" dirty="0">
                <a:solidFill>
                  <a:schemeClr val="dk1"/>
                </a:solidFill>
                <a:latin typeface="Times New Roman" panose="02020603050405020304" pitchFamily="18" charset="0"/>
                <a:cs typeface="Times New Roman" panose="02020603050405020304" pitchFamily="18" charset="0"/>
              </a:rPr>
              <a:t>Food record or dairy method provides information about </a:t>
            </a:r>
            <a:r>
              <a:rPr lang="en-US" dirty="0" smtClean="0">
                <a:solidFill>
                  <a:schemeClr val="dk1"/>
                </a:solidFill>
                <a:latin typeface="Times New Roman" panose="02020603050405020304" pitchFamily="18" charset="0"/>
                <a:cs typeface="Times New Roman" panose="02020603050405020304" pitchFamily="18" charset="0"/>
              </a:rPr>
              <a:t>individuals.  In </a:t>
            </a:r>
            <a:r>
              <a:rPr lang="en-US" dirty="0">
                <a:solidFill>
                  <a:schemeClr val="dk1"/>
                </a:solidFill>
                <a:latin typeface="Times New Roman" panose="02020603050405020304" pitchFamily="18" charset="0"/>
                <a:cs typeface="Times New Roman" panose="02020603050405020304" pitchFamily="18" charset="0"/>
              </a:rPr>
              <a:t>this method, the subject records , at the time of consumption,  the type and amount of all food and drinks consumed for a particular period of time , usually from 1 to 7 days.</a:t>
            </a:r>
          </a:p>
          <a:p>
            <a:pPr marL="0" lvl="0" indent="0">
              <a:spcBef>
                <a:spcPts val="1600"/>
              </a:spcBef>
              <a:spcAft>
                <a:spcPts val="1600"/>
              </a:spcAft>
              <a:buNone/>
            </a:pPr>
            <a:r>
              <a:rPr lang="en-US" dirty="0">
                <a:solidFill>
                  <a:schemeClr val="dk1"/>
                </a:solidFill>
                <a:latin typeface="Times New Roman" panose="02020603050405020304" pitchFamily="18" charset="0"/>
                <a:cs typeface="Times New Roman" panose="02020603050405020304" pitchFamily="18" charset="0"/>
              </a:rPr>
              <a:t>The strength of this method is that doesn't depend upon memory and provide detailed food intake data and also about eating habits</a:t>
            </a:r>
            <a:r>
              <a:rPr lang="en-US" dirty="0" smtClean="0">
                <a:solidFill>
                  <a:schemeClr val="dk1"/>
                </a:solidFill>
                <a:latin typeface="Times New Roman" panose="02020603050405020304" pitchFamily="18" charset="0"/>
                <a:cs typeface="Times New Roman" panose="02020603050405020304" pitchFamily="18" charset="0"/>
              </a:rPr>
              <a:t>.</a:t>
            </a:r>
          </a:p>
          <a:p>
            <a:pPr marL="0" indent="0" algn="ctr">
              <a:buNone/>
            </a:pPr>
            <a:r>
              <a:rPr lang="en-US" b="1" dirty="0" smtClean="0">
                <a:latin typeface="Times New Roman" panose="02020603050405020304" pitchFamily="18" charset="0"/>
                <a:cs typeface="Times New Roman" panose="02020603050405020304" pitchFamily="18" charset="0"/>
              </a:rPr>
              <a:t>Diet History</a:t>
            </a:r>
          </a:p>
          <a:p>
            <a:r>
              <a:rPr lang="en-US" dirty="0">
                <a:latin typeface="Times New Roman" panose="02020603050405020304" pitchFamily="18" charset="0"/>
                <a:cs typeface="Times New Roman" panose="02020603050405020304" pitchFamily="18" charset="0"/>
              </a:rPr>
              <a:t>A method used to assess a person’s usual long-term dietary intake over weeks or months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Information </a:t>
            </a:r>
            <a:r>
              <a:rPr lang="en-US" dirty="0">
                <a:latin typeface="Times New Roman" panose="02020603050405020304" pitchFamily="18" charset="0"/>
                <a:cs typeface="Times New Roman" panose="02020603050405020304" pitchFamily="18" charset="0"/>
              </a:rPr>
              <a:t>is collected through a detailed personal interview about daily eating </a:t>
            </a:r>
            <a:r>
              <a:rPr lang="en-US" dirty="0" smtClean="0">
                <a:latin typeface="Times New Roman" panose="02020603050405020304" pitchFamily="18" charset="0"/>
                <a:cs typeface="Times New Roman" panose="02020603050405020304" pitchFamily="18" charset="0"/>
              </a:rPr>
              <a:t>habits.</a:t>
            </a:r>
          </a:p>
          <a:p>
            <a:r>
              <a:rPr lang="en-US" dirty="0" smtClean="0">
                <a:latin typeface="Times New Roman" panose="02020603050405020304" pitchFamily="18" charset="0"/>
                <a:cs typeface="Times New Roman" panose="02020603050405020304" pitchFamily="18" charset="0"/>
              </a:rPr>
              <a:t>Records </a:t>
            </a:r>
            <a:r>
              <a:rPr lang="en-US" dirty="0">
                <a:latin typeface="Times New Roman" panose="02020603050405020304" pitchFamily="18" charset="0"/>
                <a:cs typeface="Times New Roman" panose="02020603050405020304" pitchFamily="18" charset="0"/>
              </a:rPr>
              <a:t>meal pattern, types of foods consumed, and frequency of intake</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Includes </a:t>
            </a:r>
            <a:r>
              <a:rPr lang="en-US" dirty="0">
                <a:latin typeface="Times New Roman" panose="02020603050405020304" pitchFamily="18" charset="0"/>
                <a:cs typeface="Times New Roman" panose="02020603050405020304" pitchFamily="18" charset="0"/>
              </a:rPr>
              <a:t>details about portion sizes and cooking methods</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Helps </a:t>
            </a:r>
            <a:r>
              <a:rPr lang="en-US" dirty="0">
                <a:latin typeface="Times New Roman" panose="02020603050405020304" pitchFamily="18" charset="0"/>
                <a:cs typeface="Times New Roman" panose="02020603050405020304" pitchFamily="18" charset="0"/>
              </a:rPr>
              <a:t>to identify nutritional deficiencies or excess intake</a:t>
            </a:r>
            <a:r>
              <a:rPr lang="en-US" dirty="0" smtClean="0">
                <a:latin typeface="Times New Roman" panose="02020603050405020304" pitchFamily="18" charset="0"/>
                <a:cs typeface="Times New Roman" panose="02020603050405020304" pitchFamily="18" charset="0"/>
              </a:rPr>
              <a:t>.</a:t>
            </a:r>
          </a:p>
          <a:p>
            <a:r>
              <a:rPr lang="en-US" dirty="0" smtClean="0">
                <a:latin typeface="Times New Roman" panose="02020603050405020304" pitchFamily="18" charset="0"/>
                <a:cs typeface="Times New Roman" panose="02020603050405020304" pitchFamily="18" charset="0"/>
              </a:rPr>
              <a:t>Useful </a:t>
            </a:r>
            <a:r>
              <a:rPr lang="en-US" dirty="0">
                <a:latin typeface="Times New Roman" panose="02020603050405020304" pitchFamily="18" charset="0"/>
                <a:cs typeface="Times New Roman" panose="02020603050405020304" pitchFamily="18" charset="0"/>
              </a:rPr>
              <a:t>for diet planning, counseling, and research purposes.</a:t>
            </a:r>
          </a:p>
        </p:txBody>
      </p:sp>
    </p:spTree>
    <p:extLst>
      <p:ext uri="{BB962C8B-B14F-4D97-AF65-F5344CB8AC3E}">
        <p14:creationId xmlns:p14="http://schemas.microsoft.com/office/powerpoint/2010/main" val="4050623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7005"/>
          </a:xfrm>
        </p:spPr>
        <p:txBody>
          <a:bodyPr>
            <a:normAutofit/>
          </a:bodyPr>
          <a:lstStyle/>
          <a:p>
            <a:pPr algn="ctr"/>
            <a:r>
              <a:rPr lang="en-US" sz="3600" dirty="0">
                <a:latin typeface="Times New Roman" panose="02020603050405020304" pitchFamily="18" charset="0"/>
                <a:cs typeface="Times New Roman" panose="02020603050405020304" pitchFamily="18" charset="0"/>
              </a:rPr>
              <a:t>DIET SURVEY</a:t>
            </a:r>
            <a:endParaRPr lang="en-US" sz="3600" dirty="0"/>
          </a:p>
        </p:txBody>
      </p:sp>
      <p:sp>
        <p:nvSpPr>
          <p:cNvPr id="3" name="Content Placeholder 2"/>
          <p:cNvSpPr>
            <a:spLocks noGrp="1"/>
          </p:cNvSpPr>
          <p:nvPr>
            <p:ph idx="1"/>
          </p:nvPr>
        </p:nvSpPr>
        <p:spPr>
          <a:xfrm>
            <a:off x="838200" y="1262130"/>
            <a:ext cx="10515600" cy="4914833"/>
          </a:xfrm>
        </p:spPr>
        <p:txBody>
          <a:bodyPr/>
          <a:lstStyle/>
          <a:p>
            <a:pPr marL="0" indent="0" algn="just">
              <a:buNone/>
            </a:pPr>
            <a:r>
              <a:rPr lang="en-US" dirty="0" smtClean="0">
                <a:latin typeface="Times New Roman" panose="02020603050405020304" pitchFamily="18" charset="0"/>
                <a:cs typeface="Times New Roman" panose="02020603050405020304" pitchFamily="18" charset="0"/>
              </a:rPr>
              <a:t>3. Qualitative Diet Survey</a:t>
            </a:r>
          </a:p>
          <a:p>
            <a:pPr marL="0" indent="0" algn="just">
              <a:buNone/>
            </a:pPr>
            <a:endParaRPr lang="en-US" dirty="0" smtClean="0">
              <a:latin typeface="Times New Roman" panose="02020603050405020304" pitchFamily="18" charset="0"/>
              <a:cs typeface="Times New Roman" panose="02020603050405020304" pitchFamily="18" charset="0"/>
            </a:endParaRPr>
          </a:p>
          <a:p>
            <a:pPr marL="0" lvl="0" indent="0" algn="just">
              <a:spcBef>
                <a:spcPts val="0"/>
              </a:spcBef>
              <a:buNone/>
            </a:pPr>
            <a:r>
              <a:rPr lang="en-US" b="1" dirty="0" smtClean="0">
                <a:solidFill>
                  <a:schemeClr val="dk1"/>
                </a:solidFill>
                <a:latin typeface="Times New Roman" panose="02020603050405020304" pitchFamily="18" charset="0"/>
                <a:cs typeface="Times New Roman" panose="02020603050405020304" pitchFamily="18" charset="0"/>
              </a:rPr>
              <a:t>				Food </a:t>
            </a:r>
            <a:r>
              <a:rPr lang="en-US" b="1" dirty="0">
                <a:solidFill>
                  <a:schemeClr val="dk1"/>
                </a:solidFill>
                <a:latin typeface="Times New Roman" panose="02020603050405020304" pitchFamily="18" charset="0"/>
                <a:cs typeface="Times New Roman" panose="02020603050405020304" pitchFamily="18" charset="0"/>
              </a:rPr>
              <a:t>Frequency Method</a:t>
            </a:r>
          </a:p>
          <a:p>
            <a:pPr marL="457200" lvl="0" indent="-368300" algn="just">
              <a:spcBef>
                <a:spcPts val="1600"/>
              </a:spcBef>
              <a:buClr>
                <a:schemeClr val="dk1"/>
              </a:buClr>
              <a:buSzPts val="2200"/>
              <a:buChar char="●"/>
            </a:pPr>
            <a:r>
              <a:rPr lang="en-US" dirty="0">
                <a:solidFill>
                  <a:schemeClr val="dk1"/>
                </a:solidFill>
                <a:latin typeface="Times New Roman" panose="02020603050405020304" pitchFamily="18" charset="0"/>
                <a:cs typeface="Times New Roman" panose="02020603050405020304" pitchFamily="18" charset="0"/>
              </a:rPr>
              <a:t>This method is consists of asking individuals how often daily,  monthly, weekly specific foods are eaten.</a:t>
            </a:r>
          </a:p>
          <a:p>
            <a:pPr marL="457200" lvl="0" indent="-368300" algn="just">
              <a:spcBef>
                <a:spcPts val="0"/>
              </a:spcBef>
              <a:buClr>
                <a:schemeClr val="dk1"/>
              </a:buClr>
              <a:buSzPts val="2200"/>
              <a:buChar char="●"/>
            </a:pPr>
            <a:r>
              <a:rPr lang="en-US" dirty="0">
                <a:solidFill>
                  <a:schemeClr val="dk1"/>
                </a:solidFill>
                <a:latin typeface="Times New Roman" panose="02020603050405020304" pitchFamily="18" charset="0"/>
                <a:cs typeface="Times New Roman" panose="02020603050405020304" pitchFamily="18" charset="0"/>
              </a:rPr>
              <a:t>Food Frequency questionnaire are relatively inexpensive and quick to administer in large scale surveys. </a:t>
            </a:r>
          </a:p>
          <a:p>
            <a:pPr marL="457200" lvl="0" indent="-368300" algn="just">
              <a:spcBef>
                <a:spcPts val="0"/>
              </a:spcBef>
              <a:buClr>
                <a:schemeClr val="dk1"/>
              </a:buClr>
              <a:buSzPts val="2200"/>
              <a:buChar char="●"/>
            </a:pPr>
            <a:r>
              <a:rPr lang="en-US" dirty="0">
                <a:solidFill>
                  <a:schemeClr val="dk1"/>
                </a:solidFill>
                <a:latin typeface="Times New Roman" panose="02020603050405020304" pitchFamily="18" charset="0"/>
                <a:cs typeface="Times New Roman" panose="02020603050405020304" pitchFamily="18" charset="0"/>
              </a:rPr>
              <a:t>They are also considered one of the methods of choice for research on diet - diseases relationship on both macro </a:t>
            </a:r>
            <a:r>
              <a:rPr lang="en-US" dirty="0" smtClean="0">
                <a:solidFill>
                  <a:schemeClr val="dk1"/>
                </a:solidFill>
                <a:latin typeface="Times New Roman" panose="02020603050405020304" pitchFamily="18" charset="0"/>
                <a:cs typeface="Times New Roman" panose="02020603050405020304" pitchFamily="18" charset="0"/>
              </a:rPr>
              <a:t>and </a:t>
            </a:r>
            <a:r>
              <a:rPr lang="en-US" dirty="0">
                <a:solidFill>
                  <a:schemeClr val="dk1"/>
                </a:solidFill>
                <a:latin typeface="Times New Roman" panose="02020603050405020304" pitchFamily="18" charset="0"/>
                <a:cs typeface="Times New Roman" panose="02020603050405020304" pitchFamily="18" charset="0"/>
              </a:rPr>
              <a:t>micro nutrient. </a:t>
            </a:r>
          </a:p>
          <a:p>
            <a:pPr marL="457200" lvl="0" indent="-368300" algn="just">
              <a:spcBef>
                <a:spcPts val="0"/>
              </a:spcBef>
              <a:buClr>
                <a:schemeClr val="dk1"/>
              </a:buClr>
              <a:buSzPts val="2200"/>
              <a:buChar char="●"/>
            </a:pPr>
            <a:r>
              <a:rPr lang="en-US" dirty="0">
                <a:solidFill>
                  <a:schemeClr val="dk1"/>
                </a:solidFill>
                <a:latin typeface="Times New Roman" panose="02020603050405020304" pitchFamily="18" charset="0"/>
                <a:cs typeface="Times New Roman" panose="02020603050405020304" pitchFamily="18" charset="0"/>
              </a:rPr>
              <a:t>Limitation is that food list is limited to 100 or fewer food or food groups. </a:t>
            </a:r>
          </a:p>
          <a:p>
            <a:pPr marL="0" indent="0">
              <a:buNone/>
            </a:pPr>
            <a:endParaRPr lang="en-US" dirty="0"/>
          </a:p>
        </p:txBody>
      </p:sp>
    </p:spTree>
    <p:extLst>
      <p:ext uri="{BB962C8B-B14F-4D97-AF65-F5344CB8AC3E}">
        <p14:creationId xmlns:p14="http://schemas.microsoft.com/office/powerpoint/2010/main" val="40327128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6700"/>
          </a:xfrm>
        </p:spPr>
        <p:txBody>
          <a:bodyPr/>
          <a:lstStyle/>
          <a:p>
            <a:pPr algn="ctr"/>
            <a:r>
              <a:rPr lang="en-US" dirty="0">
                <a:latin typeface="Times New Roman" panose="02020603050405020304" pitchFamily="18" charset="0"/>
                <a:cs typeface="Times New Roman" panose="02020603050405020304" pitchFamily="18" charset="0"/>
              </a:rPr>
              <a:t>DIET SURVEY</a:t>
            </a:r>
            <a:endParaRPr lang="en-US" dirty="0"/>
          </a:p>
        </p:txBody>
      </p:sp>
      <p:sp>
        <p:nvSpPr>
          <p:cNvPr id="3" name="Content Placeholder 2"/>
          <p:cNvSpPr>
            <a:spLocks noGrp="1"/>
          </p:cNvSpPr>
          <p:nvPr>
            <p:ph idx="1"/>
          </p:nvPr>
        </p:nvSpPr>
        <p:spPr>
          <a:xfrm>
            <a:off x="838200" y="1210614"/>
            <a:ext cx="10515600" cy="4966349"/>
          </a:xfrm>
        </p:spPr>
        <p:txBody>
          <a:bodyPr/>
          <a:lstStyle/>
          <a:p>
            <a:pPr marL="0" indent="0" algn="just">
              <a:buNone/>
            </a:pPr>
            <a:r>
              <a:rPr lang="en-US" dirty="0" smtClean="0">
                <a:latin typeface="Times New Roman" panose="02020603050405020304" pitchFamily="18" charset="0"/>
                <a:cs typeface="Times New Roman" panose="02020603050405020304" pitchFamily="18" charset="0"/>
              </a:rPr>
              <a:t>4. Institutional Diet Survey</a:t>
            </a:r>
          </a:p>
          <a:p>
            <a:pPr marL="457200" lvl="0" indent="-361950" algn="just">
              <a:spcBef>
                <a:spcPts val="1600"/>
              </a:spcBef>
              <a:buClr>
                <a:schemeClr val="dk1"/>
              </a:buClr>
              <a:buSzPts val="2100"/>
              <a:buChar char="●"/>
            </a:pPr>
            <a:r>
              <a:rPr lang="en-US" dirty="0">
                <a:solidFill>
                  <a:schemeClr val="dk1"/>
                </a:solidFill>
                <a:latin typeface="Times New Roman" panose="02020603050405020304" pitchFamily="18" charset="0"/>
                <a:cs typeface="Times New Roman" panose="02020603050405020304" pitchFamily="18" charset="0"/>
              </a:rPr>
              <a:t>This method is often employed in institutions like hostels, army barracks, orphanages and homes for the aged, where homogeneous groups of people take their meal from common kitchen</a:t>
            </a:r>
          </a:p>
          <a:p>
            <a:pPr marL="457200" lvl="0" indent="-361950" algn="just">
              <a:spcBef>
                <a:spcPts val="0"/>
              </a:spcBef>
              <a:buClr>
                <a:schemeClr val="dk1"/>
              </a:buClr>
              <a:buSzPts val="2100"/>
              <a:buChar char="●"/>
            </a:pPr>
            <a:r>
              <a:rPr lang="en-US" dirty="0">
                <a:solidFill>
                  <a:schemeClr val="dk1"/>
                </a:solidFill>
                <a:latin typeface="Times New Roman" panose="02020603050405020304" pitchFamily="18" charset="0"/>
                <a:cs typeface="Times New Roman" panose="02020603050405020304" pitchFamily="18" charset="0"/>
              </a:rPr>
              <a:t>In this method , the amount of food stuff issued to kitchen as per the records are taken into the consideration.</a:t>
            </a:r>
          </a:p>
          <a:p>
            <a:pPr marL="457200" lvl="0" indent="-361950" algn="just">
              <a:spcBef>
                <a:spcPts val="0"/>
              </a:spcBef>
              <a:buClr>
                <a:schemeClr val="dk1"/>
              </a:buClr>
              <a:buSzPts val="2100"/>
              <a:buChar char="●"/>
            </a:pPr>
            <a:r>
              <a:rPr lang="en-US" dirty="0">
                <a:solidFill>
                  <a:schemeClr val="dk1"/>
                </a:solidFill>
                <a:latin typeface="Times New Roman" panose="02020603050405020304" pitchFamily="18" charset="0"/>
                <a:cs typeface="Times New Roman" panose="02020603050405020304" pitchFamily="18" charset="0"/>
              </a:rPr>
              <a:t>No direct measurement is done .</a:t>
            </a:r>
          </a:p>
          <a:p>
            <a:pPr marL="457200" lvl="0" indent="-361950" algn="just">
              <a:spcBef>
                <a:spcPts val="0"/>
              </a:spcBef>
              <a:buClr>
                <a:schemeClr val="dk1"/>
              </a:buClr>
              <a:buSzPts val="2100"/>
              <a:buChar char="●"/>
            </a:pPr>
            <a:r>
              <a:rPr lang="en-US" dirty="0">
                <a:solidFill>
                  <a:schemeClr val="dk1"/>
                </a:solidFill>
                <a:latin typeface="Times New Roman" panose="02020603050405020304" pitchFamily="18" charset="0"/>
                <a:cs typeface="Times New Roman" panose="02020603050405020304" pitchFamily="18" charset="0"/>
              </a:rPr>
              <a:t>Average intake of per person per </a:t>
            </a:r>
            <a:r>
              <a:rPr lang="en-US" dirty="0" smtClean="0">
                <a:solidFill>
                  <a:schemeClr val="dk1"/>
                </a:solidFill>
                <a:latin typeface="Times New Roman" panose="02020603050405020304" pitchFamily="18" charset="0"/>
                <a:cs typeface="Times New Roman" panose="02020603050405020304" pitchFamily="18" charset="0"/>
              </a:rPr>
              <a:t>day=</a:t>
            </a:r>
          </a:p>
          <a:p>
            <a:pPr marL="95250" lvl="0" indent="0" algn="just">
              <a:spcBef>
                <a:spcPts val="0"/>
              </a:spcBef>
              <a:buClr>
                <a:schemeClr val="dk1"/>
              </a:buClr>
              <a:buSzPts val="2100"/>
              <a:buNone/>
            </a:pPr>
            <a:r>
              <a:rPr lang="en-US" dirty="0" smtClean="0">
                <a:solidFill>
                  <a:schemeClr val="dk1"/>
                </a:solidFill>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stock </a:t>
            </a:r>
            <a:r>
              <a:rPr lang="en-US" dirty="0">
                <a:latin typeface="Times New Roman" panose="02020603050405020304" pitchFamily="18" charset="0"/>
                <a:cs typeface="Times New Roman" panose="02020603050405020304" pitchFamily="18" charset="0"/>
              </a:rPr>
              <a:t>at the </a:t>
            </a:r>
            <a:r>
              <a:rPr lang="en-US" dirty="0" smtClean="0">
                <a:latin typeface="Times New Roman" panose="02020603050405020304" pitchFamily="18" charset="0"/>
                <a:cs typeface="Times New Roman" panose="02020603050405020304" pitchFamily="18" charset="0"/>
              </a:rPr>
              <a:t>beginning of </a:t>
            </a:r>
            <a:r>
              <a:rPr lang="en-US" dirty="0">
                <a:latin typeface="Times New Roman" panose="02020603050405020304" pitchFamily="18" charset="0"/>
                <a:cs typeface="Times New Roman" panose="02020603050405020304" pitchFamily="18" charset="0"/>
              </a:rPr>
              <a:t>the week-end of the </a:t>
            </a:r>
            <a:r>
              <a:rPr lang="en-US" dirty="0" smtClean="0">
                <a:latin typeface="Times New Roman" panose="02020603050405020304" pitchFamily="18" charset="0"/>
                <a:cs typeface="Times New Roman" panose="02020603050405020304" pitchFamily="18" charset="0"/>
              </a:rPr>
              <a:t>week / total no. of    	inmates X 7</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100793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DIET SURVEY</a:t>
            </a:r>
            <a:endParaRPr lang="en-US" dirty="0"/>
          </a:p>
        </p:txBody>
      </p:sp>
      <p:sp>
        <p:nvSpPr>
          <p:cNvPr id="3" name="Content Placeholder 2"/>
          <p:cNvSpPr>
            <a:spLocks noGrp="1"/>
          </p:cNvSpPr>
          <p:nvPr>
            <p:ph idx="1"/>
          </p:nvPr>
        </p:nvSpPr>
        <p:spPr>
          <a:xfrm>
            <a:off x="838200" y="1690688"/>
            <a:ext cx="10515600" cy="4486275"/>
          </a:xfrm>
        </p:spPr>
        <p:txBody>
          <a:bodyPr>
            <a:normAutofit fontScale="85000" lnSpcReduction="20000"/>
          </a:bodyPr>
          <a:lstStyle/>
          <a:p>
            <a:pPr marL="0" indent="0">
              <a:buNone/>
            </a:pPr>
            <a:r>
              <a:rPr lang="en-US" dirty="0" smtClean="0">
                <a:latin typeface="Times New Roman" panose="02020603050405020304" pitchFamily="18" charset="0"/>
                <a:cs typeface="Times New Roman" panose="02020603050405020304" pitchFamily="18" charset="0"/>
              </a:rPr>
              <a:t>5. Food Balance Sheet</a:t>
            </a:r>
          </a:p>
          <a:p>
            <a:pPr marL="457200" indent="-457200" algn="just">
              <a:lnSpc>
                <a:spcPct val="110000"/>
              </a:lnSpc>
              <a:spcBef>
                <a:spcPts val="1200"/>
              </a:spcBef>
            </a:pPr>
            <a:r>
              <a:rPr lang="en-US" dirty="0">
                <a:latin typeface="Times New Roman" panose="02020603050405020304" pitchFamily="18" charset="0"/>
                <a:cs typeface="Times New Roman" panose="02020603050405020304" pitchFamily="18" charset="0"/>
              </a:rPr>
              <a:t>Food balance sheets (FBS) from the Food and Agriculture Organization of the United Nations (FAO) are used to assess the national availability of food for consumption.</a:t>
            </a:r>
          </a:p>
          <a:p>
            <a:pPr marL="457200" indent="-457200" algn="just">
              <a:lnSpc>
                <a:spcPct val="110000"/>
              </a:lnSpc>
              <a:spcBef>
                <a:spcPts val="1200"/>
              </a:spcBef>
            </a:pPr>
            <a:r>
              <a:rPr lang="en-US" dirty="0">
                <a:latin typeface="Times New Roman" panose="02020603050405020304" pitchFamily="18" charset="0"/>
                <a:cs typeface="Times New Roman" panose="02020603050405020304" pitchFamily="18" charset="0"/>
              </a:rPr>
              <a:t>They are widely used in the food and agriculture sectors to monitor global food and dietary patterns.</a:t>
            </a:r>
          </a:p>
          <a:p>
            <a:pPr marL="457200" indent="-457200" algn="just">
              <a:lnSpc>
                <a:spcPct val="110000"/>
              </a:lnSpc>
              <a:spcBef>
                <a:spcPts val="1200"/>
              </a:spcBef>
            </a:pPr>
            <a:r>
              <a:rPr lang="en-US" dirty="0">
                <a:latin typeface="Times New Roman" panose="02020603050405020304" pitchFamily="18" charset="0"/>
                <a:cs typeface="Times New Roman" panose="02020603050405020304" pitchFamily="18" charset="0"/>
              </a:rPr>
              <a:t>FAO FBS only provide data on annual per capita consumption of energy, protein, and fat (not micronutrients).</a:t>
            </a:r>
          </a:p>
          <a:p>
            <a:pPr marL="457200" indent="-457200" algn="just">
              <a:lnSpc>
                <a:spcPct val="110000"/>
              </a:lnSpc>
              <a:spcBef>
                <a:spcPts val="1200"/>
              </a:spcBef>
            </a:pPr>
            <a:r>
              <a:rPr lang="en-US" dirty="0">
                <a:latin typeface="Times New Roman" panose="02020603050405020304" pitchFamily="18" charset="0"/>
                <a:cs typeface="Times New Roman" panose="02020603050405020304" pitchFamily="18" charset="0"/>
              </a:rPr>
              <a:t>FBS have also been used to set public health priorities, formulate policies, undertake inter-country comparisons, monitor trends over time, and estimate the likelihood of micronutrient deficiencies.</a:t>
            </a:r>
          </a:p>
          <a:p>
            <a:pPr marL="0" indent="0">
              <a:buNone/>
            </a:pPr>
            <a:endParaRPr lang="en-US" dirty="0"/>
          </a:p>
        </p:txBody>
      </p:sp>
    </p:spTree>
    <p:extLst>
      <p:ext uri="{BB962C8B-B14F-4D97-AF65-F5344CB8AC3E}">
        <p14:creationId xmlns:p14="http://schemas.microsoft.com/office/powerpoint/2010/main" val="8730778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55337"/>
          </a:xfrm>
        </p:spPr>
        <p:txBody>
          <a:bodyPr>
            <a:normAutofit/>
          </a:bodyPr>
          <a:lstStyle/>
          <a:p>
            <a:pPr algn="ctr"/>
            <a:r>
              <a:rPr lang="en-US" sz="3600" dirty="0" smtClean="0">
                <a:latin typeface="Times New Roman" panose="02020603050405020304" pitchFamily="18" charset="0"/>
                <a:cs typeface="Times New Roman" panose="02020603050405020304" pitchFamily="18" charset="0"/>
              </a:rPr>
              <a:t>INDIRECT </a:t>
            </a:r>
            <a:r>
              <a:rPr lang="en-US" sz="3600" dirty="0">
                <a:latin typeface="Times New Roman" panose="02020603050405020304" pitchFamily="18" charset="0"/>
                <a:cs typeface="Times New Roman" panose="02020603050405020304" pitchFamily="18" charset="0"/>
              </a:rPr>
              <a:t>NUTRITIONAL ASSESSMENT</a:t>
            </a:r>
            <a:endParaRPr lang="en-US" sz="3600" dirty="0"/>
          </a:p>
        </p:txBody>
      </p:sp>
      <p:sp>
        <p:nvSpPr>
          <p:cNvPr id="3" name="Content Placeholder 2"/>
          <p:cNvSpPr>
            <a:spLocks noGrp="1"/>
          </p:cNvSpPr>
          <p:nvPr>
            <p:ph idx="1"/>
          </p:nvPr>
        </p:nvSpPr>
        <p:spPr>
          <a:xfrm>
            <a:off x="838200" y="1120462"/>
            <a:ext cx="10515600" cy="5056501"/>
          </a:xfrm>
        </p:spPr>
        <p:txBody>
          <a:bodyPr>
            <a:normAutofit fontScale="92500" lnSpcReduction="10000"/>
          </a:bodyPr>
          <a:lstStyle/>
          <a:p>
            <a:pPr marL="0" indent="0" algn="just">
              <a:buNone/>
            </a:pPr>
            <a:r>
              <a:rPr lang="en-US" dirty="0" smtClean="0">
                <a:latin typeface="Times New Roman" panose="02020603050405020304" pitchFamily="18" charset="0"/>
                <a:cs typeface="Times New Roman" panose="02020603050405020304" pitchFamily="18" charset="0"/>
              </a:rPr>
              <a:t>Indirect method includes assessment of indicators of the food and nutrition situations in the area/region of interest by looking at certain data that are closely related to malnutrition or which are aggravated by malnutrition.</a:t>
            </a:r>
          </a:p>
          <a:p>
            <a:pPr marL="0" indent="0" algn="just">
              <a:buNone/>
            </a:pPr>
            <a:r>
              <a:rPr lang="en-US" dirty="0" smtClean="0">
                <a:latin typeface="Times New Roman" panose="02020603050405020304" pitchFamily="18" charset="0"/>
                <a:cs typeface="Times New Roman" panose="02020603050405020304" pitchFamily="18" charset="0"/>
              </a:rPr>
              <a:t>These include</a:t>
            </a:r>
          </a:p>
          <a:p>
            <a:pPr algn="just"/>
            <a:r>
              <a:rPr lang="en-US" dirty="0" smtClean="0">
                <a:latin typeface="Times New Roman" panose="02020603050405020304" pitchFamily="18" charset="0"/>
                <a:cs typeface="Times New Roman" panose="02020603050405020304" pitchFamily="18" charset="0"/>
              </a:rPr>
              <a:t>Cause specific mortality rates</a:t>
            </a:r>
          </a:p>
          <a:p>
            <a:pPr algn="just"/>
            <a:r>
              <a:rPr lang="en-US" dirty="0" smtClean="0">
                <a:latin typeface="Times New Roman" panose="02020603050405020304" pitchFamily="18" charset="0"/>
                <a:cs typeface="Times New Roman" panose="02020603050405020304" pitchFamily="18" charset="0"/>
              </a:rPr>
              <a:t>Age specific mortality rates</a:t>
            </a:r>
          </a:p>
          <a:p>
            <a:pPr algn="just"/>
            <a:r>
              <a:rPr lang="en-US" dirty="0" smtClean="0">
                <a:latin typeface="Times New Roman" panose="02020603050405020304" pitchFamily="18" charset="0"/>
                <a:cs typeface="Times New Roman" panose="02020603050405020304" pitchFamily="18" charset="0"/>
              </a:rPr>
              <a:t>Health service statistics</a:t>
            </a:r>
          </a:p>
          <a:p>
            <a:pPr algn="just"/>
            <a:r>
              <a:rPr lang="en-US" dirty="0" smtClean="0">
                <a:latin typeface="Times New Roman" panose="02020603050405020304" pitchFamily="18" charset="0"/>
                <a:cs typeface="Times New Roman" panose="02020603050405020304" pitchFamily="18" charset="0"/>
              </a:rPr>
              <a:t>Rate of nutritionally relevant infections</a:t>
            </a:r>
          </a:p>
          <a:p>
            <a:pPr algn="just"/>
            <a:r>
              <a:rPr lang="en-US" dirty="0" smtClean="0">
                <a:latin typeface="Times New Roman" panose="02020603050405020304" pitchFamily="18" charset="0"/>
                <a:cs typeface="Times New Roman" panose="02020603050405020304" pitchFamily="18" charset="0"/>
              </a:rPr>
              <a:t>Meteorological data</a:t>
            </a:r>
          </a:p>
          <a:p>
            <a:pPr algn="just"/>
            <a:r>
              <a:rPr lang="en-US" dirty="0" smtClean="0">
                <a:latin typeface="Times New Roman" panose="02020603050405020304" pitchFamily="18" charset="0"/>
                <a:cs typeface="Times New Roman" panose="02020603050405020304" pitchFamily="18" charset="0"/>
              </a:rPr>
              <a:t>Income level</a:t>
            </a:r>
          </a:p>
          <a:p>
            <a:pPr algn="just"/>
            <a:r>
              <a:rPr lang="en-US" dirty="0" smtClean="0">
                <a:latin typeface="Times New Roman" panose="02020603050405020304" pitchFamily="18" charset="0"/>
                <a:cs typeface="Times New Roman" panose="02020603050405020304" pitchFamily="18" charset="0"/>
              </a:rPr>
              <a:t>Market price of foods</a:t>
            </a:r>
          </a:p>
          <a:p>
            <a:pPr algn="just"/>
            <a:r>
              <a:rPr lang="en-US" dirty="0" smtClean="0">
                <a:latin typeface="Times New Roman" panose="02020603050405020304" pitchFamily="18" charset="0"/>
                <a:cs typeface="Times New Roman" panose="02020603050405020304" pitchFamily="18" charset="0"/>
              </a:rPr>
              <a:t>Predominance of cash crops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65165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1156</TotalTime>
  <Words>2032</Words>
  <Application>Microsoft Office PowerPoint</Application>
  <PresentationFormat>Widescreen</PresentationFormat>
  <Paragraphs>232</Paragraphs>
  <Slides>28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Times New Roman</vt:lpstr>
      <vt:lpstr>Office Theme</vt:lpstr>
      <vt:lpstr>ASSESSMENT OF NUTRITIONAL KNOWLEDGE</vt:lpstr>
      <vt:lpstr>NATIONAL AND INTERNATIONAL FOOD REGULATORY AGENCIES</vt:lpstr>
      <vt:lpstr>NATIONAL FOOD REGULATORY AGENCY</vt:lpstr>
      <vt:lpstr>INTERNATIONAL FOOD REGULATORY AGENCIES</vt:lpstr>
      <vt:lpstr>INTERNATIONAL FOOD REGULATORY AGENCIES</vt:lpstr>
      <vt:lpstr>INTERNATIONAL FOOD REGULATORY AGENCIES</vt:lpstr>
      <vt:lpstr>INTERNATIONAL FOOD REGULATORY AGENCIES</vt:lpstr>
      <vt:lpstr>INTERNATIONAL FOOD REGULATORY AGENCIES</vt:lpstr>
      <vt:lpstr>NUTRITIONAL ASSESSMENT</vt:lpstr>
      <vt:lpstr>DIRECT NUTRITIONAL ASSESSMENT</vt:lpstr>
      <vt:lpstr>DIRECT NUTRITIONAL ASSESSMENT</vt:lpstr>
      <vt:lpstr>DIRECT NUTRITIONAL ASSESSMENT</vt:lpstr>
      <vt:lpstr>DIRECT NUTRITIONAL ASSESSMENT</vt:lpstr>
      <vt:lpstr>ANTHROPOMETRIC MEASUREMENTS</vt:lpstr>
      <vt:lpstr>ANTHROPOMETRIC MEASUREMENTS</vt:lpstr>
      <vt:lpstr>ANTHROPOMETRIC MEASUREMENTS</vt:lpstr>
      <vt:lpstr>ANTHROPOMETRIC MEASUREMENTS</vt:lpstr>
      <vt:lpstr>ANTHROPOMETRIC MEASUREMENTS</vt:lpstr>
      <vt:lpstr>ANTHROPOMETRIC MEASUREMENTS</vt:lpstr>
      <vt:lpstr>DIET SURVEY</vt:lpstr>
      <vt:lpstr>DIET SURVEY</vt:lpstr>
      <vt:lpstr>DIET SURVEY</vt:lpstr>
      <vt:lpstr>DIET SURVEY</vt:lpstr>
      <vt:lpstr>DIET SURVEY</vt:lpstr>
      <vt:lpstr>DIET SURVEY</vt:lpstr>
      <vt:lpstr>DIET SURVEY</vt:lpstr>
      <vt:lpstr>DIET SURVEY</vt:lpstr>
      <vt:lpstr>INDIRECT NUTRITIONAL ASSESSMENT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ASSESSMENT OF NUTRITIONAL KNOWLEDGE</dc:title>
  <dc:creator>IN6</dc:creator>
  <cp:lastModifiedBy>IN6</cp:lastModifiedBy>
  <cp:revision>45</cp:revision>
  <dcterms:created xsi:type="dcterms:W3CDTF">2026-02-26T14:35:41Z</dcterms:created>
  <dcterms:modified xsi:type="dcterms:W3CDTF">2026-03-02T16:57:06Z</dcterms:modified>
</cp:coreProperties>
</file>
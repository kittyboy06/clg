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E73A5D9-0FF7-4DB3-B31C-13A381F0CB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2980257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73A5D9-0FF7-4DB3-B31C-13A381F0CB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33390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73A5D9-0FF7-4DB3-B31C-13A381F0CB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3047898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E73A5D9-0FF7-4DB3-B31C-13A381F0CB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3866877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E73A5D9-0FF7-4DB3-B31C-13A381F0CBC4}"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3569147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73A5D9-0FF7-4DB3-B31C-13A381F0CBC4}"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35574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73A5D9-0FF7-4DB3-B31C-13A381F0CBC4}"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155959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73A5D9-0FF7-4DB3-B31C-13A381F0CB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1087808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73A5D9-0FF7-4DB3-B31C-13A381F0CB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1124608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73A5D9-0FF7-4DB3-B31C-13A381F0CB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171793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73A5D9-0FF7-4DB3-B31C-13A381F0CB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ADF1F-CAB9-46AC-8221-79AE540DA9C7}" type="slidenum">
              <a:rPr lang="en-US" smtClean="0"/>
              <a:t>‹#›</a:t>
            </a:fld>
            <a:endParaRPr lang="en-US"/>
          </a:p>
        </p:txBody>
      </p:sp>
    </p:spTree>
    <p:extLst>
      <p:ext uri="{BB962C8B-B14F-4D97-AF65-F5344CB8AC3E}">
        <p14:creationId xmlns:p14="http://schemas.microsoft.com/office/powerpoint/2010/main" val="1050160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3A5D9-0FF7-4DB3-B31C-13A381F0CBC4}" type="datetimeFigureOut">
              <a:rPr lang="en-US" smtClean="0"/>
              <a:t>3/5/2026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EADF1F-CAB9-46AC-8221-79AE540DA9C7}" type="slidenum">
              <a:rPr lang="en-US" smtClean="0"/>
              <a:t>‹#›</a:t>
            </a:fld>
            <a:endParaRPr lang="en-US"/>
          </a:p>
        </p:txBody>
      </p:sp>
    </p:spTree>
    <p:extLst>
      <p:ext uri="{BB962C8B-B14F-4D97-AF65-F5344CB8AC3E}">
        <p14:creationId xmlns:p14="http://schemas.microsoft.com/office/powerpoint/2010/main" val="169869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43945"/>
            <a:ext cx="9144000" cy="682580"/>
          </a:xfrm>
        </p:spPr>
        <p:txBody>
          <a:bodyPr>
            <a:normAutofit fontScale="90000"/>
          </a:bodyPr>
          <a:lstStyle/>
          <a:p>
            <a:r>
              <a:rPr lang="en-US" dirty="0" smtClean="0"/>
              <a:t>PROBIOTICS</a:t>
            </a:r>
            <a:endParaRPr lang="en-US" dirty="0"/>
          </a:p>
        </p:txBody>
      </p:sp>
      <p:sp>
        <p:nvSpPr>
          <p:cNvPr id="3" name="Subtitle 2"/>
          <p:cNvSpPr>
            <a:spLocks noGrp="1"/>
          </p:cNvSpPr>
          <p:nvPr>
            <p:ph type="subTitle" idx="1"/>
          </p:nvPr>
        </p:nvSpPr>
        <p:spPr>
          <a:xfrm>
            <a:off x="1524000" y="1545466"/>
            <a:ext cx="9144000" cy="4636394"/>
          </a:xfrm>
        </p:spPr>
        <p:txBody>
          <a:bodyPr>
            <a:normAutofit/>
          </a:bodyPr>
          <a:lstStyle/>
          <a:p>
            <a:pPr algn="l"/>
            <a:r>
              <a:rPr lang="en-US" b="1" dirty="0" smtClean="0"/>
              <a:t>PROBIOTICS</a:t>
            </a:r>
            <a:r>
              <a:rPr lang="en-US" dirty="0" smtClean="0"/>
              <a:t/>
            </a:r>
            <a:br>
              <a:rPr lang="en-US" dirty="0" smtClean="0"/>
            </a:br>
            <a:r>
              <a:rPr lang="en-US" dirty="0" smtClean="0"/>
              <a:t>“Good bacteria for better health”</a:t>
            </a:r>
          </a:p>
          <a:p>
            <a:pPr algn="l"/>
            <a:r>
              <a:rPr lang="en-US" dirty="0" smtClean="0"/>
              <a:t>Probiotics are live microorganisms which, when administered in adequate amounts, confer a health benefit on the host.</a:t>
            </a:r>
          </a:p>
          <a:p>
            <a:pPr algn="l"/>
            <a:r>
              <a:rPr lang="en-US" b="1" dirty="0" smtClean="0"/>
              <a:t>Probiotics</a:t>
            </a:r>
            <a:r>
              <a:rPr lang="en-US" b="1" dirty="0"/>
              <a:t> </a:t>
            </a:r>
            <a:r>
              <a:rPr lang="en-US" b="1" dirty="0" smtClean="0"/>
              <a:t>are</a:t>
            </a:r>
          </a:p>
          <a:p>
            <a:pPr algn="l"/>
            <a:r>
              <a:rPr lang="en-US" dirty="0" smtClean="0"/>
              <a:t>Live beneficial microorganisms</a:t>
            </a:r>
          </a:p>
          <a:p>
            <a:pPr algn="l"/>
            <a:r>
              <a:rPr lang="en-US" dirty="0" smtClean="0"/>
              <a:t>Mainly bacteria and some yeasts</a:t>
            </a:r>
          </a:p>
          <a:p>
            <a:pPr algn="l"/>
            <a:r>
              <a:rPr lang="en-US" dirty="0" smtClean="0"/>
              <a:t>Naturally present in the gut</a:t>
            </a:r>
          </a:p>
          <a:p>
            <a:pPr algn="l"/>
            <a:r>
              <a:rPr lang="en-US" dirty="0" smtClean="0"/>
              <a:t>Help maintain healthy intestinal flora</a:t>
            </a:r>
          </a:p>
          <a:p>
            <a:pPr algn="l"/>
            <a:endParaRPr lang="en-US" dirty="0"/>
          </a:p>
        </p:txBody>
      </p:sp>
    </p:spTree>
    <p:extLst>
      <p:ext uri="{BB962C8B-B14F-4D97-AF65-F5344CB8AC3E}">
        <p14:creationId xmlns:p14="http://schemas.microsoft.com/office/powerpoint/2010/main" val="1766863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9883"/>
          </a:xfrm>
        </p:spPr>
        <p:txBody>
          <a:bodyPr/>
          <a:lstStyle/>
          <a:p>
            <a:pPr algn="ctr"/>
            <a:r>
              <a:rPr lang="en-US" dirty="0" smtClean="0"/>
              <a:t>PROBIOTICS</a:t>
            </a:r>
            <a:endParaRPr lang="en-US" dirty="0"/>
          </a:p>
        </p:txBody>
      </p:sp>
      <p:sp>
        <p:nvSpPr>
          <p:cNvPr id="3" name="Content Placeholder 2"/>
          <p:cNvSpPr>
            <a:spLocks noGrp="1"/>
          </p:cNvSpPr>
          <p:nvPr>
            <p:ph idx="1"/>
          </p:nvPr>
        </p:nvSpPr>
        <p:spPr>
          <a:xfrm>
            <a:off x="838200" y="1275008"/>
            <a:ext cx="10515600" cy="4901955"/>
          </a:xfrm>
        </p:spPr>
        <p:txBody>
          <a:bodyPr>
            <a:normAutofit fontScale="92500" lnSpcReduction="10000"/>
          </a:bodyPr>
          <a:lstStyle/>
          <a:p>
            <a:pPr marL="0" indent="0">
              <a:buNone/>
            </a:pPr>
            <a:r>
              <a:rPr lang="en-US" b="1" dirty="0" smtClean="0"/>
              <a:t>Common Probiotic Microorganisms</a:t>
            </a:r>
          </a:p>
          <a:p>
            <a:r>
              <a:rPr lang="en-US" i="1" dirty="0" smtClean="0"/>
              <a:t>Lactobacillus</a:t>
            </a:r>
            <a:r>
              <a:rPr lang="en-US" dirty="0" smtClean="0"/>
              <a:t> species</a:t>
            </a:r>
          </a:p>
          <a:p>
            <a:r>
              <a:rPr lang="en-US" i="1" dirty="0" smtClean="0"/>
              <a:t>Bifidobacterium</a:t>
            </a:r>
            <a:r>
              <a:rPr lang="en-US" dirty="0" smtClean="0"/>
              <a:t> species</a:t>
            </a:r>
          </a:p>
          <a:p>
            <a:r>
              <a:rPr lang="en-US" i="1" dirty="0" smtClean="0"/>
              <a:t>Saccharomyces </a:t>
            </a:r>
            <a:r>
              <a:rPr lang="en-US" i="1" dirty="0" err="1" smtClean="0"/>
              <a:t>boulardii</a:t>
            </a:r>
            <a:r>
              <a:rPr lang="en-US" dirty="0" smtClean="0"/>
              <a:t> (yeast)</a:t>
            </a:r>
          </a:p>
          <a:p>
            <a:r>
              <a:rPr lang="en-US" i="1" dirty="0" smtClean="0"/>
              <a:t>Streptococcus </a:t>
            </a:r>
            <a:r>
              <a:rPr lang="en-US" i="1" dirty="0" err="1" smtClean="0"/>
              <a:t>thermophilus</a:t>
            </a:r>
            <a:endParaRPr lang="en-US" dirty="0" smtClean="0"/>
          </a:p>
          <a:p>
            <a:pPr marL="0" indent="0">
              <a:buNone/>
            </a:pPr>
            <a:r>
              <a:rPr lang="en-US" b="1" dirty="0" smtClean="0"/>
              <a:t>Sources of Probiotics</a:t>
            </a:r>
          </a:p>
          <a:p>
            <a:r>
              <a:rPr lang="en-US" dirty="0" smtClean="0"/>
              <a:t>Curd (yogurt)</a:t>
            </a:r>
          </a:p>
          <a:p>
            <a:r>
              <a:rPr lang="en-US" dirty="0" smtClean="0"/>
              <a:t>Buttermilk</a:t>
            </a:r>
          </a:p>
          <a:p>
            <a:r>
              <a:rPr lang="en-US" dirty="0" smtClean="0"/>
              <a:t>Kefir (fermented milk drink)</a:t>
            </a:r>
          </a:p>
          <a:p>
            <a:r>
              <a:rPr lang="en-US" dirty="0" smtClean="0"/>
              <a:t>Fermented foods (</a:t>
            </a:r>
            <a:r>
              <a:rPr lang="en-US" dirty="0" err="1" smtClean="0"/>
              <a:t>idli</a:t>
            </a:r>
            <a:r>
              <a:rPr lang="en-US" dirty="0" smtClean="0"/>
              <a:t>, </a:t>
            </a:r>
            <a:r>
              <a:rPr lang="en-US" dirty="0" err="1" smtClean="0"/>
              <a:t>dosa</a:t>
            </a:r>
            <a:r>
              <a:rPr lang="en-US" dirty="0" smtClean="0"/>
              <a:t> batter)</a:t>
            </a:r>
          </a:p>
          <a:p>
            <a:r>
              <a:rPr lang="en-US" dirty="0" smtClean="0"/>
              <a:t>Probiotic supplements</a:t>
            </a:r>
          </a:p>
          <a:p>
            <a:endParaRPr lang="en-US" dirty="0"/>
          </a:p>
        </p:txBody>
      </p:sp>
    </p:spTree>
    <p:extLst>
      <p:ext uri="{BB962C8B-B14F-4D97-AF65-F5344CB8AC3E}">
        <p14:creationId xmlns:p14="http://schemas.microsoft.com/office/powerpoint/2010/main" val="33356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BENEFITS OF PROBIOTICS</a:t>
            </a:r>
            <a:endParaRPr lang="en-US" dirty="0"/>
          </a:p>
        </p:txBody>
      </p:sp>
      <p:pic>
        <p:nvPicPr>
          <p:cNvPr id="4" name="Content Placeholder 3"/>
          <p:cNvPicPr>
            <a:picLocks noGrp="1" noChangeAspect="1"/>
          </p:cNvPicPr>
          <p:nvPr>
            <p:ph idx="1"/>
          </p:nvPr>
        </p:nvPicPr>
        <p:blipFill>
          <a:blip r:embed="rId2"/>
          <a:stretch>
            <a:fillRect/>
          </a:stretch>
        </p:blipFill>
        <p:spPr>
          <a:xfrm>
            <a:off x="1923780" y="1518288"/>
            <a:ext cx="8044467" cy="4834945"/>
          </a:xfrm>
          <a:prstGeom prst="rect">
            <a:avLst/>
          </a:prstGeom>
        </p:spPr>
      </p:pic>
    </p:spTree>
    <p:extLst>
      <p:ext uri="{BB962C8B-B14F-4D97-AF65-F5344CB8AC3E}">
        <p14:creationId xmlns:p14="http://schemas.microsoft.com/office/powerpoint/2010/main" val="13977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095"/>
          </a:xfrm>
        </p:spPr>
        <p:txBody>
          <a:bodyPr/>
          <a:lstStyle/>
          <a:p>
            <a:pPr algn="ctr"/>
            <a:r>
              <a:rPr lang="en-US" dirty="0" smtClean="0"/>
              <a:t>BENEFITS OF PROBIOTICS</a:t>
            </a:r>
            <a:endParaRPr lang="en-US" dirty="0"/>
          </a:p>
        </p:txBody>
      </p:sp>
      <p:pic>
        <p:nvPicPr>
          <p:cNvPr id="4" name="Content Placeholder 3"/>
          <p:cNvPicPr>
            <a:picLocks noGrp="1" noChangeAspect="1"/>
          </p:cNvPicPr>
          <p:nvPr>
            <p:ph idx="1"/>
          </p:nvPr>
        </p:nvPicPr>
        <p:blipFill>
          <a:blip r:embed="rId2"/>
          <a:stretch>
            <a:fillRect/>
          </a:stretch>
        </p:blipFill>
        <p:spPr>
          <a:xfrm>
            <a:off x="2358310" y="1146220"/>
            <a:ext cx="7197814" cy="5045890"/>
          </a:xfrm>
          <a:prstGeom prst="rect">
            <a:avLst/>
          </a:prstGeom>
        </p:spPr>
      </p:pic>
    </p:spTree>
    <p:extLst>
      <p:ext uri="{BB962C8B-B14F-4D97-AF65-F5344CB8AC3E}">
        <p14:creationId xmlns:p14="http://schemas.microsoft.com/office/powerpoint/2010/main" val="3902833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610"/>
          </a:xfrm>
        </p:spPr>
        <p:txBody>
          <a:bodyPr/>
          <a:lstStyle/>
          <a:p>
            <a:pPr algn="ctr"/>
            <a:r>
              <a:rPr lang="en-US" dirty="0" smtClean="0"/>
              <a:t>SIDE EFFECTS OF PROBIOTICS</a:t>
            </a:r>
            <a:endParaRPr lang="en-US" dirty="0"/>
          </a:p>
        </p:txBody>
      </p:sp>
      <p:sp>
        <p:nvSpPr>
          <p:cNvPr id="3" name="Content Placeholder 2"/>
          <p:cNvSpPr>
            <a:spLocks noGrp="1"/>
          </p:cNvSpPr>
          <p:nvPr>
            <p:ph idx="1"/>
          </p:nvPr>
        </p:nvSpPr>
        <p:spPr>
          <a:xfrm>
            <a:off x="838200" y="1197736"/>
            <a:ext cx="10515600" cy="4979227"/>
          </a:xfrm>
        </p:spPr>
        <p:txBody>
          <a:bodyPr/>
          <a:lstStyle/>
          <a:p>
            <a:r>
              <a:rPr lang="en-US" dirty="0" smtClean="0"/>
              <a:t>Mild gas and bloating</a:t>
            </a:r>
          </a:p>
          <a:p>
            <a:r>
              <a:rPr lang="en-US" dirty="0" smtClean="0"/>
              <a:t>Diarrhea</a:t>
            </a:r>
          </a:p>
          <a:p>
            <a:r>
              <a:rPr lang="en-US" dirty="0" smtClean="0"/>
              <a:t>Headaches</a:t>
            </a:r>
          </a:p>
          <a:p>
            <a:r>
              <a:rPr lang="en-US" dirty="0" smtClean="0"/>
              <a:t>Allergic Reactions</a:t>
            </a:r>
          </a:p>
          <a:p>
            <a:r>
              <a:rPr lang="en-US" dirty="0" smtClean="0"/>
              <a:t>Abdominal Pain</a:t>
            </a:r>
          </a:p>
          <a:p>
            <a:r>
              <a:rPr lang="en-US" dirty="0" smtClean="0"/>
              <a:t>Nausea</a:t>
            </a:r>
            <a:endParaRPr lang="en-US" dirty="0"/>
          </a:p>
        </p:txBody>
      </p:sp>
    </p:spTree>
    <p:extLst>
      <p:ext uri="{BB962C8B-B14F-4D97-AF65-F5344CB8AC3E}">
        <p14:creationId xmlns:p14="http://schemas.microsoft.com/office/powerpoint/2010/main" val="2365613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PREBIOTICS</a:t>
            </a:r>
            <a:endParaRPr lang="en-US" dirty="0"/>
          </a:p>
        </p:txBody>
      </p:sp>
      <p:sp>
        <p:nvSpPr>
          <p:cNvPr id="3" name="Content Placeholder 2"/>
          <p:cNvSpPr>
            <a:spLocks noGrp="1"/>
          </p:cNvSpPr>
          <p:nvPr>
            <p:ph idx="1"/>
          </p:nvPr>
        </p:nvSpPr>
        <p:spPr>
          <a:xfrm>
            <a:off x="838200" y="1378039"/>
            <a:ext cx="10515600" cy="4798924"/>
          </a:xfrm>
        </p:spPr>
        <p:txBody>
          <a:bodyPr>
            <a:normAutofit fontScale="92500"/>
          </a:bodyPr>
          <a:lstStyle/>
          <a:p>
            <a:pPr marL="0" indent="0" algn="just">
              <a:buNone/>
            </a:pPr>
            <a:r>
              <a:rPr lang="en-US" dirty="0" smtClean="0"/>
              <a:t>Prebiotics are substance that induce the growth of microorganisms that contribute to the well-being of their host.</a:t>
            </a:r>
          </a:p>
          <a:p>
            <a:pPr algn="just"/>
            <a:r>
              <a:rPr lang="en-US" dirty="0"/>
              <a:t>A person’s gut microbiome consists of trillions of living organisms called gut microbiota. The organisms are necessary for various important bodily functions</a:t>
            </a:r>
            <a:r>
              <a:rPr lang="en-US" dirty="0" smtClean="0"/>
              <a:t>,</a:t>
            </a:r>
            <a:r>
              <a:rPr lang="en-US" dirty="0"/>
              <a:t> immune system support and nutrient metabolism</a:t>
            </a:r>
            <a:r>
              <a:rPr lang="en-US" dirty="0" smtClean="0"/>
              <a:t>.</a:t>
            </a:r>
          </a:p>
          <a:p>
            <a:pPr algn="just"/>
            <a:r>
              <a:rPr lang="en-US" u="sng" dirty="0"/>
              <a:t>Prebiotics</a:t>
            </a:r>
            <a:r>
              <a:rPr lang="en-US" dirty="0"/>
              <a:t> help to promote and sustain a healthy gut microbiome. They are non-digestible nutrients that the bacteria in the gut, including probiotics, can break down and use</a:t>
            </a:r>
            <a:r>
              <a:rPr lang="en-US" dirty="0" smtClean="0"/>
              <a:t>.</a:t>
            </a:r>
          </a:p>
          <a:p>
            <a:pPr algn="just"/>
            <a:r>
              <a:rPr lang="en-US" dirty="0" smtClean="0"/>
              <a:t> </a:t>
            </a:r>
            <a:r>
              <a:rPr lang="en-US" dirty="0"/>
              <a:t>The microbiota ferment these nutrients, which release short-chain fatty acids (SCFAs) as a by-product. SCFAs are involved in </a:t>
            </a:r>
            <a:r>
              <a:rPr lang="en-US" u="sng" dirty="0"/>
              <a:t>various</a:t>
            </a:r>
            <a:r>
              <a:rPr lang="en-US" dirty="0"/>
              <a:t> bodily functions, including inflammation and immune system regulation.</a:t>
            </a:r>
            <a:endParaRPr lang="en-US" dirty="0" smtClean="0"/>
          </a:p>
          <a:p>
            <a:pPr marL="0" indent="0">
              <a:buNone/>
            </a:pPr>
            <a:endParaRPr lang="en-US" dirty="0"/>
          </a:p>
        </p:txBody>
      </p:sp>
    </p:spTree>
    <p:extLst>
      <p:ext uri="{BB962C8B-B14F-4D97-AF65-F5344CB8AC3E}">
        <p14:creationId xmlns:p14="http://schemas.microsoft.com/office/powerpoint/2010/main" val="1914164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095"/>
          </a:xfrm>
        </p:spPr>
        <p:txBody>
          <a:bodyPr/>
          <a:lstStyle/>
          <a:p>
            <a:pPr algn="ctr"/>
            <a:r>
              <a:rPr lang="en-US" dirty="0" smtClean="0"/>
              <a:t>BENEFITS OF PREBIOTICS</a:t>
            </a:r>
            <a:endParaRPr lang="en-US" dirty="0"/>
          </a:p>
        </p:txBody>
      </p:sp>
      <p:sp>
        <p:nvSpPr>
          <p:cNvPr id="3" name="Content Placeholder 2"/>
          <p:cNvSpPr>
            <a:spLocks noGrp="1"/>
          </p:cNvSpPr>
          <p:nvPr>
            <p:ph idx="1"/>
          </p:nvPr>
        </p:nvSpPr>
        <p:spPr>
          <a:xfrm>
            <a:off x="838200" y="1313645"/>
            <a:ext cx="10515600" cy="4863318"/>
          </a:xfrm>
        </p:spPr>
        <p:txBody>
          <a:bodyPr>
            <a:normAutofit fontScale="92500" lnSpcReduction="10000"/>
          </a:bodyPr>
          <a:lstStyle/>
          <a:p>
            <a:pPr marL="0" indent="0">
              <a:buNone/>
            </a:pPr>
            <a:r>
              <a:rPr lang="en-US" dirty="0"/>
              <a:t>The benefits of prebiotics are wide-ranging</a:t>
            </a:r>
            <a:r>
              <a:rPr lang="en-US" dirty="0" smtClean="0"/>
              <a:t>.</a:t>
            </a:r>
          </a:p>
          <a:p>
            <a:pPr algn="just"/>
            <a:r>
              <a:rPr lang="en-US" dirty="0"/>
              <a:t>Help regulate bowel movements.</a:t>
            </a:r>
          </a:p>
          <a:p>
            <a:pPr algn="just"/>
            <a:r>
              <a:rPr lang="en-US" dirty="0"/>
              <a:t>Produce neurotransmitters that go back and forth between your gut and your brain to trigger mood changes and other processes.</a:t>
            </a:r>
          </a:p>
          <a:p>
            <a:pPr algn="just"/>
            <a:r>
              <a:rPr lang="en-US" dirty="0"/>
              <a:t>Stimulate your body to make hormones that aid in appetite, appetite suppression and more.</a:t>
            </a:r>
          </a:p>
          <a:p>
            <a:pPr algn="just"/>
            <a:r>
              <a:rPr lang="en-US" dirty="0"/>
              <a:t>Help your bones mineralize and absorb calcium and phosphorus, which can improve bone density.</a:t>
            </a:r>
          </a:p>
          <a:p>
            <a:pPr algn="just"/>
            <a:r>
              <a:rPr lang="en-US" dirty="0"/>
              <a:t>Improve how well your immune system functions.</a:t>
            </a:r>
          </a:p>
          <a:p>
            <a:pPr algn="just"/>
            <a:r>
              <a:rPr lang="en-US" dirty="0"/>
              <a:t>Enhance your body’s anti-inflammatory response.</a:t>
            </a:r>
          </a:p>
          <a:p>
            <a:pPr algn="just"/>
            <a:r>
              <a:rPr lang="en-US" dirty="0"/>
              <a:t>Increase production of good bacteria and decrease bad bacteria that causes disease.</a:t>
            </a:r>
          </a:p>
          <a:p>
            <a:pPr marL="0" indent="0">
              <a:buNone/>
            </a:pPr>
            <a:endParaRPr lang="en-US" dirty="0" smtClean="0"/>
          </a:p>
          <a:p>
            <a:endParaRPr lang="en-US" dirty="0"/>
          </a:p>
        </p:txBody>
      </p:sp>
    </p:spTree>
    <p:extLst>
      <p:ext uri="{BB962C8B-B14F-4D97-AF65-F5344CB8AC3E}">
        <p14:creationId xmlns:p14="http://schemas.microsoft.com/office/powerpoint/2010/main" val="79642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3821"/>
          </a:xfrm>
        </p:spPr>
        <p:txBody>
          <a:bodyPr>
            <a:normAutofit/>
          </a:bodyPr>
          <a:lstStyle/>
          <a:p>
            <a:pPr algn="ctr"/>
            <a:r>
              <a:rPr lang="en-US" sz="3600" dirty="0" smtClean="0"/>
              <a:t>SOURCES OF PREBIOTICS</a:t>
            </a:r>
            <a:endParaRPr lang="en-US" sz="3600" dirty="0"/>
          </a:p>
        </p:txBody>
      </p:sp>
      <p:sp>
        <p:nvSpPr>
          <p:cNvPr id="3" name="Content Placeholder 2"/>
          <p:cNvSpPr>
            <a:spLocks noGrp="1"/>
          </p:cNvSpPr>
          <p:nvPr>
            <p:ph idx="1"/>
          </p:nvPr>
        </p:nvSpPr>
        <p:spPr>
          <a:xfrm>
            <a:off x="838200" y="1068946"/>
            <a:ext cx="10515600" cy="5108017"/>
          </a:xfrm>
        </p:spPr>
        <p:txBody>
          <a:bodyPr>
            <a:normAutofit fontScale="55000" lnSpcReduction="20000"/>
          </a:bodyPr>
          <a:lstStyle/>
          <a:p>
            <a:r>
              <a:rPr lang="en-US" sz="3200" b="1" dirty="0">
                <a:latin typeface="Times New Roman" panose="02020603050405020304" pitchFamily="18" charset="0"/>
                <a:cs typeface="Times New Roman" panose="02020603050405020304" pitchFamily="18" charset="0"/>
              </a:rPr>
              <a:t>Bananas</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Bananas, especially when slightly unripe, are an excellent source of </a:t>
            </a:r>
            <a:r>
              <a:rPr lang="en-US" sz="3200" b="1" dirty="0">
                <a:latin typeface="Times New Roman" panose="02020603050405020304" pitchFamily="18" charset="0"/>
                <a:cs typeface="Times New Roman" panose="02020603050405020304" pitchFamily="18" charset="0"/>
              </a:rPr>
              <a:t>resistant starch.</a:t>
            </a:r>
            <a:r>
              <a:rPr lang="en-US" sz="3200" dirty="0">
                <a:latin typeface="Times New Roman" panose="02020603050405020304" pitchFamily="18" charset="0"/>
                <a:cs typeface="Times New Roman" panose="02020603050405020304" pitchFamily="18" charset="0"/>
              </a:rPr>
              <a:t> Resistant starch is a prebiotic fiber. This starch helps in the growth of beneficial gut bacteria and aids in digestion.</a:t>
            </a:r>
          </a:p>
          <a:p>
            <a:r>
              <a:rPr lang="en-US" sz="3200" b="1" dirty="0">
                <a:latin typeface="Times New Roman" panose="02020603050405020304" pitchFamily="18" charset="0"/>
                <a:cs typeface="Times New Roman" panose="02020603050405020304" pitchFamily="18" charset="0"/>
              </a:rPr>
              <a:t>Garlic</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Garlic contains </a:t>
            </a:r>
            <a:r>
              <a:rPr lang="en-US" sz="3200" b="1" dirty="0">
                <a:latin typeface="Times New Roman" panose="02020603050405020304" pitchFamily="18" charset="0"/>
                <a:cs typeface="Times New Roman" panose="02020603050405020304" pitchFamily="18" charset="0"/>
              </a:rPr>
              <a:t>inulin</a:t>
            </a:r>
            <a:r>
              <a:rPr lang="en-US" sz="3200" dirty="0">
                <a:latin typeface="Times New Roman" panose="02020603050405020304" pitchFamily="18" charset="0"/>
                <a:cs typeface="Times New Roman" panose="02020603050405020304" pitchFamily="18" charset="0"/>
              </a:rPr>
              <a:t>, a fiber that acts as a prebiotic. Inulin is known for promoting gut health by enhancing the growth of friendly bacteria.</a:t>
            </a:r>
          </a:p>
          <a:p>
            <a:r>
              <a:rPr lang="en-US" sz="3200" b="1" dirty="0">
                <a:latin typeface="Times New Roman" panose="02020603050405020304" pitchFamily="18" charset="0"/>
                <a:cs typeface="Times New Roman" panose="02020603050405020304" pitchFamily="18" charset="0"/>
              </a:rPr>
              <a:t>Onions</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Onions are rich in </a:t>
            </a:r>
            <a:r>
              <a:rPr lang="en-US" sz="3200" b="1" dirty="0">
                <a:latin typeface="Times New Roman" panose="02020603050405020304" pitchFamily="18" charset="0"/>
                <a:cs typeface="Times New Roman" panose="02020603050405020304" pitchFamily="18" charset="0"/>
              </a:rPr>
              <a:t>inulin</a:t>
            </a:r>
            <a:r>
              <a:rPr lang="en-US" sz="3200" dirty="0">
                <a:latin typeface="Times New Roman" panose="02020603050405020304" pitchFamily="18" charset="0"/>
                <a:cs typeface="Times New Roman" panose="02020603050405020304" pitchFamily="18" charset="0"/>
              </a:rPr>
              <a:t> and </a:t>
            </a:r>
            <a:r>
              <a:rPr lang="en-US" sz="3200" b="1" dirty="0" err="1">
                <a:latin typeface="Times New Roman" panose="02020603050405020304" pitchFamily="18" charset="0"/>
                <a:cs typeface="Times New Roman" panose="02020603050405020304" pitchFamily="18" charset="0"/>
              </a:rPr>
              <a:t>fructooligosaccharides</a:t>
            </a:r>
            <a:r>
              <a:rPr lang="en-US" sz="3200" b="1" dirty="0">
                <a:latin typeface="Times New Roman" panose="02020603050405020304" pitchFamily="18" charset="0"/>
                <a:cs typeface="Times New Roman" panose="02020603050405020304" pitchFamily="18" charset="0"/>
              </a:rPr>
              <a:t> (FOS)</a:t>
            </a:r>
            <a:r>
              <a:rPr lang="en-US" sz="3200" dirty="0">
                <a:latin typeface="Times New Roman" panose="02020603050405020304" pitchFamily="18" charset="0"/>
                <a:cs typeface="Times New Roman" panose="02020603050405020304" pitchFamily="18" charset="0"/>
              </a:rPr>
              <a:t>, These are known to promote the growth of healthy gut bacteria.</a:t>
            </a:r>
          </a:p>
          <a:p>
            <a:r>
              <a:rPr lang="en-US" sz="3200" b="1" dirty="0">
                <a:latin typeface="Times New Roman" panose="02020603050405020304" pitchFamily="18" charset="0"/>
                <a:cs typeface="Times New Roman" panose="02020603050405020304" pitchFamily="18" charset="0"/>
              </a:rPr>
              <a:t>Chickpeas (Chana)</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Chickpeas are rich in </a:t>
            </a:r>
            <a:r>
              <a:rPr lang="en-US" sz="3200" b="1" dirty="0">
                <a:latin typeface="Times New Roman" panose="02020603050405020304" pitchFamily="18" charset="0"/>
                <a:cs typeface="Times New Roman" panose="02020603050405020304" pitchFamily="18" charset="0"/>
              </a:rPr>
              <a:t>resistant starch</a:t>
            </a:r>
            <a:r>
              <a:rPr lang="en-US" sz="3200" dirty="0">
                <a:latin typeface="Times New Roman" panose="02020603050405020304" pitchFamily="18" charset="0"/>
                <a:cs typeface="Times New Roman" panose="02020603050405020304" pitchFamily="18" charset="0"/>
              </a:rPr>
              <a:t> and </a:t>
            </a:r>
            <a:r>
              <a:rPr lang="en-US" sz="3200" b="1" dirty="0">
                <a:latin typeface="Times New Roman" panose="02020603050405020304" pitchFamily="18" charset="0"/>
                <a:cs typeface="Times New Roman" panose="02020603050405020304" pitchFamily="18" charset="0"/>
              </a:rPr>
              <a:t>fiber</a:t>
            </a:r>
            <a:r>
              <a:rPr lang="en-US" sz="3200" dirty="0">
                <a:latin typeface="Times New Roman" panose="02020603050405020304" pitchFamily="18" charset="0"/>
                <a:cs typeface="Times New Roman" panose="02020603050405020304" pitchFamily="18" charset="0"/>
              </a:rPr>
              <a:t>, making them a great prebiotic food. They support the growth of good bacteria and contribute to better digestion</a:t>
            </a:r>
            <a:r>
              <a:rPr lang="en-US" sz="3200" dirty="0" smtClean="0">
                <a:latin typeface="Times New Roman" panose="02020603050405020304" pitchFamily="18" charset="0"/>
                <a:cs typeface="Times New Roman" panose="02020603050405020304" pitchFamily="18" charset="0"/>
              </a:rPr>
              <a:t>.</a:t>
            </a:r>
          </a:p>
          <a:p>
            <a:r>
              <a:rPr lang="en-US" sz="3200" b="1" dirty="0">
                <a:latin typeface="Times New Roman" panose="02020603050405020304" pitchFamily="18" charset="0"/>
                <a:cs typeface="Times New Roman" panose="02020603050405020304" pitchFamily="18" charset="0"/>
              </a:rPr>
              <a:t>S</a:t>
            </a:r>
            <a:r>
              <a:rPr lang="en-US" sz="3200" b="1" dirty="0" smtClean="0">
                <a:latin typeface="Times New Roman" panose="02020603050405020304" pitchFamily="18" charset="0"/>
                <a:cs typeface="Times New Roman" panose="02020603050405020304" pitchFamily="18" charset="0"/>
              </a:rPr>
              <a:t>weet </a:t>
            </a:r>
            <a:r>
              <a:rPr lang="en-US" sz="3200" b="1" dirty="0">
                <a:latin typeface="Times New Roman" panose="02020603050405020304" pitchFamily="18" charset="0"/>
                <a:cs typeface="Times New Roman" panose="02020603050405020304" pitchFamily="18" charset="0"/>
              </a:rPr>
              <a:t>Potatoes</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Sweet potatoes are a rich source of </a:t>
            </a:r>
            <a:r>
              <a:rPr lang="en-US" sz="3200" b="1" dirty="0">
                <a:latin typeface="Times New Roman" panose="02020603050405020304" pitchFamily="18" charset="0"/>
                <a:cs typeface="Times New Roman" panose="02020603050405020304" pitchFamily="18" charset="0"/>
              </a:rPr>
              <a:t>resistant starch</a:t>
            </a:r>
            <a:r>
              <a:rPr lang="en-US" sz="3200" dirty="0">
                <a:latin typeface="Times New Roman" panose="02020603050405020304" pitchFamily="18" charset="0"/>
                <a:cs typeface="Times New Roman" panose="02020603050405020304" pitchFamily="18" charset="0"/>
              </a:rPr>
              <a:t> and </a:t>
            </a:r>
            <a:r>
              <a:rPr lang="en-US" sz="3200" b="1" dirty="0">
                <a:latin typeface="Times New Roman" panose="02020603050405020304" pitchFamily="18" charset="0"/>
                <a:cs typeface="Times New Roman" panose="02020603050405020304" pitchFamily="18" charset="0"/>
              </a:rPr>
              <a:t>fiber</a:t>
            </a:r>
            <a:r>
              <a:rPr lang="en-US" sz="3200" dirty="0">
                <a:latin typeface="Times New Roman" panose="02020603050405020304" pitchFamily="18" charset="0"/>
                <a:cs typeface="Times New Roman" panose="02020603050405020304" pitchFamily="18" charset="0"/>
              </a:rPr>
              <a:t>, which nourish gut bacteria</a:t>
            </a:r>
            <a:r>
              <a:rPr lang="en-US" sz="3200" dirty="0" smtClean="0">
                <a:latin typeface="Times New Roman" panose="02020603050405020304" pitchFamily="18" charset="0"/>
                <a:cs typeface="Times New Roman" panose="02020603050405020304" pitchFamily="18" charset="0"/>
              </a:rPr>
              <a:t>.</a:t>
            </a:r>
          </a:p>
          <a:p>
            <a:r>
              <a:rPr lang="en-US" sz="3200" b="1" dirty="0">
                <a:latin typeface="Times New Roman" panose="02020603050405020304" pitchFamily="18" charset="0"/>
                <a:cs typeface="Times New Roman" panose="02020603050405020304" pitchFamily="18" charset="0"/>
              </a:rPr>
              <a:t>Curd (Yogurt)</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Curd is not only a source of </a:t>
            </a:r>
            <a:r>
              <a:rPr lang="en-US" sz="3200" b="1" dirty="0">
                <a:latin typeface="Times New Roman" panose="02020603050405020304" pitchFamily="18" charset="0"/>
                <a:cs typeface="Times New Roman" panose="02020603050405020304" pitchFamily="18" charset="0"/>
              </a:rPr>
              <a:t>probiotics</a:t>
            </a:r>
            <a:r>
              <a:rPr lang="en-US" sz="3200" dirty="0">
                <a:latin typeface="Times New Roman" panose="02020603050405020304" pitchFamily="18" charset="0"/>
                <a:cs typeface="Times New Roman" panose="02020603050405020304" pitchFamily="18" charset="0"/>
              </a:rPr>
              <a:t> (live bacteria) but also contains </a:t>
            </a:r>
            <a:r>
              <a:rPr lang="en-US" sz="3200" b="1" dirty="0">
                <a:latin typeface="Times New Roman" panose="02020603050405020304" pitchFamily="18" charset="0"/>
                <a:cs typeface="Times New Roman" panose="02020603050405020304" pitchFamily="18" charset="0"/>
              </a:rPr>
              <a:t>prebiotic fiber</a:t>
            </a:r>
            <a:r>
              <a:rPr lang="en-US" sz="3200" dirty="0">
                <a:latin typeface="Times New Roman" panose="02020603050405020304" pitchFamily="18" charset="0"/>
                <a:cs typeface="Times New Roman" panose="02020603050405020304" pitchFamily="18" charset="0"/>
              </a:rPr>
              <a:t>, which nourishes these beneficial bacteria.</a:t>
            </a:r>
          </a:p>
          <a:p>
            <a:endParaRPr lang="en-US" dirty="0"/>
          </a:p>
          <a:p>
            <a:endParaRPr lang="en-US" dirty="0"/>
          </a:p>
          <a:p>
            <a:endParaRPr lang="en-US" dirty="0"/>
          </a:p>
        </p:txBody>
      </p:sp>
    </p:spTree>
    <p:extLst>
      <p:ext uri="{BB962C8B-B14F-4D97-AF65-F5344CB8AC3E}">
        <p14:creationId xmlns:p14="http://schemas.microsoft.com/office/powerpoint/2010/main" val="3376291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9427"/>
          </a:xfrm>
        </p:spPr>
        <p:txBody>
          <a:bodyPr>
            <a:normAutofit fontScale="90000"/>
          </a:bodyPr>
          <a:lstStyle/>
          <a:p>
            <a:pPr algn="ctr"/>
            <a:r>
              <a:rPr lang="en-US" dirty="0"/>
              <a:t>SOURCES OF PREBIOTICS</a:t>
            </a:r>
          </a:p>
        </p:txBody>
      </p:sp>
      <p:sp>
        <p:nvSpPr>
          <p:cNvPr id="3" name="Content Placeholder 2"/>
          <p:cNvSpPr>
            <a:spLocks noGrp="1"/>
          </p:cNvSpPr>
          <p:nvPr>
            <p:ph idx="1"/>
          </p:nvPr>
        </p:nvSpPr>
        <p:spPr>
          <a:xfrm>
            <a:off x="838200" y="1004552"/>
            <a:ext cx="10515600" cy="5172411"/>
          </a:xfrm>
        </p:spPr>
        <p:txBody>
          <a:bodyPr>
            <a:normAutofit fontScale="40000" lnSpcReduction="20000"/>
          </a:bodyPr>
          <a:lstStyle/>
          <a:p>
            <a:r>
              <a:rPr lang="en-US" sz="4200" b="1" dirty="0">
                <a:latin typeface="Times New Roman" panose="02020603050405020304" pitchFamily="18" charset="0"/>
                <a:cs typeface="Times New Roman" panose="02020603050405020304" pitchFamily="18" charset="0"/>
              </a:rPr>
              <a:t>Apples</a:t>
            </a:r>
            <a:endParaRPr lang="en-US" sz="4200" dirty="0">
              <a:latin typeface="Times New Roman" panose="02020603050405020304" pitchFamily="18" charset="0"/>
              <a:cs typeface="Times New Roman" panose="02020603050405020304" pitchFamily="18" charset="0"/>
            </a:endParaRPr>
          </a:p>
          <a:p>
            <a:r>
              <a:rPr lang="en-US" sz="4200" dirty="0">
                <a:latin typeface="Times New Roman" panose="02020603050405020304" pitchFamily="18" charset="0"/>
                <a:cs typeface="Times New Roman" panose="02020603050405020304" pitchFamily="18" charset="0"/>
              </a:rPr>
              <a:t>Apples contain </a:t>
            </a:r>
            <a:r>
              <a:rPr lang="en-US" sz="4200" b="1" dirty="0">
                <a:latin typeface="Times New Roman" panose="02020603050405020304" pitchFamily="18" charset="0"/>
                <a:cs typeface="Times New Roman" panose="02020603050405020304" pitchFamily="18" charset="0"/>
              </a:rPr>
              <a:t>pectin</a:t>
            </a:r>
            <a:r>
              <a:rPr lang="en-US" sz="4200" dirty="0">
                <a:latin typeface="Times New Roman" panose="02020603050405020304" pitchFamily="18" charset="0"/>
                <a:cs typeface="Times New Roman" panose="02020603050405020304" pitchFamily="18" charset="0"/>
              </a:rPr>
              <a:t>, a type of soluble fiber that acts as a prebiotic, supporting the growth of beneficial gut bacteria.</a:t>
            </a:r>
          </a:p>
          <a:p>
            <a:r>
              <a:rPr lang="en-US" sz="4200" b="1" dirty="0" err="1">
                <a:latin typeface="Times New Roman" panose="02020603050405020304" pitchFamily="18" charset="0"/>
                <a:cs typeface="Times New Roman" panose="02020603050405020304" pitchFamily="18" charset="0"/>
              </a:rPr>
              <a:t>Jowar</a:t>
            </a:r>
            <a:r>
              <a:rPr lang="en-US" sz="4200" b="1" dirty="0">
                <a:latin typeface="Times New Roman" panose="02020603050405020304" pitchFamily="18" charset="0"/>
                <a:cs typeface="Times New Roman" panose="02020603050405020304" pitchFamily="18" charset="0"/>
              </a:rPr>
              <a:t> (Sorghum)</a:t>
            </a:r>
            <a:endParaRPr lang="en-US" sz="4200" dirty="0">
              <a:latin typeface="Times New Roman" panose="02020603050405020304" pitchFamily="18" charset="0"/>
              <a:cs typeface="Times New Roman" panose="02020603050405020304" pitchFamily="18" charset="0"/>
            </a:endParaRPr>
          </a:p>
          <a:p>
            <a:r>
              <a:rPr lang="en-US" sz="4200" dirty="0" err="1">
                <a:latin typeface="Times New Roman" panose="02020603050405020304" pitchFamily="18" charset="0"/>
                <a:cs typeface="Times New Roman" panose="02020603050405020304" pitchFamily="18" charset="0"/>
              </a:rPr>
              <a:t>Jowar</a:t>
            </a:r>
            <a:r>
              <a:rPr lang="en-US" sz="4200" dirty="0">
                <a:latin typeface="Times New Roman" panose="02020603050405020304" pitchFamily="18" charset="0"/>
                <a:cs typeface="Times New Roman" panose="02020603050405020304" pitchFamily="18" charset="0"/>
              </a:rPr>
              <a:t> is a whole grain rich in fiber and resistant starch, which acts as a prebiotic and helps promote gut health.</a:t>
            </a:r>
          </a:p>
          <a:p>
            <a:r>
              <a:rPr lang="en-US" sz="4200" b="1" dirty="0" err="1">
                <a:latin typeface="Times New Roman" panose="02020603050405020304" pitchFamily="18" charset="0"/>
                <a:cs typeface="Times New Roman" panose="02020603050405020304" pitchFamily="18" charset="0"/>
              </a:rPr>
              <a:t>Ragi</a:t>
            </a:r>
            <a:r>
              <a:rPr lang="en-US" sz="4200" b="1" dirty="0">
                <a:latin typeface="Times New Roman" panose="02020603050405020304" pitchFamily="18" charset="0"/>
                <a:cs typeface="Times New Roman" panose="02020603050405020304" pitchFamily="18" charset="0"/>
              </a:rPr>
              <a:t> (Finger Millet)</a:t>
            </a:r>
            <a:endParaRPr lang="en-US" sz="4200" dirty="0">
              <a:latin typeface="Times New Roman" panose="02020603050405020304" pitchFamily="18" charset="0"/>
              <a:cs typeface="Times New Roman" panose="02020603050405020304" pitchFamily="18" charset="0"/>
            </a:endParaRPr>
          </a:p>
          <a:p>
            <a:r>
              <a:rPr lang="en-US" sz="4200" dirty="0" err="1">
                <a:latin typeface="Times New Roman" panose="02020603050405020304" pitchFamily="18" charset="0"/>
                <a:cs typeface="Times New Roman" panose="02020603050405020304" pitchFamily="18" charset="0"/>
              </a:rPr>
              <a:t>Ragi</a:t>
            </a:r>
            <a:r>
              <a:rPr lang="en-US" sz="4200" dirty="0">
                <a:latin typeface="Times New Roman" panose="02020603050405020304" pitchFamily="18" charset="0"/>
                <a:cs typeface="Times New Roman" panose="02020603050405020304" pitchFamily="18" charset="0"/>
              </a:rPr>
              <a:t> is high in </a:t>
            </a:r>
            <a:r>
              <a:rPr lang="en-US" sz="4200" b="1" dirty="0">
                <a:latin typeface="Times New Roman" panose="02020603050405020304" pitchFamily="18" charset="0"/>
                <a:cs typeface="Times New Roman" panose="02020603050405020304" pitchFamily="18" charset="0"/>
              </a:rPr>
              <a:t>fiber</a:t>
            </a:r>
            <a:r>
              <a:rPr lang="en-US" sz="4200" dirty="0">
                <a:latin typeface="Times New Roman" panose="02020603050405020304" pitchFamily="18" charset="0"/>
                <a:cs typeface="Times New Roman" panose="02020603050405020304" pitchFamily="18" charset="0"/>
              </a:rPr>
              <a:t> and </a:t>
            </a:r>
            <a:r>
              <a:rPr lang="en-US" sz="4200" b="1" dirty="0">
                <a:latin typeface="Times New Roman" panose="02020603050405020304" pitchFamily="18" charset="0"/>
                <a:cs typeface="Times New Roman" panose="02020603050405020304" pitchFamily="18" charset="0"/>
              </a:rPr>
              <a:t>polyphenols</a:t>
            </a:r>
            <a:r>
              <a:rPr lang="en-US" sz="4200" dirty="0">
                <a:latin typeface="Times New Roman" panose="02020603050405020304" pitchFamily="18" charset="0"/>
                <a:cs typeface="Times New Roman" panose="02020603050405020304" pitchFamily="18" charset="0"/>
              </a:rPr>
              <a:t>, which contribute to a healthy gut microbiome.</a:t>
            </a:r>
          </a:p>
          <a:p>
            <a:r>
              <a:rPr lang="en-US" sz="4200" b="1" dirty="0" err="1">
                <a:latin typeface="Times New Roman" panose="02020603050405020304" pitchFamily="18" charset="0"/>
                <a:cs typeface="Times New Roman" panose="02020603050405020304" pitchFamily="18" charset="0"/>
              </a:rPr>
              <a:t>Amla</a:t>
            </a:r>
            <a:r>
              <a:rPr lang="en-US" sz="4200" b="1" dirty="0">
                <a:latin typeface="Times New Roman" panose="02020603050405020304" pitchFamily="18" charset="0"/>
                <a:cs typeface="Times New Roman" panose="02020603050405020304" pitchFamily="18" charset="0"/>
              </a:rPr>
              <a:t> (Indian Gooseberry)</a:t>
            </a:r>
            <a:endParaRPr lang="en-US" sz="4200" dirty="0">
              <a:latin typeface="Times New Roman" panose="02020603050405020304" pitchFamily="18" charset="0"/>
              <a:cs typeface="Times New Roman" panose="02020603050405020304" pitchFamily="18" charset="0"/>
            </a:endParaRPr>
          </a:p>
          <a:p>
            <a:r>
              <a:rPr lang="en-US" sz="4200" dirty="0" err="1">
                <a:latin typeface="Times New Roman" panose="02020603050405020304" pitchFamily="18" charset="0"/>
                <a:cs typeface="Times New Roman" panose="02020603050405020304" pitchFamily="18" charset="0"/>
              </a:rPr>
              <a:t>Amla</a:t>
            </a:r>
            <a:r>
              <a:rPr lang="en-US" sz="4200" dirty="0">
                <a:latin typeface="Times New Roman" panose="02020603050405020304" pitchFamily="18" charset="0"/>
                <a:cs typeface="Times New Roman" panose="02020603050405020304" pitchFamily="18" charset="0"/>
              </a:rPr>
              <a:t> is packed with vitamin C and fiber, which help maintain gut health. It is also known for promoting digestion and detoxifying the body</a:t>
            </a:r>
            <a:r>
              <a:rPr lang="en-US" sz="4200" dirty="0" smtClean="0">
                <a:latin typeface="Times New Roman" panose="02020603050405020304" pitchFamily="18" charset="0"/>
                <a:cs typeface="Times New Roman" panose="02020603050405020304" pitchFamily="18" charset="0"/>
              </a:rPr>
              <a:t>.</a:t>
            </a:r>
          </a:p>
          <a:p>
            <a:r>
              <a:rPr lang="en-US" sz="4200" b="1" dirty="0">
                <a:latin typeface="Times New Roman" panose="02020603050405020304" pitchFamily="18" charset="0"/>
                <a:cs typeface="Times New Roman" panose="02020603050405020304" pitchFamily="18" charset="0"/>
              </a:rPr>
              <a:t>Bitter Gourd (</a:t>
            </a:r>
            <a:r>
              <a:rPr lang="en-US" sz="4200" b="1" dirty="0" err="1">
                <a:latin typeface="Times New Roman" panose="02020603050405020304" pitchFamily="18" charset="0"/>
                <a:cs typeface="Times New Roman" panose="02020603050405020304" pitchFamily="18" charset="0"/>
              </a:rPr>
              <a:t>Karela</a:t>
            </a:r>
            <a:r>
              <a:rPr lang="en-US" sz="4200" b="1" dirty="0">
                <a:latin typeface="Times New Roman" panose="02020603050405020304" pitchFamily="18" charset="0"/>
                <a:cs typeface="Times New Roman" panose="02020603050405020304" pitchFamily="18" charset="0"/>
              </a:rPr>
              <a:t>)</a:t>
            </a:r>
            <a:endParaRPr lang="en-US" sz="4200" dirty="0">
              <a:latin typeface="Times New Roman" panose="02020603050405020304" pitchFamily="18" charset="0"/>
              <a:cs typeface="Times New Roman" panose="02020603050405020304" pitchFamily="18" charset="0"/>
            </a:endParaRPr>
          </a:p>
          <a:p>
            <a:r>
              <a:rPr lang="en-US" sz="4200" u="sng" dirty="0">
                <a:latin typeface="Times New Roman" panose="02020603050405020304" pitchFamily="18" charset="0"/>
                <a:cs typeface="Times New Roman" panose="02020603050405020304" pitchFamily="18" charset="0"/>
              </a:rPr>
              <a:t>Bitter gourd</a:t>
            </a:r>
            <a:r>
              <a:rPr lang="en-US" sz="4200" dirty="0">
                <a:latin typeface="Times New Roman" panose="02020603050405020304" pitchFamily="18" charset="0"/>
                <a:cs typeface="Times New Roman" panose="02020603050405020304" pitchFamily="18" charset="0"/>
              </a:rPr>
              <a:t> is a good source of fiber and antioxidants that contribute to gut health by promoting the growth of beneficial bacteria</a:t>
            </a:r>
            <a:r>
              <a:rPr lang="en-US" sz="4200" dirty="0" smtClean="0">
                <a:latin typeface="Times New Roman" panose="02020603050405020304" pitchFamily="18" charset="0"/>
                <a:cs typeface="Times New Roman" panose="02020603050405020304" pitchFamily="18" charset="0"/>
              </a:rPr>
              <a:t>.</a:t>
            </a:r>
          </a:p>
          <a:p>
            <a:r>
              <a:rPr lang="en-US" sz="4200" b="1" dirty="0">
                <a:latin typeface="Times New Roman" panose="02020603050405020304" pitchFamily="18" charset="0"/>
                <a:cs typeface="Times New Roman" panose="02020603050405020304" pitchFamily="18" charset="0"/>
              </a:rPr>
              <a:t>Coconut</a:t>
            </a:r>
            <a:endParaRPr lang="en-US" sz="4200" dirty="0">
              <a:latin typeface="Times New Roman" panose="02020603050405020304" pitchFamily="18" charset="0"/>
              <a:cs typeface="Times New Roman" panose="02020603050405020304" pitchFamily="18" charset="0"/>
            </a:endParaRPr>
          </a:p>
          <a:p>
            <a:r>
              <a:rPr lang="en-US" sz="4200" dirty="0">
                <a:latin typeface="Times New Roman" panose="02020603050405020304" pitchFamily="18" charset="0"/>
                <a:cs typeface="Times New Roman" panose="02020603050405020304" pitchFamily="18" charset="0"/>
              </a:rPr>
              <a:t>Both coconut meat and </a:t>
            </a:r>
            <a:r>
              <a:rPr lang="en-US" sz="4200" u="sng" dirty="0">
                <a:latin typeface="Times New Roman" panose="02020603050405020304" pitchFamily="18" charset="0"/>
                <a:cs typeface="Times New Roman" panose="02020603050405020304" pitchFamily="18" charset="0"/>
              </a:rPr>
              <a:t>coconut oil</a:t>
            </a:r>
            <a:r>
              <a:rPr lang="en-US" sz="4200" dirty="0">
                <a:latin typeface="Times New Roman" panose="02020603050405020304" pitchFamily="18" charset="0"/>
                <a:cs typeface="Times New Roman" panose="02020603050405020304" pitchFamily="18" charset="0"/>
              </a:rPr>
              <a:t> contain fibers like</a:t>
            </a:r>
            <a:r>
              <a:rPr lang="en-US" sz="4200" b="1" dirty="0">
                <a:latin typeface="Times New Roman" panose="02020603050405020304" pitchFamily="18" charset="0"/>
                <a:cs typeface="Times New Roman" panose="02020603050405020304" pitchFamily="18" charset="0"/>
              </a:rPr>
              <a:t> </a:t>
            </a:r>
            <a:r>
              <a:rPr lang="en-US" sz="4200" b="1" dirty="0" err="1">
                <a:latin typeface="Times New Roman" panose="02020603050405020304" pitchFamily="18" charset="0"/>
                <a:cs typeface="Times New Roman" panose="02020603050405020304" pitchFamily="18" charset="0"/>
              </a:rPr>
              <a:t>lauric</a:t>
            </a:r>
            <a:r>
              <a:rPr lang="en-US" sz="4200" b="1" dirty="0">
                <a:latin typeface="Times New Roman" panose="02020603050405020304" pitchFamily="18" charset="0"/>
                <a:cs typeface="Times New Roman" panose="02020603050405020304" pitchFamily="18" charset="0"/>
              </a:rPr>
              <a:t> acid</a:t>
            </a:r>
            <a:r>
              <a:rPr lang="en-US" sz="4200" dirty="0">
                <a:latin typeface="Times New Roman" panose="02020603050405020304" pitchFamily="18" charset="0"/>
                <a:cs typeface="Times New Roman" panose="02020603050405020304" pitchFamily="18" charset="0"/>
              </a:rPr>
              <a:t>, which helps promote the growth of gut bacteria</a:t>
            </a:r>
            <a:r>
              <a:rPr lang="en-US" sz="4200" dirty="0" smtClean="0">
                <a:latin typeface="Times New Roman" panose="02020603050405020304" pitchFamily="18" charset="0"/>
                <a:cs typeface="Times New Roman" panose="02020603050405020304" pitchFamily="18" charset="0"/>
              </a:rPr>
              <a:t>.</a:t>
            </a:r>
          </a:p>
          <a:p>
            <a:r>
              <a:rPr lang="en-US" sz="4200" b="1" dirty="0">
                <a:latin typeface="Times New Roman" panose="02020603050405020304" pitchFamily="18" charset="0"/>
                <a:cs typeface="Times New Roman" panose="02020603050405020304" pitchFamily="18" charset="0"/>
              </a:rPr>
              <a:t>Flaxseeds</a:t>
            </a:r>
            <a:endParaRPr lang="en-US" sz="4200" dirty="0">
              <a:latin typeface="Times New Roman" panose="02020603050405020304" pitchFamily="18" charset="0"/>
              <a:cs typeface="Times New Roman" panose="02020603050405020304" pitchFamily="18" charset="0"/>
            </a:endParaRPr>
          </a:p>
          <a:p>
            <a:r>
              <a:rPr lang="en-US" sz="4200" dirty="0">
                <a:latin typeface="Times New Roman" panose="02020603050405020304" pitchFamily="18" charset="0"/>
                <a:cs typeface="Times New Roman" panose="02020603050405020304" pitchFamily="18" charset="0"/>
              </a:rPr>
              <a:t>Flaxseeds are rich in </a:t>
            </a:r>
            <a:r>
              <a:rPr lang="en-US" sz="4200" b="1" dirty="0">
                <a:latin typeface="Times New Roman" panose="02020603050405020304" pitchFamily="18" charset="0"/>
                <a:cs typeface="Times New Roman" panose="02020603050405020304" pitchFamily="18" charset="0"/>
              </a:rPr>
              <a:t>fiber</a:t>
            </a:r>
            <a:r>
              <a:rPr lang="en-US" sz="4200" dirty="0">
                <a:latin typeface="Times New Roman" panose="02020603050405020304" pitchFamily="18" charset="0"/>
                <a:cs typeface="Times New Roman" panose="02020603050405020304" pitchFamily="18" charset="0"/>
              </a:rPr>
              <a:t> and </a:t>
            </a:r>
            <a:r>
              <a:rPr lang="en-US" sz="4200" b="1" dirty="0">
                <a:latin typeface="Times New Roman" panose="02020603050405020304" pitchFamily="18" charset="0"/>
                <a:cs typeface="Times New Roman" panose="02020603050405020304" pitchFamily="18" charset="0"/>
              </a:rPr>
              <a:t>omega-3 fatty acids</a:t>
            </a:r>
            <a:r>
              <a:rPr lang="en-US" sz="4200" dirty="0">
                <a:latin typeface="Times New Roman" panose="02020603050405020304" pitchFamily="18" charset="0"/>
                <a:cs typeface="Times New Roman" panose="02020603050405020304" pitchFamily="18" charset="0"/>
              </a:rPr>
              <a:t>, which help improve gut health by nourishing beneficial gut bacteria.</a:t>
            </a:r>
          </a:p>
          <a:p>
            <a:endParaRPr lang="en-US" dirty="0"/>
          </a:p>
          <a:p>
            <a:endParaRPr lang="en-US" dirty="0" smtClean="0"/>
          </a:p>
          <a:p>
            <a:endParaRPr lang="en-US" dirty="0"/>
          </a:p>
          <a:p>
            <a:endParaRPr lang="en-US" dirty="0"/>
          </a:p>
          <a:p>
            <a:endParaRPr lang="en-US" dirty="0"/>
          </a:p>
        </p:txBody>
      </p:sp>
    </p:spTree>
    <p:extLst>
      <p:ext uri="{BB962C8B-B14F-4D97-AF65-F5344CB8AC3E}">
        <p14:creationId xmlns:p14="http://schemas.microsoft.com/office/powerpoint/2010/main" val="1667819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48520"/>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SYNBIOTICS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13646"/>
            <a:ext cx="10515600" cy="4863317"/>
          </a:xfrm>
        </p:spPr>
        <p:txBody>
          <a:bodyPr>
            <a:normAutofit fontScale="92500" lnSpcReduction="20000"/>
          </a:bodyPr>
          <a:lstStyle/>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term “</a:t>
            </a:r>
            <a:r>
              <a:rPr lang="en-US" dirty="0" err="1">
                <a:latin typeface="Times New Roman" panose="02020603050405020304" pitchFamily="18" charset="0"/>
                <a:cs typeface="Times New Roman" panose="02020603050405020304" pitchFamily="18" charset="0"/>
              </a:rPr>
              <a:t>synbiotics</a:t>
            </a:r>
            <a:r>
              <a:rPr lang="en-US" dirty="0">
                <a:latin typeface="Times New Roman" panose="02020603050405020304" pitchFamily="18" charset="0"/>
                <a:cs typeface="Times New Roman" panose="02020603050405020304" pitchFamily="18" charset="0"/>
              </a:rPr>
              <a:t>” refers to any supplement that contains a blend of both prebiotics and probiotics. </a:t>
            </a:r>
            <a:endParaRPr lang="en-US" dirty="0" smtClean="0">
              <a:latin typeface="Times New Roman" panose="02020603050405020304" pitchFamily="18" charset="0"/>
              <a:cs typeface="Times New Roman" panose="02020603050405020304" pitchFamily="18" charset="0"/>
            </a:endParaRPr>
          </a:p>
          <a:p>
            <a:pPr algn="just"/>
            <a:r>
              <a:rPr lang="en-US" dirty="0" err="1" smtClean="0">
                <a:latin typeface="Times New Roman" panose="02020603050405020304" pitchFamily="18" charset="0"/>
                <a:cs typeface="Times New Roman" panose="02020603050405020304" pitchFamily="18" charset="0"/>
              </a:rPr>
              <a:t>Synbiotics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can help support gut health by increasing the amount of beneficial bacteria in the digestive tract while also providing these </a:t>
            </a:r>
            <a:r>
              <a:rPr lang="en-US" dirty="0" smtClean="0">
                <a:latin typeface="Times New Roman" panose="02020603050405020304" pitchFamily="18" charset="0"/>
                <a:cs typeface="Times New Roman" panose="02020603050405020304" pitchFamily="18" charset="0"/>
              </a:rPr>
              <a:t>bacterial </a:t>
            </a:r>
            <a:r>
              <a:rPr lang="en-US" dirty="0">
                <a:latin typeface="Times New Roman" panose="02020603050405020304" pitchFamily="18" charset="0"/>
                <a:cs typeface="Times New Roman" panose="02020603050405020304" pitchFamily="18" charset="0"/>
              </a:rPr>
              <a:t>cells with the fuel they need to function and thrive</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smtClean="0">
                <a:latin typeface="Times New Roman" panose="02020603050405020304" pitchFamily="18" charset="0"/>
                <a:cs typeface="Times New Roman" panose="02020603050405020304" pitchFamily="18" charset="0"/>
              </a:rPr>
              <a:t>				Benefits </a:t>
            </a:r>
            <a:r>
              <a:rPr lang="en-US" dirty="0">
                <a:latin typeface="Times New Roman" panose="02020603050405020304" pitchFamily="18" charset="0"/>
                <a:cs typeface="Times New Roman" panose="02020603050405020304" pitchFamily="18" charset="0"/>
              </a:rPr>
              <a:t>of </a:t>
            </a:r>
            <a:r>
              <a:rPr lang="en-US" dirty="0" err="1">
                <a:latin typeface="Times New Roman" panose="02020603050405020304" pitchFamily="18" charset="0"/>
                <a:cs typeface="Times New Roman" panose="02020603050405020304" pitchFamily="18" charset="0"/>
              </a:rPr>
              <a:t>Synbiotics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Support Digestive Health</a:t>
            </a:r>
          </a:p>
          <a:p>
            <a:pPr algn="just"/>
            <a:r>
              <a:rPr lang="en-US" dirty="0">
                <a:latin typeface="Times New Roman" panose="02020603050405020304" pitchFamily="18" charset="0"/>
                <a:cs typeface="Times New Roman" panose="02020603050405020304" pitchFamily="18" charset="0"/>
              </a:rPr>
              <a:t>Enhance Immune Function</a:t>
            </a:r>
          </a:p>
          <a:p>
            <a:pPr algn="just"/>
            <a:r>
              <a:rPr lang="en-US" dirty="0">
                <a:latin typeface="Times New Roman" panose="02020603050405020304" pitchFamily="18" charset="0"/>
                <a:cs typeface="Times New Roman" panose="02020603050405020304" pitchFamily="18" charset="0"/>
              </a:rPr>
              <a:t>Improve Mental Health</a:t>
            </a:r>
          </a:p>
          <a:p>
            <a:pPr algn="just"/>
            <a:r>
              <a:rPr lang="en-US" dirty="0">
                <a:latin typeface="Times New Roman" panose="02020603050405020304" pitchFamily="18" charset="0"/>
                <a:cs typeface="Times New Roman" panose="02020603050405020304" pitchFamily="18" charset="0"/>
              </a:rPr>
              <a:t>Boost Weight Loss</a:t>
            </a:r>
          </a:p>
          <a:p>
            <a:pPr algn="just"/>
            <a:r>
              <a:rPr lang="en-US" dirty="0">
                <a:latin typeface="Times New Roman" panose="02020603050405020304" pitchFamily="18" charset="0"/>
                <a:cs typeface="Times New Roman" panose="02020603050405020304" pitchFamily="18" charset="0"/>
              </a:rPr>
              <a:t>Promote Heart Health</a:t>
            </a:r>
          </a:p>
          <a:p>
            <a:pPr algn="just"/>
            <a:r>
              <a:rPr lang="en-US" dirty="0">
                <a:latin typeface="Times New Roman" panose="02020603050405020304" pitchFamily="18" charset="0"/>
                <a:cs typeface="Times New Roman" panose="02020603050405020304" pitchFamily="18" charset="0"/>
              </a:rPr>
              <a:t>Decrease Inflammation</a:t>
            </a:r>
          </a:p>
          <a:p>
            <a:endParaRPr lang="en-US" dirty="0"/>
          </a:p>
        </p:txBody>
      </p:sp>
    </p:spTree>
    <p:extLst>
      <p:ext uri="{BB962C8B-B14F-4D97-AF65-F5344CB8AC3E}">
        <p14:creationId xmlns:p14="http://schemas.microsoft.com/office/powerpoint/2010/main" val="2852753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7005"/>
          </a:xfrm>
        </p:spPr>
        <p:txBody>
          <a:bodyPr/>
          <a:lstStyle/>
          <a:p>
            <a:pPr algn="ctr"/>
            <a:r>
              <a:rPr lang="en-US" dirty="0">
                <a:latin typeface="Times New Roman" panose="02020603050405020304" pitchFamily="18" charset="0"/>
                <a:cs typeface="Times New Roman" panose="02020603050405020304" pitchFamily="18" charset="0"/>
              </a:rPr>
              <a:t>SYNBIOTICS</a:t>
            </a:r>
            <a:endParaRPr lang="en-US" dirty="0"/>
          </a:p>
        </p:txBody>
      </p:sp>
      <p:sp>
        <p:nvSpPr>
          <p:cNvPr id="3" name="Content Placeholder 2"/>
          <p:cNvSpPr>
            <a:spLocks noGrp="1"/>
          </p:cNvSpPr>
          <p:nvPr>
            <p:ph idx="1"/>
          </p:nvPr>
        </p:nvSpPr>
        <p:spPr>
          <a:xfrm>
            <a:off x="838200" y="1262130"/>
            <a:ext cx="10515600" cy="4914833"/>
          </a:xfrm>
        </p:spPr>
        <p:txBody>
          <a:bodyPr>
            <a:normAutofit fontScale="92500" lnSpcReduction="20000"/>
          </a:bodyPr>
          <a:lstStyle/>
          <a:p>
            <a:pPr marL="0" indent="0" algn="ctr">
              <a:buNone/>
            </a:pPr>
            <a:r>
              <a:rPr lang="en-US" dirty="0">
                <a:latin typeface="Times New Roman" panose="02020603050405020304" pitchFamily="18" charset="0"/>
                <a:cs typeface="Times New Roman" panose="02020603050405020304" pitchFamily="18" charset="0"/>
              </a:rPr>
              <a:t>Risks and Side Effects</a:t>
            </a:r>
          </a:p>
          <a:p>
            <a:pPr algn="just"/>
            <a:r>
              <a:rPr lang="en-US" dirty="0">
                <a:latin typeface="Times New Roman" panose="02020603050405020304" pitchFamily="18" charset="0"/>
                <a:cs typeface="Times New Roman" panose="02020603050405020304" pitchFamily="18" charset="0"/>
              </a:rPr>
              <a:t>Prebiotics are fermented in the gut and can cause adverse digestive symptoms when consumed in high amounts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Probiotics may also contribute to negative side effects, such as diarrhea or abdominal pain, especially when supplementation is first initiated. For this reason, it’s best to start with a low amount of </a:t>
            </a:r>
            <a:r>
              <a:rPr lang="en-US" dirty="0" err="1">
                <a:latin typeface="Times New Roman" panose="02020603050405020304" pitchFamily="18" charset="0"/>
                <a:cs typeface="Times New Roman" panose="02020603050405020304" pitchFamily="18" charset="0"/>
              </a:rPr>
              <a:t>synbiotics</a:t>
            </a:r>
            <a:r>
              <a:rPr lang="en-US" dirty="0">
                <a:latin typeface="Times New Roman" panose="02020603050405020304" pitchFamily="18" charset="0"/>
                <a:cs typeface="Times New Roman" panose="02020603050405020304" pitchFamily="18" charset="0"/>
              </a:rPr>
              <a:t> and increase dosage gradually to assess tolerance.</a:t>
            </a:r>
          </a:p>
          <a:p>
            <a:pPr algn="just"/>
            <a:r>
              <a:rPr lang="en-US" dirty="0">
                <a:latin typeface="Times New Roman" panose="02020603050405020304" pitchFamily="18" charset="0"/>
                <a:cs typeface="Times New Roman" panose="02020603050405020304" pitchFamily="18" charset="0"/>
              </a:rPr>
              <a:t>You should also be sure to increase your water intake when consuming more prebiotic foods. This is because prebiotic foods are typically high in fiber, which absorbs water in the colon</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Not only can this slow down digestion, but it can also cause side effects like dehydration and constipation</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Drinking more water can help prevent these adverse side effects and keep things running smoothly within the digestive tract.</a:t>
            </a:r>
          </a:p>
          <a:p>
            <a:endParaRPr lang="en-US" dirty="0"/>
          </a:p>
        </p:txBody>
      </p:sp>
    </p:spTree>
    <p:extLst>
      <p:ext uri="{BB962C8B-B14F-4D97-AF65-F5344CB8AC3E}">
        <p14:creationId xmlns:p14="http://schemas.microsoft.com/office/powerpoint/2010/main" val="422979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852"/>
          </a:xfrm>
        </p:spPr>
        <p:txBody>
          <a:bodyPr>
            <a:normAutofit/>
          </a:bodyPr>
          <a:lstStyle/>
          <a:p>
            <a:r>
              <a:rPr lang="en-US" sz="3600" dirty="0" smtClean="0">
                <a:latin typeface="Times New Roman" panose="02020603050405020304" pitchFamily="18" charset="0"/>
                <a:cs typeface="Times New Roman" panose="02020603050405020304" pitchFamily="18" charset="0"/>
              </a:rPr>
              <a:t>NATURAL SYNBIOTIC FOOD COMBINATIONS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71978"/>
            <a:ext cx="10515600" cy="5004985"/>
          </a:xfrm>
        </p:spPr>
        <p:txBody>
          <a:bodyPr/>
          <a:lstStyle/>
          <a:p>
            <a:r>
              <a:rPr lang="en-US" b="1" dirty="0" smtClean="0">
                <a:latin typeface="Times New Roman" panose="02020603050405020304" pitchFamily="18" charset="0"/>
                <a:cs typeface="Times New Roman" panose="02020603050405020304" pitchFamily="18" charset="0"/>
              </a:rPr>
              <a:t>Yogurt </a:t>
            </a:r>
            <a:r>
              <a:rPr lang="en-US" b="1" dirty="0">
                <a:latin typeface="Times New Roman" panose="02020603050405020304" pitchFamily="18" charset="0"/>
                <a:cs typeface="Times New Roman" panose="02020603050405020304" pitchFamily="18" charset="0"/>
              </a:rPr>
              <a:t>+ Banana</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Yogurt → Probiotic</a:t>
            </a:r>
          </a:p>
          <a:p>
            <a:pPr lvl="1"/>
            <a:r>
              <a:rPr lang="en-US" dirty="0">
                <a:latin typeface="Times New Roman" panose="02020603050405020304" pitchFamily="18" charset="0"/>
                <a:cs typeface="Times New Roman" panose="02020603050405020304" pitchFamily="18" charset="0"/>
              </a:rPr>
              <a:t>Banana → Prebiotic (inulin, resistant starch)</a:t>
            </a:r>
          </a:p>
          <a:p>
            <a:r>
              <a:rPr lang="en-US" b="1" dirty="0">
                <a:latin typeface="Times New Roman" panose="02020603050405020304" pitchFamily="18" charset="0"/>
                <a:cs typeface="Times New Roman" panose="02020603050405020304" pitchFamily="18" charset="0"/>
              </a:rPr>
              <a:t>Curd Rice + Onion</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Curd → Probiotic</a:t>
            </a:r>
          </a:p>
          <a:p>
            <a:pPr lvl="1"/>
            <a:r>
              <a:rPr lang="en-US" dirty="0">
                <a:latin typeface="Times New Roman" panose="02020603050405020304" pitchFamily="18" charset="0"/>
                <a:cs typeface="Times New Roman" panose="02020603050405020304" pitchFamily="18" charset="0"/>
              </a:rPr>
              <a:t>Onion → Prebiotic </a:t>
            </a:r>
          </a:p>
          <a:p>
            <a:r>
              <a:rPr lang="en-US" b="1" dirty="0">
                <a:latin typeface="Times New Roman" panose="02020603050405020304" pitchFamily="18" charset="0"/>
                <a:cs typeface="Times New Roman" panose="02020603050405020304" pitchFamily="18" charset="0"/>
              </a:rPr>
              <a:t>Buttermilk + Garlic</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Fermented </a:t>
            </a:r>
            <a:r>
              <a:rPr lang="en-US" b="1" dirty="0" err="1">
                <a:latin typeface="Times New Roman" panose="02020603050405020304" pitchFamily="18" charset="0"/>
                <a:cs typeface="Times New Roman" panose="02020603050405020304" pitchFamily="18" charset="0"/>
              </a:rPr>
              <a:t>Idli</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Dosa</a:t>
            </a:r>
            <a:r>
              <a:rPr lang="en-US" b="1" dirty="0">
                <a:latin typeface="Times New Roman" panose="02020603050405020304" pitchFamily="18" charset="0"/>
                <a:cs typeface="Times New Roman" panose="02020603050405020304" pitchFamily="18" charset="0"/>
              </a:rPr>
              <a:t> + Sambar (with onions &amp; legumes)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Fermented batter → Probiotics</a:t>
            </a:r>
          </a:p>
          <a:p>
            <a:pPr lvl="1"/>
            <a:r>
              <a:rPr lang="en-US" dirty="0">
                <a:latin typeface="Times New Roman" panose="02020603050405020304" pitchFamily="18" charset="0"/>
                <a:cs typeface="Times New Roman" panose="02020603050405020304" pitchFamily="18" charset="0"/>
              </a:rPr>
              <a:t>Legumes/onions → Prebiotics</a:t>
            </a:r>
          </a:p>
          <a:p>
            <a:endParaRPr lang="en-US" dirty="0"/>
          </a:p>
        </p:txBody>
      </p:sp>
    </p:spTree>
    <p:extLst>
      <p:ext uri="{BB962C8B-B14F-4D97-AF65-F5344CB8AC3E}">
        <p14:creationId xmlns:p14="http://schemas.microsoft.com/office/powerpoint/2010/main" val="2814241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1400"/>
          </a:xfrm>
        </p:spPr>
        <p:txBody>
          <a:bodyPr>
            <a:normAutofit/>
          </a:bodyPr>
          <a:lstStyle/>
          <a:p>
            <a:pPr algn="ctr"/>
            <a:r>
              <a:rPr lang="en-US" sz="3600" dirty="0" smtClean="0">
                <a:latin typeface="Times New Roman" panose="02020603050405020304" pitchFamily="18" charset="0"/>
                <a:cs typeface="Times New Roman" panose="02020603050405020304" pitchFamily="18" charset="0"/>
              </a:rPr>
              <a:t>NUTRIENT Vs NON-NUTRIENT</a:t>
            </a:r>
            <a:endParaRPr lang="en-US" sz="36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49592029"/>
              </p:ext>
            </p:extLst>
          </p:nvPr>
        </p:nvGraphicFramePr>
        <p:xfrm>
          <a:off x="1249251" y="1326525"/>
          <a:ext cx="9375819" cy="5292500"/>
        </p:xfrm>
        <a:graphic>
          <a:graphicData uri="http://schemas.openxmlformats.org/drawingml/2006/table">
            <a:tbl>
              <a:tblPr/>
              <a:tblGrid>
                <a:gridCol w="3125273"/>
                <a:gridCol w="3125273"/>
                <a:gridCol w="3125273"/>
              </a:tblGrid>
              <a:tr h="455626">
                <a:tc>
                  <a:txBody>
                    <a:bodyPr/>
                    <a:lstStyle/>
                    <a:p>
                      <a:r>
                        <a:rPr lang="en-US" dirty="0">
                          <a:latin typeface="Times New Roman" panose="02020603050405020304" pitchFamily="18" charset="0"/>
                          <a:cs typeface="Times New Roman" panose="02020603050405020304" pitchFamily="18" charset="0"/>
                        </a:rPr>
                        <a:t>Aspect</a:t>
                      </a:r>
                    </a:p>
                  </a:txBody>
                  <a:tcPr anchor="ctr">
                    <a:lnL>
                      <a:noFill/>
                    </a:lnL>
                    <a:lnR>
                      <a:noFill/>
                    </a:lnR>
                    <a:lnT>
                      <a:noFill/>
                    </a:lnT>
                    <a:lnB>
                      <a:noFill/>
                    </a:lnB>
                  </a:tcPr>
                </a:tc>
                <a:tc>
                  <a:txBody>
                    <a:bodyPr/>
                    <a:lstStyle/>
                    <a:p>
                      <a:r>
                        <a:rPr lang="en-US" b="1">
                          <a:latin typeface="Times New Roman" panose="02020603050405020304" pitchFamily="18" charset="0"/>
                          <a:cs typeface="Times New Roman" panose="02020603050405020304" pitchFamily="18" charset="0"/>
                        </a:rPr>
                        <a:t>Nutrient</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b="1">
                          <a:latin typeface="Times New Roman" panose="02020603050405020304" pitchFamily="18" charset="0"/>
                          <a:cs typeface="Times New Roman" panose="02020603050405020304" pitchFamily="18" charset="0"/>
                        </a:rPr>
                        <a:t>Non-Nutrient</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r>
              <a:tr h="1139064">
                <a:tc>
                  <a:txBody>
                    <a:bodyPr/>
                    <a:lstStyle/>
                    <a:p>
                      <a:r>
                        <a:rPr lang="en-US" b="1" dirty="0">
                          <a:latin typeface="Times New Roman" panose="02020603050405020304" pitchFamily="18" charset="0"/>
                          <a:cs typeface="Times New Roman" panose="02020603050405020304" pitchFamily="18" charset="0"/>
                        </a:rPr>
                        <a:t>Definition</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Chemical substances in food required for growth, energy, repair and regulation of body functions</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Substances in food that are not essential nutrients but may influence health</a:t>
                      </a:r>
                    </a:p>
                  </a:txBody>
                  <a:tcPr anchor="ctr">
                    <a:lnL>
                      <a:noFill/>
                    </a:lnL>
                    <a:lnR>
                      <a:noFill/>
                    </a:lnR>
                    <a:lnT>
                      <a:noFill/>
                    </a:lnT>
                    <a:lnB>
                      <a:noFill/>
                    </a:lnB>
                  </a:tcPr>
                </a:tc>
              </a:tr>
              <a:tr h="797345">
                <a:tc>
                  <a:txBody>
                    <a:bodyPr/>
                    <a:lstStyle/>
                    <a:p>
                      <a:r>
                        <a:rPr lang="en-US" b="1">
                          <a:latin typeface="Times New Roman" panose="02020603050405020304" pitchFamily="18" charset="0"/>
                          <a:cs typeface="Times New Roman" panose="02020603050405020304" pitchFamily="18" charset="0"/>
                        </a:rPr>
                        <a:t>Essentiality</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Essential for survival and normal body function</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Not essential for survival</a:t>
                      </a:r>
                    </a:p>
                  </a:txBody>
                  <a:tcPr anchor="ctr">
                    <a:lnL>
                      <a:noFill/>
                    </a:lnL>
                    <a:lnR>
                      <a:noFill/>
                    </a:lnR>
                    <a:lnT>
                      <a:noFill/>
                    </a:lnT>
                    <a:lnB>
                      <a:noFill/>
                    </a:lnB>
                  </a:tcPr>
                </a:tc>
              </a:tr>
              <a:tr h="797345">
                <a:tc>
                  <a:txBody>
                    <a:bodyPr/>
                    <a:lstStyle/>
                    <a:p>
                      <a:r>
                        <a:rPr lang="en-US" b="1">
                          <a:latin typeface="Times New Roman" panose="02020603050405020304" pitchFamily="18" charset="0"/>
                          <a:cs typeface="Times New Roman" panose="02020603050405020304" pitchFamily="18" charset="0"/>
                        </a:rPr>
                        <a:t>Energy value</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Some provide energy (carbohydrates, fats, proteins)</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Usually do not provide energy</a:t>
                      </a:r>
                    </a:p>
                  </a:txBody>
                  <a:tcPr anchor="ctr">
                    <a:lnL>
                      <a:noFill/>
                    </a:lnL>
                    <a:lnR>
                      <a:noFill/>
                    </a:lnR>
                    <a:lnT>
                      <a:noFill/>
                    </a:lnT>
                    <a:lnB>
                      <a:noFill/>
                    </a:lnB>
                  </a:tcPr>
                </a:tc>
              </a:tr>
              <a:tr h="797345">
                <a:tc>
                  <a:txBody>
                    <a:bodyPr/>
                    <a:lstStyle/>
                    <a:p>
                      <a:r>
                        <a:rPr lang="en-US" b="1">
                          <a:latin typeface="Times New Roman" panose="02020603050405020304" pitchFamily="18" charset="0"/>
                          <a:cs typeface="Times New Roman" panose="02020603050405020304" pitchFamily="18" charset="0"/>
                        </a:rPr>
                        <a:t>Role in body</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Build tissues, provide energy, regulate metabolism</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May aid digestion, protect against disease, add color/flavor</a:t>
                      </a:r>
                    </a:p>
                  </a:txBody>
                  <a:tcPr anchor="ctr">
                    <a:lnL>
                      <a:noFill/>
                    </a:lnL>
                    <a:lnR>
                      <a:noFill/>
                    </a:lnR>
                    <a:lnT>
                      <a:noFill/>
                    </a:lnT>
                    <a:lnB>
                      <a:noFill/>
                    </a:lnB>
                  </a:tcPr>
                </a:tc>
              </a:tr>
              <a:tr h="1139064">
                <a:tc>
                  <a:txBody>
                    <a:bodyPr/>
                    <a:lstStyle/>
                    <a:p>
                      <a:r>
                        <a:rPr lang="en-US" b="1">
                          <a:latin typeface="Times New Roman" panose="02020603050405020304" pitchFamily="18" charset="0"/>
                          <a:cs typeface="Times New Roman" panose="02020603050405020304" pitchFamily="18" charset="0"/>
                        </a:rPr>
                        <a:t>Examples</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Carbohydrates, Proteins, Fats, Vitamins, Minerals, Water</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Dietary fiber, Phytochemicals, Flavonoids, Tannins, Artificial colors, Preservatives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176080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46243"/>
          </a:xfrm>
        </p:spPr>
        <p:txBody>
          <a:bodyPr>
            <a:normAutofit fontScale="90000"/>
          </a:bodyPr>
          <a:lstStyle/>
          <a:p>
            <a:pPr algn="ctr"/>
            <a:r>
              <a:rPr lang="en-US" sz="3600" dirty="0" smtClean="0">
                <a:latin typeface="Times New Roman" panose="02020603050405020304" pitchFamily="18" charset="0"/>
                <a:cs typeface="Times New Roman" panose="02020603050405020304" pitchFamily="18" charset="0"/>
              </a:rPr>
              <a:t>OVERNUTRITION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14400"/>
            <a:ext cx="10515600" cy="5262563"/>
          </a:xfrm>
        </p:spPr>
        <p:txBody>
          <a:bodyPr/>
          <a:lstStyle/>
          <a:p>
            <a:pPr algn="just"/>
            <a:r>
              <a:rPr lang="en-US" dirty="0" err="1">
                <a:latin typeface="Times New Roman" panose="02020603050405020304" pitchFamily="18" charset="0"/>
                <a:cs typeface="Times New Roman" panose="02020603050405020304" pitchFamily="18" charset="0"/>
              </a:rPr>
              <a:t>Overnutrition</a:t>
            </a:r>
            <a:r>
              <a:rPr lang="en-US" dirty="0">
                <a:latin typeface="Times New Roman" panose="02020603050405020304" pitchFamily="18" charset="0"/>
                <a:cs typeface="Times New Roman" panose="02020603050405020304" pitchFamily="18" charset="0"/>
              </a:rPr>
              <a:t> refers to an excessive intake of dietary energy, largely from macronutrients like carbohydrates, fats, and proteins, beyond what the body expends. When energy intake consistently exceeds expenditure, the body stores this surplus.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err="1" smtClean="0">
                <a:latin typeface="Times New Roman" panose="02020603050405020304" pitchFamily="18" charset="0"/>
                <a:cs typeface="Times New Roman" panose="02020603050405020304" pitchFamily="18" charset="0"/>
              </a:rPr>
              <a:t>Eg</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Carbohydrates are first stored as glycogen in the liver and muscles; once full, excess carbohydrates convert to fat</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Fats, an energy-efficient fuel source, are stored as triglycerides in fat cells.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Proteins</a:t>
            </a:r>
            <a:r>
              <a:rPr lang="en-US" dirty="0">
                <a:latin typeface="Times New Roman" panose="02020603050405020304" pitchFamily="18" charset="0"/>
                <a:cs typeface="Times New Roman" panose="02020603050405020304" pitchFamily="18" charset="0"/>
              </a:rPr>
              <a:t>, primarily used for tissue repair, can also convert to fat if consumed in excess.</a:t>
            </a:r>
          </a:p>
        </p:txBody>
      </p:sp>
    </p:spTree>
    <p:extLst>
      <p:ext uri="{BB962C8B-B14F-4D97-AF65-F5344CB8AC3E}">
        <p14:creationId xmlns:p14="http://schemas.microsoft.com/office/powerpoint/2010/main" val="3246706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7005"/>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FACTORS CONTRIBUTING TO OVERNUTRITION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62130"/>
            <a:ext cx="10515600" cy="4914833"/>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high intake of energy-dense foods</a:t>
            </a:r>
            <a:r>
              <a:rPr lang="en-US" dirty="0">
                <a:latin typeface="Times New Roman" panose="02020603050405020304" pitchFamily="18" charset="0"/>
                <a:cs typeface="Times New Roman" panose="02020603050405020304" pitchFamily="18" charset="0"/>
              </a:rPr>
              <a:t>, particularly ultra-processed options and sugary beverages, contributes significantly to caloric excess</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Sedentary lifestyles </a:t>
            </a:r>
            <a:r>
              <a:rPr lang="en-US" dirty="0">
                <a:latin typeface="Times New Roman" panose="02020603050405020304" pitchFamily="18" charset="0"/>
                <a:cs typeface="Times New Roman" panose="02020603050405020304" pitchFamily="18" charset="0"/>
              </a:rPr>
              <a:t>further exacerbate the problem by reducing energy expenditure. Increased reliance on modern conveniences and extended screen time means fewer opportunities for physical activity. </a:t>
            </a:r>
            <a:endParaRPr lang="en-US" dirty="0" smtClean="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a:t>
            </a:r>
            <a:r>
              <a:rPr lang="en-US" b="1" dirty="0" smtClean="0">
                <a:latin typeface="Times New Roman" panose="02020603050405020304" pitchFamily="18" charset="0"/>
                <a:cs typeface="Times New Roman" panose="02020603050405020304" pitchFamily="18" charset="0"/>
              </a:rPr>
              <a:t>nvironmental </a:t>
            </a:r>
            <a:r>
              <a:rPr lang="en-US" b="1" dirty="0">
                <a:latin typeface="Times New Roman" panose="02020603050405020304" pitchFamily="18" charset="0"/>
                <a:cs typeface="Times New Roman" panose="02020603050405020304" pitchFamily="18" charset="0"/>
              </a:rPr>
              <a:t>influences </a:t>
            </a:r>
            <a:r>
              <a:rPr lang="en-US" dirty="0">
                <a:latin typeface="Times New Roman" panose="02020603050405020304" pitchFamily="18" charset="0"/>
                <a:cs typeface="Times New Roman" panose="02020603050405020304" pitchFamily="18" charset="0"/>
              </a:rPr>
              <a:t>also shape food choices. Easy access to unhealthy foods, often promoted through extensive marketing, can encourage overconsumption</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Socioeconomic factors </a:t>
            </a:r>
            <a:r>
              <a:rPr lang="en-US" dirty="0">
                <a:latin typeface="Times New Roman" panose="02020603050405020304" pitchFamily="18" charset="0"/>
                <a:cs typeface="Times New Roman" panose="02020603050405020304" pitchFamily="18" charset="0"/>
              </a:rPr>
              <a:t>significantly influence dietary patterns. Individuals with lower economic status often face limitations in accessing nutritious food, relying instead on cheaper, energy-dense foods</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Genetic predispositions </a:t>
            </a:r>
            <a:r>
              <a:rPr lang="en-US" dirty="0">
                <a:latin typeface="Times New Roman" panose="02020603050405020304" pitchFamily="18" charset="0"/>
                <a:cs typeface="Times New Roman" panose="02020603050405020304" pitchFamily="18" charset="0"/>
              </a:rPr>
              <a:t>can influence an individual’s metabolism and appetite, making some more susceptible to weight gain. While genetics play a part, environmental and lifestyle factors generally exert a more substantial influence on </a:t>
            </a:r>
            <a:r>
              <a:rPr lang="en-US" dirty="0" err="1">
                <a:latin typeface="Times New Roman" panose="02020603050405020304" pitchFamily="18" charset="0"/>
                <a:cs typeface="Times New Roman" panose="02020603050405020304" pitchFamily="18" charset="0"/>
              </a:rPr>
              <a:t>overnutrition</a:t>
            </a:r>
            <a:r>
              <a:rPr lang="en-US" dirty="0">
                <a:latin typeface="Times New Roman" panose="02020603050405020304" pitchFamily="18" charset="0"/>
                <a:cs typeface="Times New Roman" panose="02020603050405020304" pitchFamily="18" charset="0"/>
              </a:rPr>
              <a:t> development.</a:t>
            </a:r>
          </a:p>
        </p:txBody>
      </p:sp>
    </p:spTree>
    <p:extLst>
      <p:ext uri="{BB962C8B-B14F-4D97-AF65-F5344CB8AC3E}">
        <p14:creationId xmlns:p14="http://schemas.microsoft.com/office/powerpoint/2010/main" val="576819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HEALTH IMPLICATIONS OF OVERNUTRITION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14400"/>
            <a:ext cx="10515600" cy="5262563"/>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Chronic </a:t>
            </a:r>
            <a:r>
              <a:rPr lang="en-US" dirty="0" err="1">
                <a:latin typeface="Times New Roman" panose="02020603050405020304" pitchFamily="18" charset="0"/>
                <a:cs typeface="Times New Roman" panose="02020603050405020304" pitchFamily="18" charset="0"/>
              </a:rPr>
              <a:t>overnutrition</a:t>
            </a:r>
            <a:r>
              <a:rPr lang="en-US" dirty="0">
                <a:latin typeface="Times New Roman" panose="02020603050405020304" pitchFamily="18" charset="0"/>
                <a:cs typeface="Times New Roman" panose="02020603050405020304" pitchFamily="18" charset="0"/>
              </a:rPr>
              <a:t> can lead to a range of serious health problems.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Metabolic </a:t>
            </a:r>
            <a:r>
              <a:rPr lang="en-US" b="1" dirty="0">
                <a:latin typeface="Times New Roman" panose="02020603050405020304" pitchFamily="18" charset="0"/>
                <a:cs typeface="Times New Roman" panose="02020603050405020304" pitchFamily="18" charset="0"/>
              </a:rPr>
              <a:t>disorders </a:t>
            </a:r>
            <a:r>
              <a:rPr lang="en-US" dirty="0">
                <a:latin typeface="Times New Roman" panose="02020603050405020304" pitchFamily="18" charset="0"/>
                <a:cs typeface="Times New Roman" panose="02020603050405020304" pitchFamily="18" charset="0"/>
              </a:rPr>
              <a:t>are commonly associated with excessive nutrient intake. These include Type 2 diabetes, where cells become resistant to </a:t>
            </a:r>
            <a:r>
              <a:rPr lang="en-US" dirty="0" smtClean="0">
                <a:latin typeface="Times New Roman" panose="02020603050405020304" pitchFamily="18" charset="0"/>
                <a:cs typeface="Times New Roman" panose="02020603050405020304" pitchFamily="18" charset="0"/>
              </a:rPr>
              <a:t>insulin.</a:t>
            </a:r>
          </a:p>
          <a:p>
            <a:pPr algn="just"/>
            <a:r>
              <a:rPr lang="en-US" dirty="0" err="1">
                <a:latin typeface="Times New Roman" panose="02020603050405020304" pitchFamily="18" charset="0"/>
                <a:cs typeface="Times New Roman" panose="02020603050405020304" pitchFamily="18" charset="0"/>
              </a:rPr>
              <a:t>Overnutrition</a:t>
            </a:r>
            <a:r>
              <a:rPr lang="en-US" dirty="0">
                <a:latin typeface="Times New Roman" panose="02020603050405020304" pitchFamily="18" charset="0"/>
                <a:cs typeface="Times New Roman" panose="02020603050405020304" pitchFamily="18" charset="0"/>
              </a:rPr>
              <a:t> contributes to </a:t>
            </a:r>
            <a:r>
              <a:rPr lang="en-US" b="1" dirty="0">
                <a:latin typeface="Times New Roman" panose="02020603050405020304" pitchFamily="18" charset="0"/>
                <a:cs typeface="Times New Roman" panose="02020603050405020304" pitchFamily="18" charset="0"/>
              </a:rPr>
              <a:t>high blood pressure and unhealthy cholesterol levels</a:t>
            </a:r>
            <a:r>
              <a:rPr lang="en-US" dirty="0">
                <a:latin typeface="Times New Roman" panose="02020603050405020304" pitchFamily="18" charset="0"/>
                <a:cs typeface="Times New Roman" panose="02020603050405020304" pitchFamily="18" charset="0"/>
              </a:rPr>
              <a:t>, increasing the risk of heart disease and stroke</a:t>
            </a:r>
            <a:r>
              <a:rPr lang="en-US" dirty="0" smtClean="0">
                <a:latin typeface="Times New Roman" panose="02020603050405020304" pitchFamily="18" charset="0"/>
                <a:cs typeface="Times New Roman" panose="02020603050405020304" pitchFamily="18" charset="0"/>
              </a:rPr>
              <a:t>.</a:t>
            </a:r>
          </a:p>
          <a:p>
            <a:pPr algn="just"/>
            <a:r>
              <a:rPr lang="en-US" dirty="0" err="1">
                <a:latin typeface="Times New Roman" panose="02020603050405020304" pitchFamily="18" charset="0"/>
                <a:cs typeface="Times New Roman" panose="02020603050405020304" pitchFamily="18" charset="0"/>
              </a:rPr>
              <a:t>Overnutrition</a:t>
            </a:r>
            <a:r>
              <a:rPr lang="en-US" dirty="0">
                <a:latin typeface="Times New Roman" panose="02020603050405020304" pitchFamily="18" charset="0"/>
                <a:cs typeface="Times New Roman" panose="02020603050405020304" pitchFamily="18" charset="0"/>
              </a:rPr>
              <a:t> and obesity are linked to an increased risk of certain </a:t>
            </a:r>
            <a:r>
              <a:rPr lang="en-US" b="1" dirty="0" smtClean="0">
                <a:latin typeface="Times New Roman" panose="02020603050405020304" pitchFamily="18" charset="0"/>
                <a:cs typeface="Times New Roman" panose="02020603050405020304" pitchFamily="18" charset="0"/>
              </a:rPr>
              <a:t>cancers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Musculoskeletal issues also arise from increased strain on joints</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S</a:t>
            </a:r>
            <a:r>
              <a:rPr lang="en-US" b="1" dirty="0" smtClean="0">
                <a:latin typeface="Times New Roman" panose="02020603050405020304" pitchFamily="18" charset="0"/>
                <a:cs typeface="Times New Roman" panose="02020603050405020304" pitchFamily="18" charset="0"/>
              </a:rPr>
              <a:t>leep </a:t>
            </a:r>
            <a:r>
              <a:rPr lang="en-US" b="1" dirty="0">
                <a:latin typeface="Times New Roman" panose="02020603050405020304" pitchFamily="18" charset="0"/>
                <a:cs typeface="Times New Roman" panose="02020603050405020304" pitchFamily="18" charset="0"/>
              </a:rPr>
              <a:t>apnea</a:t>
            </a:r>
            <a:r>
              <a:rPr lang="en-US" dirty="0">
                <a:latin typeface="Times New Roman" panose="02020603050405020304" pitchFamily="18" charset="0"/>
                <a:cs typeface="Times New Roman" panose="02020603050405020304" pitchFamily="18" charset="0"/>
              </a:rPr>
              <a:t>, where breathing repeatedly stops during sleep</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Excess fat deposits in the neck can narrow the airway, and increased abdominal girth can compress the lungs, making breathing difficult. </a:t>
            </a:r>
            <a:endParaRPr lang="en-US" dirty="0" smtClean="0">
              <a:latin typeface="Times New Roman" panose="02020603050405020304" pitchFamily="18" charset="0"/>
              <a:cs typeface="Times New Roman" panose="02020603050405020304" pitchFamily="18" charset="0"/>
            </a:endParaRPr>
          </a:p>
          <a:p>
            <a:pPr algn="just"/>
            <a:r>
              <a:rPr lang="en-US" dirty="0" err="1" smtClean="0">
                <a:latin typeface="Times New Roman" panose="02020603050405020304" pitchFamily="18" charset="0"/>
                <a:cs typeface="Times New Roman" panose="02020603050405020304" pitchFamily="18" charset="0"/>
              </a:rPr>
              <a:t>Overnutrition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can also affect </a:t>
            </a:r>
            <a:r>
              <a:rPr lang="en-US" b="1" dirty="0">
                <a:latin typeface="Times New Roman" panose="02020603050405020304" pitchFamily="18" charset="0"/>
                <a:cs typeface="Times New Roman" panose="02020603050405020304" pitchFamily="18" charset="0"/>
              </a:rPr>
              <a:t>mental health</a:t>
            </a:r>
            <a:r>
              <a:rPr lang="en-US" dirty="0">
                <a:latin typeface="Times New Roman" panose="02020603050405020304" pitchFamily="18" charset="0"/>
                <a:cs typeface="Times New Roman" panose="02020603050405020304" pitchFamily="18" charset="0"/>
              </a:rPr>
              <a:t>, contributing to body image concerns, negative self-esteem, and an increased risk of depression and anxiety.</a:t>
            </a:r>
          </a:p>
        </p:txBody>
      </p:sp>
    </p:spTree>
    <p:extLst>
      <p:ext uri="{BB962C8B-B14F-4D97-AF65-F5344CB8AC3E}">
        <p14:creationId xmlns:p14="http://schemas.microsoft.com/office/powerpoint/2010/main" val="3320171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731"/>
          </a:xfrm>
        </p:spPr>
        <p:txBody>
          <a:bodyPr>
            <a:normAutofit/>
          </a:bodyPr>
          <a:lstStyle/>
          <a:p>
            <a:pPr algn="ctr"/>
            <a:r>
              <a:rPr lang="en-US" sz="3600" dirty="0" smtClean="0">
                <a:latin typeface="Times New Roman" panose="02020603050405020304" pitchFamily="18" charset="0"/>
                <a:cs typeface="Times New Roman" panose="02020603050405020304" pitchFamily="18" charset="0"/>
              </a:rPr>
              <a:t>CHRONIC DEGENERATIVE DISEASES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30309"/>
            <a:ext cx="10515600" cy="5095138"/>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A degenerative disease is a condition characterized by the progressive and irreversible deterioration of cells, tissues, and organs. This degradation occurs over time and can result in loss of function, disability, or cell </a:t>
            </a:r>
            <a:r>
              <a:rPr lang="en-US" dirty="0" smtClean="0">
                <a:latin typeface="Times New Roman" panose="02020603050405020304" pitchFamily="18" charset="0"/>
                <a:cs typeface="Times New Roman" panose="02020603050405020304" pitchFamily="18" charset="0"/>
              </a:rPr>
              <a:t>death.</a:t>
            </a:r>
          </a:p>
          <a:p>
            <a:pPr marL="0" indent="0" algn="just">
              <a:buNone/>
            </a:pPr>
            <a:r>
              <a:rPr lang="en-US" dirty="0">
                <a:latin typeface="Times New Roman" panose="02020603050405020304" pitchFamily="18" charset="0"/>
                <a:cs typeface="Times New Roman" panose="02020603050405020304" pitchFamily="18" charset="0"/>
              </a:rPr>
              <a:t>Degenerative diseases can be classified according to the affected tissue or organ, such as </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a:p>
            <a:pPr algn="just"/>
            <a:r>
              <a:rPr lang="en-US" b="1" dirty="0">
                <a:latin typeface="Times New Roman" panose="02020603050405020304" pitchFamily="18" charset="0"/>
                <a:cs typeface="Times New Roman" panose="02020603050405020304" pitchFamily="18" charset="0"/>
              </a:rPr>
              <a:t>Neurodegenerative Diseases:</a:t>
            </a:r>
            <a:r>
              <a:rPr lang="en-US" dirty="0">
                <a:latin typeface="Times New Roman" panose="02020603050405020304" pitchFamily="18" charset="0"/>
                <a:cs typeface="Times New Roman" panose="02020603050405020304" pitchFamily="18" charset="0"/>
              </a:rPr>
              <a:t> A group of complex diseases characterized by neuronal loss and the progressive degeneration of different areas of the nervous system.</a:t>
            </a:r>
          </a:p>
          <a:p>
            <a:pPr algn="just"/>
            <a:r>
              <a:rPr lang="en-US" b="1" dirty="0">
                <a:latin typeface="Times New Roman" panose="02020603050405020304" pitchFamily="18" charset="0"/>
                <a:cs typeface="Times New Roman" panose="02020603050405020304" pitchFamily="18" charset="0"/>
              </a:rPr>
              <a:t>Musculoskeletal Degenerative Diseases</a:t>
            </a:r>
            <a:r>
              <a:rPr lang="en-US" dirty="0">
                <a:latin typeface="Times New Roman" panose="02020603050405020304" pitchFamily="18" charset="0"/>
                <a:cs typeface="Times New Roman" panose="02020603050405020304" pitchFamily="18" charset="0"/>
              </a:rPr>
              <a:t>: Diseases that generally cause degeneration of the joints, cartilage, and bone structures, leading to pain, inflammation, stiffness, or loss of mobility.</a:t>
            </a:r>
          </a:p>
          <a:p>
            <a:pPr algn="just"/>
            <a:r>
              <a:rPr lang="en-US" b="1" dirty="0">
                <a:latin typeface="Times New Roman" panose="02020603050405020304" pitchFamily="18" charset="0"/>
                <a:cs typeface="Times New Roman" panose="02020603050405020304" pitchFamily="18" charset="0"/>
              </a:rPr>
              <a:t>Cardiovascular Degenerative Diseases:</a:t>
            </a:r>
            <a:r>
              <a:rPr lang="en-US" dirty="0">
                <a:latin typeface="Times New Roman" panose="02020603050405020304" pitchFamily="18" charset="0"/>
                <a:cs typeface="Times New Roman" panose="02020603050405020304" pitchFamily="18" charset="0"/>
              </a:rPr>
              <a:t> Conditions in which there is a progressive accumulation of atheromatous plaques in the arteries, leading to reduced blood flow and increasing the risk of events such as heart attacks and strokes.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0408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6548"/>
          </a:xfrm>
        </p:spPr>
        <p:txBody>
          <a:bodyPr>
            <a:normAutofit/>
          </a:bodyPr>
          <a:lstStyle/>
          <a:p>
            <a:pPr algn="ctr"/>
            <a:r>
              <a:rPr lang="en-US" sz="3600" dirty="0" smtClean="0">
                <a:latin typeface="Times New Roman" panose="02020603050405020304" pitchFamily="18" charset="0"/>
                <a:cs typeface="Times New Roman" panose="02020603050405020304" pitchFamily="18" charset="0"/>
              </a:rPr>
              <a:t>MAIN DEGENERATIVE DISEASES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91674"/>
            <a:ext cx="10515600" cy="5602309"/>
          </a:xfrm>
        </p:spPr>
        <p:txBody>
          <a:bodyPr>
            <a:normAutofit fontScale="85000" lnSpcReduction="20000"/>
          </a:bodyPr>
          <a:lstStyle/>
          <a:p>
            <a:pPr marL="0" indent="0" algn="just">
              <a:buNone/>
            </a:pPr>
            <a:r>
              <a:rPr lang="en-US" b="1" dirty="0">
                <a:latin typeface="Times New Roman" panose="02020603050405020304" pitchFamily="18" charset="0"/>
                <a:cs typeface="Times New Roman" panose="02020603050405020304" pitchFamily="18" charset="0"/>
              </a:rPr>
              <a:t>Alzheimer’s Disease (AD) </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It is the most common form of </a:t>
            </a:r>
            <a:r>
              <a:rPr lang="en-US" b="1" dirty="0">
                <a:latin typeface="Times New Roman" panose="02020603050405020304" pitchFamily="18" charset="0"/>
                <a:cs typeface="Times New Roman" panose="02020603050405020304" pitchFamily="18" charset="0"/>
              </a:rPr>
              <a:t>neurodegenerative disease</a:t>
            </a:r>
            <a:r>
              <a:rPr lang="en-US" dirty="0">
                <a:latin typeface="Times New Roman" panose="02020603050405020304" pitchFamily="18" charset="0"/>
                <a:cs typeface="Times New Roman" panose="02020603050405020304" pitchFamily="18" charset="0"/>
              </a:rPr>
              <a:t> and the leading cause of dementia, representing 60-80% of cases. This condition is characterized by neuronal loss and cognitive dysfunction and is rapidly becoming one of the most costly, deadly, and burdensome diseases of the </a:t>
            </a:r>
            <a:r>
              <a:rPr lang="en-US" dirty="0" smtClean="0">
                <a:latin typeface="Times New Roman" panose="02020603050405020304" pitchFamily="18" charset="0"/>
                <a:cs typeface="Times New Roman" panose="02020603050405020304" pitchFamily="18" charset="0"/>
              </a:rPr>
              <a:t>century.</a:t>
            </a: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Parkinson’s Disease (PD) </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It is a chronic and progressive neurodegenerative disorder that primarily affects older adults, although it can also appear in younger patients. It is the second most common neurodegenerative </a:t>
            </a:r>
            <a:r>
              <a:rPr lang="en-US" dirty="0" smtClean="0">
                <a:latin typeface="Times New Roman" panose="02020603050405020304" pitchFamily="18" charset="0"/>
                <a:cs typeface="Times New Roman" panose="02020603050405020304" pitchFamily="18" charset="0"/>
              </a:rPr>
              <a:t>disease, </a:t>
            </a:r>
            <a:r>
              <a:rPr lang="en-US" dirty="0">
                <a:latin typeface="Times New Roman" panose="02020603050405020304" pitchFamily="18" charset="0"/>
                <a:cs typeface="Times New Roman" panose="02020603050405020304" pitchFamily="18" charset="0"/>
              </a:rPr>
              <a:t>affecting about 4 million people </a:t>
            </a:r>
            <a:r>
              <a:rPr lang="en-US" dirty="0" smtClean="0">
                <a:latin typeface="Times New Roman" panose="02020603050405020304" pitchFamily="18" charset="0"/>
                <a:cs typeface="Times New Roman" panose="02020603050405020304" pitchFamily="18" charset="0"/>
              </a:rPr>
              <a:t>worldwide.</a:t>
            </a: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Osteoporosis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Osteoporosis is characterized by low bone mass and microstructural deterioration of bone tissue, which increases bone fragility and raises the risk of </a:t>
            </a:r>
            <a:r>
              <a:rPr lang="en-US" dirty="0" smtClean="0">
                <a:latin typeface="Times New Roman" panose="02020603050405020304" pitchFamily="18" charset="0"/>
                <a:cs typeface="Times New Roman" panose="02020603050405020304" pitchFamily="18" charset="0"/>
              </a:rPr>
              <a:t>fractures.</a:t>
            </a: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Multiple Sclerosis (MS)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multiple sclerosis</a:t>
            </a:r>
            <a:r>
              <a:rPr lang="en-US" dirty="0">
                <a:latin typeface="Times New Roman" panose="02020603050405020304" pitchFamily="18" charset="0"/>
                <a:cs typeface="Times New Roman" panose="02020603050405020304" pitchFamily="18" charset="0"/>
              </a:rPr>
              <a:t>, the immune system attacks the myelin, the protective layer around nerves in the brain and spinal cord due to inflammation. This damage to the myelin interferes with communication between the brain and the rest of the body, causing delayed or blocked nerve signals, which can lead to a variety of neurological symptoms and impact quality of life and functional </a:t>
            </a:r>
            <a:r>
              <a:rPr lang="en-US" dirty="0" smtClean="0">
                <a:latin typeface="Times New Roman" panose="02020603050405020304" pitchFamily="18" charset="0"/>
                <a:cs typeface="Times New Roman" panose="02020603050405020304" pitchFamily="18" charset="0"/>
              </a:rPr>
              <a:t>capacity.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207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TotalTime>
  <Words>757</Words>
  <Application>Microsoft Office PowerPoint</Application>
  <PresentationFormat>Widescreen</PresentationFormat>
  <Paragraphs>157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PROBIOTICS</vt:lpstr>
      <vt:lpstr>PROBIOTICS</vt:lpstr>
      <vt:lpstr>BENEFITS OF PROBIOTICS</vt:lpstr>
      <vt:lpstr>BENEFITS OF PROBIOTICS</vt:lpstr>
      <vt:lpstr>SIDE EFFECTS OF PROBIOTICS</vt:lpstr>
      <vt:lpstr>PREBIOTICS</vt:lpstr>
      <vt:lpstr>BENEFITS OF PREBIOTICS</vt:lpstr>
      <vt:lpstr>SOURCES OF PREBIOTICS</vt:lpstr>
      <vt:lpstr>SOURCES OF PREBIOTICS</vt:lpstr>
      <vt:lpstr>SYNBIOTICS</vt:lpstr>
      <vt:lpstr>SYNBIOTICS</vt:lpstr>
      <vt:lpstr>NATURAL SYNBIOTIC FOOD COMBINATIONS</vt:lpstr>
      <vt:lpstr>NUTRIENT Vs NON-NUTRIENT</vt:lpstr>
      <vt:lpstr>OVERNUTRITION</vt:lpstr>
      <vt:lpstr>FACTORS CONTRIBUTING TO OVERNUTRITION</vt:lpstr>
      <vt:lpstr>HEALTH IMPLICATIONS OF OVERNUTRITION</vt:lpstr>
      <vt:lpstr>CHRONIC DEGENERATIVE DISEASES</vt:lpstr>
      <vt:lpstr>MAIN DEGENERATIVE DISEASES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PROBIOTICS</dc:title>
  <dc:creator>IN6</dc:creator>
  <cp:lastModifiedBy>IN6</cp:lastModifiedBy>
  <cp:revision>19</cp:revision>
  <dcterms:created xsi:type="dcterms:W3CDTF">2026-03-03T14:49:05Z</dcterms:created>
  <dcterms:modified xsi:type="dcterms:W3CDTF">2026-03-05T03:03:43Z</dcterms:modified>
</cp:coreProperties>
</file>
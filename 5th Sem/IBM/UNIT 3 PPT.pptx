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7" r:id="rId1"/>
  </p:sldMasterIdLst>
  <p:sldIdLst>
    <p:sldId id="256" r:id="rId2"/>
    <p:sldId id="257" r:id="rId3"/>
    <p:sldId id="258" r:id="rId4"/>
    <p:sldId id="259" r:id="rId5"/>
    <p:sldId id="264" r:id="rId6"/>
    <p:sldId id="263" r:id="rId7"/>
    <p:sldId id="260" r:id="rId8"/>
    <p:sldId id="261" r:id="rId9"/>
    <p:sldId id="262" r:id="rId10"/>
    <p:sldId id="266" r:id="rId11"/>
    <p:sldId id="267" r:id="rId12"/>
    <p:sldId id="268" r:id="rId13"/>
    <p:sldId id="276" r:id="rId14"/>
    <p:sldId id="274" r:id="rId15"/>
    <p:sldId id="269" r:id="rId16"/>
    <p:sldId id="270" r:id="rId17"/>
    <p:sldId id="271" r:id="rId18"/>
    <p:sldId id="272" r:id="rId19"/>
    <p:sldId id="275" r:id="rId20"/>
    <p:sldId id="277" r:id="rId21"/>
    <p:sldId id="280" r:id="rId22"/>
    <p:sldId id="278" r:id="rId23"/>
    <p:sldId id="279" r:id="rId24"/>
    <p:sldId id="281" r:id="rId25"/>
    <p:sldId id="283" r:id="rId26"/>
    <p:sldId id="282" r:id="rId27"/>
    <p:sldId id="284" r:id="rId28"/>
    <p:sldId id="285" r:id="rId29"/>
    <p:sldId id="287" r:id="rId30"/>
    <p:sldId id="286" r:id="rId31"/>
    <p:sldId id="288" r:id="rId32"/>
    <p:sldId id="290" r:id="rId33"/>
    <p:sldId id="289" r:id="rId34"/>
    <p:sldId id="292" r:id="rId35"/>
    <p:sldId id="291" r:id="rId36"/>
    <p:sldId id="293" r:id="rId37"/>
    <p:sldId id="297" r:id="rId38"/>
    <p:sldId id="294" r:id="rId39"/>
    <p:sldId id="295" r:id="rId40"/>
    <p:sldId id="298" r:id="rId41"/>
    <p:sldId id="299" r:id="rId42"/>
    <p:sldId id="300" r:id="rId4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6" d="100"/>
          <a:sy n="86" d="100"/>
        </p:scale>
        <p:origin x="56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729E98C-ECAC-47A8-9885-08ABC452CFDB}"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8E94F-A9AD-40B2-941D-BC412E1B69B7}" type="slidenum">
              <a:rPr lang="en-US" smtClean="0"/>
              <a:t>‹#›</a:t>
            </a:fld>
            <a:endParaRPr lang="en-US"/>
          </a:p>
        </p:txBody>
      </p:sp>
    </p:spTree>
    <p:extLst>
      <p:ext uri="{BB962C8B-B14F-4D97-AF65-F5344CB8AC3E}">
        <p14:creationId xmlns:p14="http://schemas.microsoft.com/office/powerpoint/2010/main" val="29055087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29E98C-ECAC-47A8-9885-08ABC452CFDB}"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8E94F-A9AD-40B2-941D-BC412E1B69B7}" type="slidenum">
              <a:rPr lang="en-US" smtClean="0"/>
              <a:t>‹#›</a:t>
            </a:fld>
            <a:endParaRPr lang="en-US"/>
          </a:p>
        </p:txBody>
      </p:sp>
    </p:spTree>
    <p:extLst>
      <p:ext uri="{BB962C8B-B14F-4D97-AF65-F5344CB8AC3E}">
        <p14:creationId xmlns:p14="http://schemas.microsoft.com/office/powerpoint/2010/main" val="2049837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29E98C-ECAC-47A8-9885-08ABC452CFDB}"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8E94F-A9AD-40B2-941D-BC412E1B69B7}" type="slidenum">
              <a:rPr lang="en-US" smtClean="0"/>
              <a:t>‹#›</a:t>
            </a:fld>
            <a:endParaRPr lang="en-US"/>
          </a:p>
        </p:txBody>
      </p:sp>
    </p:spTree>
    <p:extLst>
      <p:ext uri="{BB962C8B-B14F-4D97-AF65-F5344CB8AC3E}">
        <p14:creationId xmlns:p14="http://schemas.microsoft.com/office/powerpoint/2010/main" val="794404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729E98C-ECAC-47A8-9885-08ABC452CFDB}"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C8E94F-A9AD-40B2-941D-BC412E1B69B7}" type="slidenum">
              <a:rPr lang="en-US" smtClean="0"/>
              <a:t>‹#›</a:t>
            </a:fld>
            <a:endParaRPr lang="en-US"/>
          </a:p>
        </p:txBody>
      </p:sp>
    </p:spTree>
    <p:extLst>
      <p:ext uri="{BB962C8B-B14F-4D97-AF65-F5344CB8AC3E}">
        <p14:creationId xmlns:p14="http://schemas.microsoft.com/office/powerpoint/2010/main" val="2049856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729E98C-ECAC-47A8-9885-08ABC452CFDB}" type="datetimeFigureOut">
              <a:rPr lang="en-US" smtClean="0"/>
              <a:t>8/5/2026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C8E94F-A9AD-40B2-941D-BC412E1B69B7}" type="slidenum">
              <a:rPr lang="en-US" smtClean="0"/>
              <a:t>‹#›</a:t>
            </a:fld>
            <a:endParaRPr lang="en-US"/>
          </a:p>
        </p:txBody>
      </p:sp>
    </p:spTree>
    <p:extLst>
      <p:ext uri="{BB962C8B-B14F-4D97-AF65-F5344CB8AC3E}">
        <p14:creationId xmlns:p14="http://schemas.microsoft.com/office/powerpoint/2010/main" val="7057119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729E98C-ECAC-47A8-9885-08ABC452CFDB}" type="datetimeFigureOut">
              <a:rPr lang="en-US" smtClean="0"/>
              <a:t>8/5/2026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C8E94F-A9AD-40B2-941D-BC412E1B69B7}" type="slidenum">
              <a:rPr lang="en-US" smtClean="0"/>
              <a:t>‹#›</a:t>
            </a:fld>
            <a:endParaRPr lang="en-US"/>
          </a:p>
        </p:txBody>
      </p:sp>
    </p:spTree>
    <p:extLst>
      <p:ext uri="{BB962C8B-B14F-4D97-AF65-F5344CB8AC3E}">
        <p14:creationId xmlns:p14="http://schemas.microsoft.com/office/powerpoint/2010/main" val="1647414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29E98C-ECAC-47A8-9885-08ABC452CFDB}" type="datetimeFigureOut">
              <a:rPr lang="en-US" smtClean="0"/>
              <a:t>8/5/2026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C8E94F-A9AD-40B2-941D-BC412E1B69B7}" type="slidenum">
              <a:rPr lang="en-US" smtClean="0"/>
              <a:t>‹#›</a:t>
            </a:fld>
            <a:endParaRPr lang="en-US"/>
          </a:p>
        </p:txBody>
      </p:sp>
    </p:spTree>
    <p:extLst>
      <p:ext uri="{BB962C8B-B14F-4D97-AF65-F5344CB8AC3E}">
        <p14:creationId xmlns:p14="http://schemas.microsoft.com/office/powerpoint/2010/main" val="873251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729E98C-ECAC-47A8-9885-08ABC452CFDB}" type="datetimeFigureOut">
              <a:rPr lang="en-US" smtClean="0"/>
              <a:t>8/5/2026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C8E94F-A9AD-40B2-941D-BC412E1B69B7}" type="slidenum">
              <a:rPr lang="en-US" smtClean="0"/>
              <a:t>‹#›</a:t>
            </a:fld>
            <a:endParaRPr lang="en-US"/>
          </a:p>
        </p:txBody>
      </p:sp>
    </p:spTree>
    <p:extLst>
      <p:ext uri="{BB962C8B-B14F-4D97-AF65-F5344CB8AC3E}">
        <p14:creationId xmlns:p14="http://schemas.microsoft.com/office/powerpoint/2010/main" val="3438475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C8E94F-A9AD-40B2-941D-BC412E1B69B7}" type="slidenum">
              <a:rPr lang="en-US" smtClean="0"/>
              <a:t>‹#›</a:t>
            </a:fld>
            <a:endParaRPr lang="en-US"/>
          </a:p>
        </p:txBody>
      </p:sp>
      <p:sp>
        <p:nvSpPr>
          <p:cNvPr id="5" name="Date Placeholder 4"/>
          <p:cNvSpPr>
            <a:spLocks noGrp="1"/>
          </p:cNvSpPr>
          <p:nvPr>
            <p:ph type="dt" sz="half" idx="10"/>
          </p:nvPr>
        </p:nvSpPr>
        <p:spPr/>
        <p:txBody>
          <a:bodyPr/>
          <a:lstStyle/>
          <a:p>
            <a:fld id="{D729E98C-ECAC-47A8-9885-08ABC452CFDB}" type="datetimeFigureOut">
              <a:rPr lang="en-US" smtClean="0"/>
              <a:t>8/5/2026</a:t>
            </a:fld>
            <a:endParaRPr lang="en-US"/>
          </a:p>
        </p:txBody>
      </p:sp>
    </p:spTree>
    <p:extLst>
      <p:ext uri="{BB962C8B-B14F-4D97-AF65-F5344CB8AC3E}">
        <p14:creationId xmlns:p14="http://schemas.microsoft.com/office/powerpoint/2010/main" val="3347591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29E98C-ECAC-47A8-9885-08ABC452CFDB}"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8E94F-A9AD-40B2-941D-BC412E1B69B7}" type="slidenum">
              <a:rPr lang="en-US" smtClean="0"/>
              <a:t>‹#›</a:t>
            </a:fld>
            <a:endParaRPr lang="en-US"/>
          </a:p>
        </p:txBody>
      </p:sp>
    </p:spTree>
    <p:extLst>
      <p:ext uri="{BB962C8B-B14F-4D97-AF65-F5344CB8AC3E}">
        <p14:creationId xmlns:p14="http://schemas.microsoft.com/office/powerpoint/2010/main" val="28250164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29E98C-ECAC-47A8-9885-08ABC452CFDB}"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8E94F-A9AD-40B2-941D-BC412E1B69B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16900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29E98C-ECAC-47A8-9885-08ABC452CFDB}"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8E94F-A9AD-40B2-941D-BC412E1B69B7}" type="slidenum">
              <a:rPr lang="en-US" smtClean="0"/>
              <a:t>‹#›</a:t>
            </a:fld>
            <a:endParaRPr lang="en-US"/>
          </a:p>
        </p:txBody>
      </p:sp>
    </p:spTree>
    <p:extLst>
      <p:ext uri="{BB962C8B-B14F-4D97-AF65-F5344CB8AC3E}">
        <p14:creationId xmlns:p14="http://schemas.microsoft.com/office/powerpoint/2010/main" val="23694668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29E98C-ECAC-47A8-9885-08ABC452CFDB}"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8E94F-A9AD-40B2-941D-BC412E1B69B7}"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9892201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29E98C-ECAC-47A8-9885-08ABC452CFDB}"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8E94F-A9AD-40B2-941D-BC412E1B69B7}" type="slidenum">
              <a:rPr lang="en-US" smtClean="0"/>
              <a:t>‹#›</a:t>
            </a:fld>
            <a:endParaRPr lang="en-US"/>
          </a:p>
        </p:txBody>
      </p:sp>
    </p:spTree>
    <p:extLst>
      <p:ext uri="{BB962C8B-B14F-4D97-AF65-F5344CB8AC3E}">
        <p14:creationId xmlns:p14="http://schemas.microsoft.com/office/powerpoint/2010/main" val="22263647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29E98C-ECAC-47A8-9885-08ABC452CFDB}"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8E94F-A9AD-40B2-941D-BC412E1B69B7}" type="slidenum">
              <a:rPr lang="en-US" smtClean="0"/>
              <a:t>‹#›</a:t>
            </a:fld>
            <a:endParaRPr lang="en-US"/>
          </a:p>
        </p:txBody>
      </p:sp>
    </p:spTree>
    <p:extLst>
      <p:ext uri="{BB962C8B-B14F-4D97-AF65-F5344CB8AC3E}">
        <p14:creationId xmlns:p14="http://schemas.microsoft.com/office/powerpoint/2010/main" val="746682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729E98C-ECAC-47A8-9885-08ABC452CFDB}" type="datetimeFigureOut">
              <a:rPr lang="en-US" smtClean="0"/>
              <a:t>8/5/2026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C8E94F-A9AD-40B2-941D-BC412E1B69B7}" type="slidenum">
              <a:rPr lang="en-US" smtClean="0"/>
              <a:t>‹#›</a:t>
            </a:fld>
            <a:endParaRPr lang="en-US"/>
          </a:p>
        </p:txBody>
      </p:sp>
    </p:spTree>
    <p:extLst>
      <p:ext uri="{BB962C8B-B14F-4D97-AF65-F5344CB8AC3E}">
        <p14:creationId xmlns:p14="http://schemas.microsoft.com/office/powerpoint/2010/main" val="2869588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729E98C-ECAC-47A8-9885-08ABC452CFDB}" type="datetimeFigureOut">
              <a:rPr lang="en-US" smtClean="0"/>
              <a:t>8/5/2026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4C8E94F-A9AD-40B2-941D-BC412E1B69B7}" type="slidenum">
              <a:rPr lang="en-US" smtClean="0"/>
              <a:t>‹#›</a:t>
            </a:fld>
            <a:endParaRPr lang="en-US"/>
          </a:p>
        </p:txBody>
      </p:sp>
    </p:spTree>
    <p:extLst>
      <p:ext uri="{BB962C8B-B14F-4D97-AF65-F5344CB8AC3E}">
        <p14:creationId xmlns:p14="http://schemas.microsoft.com/office/powerpoint/2010/main" val="1130381948"/>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 id="2147483693"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en.wikipedia.org/wiki/Euclidean_distance" TargetMode="External"/><Relationship Id="rId2" Type="http://schemas.openxmlformats.org/officeDocument/2006/relationships/hyperlink" Target="https://www.aclu.org/blog/privacy-technology/surveillance-technologies/fbi-has-access-over-640-million-photos-us-through"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en.wikipedia.org/wiki/Application_softwar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hyperlink" Target="https://www.google.com/search?rlz=1C1CHZN_enIN1057IN1057&amp;cs=0&amp;sca_esv=2343f0def42fad25&amp;q=palm+vein+recognition&amp;sa=X&amp;ved=2ahUKEwj40aeJ2cqPAxVC6jgGHZp6D1MQxccNegQIAxAB&amp;mstk=AUtExfBbcKjcnPh5Rthyk1sJuMERjKSk9ScqADT3-_QnkIzk7A-Gj0xe7eA9dWrC-rAgDYehhOrFpCB6ZXtPOTeq7vKJP4AEKC7O5mnDRap1zA1JgeVXaS6XChJsPZHF4xVgubSBstTRYYgyxGjl30PWRk_8DC1lzPhhd6jfcvi24HCB2B0&amp;csui=3"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s://www.google.com/search?sca_esv=2bdaff5eaf256dbe&amp;rlz=1C1CHZN_enIN1057IN1057&amp;cs=0&amp;q=feature+extractors&amp;sa=X&amp;ved=2ahUKEwjFudeb9eGPAxVcSGcHHbhEHPwQxccNegQIBhAC&amp;mstk=AUtExfCyGnkjMbF6UgWp7AFLhWk8J0vNnmXOf_WED64MDACPMqYGeX_vJhmOmiwqSB9NbNCQO-anJojCHXXR-PqAMZZFyXFVelR6vzxqSuQlRrA0Gn_YKmk6e4BPI6X7ZFRhCV-StPmJ_nnDy39S1URcH32P6FWyf8iSczAHXjiFv2oEyNDANicss1zn7_eqPI_QH3Qw&amp;csui=3" TargetMode="External"/><Relationship Id="rId7" Type="http://schemas.openxmlformats.org/officeDocument/2006/relationships/hyperlink" Target="https://www.google.com/search?sca_esv=356e0bcf11d0cff3&amp;rlz=1C1CHZN_enIN1057IN1057&amp;cs=0&amp;q=template+aging&amp;sa=X&amp;ved=2ahUKEwjvmKf6mOSPAxUfxzgGHZ2VKsEQxccNegQIAhAC&amp;mstk=AUtExfCpWWJndr0PUsxA3RSInfWSEnPzo6DBk_9PkfXfLSqL9blmi_7lpPxakeElcBParvAqgkCLOaPqPopQnj7j70NjfN9CUI7wrDAVCeWRaJtQ8QlkRHSzFXNe6s6QqD3BlMQI6NwZhYTT58C5IX1T1YCmMNnX2WiGXbIVp3kuJyCm06PU4cISnkN12VZamGkOyrTo&amp;csui=3" TargetMode="External"/><Relationship Id="rId2" Type="http://schemas.openxmlformats.org/officeDocument/2006/relationships/hyperlink" Target="https://www.google.com/search?sca_esv=2bdaff5eaf256dbe&amp;rlz=1C1CHZN_enIN1057IN1057&amp;cs=0&amp;q=active+learning&amp;sa=X&amp;ved=2ahUKEwjFudeb9eGPAxVcSGcHHbhEHPwQxccNegQIBhAB&amp;mstk=AUtExfCyGnkjMbF6UgWp7AFLhWk8J0vNnmXOf_WED64MDACPMqYGeX_vJhmOmiwqSB9NbNCQO-anJojCHXXR-PqAMZZFyXFVelR6vzxqSuQlRrA0Gn_YKmk6e4BPI6X7ZFRhCV-StPmJ_nnDy39S1URcH32P6FWyf8iSczAHXjiFv2oEyNDANicss1zn7_eqPI_QH3Qw&amp;csui=3" TargetMode="External"/><Relationship Id="rId1" Type="http://schemas.openxmlformats.org/officeDocument/2006/relationships/slideLayout" Target="../slideLayouts/slideLayout2.xml"/><Relationship Id="rId6" Type="http://schemas.openxmlformats.org/officeDocument/2006/relationships/hyperlink" Target="https://www.google.com/search?sca_esv=2bdaff5eaf256dbe&amp;rlz=1C1CHZN_enIN1057IN1057&amp;cs=0&amp;q=particle+filters&amp;sa=X&amp;ved=2ahUKEwjFudeb9eGPAxVcSGcHHbhEHPwQxccNegQIBRAD&amp;mstk=AUtExfCyGnkjMbF6UgWp7AFLhWk8J0vNnmXOf_WED64MDACPMqYGeX_vJhmOmiwqSB9NbNCQO-anJojCHXXR-PqAMZZFyXFVelR6vzxqSuQlRrA0Gn_YKmk6e4BPI6X7ZFRhCV-StPmJ_nnDy39S1URcH32P6FWyf8iSczAHXjiFv2oEyNDANicss1zn7_eqPI_QH3Qw&amp;csui=3" TargetMode="External"/><Relationship Id="rId5" Type="http://schemas.openxmlformats.org/officeDocument/2006/relationships/hyperlink" Target="https://www.google.com/search?sca_esv=2bdaff5eaf256dbe&amp;rlz=1C1CHZN_enIN1057IN1057&amp;cs=0&amp;q=deep+learning+models+%28e.g.%2C+UNet%29&amp;sa=X&amp;ved=2ahUKEwjFudeb9eGPAxVcSGcHHbhEHPwQxccNegQIBRAC&amp;mstk=AUtExfCyGnkjMbF6UgWp7AFLhWk8J0vNnmXOf_WED64MDACPMqYGeX_vJhmOmiwqSB9NbNCQO-anJojCHXXR-PqAMZZFyXFVelR6vzxqSuQlRrA0Gn_YKmk6e4BPI6X7ZFRhCV-StPmJ_nnDy39S1URcH32P6FWyf8iSczAHXjiFv2oEyNDANicss1zn7_eqPI_QH3Qw&amp;csui=3" TargetMode="External"/><Relationship Id="rId4" Type="http://schemas.openxmlformats.org/officeDocument/2006/relationships/hyperlink" Target="https://www.google.com/search?sca_esv=2bdaff5eaf256dbe&amp;rlz=1C1CHZN_enIN1057IN1057&amp;cs=0&amp;q=boosted+classifiers&amp;sa=X&amp;ved=2ahUKEwjFudeb9eGPAxVcSGcHHbhEHPwQxccNegQIBRAB&amp;mstk=AUtExfCyGnkjMbF6UgWp7AFLhWk8J0vNnmXOf_WED64MDACPMqYGeX_vJhmOmiwqSB9NbNCQO-anJojCHXXR-PqAMZZFyXFVelR6vzxqSuQlRrA0Gn_YKmk6e4BPI6X7ZFRhCV-StPmJ_nnDy39S1URcH32P6FWyf8iSczAHXjiFv2oEyNDANicss1zn7_eqPI_QH3Qw&amp;csui=3"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www.google.com/search?sca_esv=2bdaff5eaf256dbe&amp;rlz=1C1CHZN_enIN1057IN1057&amp;cs=0&amp;q=SIFT+%28Scale-Invariant+Feature+Transform%29&amp;sa=X&amp;ved=2ahUKEwiHjPT5--GPAxV2XGwGHZkKJMMQxccNegQIKBAB&amp;mstk=AUtExfAdxzZ2AWjZls_dgKlJS0z_ngXf04MiZwJT78-osNYI_k29pmXIZlC0IQCn8c5ofS4fr32f-QVlIYRuQw0IvKE6wsjoOB8Z7K6ka0ENHL6_POvOkunU8TgopzPP_7bFSuTnb1MNuYjAG6UFHHEXwvVnxWhnSsrQ1m90DJQqcwko7HQ&amp;csui=3" TargetMode="External"/><Relationship Id="rId2" Type="http://schemas.openxmlformats.org/officeDocument/2006/relationships/hyperlink" Target="https://www.google.com/search?sca_esv=2bdaff5eaf256dbe&amp;rlz=1C1CHZN_enIN1057IN1057&amp;cs=0&amp;q=Active+Learning&amp;sa=X&amp;ved=2ahUKEwiHjPT5--GPAxV2XGwGHZkKJMMQxccNegQIGBAB&amp;mstk=AUtExfAdxzZ2AWjZls_dgKlJS0z_ngXf04MiZwJT78-osNYI_k29pmXIZlC0IQCn8c5ofS4fr32f-QVlIYRuQw0IvKE6wsjoOB8Z7K6ka0ENHL6_POvOkunU8TgopzPP_7bFSuTnb1MNuYjAG6UFHHEXwvVnxWhnSsrQ1m90DJQqcwko7HQ&amp;csui=3" TargetMode="External"/><Relationship Id="rId1" Type="http://schemas.openxmlformats.org/officeDocument/2006/relationships/slideLayout" Target="../slideLayouts/slideLayout2.xml"/><Relationship Id="rId5" Type="http://schemas.openxmlformats.org/officeDocument/2006/relationships/hyperlink" Target="https://www.google.com/search?sca_esv=2bdaff5eaf256dbe&amp;rlz=1C1CHZN_enIN1057IN1057&amp;cs=0&amp;q=particle+filters&amp;sa=X&amp;ved=2ahUKEwiHjPT5--GPAxV2XGwGHZkKJMMQxccNegQIJRAC&amp;mstk=AUtExfAdxzZ2AWjZls_dgKlJS0z_ngXf04MiZwJT78-osNYI_k29pmXIZlC0IQCn8c5ofS4fr32f-QVlIYRuQw0IvKE6wsjoOB8Z7K6ka0ENHL6_POvOkunU8TgopzPP_7bFSuTnb1MNuYjAG6UFHHEXwvVnxWhnSsrQ1m90DJQqcwko7HQ&amp;csui=3" TargetMode="External"/><Relationship Id="rId4" Type="http://schemas.openxmlformats.org/officeDocument/2006/relationships/hyperlink" Target="https://www.google.com/search?sca_esv=2bdaff5eaf256dbe&amp;rlz=1C1CHZN_enIN1057IN1057&amp;cs=0&amp;q=Sequential+Monte+Carlo&amp;sa=X&amp;ved=2ahUKEwiHjPT5--GPAxV2XGwGHZkKJMMQxccNegQIJRAB&amp;mstk=AUtExfAdxzZ2AWjZls_dgKlJS0z_ngXf04MiZwJT78-osNYI_k29pmXIZlC0IQCn8c5ofS4fr32f-QVlIYRuQw0IvKE6wsjoOB8Z7K6ka0ENHL6_POvOkunU8TgopzPP_7bFSuTnb1MNuYjAG6UFHHEXwvVnxWhnSsrQ1m90DJQqcwko7HQ&amp;csui=3"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google.com/search?sca_esv=356e0bcf11d0cff3&amp;rlz=1C1CHZN_enIN1057IN1057&amp;cs=0&amp;q=neural+networks&amp;sa=X&amp;ved=2ahUKEwjq6ar5nOSPAxUIzDgGHUAQGKkQxccNegQIBxAB&amp;mstk=AUtExfCo2TCC4ZqztIqiNuVqhgMjY4TcadURgrg9sJbda-upeUYp_njjHRuaWnRm_yFSL3ow-xVAcAfx3FcL86b8SofoDvizU8tYz_Aagr4eelk9uqKTFJ2XqxoGTvnowns3HVXl0Sa7IkPZsiDsFDkixXav02uTHHGnuTVfVU_Ynp8s2Uu2bQiXCCrI96JSp4OSn9Cy&amp;csui=3"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9AC5A-2B1D-552D-61E9-F3E75901B57D}"/>
              </a:ext>
            </a:extLst>
          </p:cNvPr>
          <p:cNvSpPr>
            <a:spLocks noGrp="1"/>
          </p:cNvSpPr>
          <p:nvPr>
            <p:ph type="ctrTitle"/>
          </p:nvPr>
        </p:nvSpPr>
        <p:spPr>
          <a:xfrm>
            <a:off x="1374545" y="1160865"/>
            <a:ext cx="7766936" cy="1646302"/>
          </a:xfrm>
          <a:prstGeom prst="rect">
            <a:avLst/>
          </a:prstGeom>
        </p:spPr>
        <p:txBody>
          <a:bodyPr/>
          <a:lstStyle/>
          <a:p>
            <a:pPr algn="ctr"/>
            <a:r>
              <a:rPr lang="en-US" sz="4000" dirty="0">
                <a:solidFill>
                  <a:schemeClr val="accent2">
                    <a:lumMod val="75000"/>
                  </a:schemeClr>
                </a:solidFill>
              </a:rPr>
              <a:t>UNIT III </a:t>
            </a:r>
            <a:br>
              <a:rPr lang="en-US" sz="4000" dirty="0">
                <a:solidFill>
                  <a:schemeClr val="accent2">
                    <a:lumMod val="75000"/>
                  </a:schemeClr>
                </a:solidFill>
              </a:rPr>
            </a:br>
            <a:r>
              <a:rPr lang="en-US" sz="4000" dirty="0">
                <a:solidFill>
                  <a:schemeClr val="accent2">
                    <a:lumMod val="75000"/>
                  </a:schemeClr>
                </a:solidFill>
              </a:rPr>
              <a:t>FACE RECOGNITION AND HAND GESTURE RECOGNITION </a:t>
            </a:r>
          </a:p>
        </p:txBody>
      </p:sp>
      <p:sp>
        <p:nvSpPr>
          <p:cNvPr id="3" name="Subtitle 2">
            <a:extLst>
              <a:ext uri="{FF2B5EF4-FFF2-40B4-BE49-F238E27FC236}">
                <a16:creationId xmlns:a16="http://schemas.microsoft.com/office/drawing/2014/main" id="{558FF645-4E84-8DE2-FD01-33E7CBB592D5}"/>
              </a:ext>
            </a:extLst>
          </p:cNvPr>
          <p:cNvSpPr>
            <a:spLocks noGrp="1"/>
          </p:cNvSpPr>
          <p:nvPr>
            <p:ph type="subTitle" idx="1"/>
          </p:nvPr>
        </p:nvSpPr>
        <p:spPr/>
        <p:txBody>
          <a:bodyPr>
            <a:normAutofit/>
          </a:bodyPr>
          <a:lstStyle/>
          <a:p>
            <a:endParaRPr lang="en-US" dirty="0"/>
          </a:p>
        </p:txBody>
      </p:sp>
      <p:pic>
        <p:nvPicPr>
          <p:cNvPr id="1026" name="Picture 2" descr="What is Face Detection &amp; Recognition - How It Works | Brainalyst">
            <a:extLst>
              <a:ext uri="{FF2B5EF4-FFF2-40B4-BE49-F238E27FC236}">
                <a16:creationId xmlns:a16="http://schemas.microsoft.com/office/drawing/2014/main" id="{201F9B46-CAA6-29C2-AE77-3B26C8690AB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56122" t="15630" r="10348" b="18928"/>
          <a:stretch/>
        </p:blipFill>
        <p:spPr bwMode="auto">
          <a:xfrm>
            <a:off x="3660377" y="3640015"/>
            <a:ext cx="2532664" cy="2595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886974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CE72F-ACB1-0128-FCBA-2739B09C7F81}"/>
              </a:ext>
            </a:extLst>
          </p:cNvPr>
          <p:cNvSpPr>
            <a:spLocks noGrp="1"/>
          </p:cNvSpPr>
          <p:nvPr>
            <p:ph type="title"/>
          </p:nvPr>
        </p:nvSpPr>
        <p:spPr/>
        <p:txBody>
          <a:bodyPr/>
          <a:lstStyle/>
          <a:p>
            <a:r>
              <a:rPr lang="en-US" dirty="0"/>
              <a:t>Introduction to face recognition</a:t>
            </a:r>
          </a:p>
        </p:txBody>
      </p:sp>
      <p:sp>
        <p:nvSpPr>
          <p:cNvPr id="3" name="Content Placeholder 2">
            <a:extLst>
              <a:ext uri="{FF2B5EF4-FFF2-40B4-BE49-F238E27FC236}">
                <a16:creationId xmlns:a16="http://schemas.microsoft.com/office/drawing/2014/main" id="{F44C5C32-539D-BDBA-B918-B94F382EF784}"/>
              </a:ext>
            </a:extLst>
          </p:cNvPr>
          <p:cNvSpPr>
            <a:spLocks noGrp="1"/>
          </p:cNvSpPr>
          <p:nvPr>
            <p:ph idx="1"/>
          </p:nvPr>
        </p:nvSpPr>
        <p:spPr/>
        <p:txBody>
          <a:bodyPr/>
          <a:lstStyle/>
          <a:p>
            <a:r>
              <a:rPr lang="en-US" b="0" i="0" dirty="0">
                <a:solidFill>
                  <a:srgbClr val="001D35"/>
                </a:solidFill>
                <a:effectLst/>
                <a:latin typeface="Google Sans"/>
              </a:rPr>
              <a:t>Face recognition is </a:t>
            </a:r>
            <a:r>
              <a:rPr lang="en-US" dirty="0"/>
              <a:t>a technology that identifies or verifies a person's identity using their face</a:t>
            </a:r>
            <a:r>
              <a:rPr lang="en-US" b="0" i="0" dirty="0">
                <a:solidFill>
                  <a:srgbClr val="001D35"/>
                </a:solidFill>
                <a:effectLst/>
                <a:latin typeface="Google Sans"/>
              </a:rPr>
              <a:t>.</a:t>
            </a:r>
          </a:p>
          <a:p>
            <a:r>
              <a:rPr lang="en-US" b="0" i="0" dirty="0">
                <a:solidFill>
                  <a:srgbClr val="444444"/>
                </a:solidFill>
                <a:effectLst/>
                <a:latin typeface="KasperskySansDisplay"/>
              </a:rPr>
              <a:t>Facial recognition is a way of identifying or confirming an individual’s identity using their face. </a:t>
            </a:r>
            <a:endParaRPr lang="en-US" dirty="0">
              <a:solidFill>
                <a:srgbClr val="001D35"/>
              </a:solidFill>
              <a:latin typeface="Google Sans"/>
            </a:endParaRPr>
          </a:p>
          <a:p>
            <a:r>
              <a:rPr lang="en-US" b="0" i="0" dirty="0">
                <a:solidFill>
                  <a:srgbClr val="444444"/>
                </a:solidFill>
                <a:effectLst/>
                <a:latin typeface="KasperskySansDisplay"/>
              </a:rPr>
              <a:t> Facial recognition systems can be used to identify people in photos, videos, or in real-time.</a:t>
            </a:r>
          </a:p>
          <a:p>
            <a:r>
              <a:rPr lang="en-US" b="0" i="0" dirty="0">
                <a:solidFill>
                  <a:srgbClr val="606060"/>
                </a:solidFill>
                <a:effectLst/>
                <a:latin typeface="PT Serif" panose="020A0603040505020204" pitchFamily="18" charset="0"/>
              </a:rPr>
              <a:t>Face recognition is the automated comparison of one face image and one or more other face images for the sake of establishing or verifying identity</a:t>
            </a:r>
            <a:endParaRPr lang="en-US" dirty="0"/>
          </a:p>
        </p:txBody>
      </p:sp>
    </p:spTree>
    <p:extLst>
      <p:ext uri="{BB962C8B-B14F-4D97-AF65-F5344CB8AC3E}">
        <p14:creationId xmlns:p14="http://schemas.microsoft.com/office/powerpoint/2010/main" val="2650815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567A6F-381F-B7B1-229E-B5637DF708D0}"/>
              </a:ext>
            </a:extLst>
          </p:cNvPr>
          <p:cNvSpPr>
            <a:spLocks noGrp="1"/>
          </p:cNvSpPr>
          <p:nvPr>
            <p:ph idx="1"/>
          </p:nvPr>
        </p:nvSpPr>
        <p:spPr>
          <a:xfrm>
            <a:off x="677334" y="2107097"/>
            <a:ext cx="8596668" cy="2941982"/>
          </a:xfrm>
        </p:spPr>
        <p:txBody>
          <a:bodyPr/>
          <a:lstStyle/>
          <a:p>
            <a:pPr marL="0" indent="0">
              <a:buNone/>
            </a:pPr>
            <a:r>
              <a:rPr lang="en-US" b="0" i="0" dirty="0">
                <a:solidFill>
                  <a:srgbClr val="606060"/>
                </a:solidFill>
                <a:effectLst/>
                <a:latin typeface="PT Serif" panose="020A0603040505020204" pitchFamily="18" charset="0"/>
              </a:rPr>
              <a:t>These faces could be</a:t>
            </a:r>
          </a:p>
          <a:p>
            <a:r>
              <a:rPr lang="en-US" b="0" i="0" dirty="0">
                <a:solidFill>
                  <a:srgbClr val="606060"/>
                </a:solidFill>
                <a:effectLst/>
                <a:latin typeface="PT Serif" panose="020A0603040505020204" pitchFamily="18" charset="0"/>
              </a:rPr>
              <a:t> Two Dimensional (like a selfie) or </a:t>
            </a:r>
          </a:p>
          <a:p>
            <a:r>
              <a:rPr lang="en-US" b="0" i="0" dirty="0">
                <a:solidFill>
                  <a:srgbClr val="606060"/>
                </a:solidFill>
                <a:effectLst/>
                <a:latin typeface="PT Serif" panose="020A0603040505020204" pitchFamily="18" charset="0"/>
              </a:rPr>
              <a:t>Three Dimensional (like from a specialized sensor on a smartphone)</a:t>
            </a:r>
          </a:p>
          <a:p>
            <a:r>
              <a:rPr lang="en-US" b="0" i="0" dirty="0">
                <a:solidFill>
                  <a:srgbClr val="606060"/>
                </a:solidFill>
                <a:effectLst/>
                <a:latin typeface="PT Serif" panose="020A0603040505020204" pitchFamily="18" charset="0"/>
              </a:rPr>
              <a:t>Photo (like a passport) or a</a:t>
            </a:r>
          </a:p>
          <a:p>
            <a:r>
              <a:rPr lang="en-US" b="0" i="0" dirty="0">
                <a:solidFill>
                  <a:srgbClr val="606060"/>
                </a:solidFill>
                <a:effectLst/>
                <a:latin typeface="PT Serif" panose="020A0603040505020204" pitchFamily="18" charset="0"/>
              </a:rPr>
              <a:t>Video (like from a security camera), they could be from a </a:t>
            </a:r>
          </a:p>
          <a:p>
            <a:r>
              <a:rPr lang="en-US" b="0" i="0" dirty="0">
                <a:solidFill>
                  <a:srgbClr val="606060"/>
                </a:solidFill>
                <a:effectLst/>
                <a:latin typeface="PT Serif" panose="020A0603040505020204" pitchFamily="18" charset="0"/>
              </a:rPr>
              <a:t>Basic Camera (like a webcam) or a</a:t>
            </a:r>
          </a:p>
          <a:p>
            <a:r>
              <a:rPr lang="en-US" b="0" i="0" dirty="0">
                <a:solidFill>
                  <a:srgbClr val="606060"/>
                </a:solidFill>
                <a:effectLst/>
                <a:latin typeface="PT Serif" panose="020A0603040505020204" pitchFamily="18" charset="0"/>
              </a:rPr>
              <a:t>Dedicated Reader (like an airport </a:t>
            </a:r>
            <a:r>
              <a:rPr lang="en-US" b="0" i="0" dirty="0" err="1">
                <a:solidFill>
                  <a:srgbClr val="606060"/>
                </a:solidFill>
                <a:effectLst/>
                <a:latin typeface="PT Serif" panose="020A0603040505020204" pitchFamily="18" charset="0"/>
              </a:rPr>
              <a:t>eGate</a:t>
            </a:r>
            <a:r>
              <a:rPr lang="en-US" b="0" i="0" dirty="0">
                <a:solidFill>
                  <a:srgbClr val="606060"/>
                </a:solidFill>
                <a:effectLst/>
                <a:latin typeface="PT Serif" panose="020A0603040505020204" pitchFamily="18" charset="0"/>
              </a:rPr>
              <a:t> terminal).</a:t>
            </a:r>
            <a:endParaRPr lang="en-US" dirty="0"/>
          </a:p>
        </p:txBody>
      </p:sp>
      <p:sp>
        <p:nvSpPr>
          <p:cNvPr id="4" name="Title 1">
            <a:extLst>
              <a:ext uri="{FF2B5EF4-FFF2-40B4-BE49-F238E27FC236}">
                <a16:creationId xmlns:a16="http://schemas.microsoft.com/office/drawing/2014/main" id="{7519695E-5668-2851-24E1-4AD190C3A08B}"/>
              </a:ext>
            </a:extLst>
          </p:cNvPr>
          <p:cNvSpPr>
            <a:spLocks noGrp="1"/>
          </p:cNvSpPr>
          <p:nvPr>
            <p:ph type="title"/>
          </p:nvPr>
        </p:nvSpPr>
        <p:spPr>
          <a:xfrm>
            <a:off x="677334" y="609600"/>
            <a:ext cx="8596668" cy="1320800"/>
          </a:xfrm>
        </p:spPr>
        <p:txBody>
          <a:bodyPr/>
          <a:lstStyle/>
          <a:p>
            <a:r>
              <a:rPr lang="en-US" dirty="0"/>
              <a:t>Introduction to face recognition</a:t>
            </a:r>
          </a:p>
        </p:txBody>
      </p:sp>
    </p:spTree>
    <p:extLst>
      <p:ext uri="{BB962C8B-B14F-4D97-AF65-F5344CB8AC3E}">
        <p14:creationId xmlns:p14="http://schemas.microsoft.com/office/powerpoint/2010/main" val="35444195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731FE-16B9-D865-ABA9-E8216A2C6F0E}"/>
              </a:ext>
            </a:extLst>
          </p:cNvPr>
          <p:cNvSpPr>
            <a:spLocks noGrp="1"/>
          </p:cNvSpPr>
          <p:nvPr>
            <p:ph type="title"/>
          </p:nvPr>
        </p:nvSpPr>
        <p:spPr>
          <a:xfrm>
            <a:off x="677334" y="609600"/>
            <a:ext cx="8596668" cy="1007165"/>
          </a:xfrm>
        </p:spPr>
        <p:txBody>
          <a:bodyPr>
            <a:normAutofit fontScale="90000"/>
          </a:bodyPr>
          <a:lstStyle/>
          <a:p>
            <a:r>
              <a:rPr lang="en-US" b="1" i="0" dirty="0">
                <a:solidFill>
                  <a:srgbClr val="444444"/>
                </a:solidFill>
                <a:effectLst/>
                <a:latin typeface="KasperskySansDisplay"/>
              </a:rPr>
              <a:t>Working of Facial Recognition</a:t>
            </a:r>
            <a:br>
              <a:rPr lang="en-US" b="1" i="0" dirty="0">
                <a:solidFill>
                  <a:srgbClr val="444444"/>
                </a:solidFill>
                <a:effectLst/>
                <a:latin typeface="KasperskySansDisplay"/>
              </a:rPr>
            </a:br>
            <a:endParaRPr lang="en-US" dirty="0"/>
          </a:p>
        </p:txBody>
      </p:sp>
      <p:sp>
        <p:nvSpPr>
          <p:cNvPr id="3" name="Content Placeholder 2">
            <a:extLst>
              <a:ext uri="{FF2B5EF4-FFF2-40B4-BE49-F238E27FC236}">
                <a16:creationId xmlns:a16="http://schemas.microsoft.com/office/drawing/2014/main" id="{C60E2C8E-FF96-9E65-1B6E-AD2391AA21EA}"/>
              </a:ext>
            </a:extLst>
          </p:cNvPr>
          <p:cNvSpPr>
            <a:spLocks noGrp="1"/>
          </p:cNvSpPr>
          <p:nvPr>
            <p:ph idx="1"/>
          </p:nvPr>
        </p:nvSpPr>
        <p:spPr>
          <a:xfrm>
            <a:off x="677334" y="1461866"/>
            <a:ext cx="9222040" cy="5217229"/>
          </a:xfrm>
        </p:spPr>
        <p:txBody>
          <a:bodyPr>
            <a:normAutofit/>
          </a:bodyPr>
          <a:lstStyle/>
          <a:p>
            <a:r>
              <a:rPr lang="en-US" b="0" i="0" dirty="0">
                <a:solidFill>
                  <a:schemeClr val="tx1"/>
                </a:solidFill>
                <a:effectLst/>
                <a:latin typeface="Google Sans"/>
              </a:rPr>
              <a:t>Many people are familiar with face recognition technology through the </a:t>
            </a:r>
            <a:r>
              <a:rPr lang="en-US" b="0" i="0" dirty="0" err="1">
                <a:solidFill>
                  <a:schemeClr val="tx1"/>
                </a:solidFill>
                <a:effectLst/>
                <a:latin typeface="Google Sans"/>
              </a:rPr>
              <a:t>FaceID</a:t>
            </a:r>
            <a:r>
              <a:rPr lang="en-US" b="0" i="0" dirty="0">
                <a:solidFill>
                  <a:schemeClr val="tx1"/>
                </a:solidFill>
                <a:effectLst/>
                <a:latin typeface="Google Sans"/>
              </a:rPr>
              <a:t> used to unlock Phones</a:t>
            </a:r>
          </a:p>
          <a:p>
            <a:r>
              <a:rPr lang="en-US" b="1" i="0" dirty="0">
                <a:solidFill>
                  <a:schemeClr val="tx1"/>
                </a:solidFill>
                <a:effectLst/>
                <a:latin typeface="Google Sans"/>
              </a:rPr>
              <a:t>Step 1: Face detection : </a:t>
            </a:r>
            <a:r>
              <a:rPr lang="en-US" b="0" i="0" dirty="0">
                <a:solidFill>
                  <a:srgbClr val="444444"/>
                </a:solidFill>
                <a:effectLst/>
                <a:latin typeface="KasperskySansDisplay"/>
              </a:rPr>
              <a:t>The camera detects and locates the image of a face, either alone or in a crowd. The image may show the person looking straight ahead or in profile.</a:t>
            </a:r>
            <a:endParaRPr lang="en-US" b="1" i="0" dirty="0">
              <a:solidFill>
                <a:schemeClr val="tx1"/>
              </a:solidFill>
              <a:effectLst/>
              <a:latin typeface="Google Sans"/>
            </a:endParaRPr>
          </a:p>
          <a:p>
            <a:r>
              <a:rPr lang="en-US" b="1" i="0" dirty="0">
                <a:solidFill>
                  <a:schemeClr val="tx1"/>
                </a:solidFill>
                <a:effectLst/>
                <a:latin typeface="Google Sans"/>
              </a:rPr>
              <a:t>Step 2: Face analysis: </a:t>
            </a:r>
            <a:r>
              <a:rPr lang="en-US" b="0" i="0" dirty="0">
                <a:solidFill>
                  <a:srgbClr val="444444"/>
                </a:solidFill>
                <a:effectLst/>
                <a:latin typeface="KasperskySansDisplay"/>
              </a:rPr>
              <a:t>Next, an image of the face is captured and analyzed. Most facial recognition technology relies on 2D rather than 3D images because it can more conveniently match a 2D image with public photos or those in a database. </a:t>
            </a:r>
          </a:p>
          <a:p>
            <a:r>
              <a:rPr lang="en-US" b="0" i="0" dirty="0">
                <a:solidFill>
                  <a:srgbClr val="444444"/>
                </a:solidFill>
                <a:effectLst/>
                <a:latin typeface="KasperskySansDisplay"/>
              </a:rPr>
              <a:t> The software reads the geometry of your face. Key factors include</a:t>
            </a:r>
          </a:p>
          <a:p>
            <a:pPr>
              <a:buFont typeface="Arial" panose="020B0604020202020204" pitchFamily="34" charset="0"/>
              <a:buChar char="•"/>
            </a:pPr>
            <a:r>
              <a:rPr lang="en-US" dirty="0">
                <a:solidFill>
                  <a:srgbClr val="444444"/>
                </a:solidFill>
                <a:latin typeface="KasperskySansDisplay"/>
              </a:rPr>
              <a:t>T</a:t>
            </a:r>
            <a:r>
              <a:rPr lang="en-US" b="0" i="0" dirty="0">
                <a:solidFill>
                  <a:srgbClr val="444444"/>
                </a:solidFill>
                <a:effectLst/>
                <a:latin typeface="KasperskySansDisplay"/>
              </a:rPr>
              <a:t>he distance between your eyes, </a:t>
            </a:r>
          </a:p>
          <a:p>
            <a:pPr>
              <a:buFont typeface="Arial" panose="020B0604020202020204" pitchFamily="34" charset="0"/>
              <a:buChar char="•"/>
            </a:pPr>
            <a:r>
              <a:rPr lang="en-US" dirty="0">
                <a:solidFill>
                  <a:srgbClr val="444444"/>
                </a:solidFill>
                <a:latin typeface="KasperskySansDisplay"/>
              </a:rPr>
              <a:t>T</a:t>
            </a:r>
            <a:r>
              <a:rPr lang="en-US" b="0" i="0" dirty="0">
                <a:solidFill>
                  <a:srgbClr val="444444"/>
                </a:solidFill>
                <a:effectLst/>
                <a:latin typeface="KasperskySansDisplay"/>
              </a:rPr>
              <a:t>he depth of your eye sockets, </a:t>
            </a:r>
          </a:p>
          <a:p>
            <a:pPr>
              <a:buFont typeface="Arial" panose="020B0604020202020204" pitchFamily="34" charset="0"/>
              <a:buChar char="•"/>
            </a:pPr>
            <a:r>
              <a:rPr lang="en-US" dirty="0">
                <a:solidFill>
                  <a:srgbClr val="444444"/>
                </a:solidFill>
                <a:latin typeface="KasperskySansDisplay"/>
              </a:rPr>
              <a:t>T</a:t>
            </a:r>
            <a:r>
              <a:rPr lang="en-US" b="0" i="0" dirty="0">
                <a:solidFill>
                  <a:srgbClr val="444444"/>
                </a:solidFill>
                <a:effectLst/>
                <a:latin typeface="KasperskySansDisplay"/>
              </a:rPr>
              <a:t>he distance from forehead to chin, </a:t>
            </a:r>
          </a:p>
          <a:p>
            <a:pPr>
              <a:buFont typeface="Arial" panose="020B0604020202020204" pitchFamily="34" charset="0"/>
              <a:buChar char="•"/>
            </a:pPr>
            <a:r>
              <a:rPr lang="en-US" dirty="0">
                <a:solidFill>
                  <a:srgbClr val="444444"/>
                </a:solidFill>
                <a:latin typeface="KasperskySansDisplay"/>
              </a:rPr>
              <a:t>T</a:t>
            </a:r>
            <a:r>
              <a:rPr lang="en-US" b="0" i="0" dirty="0">
                <a:solidFill>
                  <a:srgbClr val="444444"/>
                </a:solidFill>
                <a:effectLst/>
                <a:latin typeface="KasperskySansDisplay"/>
              </a:rPr>
              <a:t>he shape of your cheekbones, and </a:t>
            </a:r>
          </a:p>
          <a:p>
            <a:pPr>
              <a:buFont typeface="Arial" panose="020B0604020202020204" pitchFamily="34" charset="0"/>
              <a:buChar char="•"/>
            </a:pPr>
            <a:r>
              <a:rPr lang="en-US" dirty="0">
                <a:solidFill>
                  <a:srgbClr val="444444"/>
                </a:solidFill>
                <a:latin typeface="KasperskySansDisplay"/>
              </a:rPr>
              <a:t>T</a:t>
            </a:r>
            <a:r>
              <a:rPr lang="en-US" b="0" i="0" dirty="0">
                <a:solidFill>
                  <a:srgbClr val="444444"/>
                </a:solidFill>
                <a:effectLst/>
                <a:latin typeface="KasperskySansDisplay"/>
              </a:rPr>
              <a:t>he contour of the lips, ears, and chin. </a:t>
            </a:r>
          </a:p>
          <a:p>
            <a:pPr marL="0" indent="0">
              <a:buNone/>
            </a:pPr>
            <a:r>
              <a:rPr lang="en-US" b="0" i="0" dirty="0">
                <a:solidFill>
                  <a:srgbClr val="444444"/>
                </a:solidFill>
                <a:effectLst/>
                <a:latin typeface="KasperskySansDisplay"/>
              </a:rPr>
              <a:t>The aim is to identify the facial landmarks that are key to distinguishing your face.</a:t>
            </a:r>
            <a:endParaRPr lang="en-US" i="0" dirty="0">
              <a:solidFill>
                <a:schemeClr val="tx1"/>
              </a:solidFill>
              <a:effectLst/>
              <a:latin typeface="Google Sans"/>
            </a:endParaRPr>
          </a:p>
          <a:p>
            <a:endParaRPr lang="en-US" b="1" dirty="0">
              <a:solidFill>
                <a:srgbClr val="444444"/>
              </a:solidFill>
              <a:latin typeface="KasperskySansDisplay"/>
            </a:endParaRPr>
          </a:p>
          <a:p>
            <a:endParaRPr lang="en-US" b="1" i="0" dirty="0">
              <a:solidFill>
                <a:srgbClr val="444444"/>
              </a:solidFill>
              <a:effectLst/>
              <a:latin typeface="KasperskySansDisplay"/>
            </a:endParaRPr>
          </a:p>
          <a:p>
            <a:endParaRPr lang="en-US" dirty="0"/>
          </a:p>
        </p:txBody>
      </p:sp>
    </p:spTree>
    <p:extLst>
      <p:ext uri="{BB962C8B-B14F-4D97-AF65-F5344CB8AC3E}">
        <p14:creationId xmlns:p14="http://schemas.microsoft.com/office/powerpoint/2010/main" val="3039197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FA2FEA5-6782-4BC7-1E8C-6DA4274BF16B}"/>
              </a:ext>
            </a:extLst>
          </p:cNvPr>
          <p:cNvSpPr>
            <a:spLocks noGrp="1"/>
          </p:cNvSpPr>
          <p:nvPr>
            <p:ph idx="1"/>
          </p:nvPr>
        </p:nvSpPr>
        <p:spPr>
          <a:xfrm>
            <a:off x="677334" y="278296"/>
            <a:ext cx="8596668" cy="6400799"/>
          </a:xfrm>
        </p:spPr>
        <p:txBody>
          <a:bodyPr>
            <a:normAutofit/>
          </a:bodyPr>
          <a:lstStyle/>
          <a:p>
            <a:r>
              <a:rPr lang="en-US" b="1" i="0" dirty="0">
                <a:solidFill>
                  <a:schemeClr val="tx1"/>
                </a:solidFill>
                <a:effectLst/>
                <a:latin typeface="Google Sans"/>
              </a:rPr>
              <a:t>Step 3: Converting the image to data/ Template Creation</a:t>
            </a:r>
          </a:p>
          <a:p>
            <a:pPr marL="0" indent="0">
              <a:buNone/>
            </a:pPr>
            <a:r>
              <a:rPr lang="en-US" b="0" i="0" dirty="0">
                <a:solidFill>
                  <a:schemeClr val="tx1"/>
                </a:solidFill>
                <a:effectLst/>
                <a:latin typeface="Google Sans"/>
              </a:rPr>
              <a:t>The face capture process transforms analog information (a face) into a set of digital information (data) based on the person's facial features. Your face's analysis is essentially turned into a mathematical formula.</a:t>
            </a:r>
            <a:endParaRPr lang="en-US" b="1" i="0" dirty="0">
              <a:solidFill>
                <a:schemeClr val="tx1"/>
              </a:solidFill>
              <a:effectLst/>
              <a:latin typeface="Google Sans"/>
            </a:endParaRPr>
          </a:p>
          <a:p>
            <a:r>
              <a:rPr lang="en-US" b="1" i="0" dirty="0">
                <a:solidFill>
                  <a:schemeClr val="tx1"/>
                </a:solidFill>
                <a:effectLst/>
                <a:latin typeface="Google Sans"/>
              </a:rPr>
              <a:t>Step 4: Finding a match/ Template comparison</a:t>
            </a:r>
          </a:p>
          <a:p>
            <a:pPr marL="0" indent="0">
              <a:buNone/>
            </a:pPr>
            <a:r>
              <a:rPr lang="en-US" b="0" i="0" dirty="0">
                <a:solidFill>
                  <a:schemeClr val="tx1"/>
                </a:solidFill>
                <a:effectLst/>
                <a:latin typeface="Google Sans"/>
              </a:rPr>
              <a:t>Face matching happens by comparing two templates.</a:t>
            </a:r>
            <a:endParaRPr lang="en-US" b="1" i="0" dirty="0">
              <a:solidFill>
                <a:schemeClr val="tx1"/>
              </a:solidFill>
              <a:effectLst/>
              <a:latin typeface="Google Sans"/>
            </a:endParaRPr>
          </a:p>
          <a:p>
            <a:pPr marL="0" indent="0">
              <a:buNone/>
            </a:pPr>
            <a:r>
              <a:rPr lang="en-US" b="0" i="0" dirty="0">
                <a:solidFill>
                  <a:schemeClr val="tx1"/>
                </a:solidFill>
                <a:effectLst/>
                <a:latin typeface="Google Sans"/>
              </a:rPr>
              <a:t>Your faceprint is then compared against a database of other known faces. For example, the FBI has access to up to </a:t>
            </a:r>
            <a:r>
              <a:rPr lang="en-US" b="0" i="0" u="none" strike="noStrike" dirty="0">
                <a:solidFill>
                  <a:schemeClr val="tx1"/>
                </a:solidFill>
                <a:effectLst/>
                <a:latin typeface="Google Sans"/>
                <a:hlinkClick r:id="rId2">
                  <a:extLst>
                    <a:ext uri="{A12FA001-AC4F-418D-AE19-62706E023703}">
                      <ahyp:hlinkClr xmlns:ahyp="http://schemas.microsoft.com/office/drawing/2018/hyperlinkcolor" val="tx"/>
                    </a:ext>
                  </a:extLst>
                </a:hlinkClick>
              </a:rPr>
              <a:t>650 million photos</a:t>
            </a:r>
            <a:r>
              <a:rPr lang="en-US" b="0" i="0" dirty="0">
                <a:solidFill>
                  <a:schemeClr val="tx1"/>
                </a:solidFill>
                <a:effectLst/>
                <a:latin typeface="Google Sans"/>
              </a:rPr>
              <a:t>, drawn from various state databases.</a:t>
            </a:r>
          </a:p>
          <a:p>
            <a:pPr marL="0" indent="0">
              <a:buNone/>
            </a:pPr>
            <a:r>
              <a:rPr lang="en-US" b="0" i="0" dirty="0">
                <a:solidFill>
                  <a:schemeClr val="tx1"/>
                </a:solidFill>
                <a:effectLst/>
                <a:latin typeface="Google Sans"/>
              </a:rPr>
              <a:t>On Facebook/ Instagram , any photo tagged with a person’s name becomes a part of Facebook's database, which may also be used for facial recognition.</a:t>
            </a:r>
          </a:p>
          <a:p>
            <a:pPr marL="0" indent="0">
              <a:buNone/>
            </a:pPr>
            <a:r>
              <a:rPr lang="en-US" b="0" i="0" dirty="0">
                <a:solidFill>
                  <a:schemeClr val="tx1"/>
                </a:solidFill>
                <a:effectLst/>
                <a:latin typeface="Google Sans"/>
              </a:rPr>
              <a:t>It is estimated that over half of the world's population is touched by facial recognition technology regularly.</a:t>
            </a:r>
          </a:p>
          <a:p>
            <a:pPr marL="0" indent="0">
              <a:buNone/>
            </a:pPr>
            <a:r>
              <a:rPr lang="en-US" b="1" dirty="0">
                <a:solidFill>
                  <a:schemeClr val="tx1"/>
                </a:solidFill>
                <a:latin typeface="Google Sans"/>
              </a:rPr>
              <a:t>Technique of Template Comparison</a:t>
            </a:r>
          </a:p>
          <a:p>
            <a:pPr marL="0" indent="0">
              <a:buNone/>
            </a:pPr>
            <a:r>
              <a:rPr lang="en-US" b="0" i="0" dirty="0">
                <a:solidFill>
                  <a:schemeClr val="tx1"/>
                </a:solidFill>
                <a:effectLst/>
                <a:latin typeface="Google Sans"/>
              </a:rPr>
              <a:t>As the templates are actually just vectors, template comparison is accomplished by calculating the distance between these two vectors using an equation like </a:t>
            </a:r>
            <a:r>
              <a:rPr lang="en-US" b="1" i="0" u="sng" dirty="0">
                <a:solidFill>
                  <a:schemeClr val="tx1"/>
                </a:solidFill>
                <a:effectLst/>
                <a:latin typeface="Google Sans"/>
                <a:hlinkClick r:id="rId3">
                  <a:extLst>
                    <a:ext uri="{A12FA001-AC4F-418D-AE19-62706E023703}">
                      <ahyp:hlinkClr xmlns:ahyp="http://schemas.microsoft.com/office/drawing/2018/hyperlinkcolor" val="tx"/>
                    </a:ext>
                  </a:extLst>
                </a:hlinkClick>
              </a:rPr>
              <a:t>Euclidian distance</a:t>
            </a:r>
            <a:r>
              <a:rPr lang="en-US" b="0" i="0" dirty="0">
                <a:solidFill>
                  <a:schemeClr val="tx1"/>
                </a:solidFill>
                <a:effectLst/>
                <a:latin typeface="Google Sans"/>
              </a:rPr>
              <a:t> or similar calculation. The closer the distance, the closer the match between the templates.</a:t>
            </a:r>
            <a:endParaRPr lang="en-US" b="1" i="0" dirty="0">
              <a:solidFill>
                <a:schemeClr val="tx1"/>
              </a:solidFill>
              <a:effectLst/>
              <a:latin typeface="Google Sans"/>
            </a:endParaRPr>
          </a:p>
          <a:p>
            <a:pPr marL="0" indent="0">
              <a:buNone/>
            </a:pPr>
            <a:endParaRPr lang="en-US" dirty="0">
              <a:solidFill>
                <a:schemeClr val="tx1"/>
              </a:solidFill>
              <a:latin typeface="Google Sans"/>
            </a:endParaRPr>
          </a:p>
        </p:txBody>
      </p:sp>
    </p:spTree>
    <p:extLst>
      <p:ext uri="{BB962C8B-B14F-4D97-AF65-F5344CB8AC3E}">
        <p14:creationId xmlns:p14="http://schemas.microsoft.com/office/powerpoint/2010/main" val="23307765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General structure of face recognition system | Download Scientific Diagram">
            <a:extLst>
              <a:ext uri="{FF2B5EF4-FFF2-40B4-BE49-F238E27FC236}">
                <a16:creationId xmlns:a16="http://schemas.microsoft.com/office/drawing/2014/main" id="{6557FFC8-ACFE-5EF8-94A4-84528B762D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1224" y="535263"/>
            <a:ext cx="8035548" cy="54547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43351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B0E3D-739F-5848-945B-3994430116FE}"/>
              </a:ext>
            </a:extLst>
          </p:cNvPr>
          <p:cNvSpPr>
            <a:spLocks noGrp="1"/>
          </p:cNvSpPr>
          <p:nvPr>
            <p:ph type="title"/>
          </p:nvPr>
        </p:nvSpPr>
        <p:spPr/>
        <p:txBody>
          <a:bodyPr/>
          <a:lstStyle/>
          <a:p>
            <a:r>
              <a:rPr lang="en-US" dirty="0"/>
              <a:t>Application of Facial Recognition</a:t>
            </a:r>
          </a:p>
        </p:txBody>
      </p:sp>
      <p:sp>
        <p:nvSpPr>
          <p:cNvPr id="3" name="Content Placeholder 2">
            <a:extLst>
              <a:ext uri="{FF2B5EF4-FFF2-40B4-BE49-F238E27FC236}">
                <a16:creationId xmlns:a16="http://schemas.microsoft.com/office/drawing/2014/main" id="{C8ABBC52-01A5-F4B5-74FE-EA505667817D}"/>
              </a:ext>
            </a:extLst>
          </p:cNvPr>
          <p:cNvSpPr>
            <a:spLocks noGrp="1"/>
          </p:cNvSpPr>
          <p:nvPr>
            <p:ph idx="1"/>
          </p:nvPr>
        </p:nvSpPr>
        <p:spPr>
          <a:xfrm>
            <a:off x="677334" y="1775791"/>
            <a:ext cx="8596668" cy="4472609"/>
          </a:xfrm>
        </p:spPr>
        <p:txBody>
          <a:bodyPr>
            <a:normAutofit/>
          </a:bodyPr>
          <a:lstStyle/>
          <a:p>
            <a:r>
              <a:rPr lang="en-US" dirty="0"/>
              <a:t>Security: Access control (e.g., unlocking phones, accessing buildings).</a:t>
            </a:r>
          </a:p>
          <a:p>
            <a:r>
              <a:rPr lang="en-US" dirty="0"/>
              <a:t>Law Enforcement: Identifying suspects, surveillance.</a:t>
            </a:r>
          </a:p>
          <a:p>
            <a:r>
              <a:rPr lang="en-US" dirty="0"/>
              <a:t>Mobile Technology: Unlocking phones, verifying payments, photo organization.</a:t>
            </a:r>
          </a:p>
          <a:p>
            <a:r>
              <a:rPr lang="en-US" dirty="0"/>
              <a:t>Retail: Enhancing customer service, fraud detection.</a:t>
            </a:r>
          </a:p>
          <a:p>
            <a:r>
              <a:rPr lang="en-US" dirty="0"/>
              <a:t>Finance: Digital onboarding, fraud prevention. </a:t>
            </a:r>
          </a:p>
          <a:p>
            <a:r>
              <a:rPr lang="en-US" b="1" i="0" dirty="0">
                <a:solidFill>
                  <a:srgbClr val="444444"/>
                </a:solidFill>
                <a:effectLst/>
                <a:latin typeface="KasperskySansDisplay"/>
              </a:rPr>
              <a:t>Airports and border control</a:t>
            </a:r>
          </a:p>
          <a:p>
            <a:r>
              <a:rPr lang="en-US" b="1" i="0" dirty="0">
                <a:solidFill>
                  <a:srgbClr val="444444"/>
                </a:solidFill>
                <a:effectLst/>
                <a:latin typeface="KasperskySansDisplay"/>
              </a:rPr>
              <a:t>Finding missing persons: </a:t>
            </a:r>
            <a:r>
              <a:rPr lang="en-US" dirty="0">
                <a:solidFill>
                  <a:srgbClr val="444444"/>
                </a:solidFill>
                <a:latin typeface="KasperskySansDisplay"/>
              </a:rPr>
              <a:t>T</a:t>
            </a:r>
            <a:r>
              <a:rPr lang="en-US" b="0" i="0" dirty="0">
                <a:solidFill>
                  <a:srgbClr val="444444"/>
                </a:solidFill>
                <a:effectLst/>
                <a:latin typeface="KasperskySansDisplay"/>
              </a:rPr>
              <a:t>o find missing persons and victims of human trafficking</a:t>
            </a:r>
          </a:p>
          <a:p>
            <a:r>
              <a:rPr lang="en-US" b="1" i="0" dirty="0">
                <a:solidFill>
                  <a:srgbClr val="444444"/>
                </a:solidFill>
                <a:effectLst/>
                <a:latin typeface="KasperskySansDisplay"/>
              </a:rPr>
              <a:t>Marketing and advertising</a:t>
            </a:r>
          </a:p>
          <a:p>
            <a:r>
              <a:rPr lang="en-US" b="1" i="0" dirty="0">
                <a:solidFill>
                  <a:srgbClr val="444444"/>
                </a:solidFill>
                <a:effectLst/>
                <a:latin typeface="KasperskySansDisplay"/>
              </a:rPr>
              <a:t>Healthcare: </a:t>
            </a:r>
            <a:r>
              <a:rPr lang="en-US" b="0" i="0" dirty="0">
                <a:solidFill>
                  <a:srgbClr val="444444"/>
                </a:solidFill>
                <a:effectLst/>
                <a:latin typeface="KasperskySansDisplay"/>
              </a:rPr>
              <a:t>Hospitals use facial recognition to help with patient care.</a:t>
            </a:r>
          </a:p>
          <a:p>
            <a:r>
              <a:rPr lang="en-US" b="1" i="0" dirty="0">
                <a:solidFill>
                  <a:srgbClr val="444444"/>
                </a:solidFill>
                <a:effectLst/>
                <a:latin typeface="KasperskySansDisplay"/>
              </a:rPr>
              <a:t>Tracking student or worker attendance</a:t>
            </a:r>
          </a:p>
          <a:p>
            <a:endParaRPr lang="en-US" b="1" i="0" dirty="0">
              <a:solidFill>
                <a:srgbClr val="444444"/>
              </a:solidFill>
              <a:effectLst/>
              <a:latin typeface="KasperskySansDisplay"/>
            </a:endParaRPr>
          </a:p>
          <a:p>
            <a:pPr marL="0" indent="0">
              <a:buNone/>
            </a:pPr>
            <a:endParaRPr lang="en-US" b="1" i="0" dirty="0">
              <a:solidFill>
                <a:srgbClr val="444444"/>
              </a:solidFill>
              <a:effectLst/>
              <a:latin typeface="KasperskySansDisplay"/>
            </a:endParaRPr>
          </a:p>
          <a:p>
            <a:endParaRPr lang="en-US" b="1" i="0" dirty="0">
              <a:solidFill>
                <a:srgbClr val="444444"/>
              </a:solidFill>
              <a:effectLst/>
              <a:latin typeface="KasperskySansDisplay"/>
            </a:endParaRPr>
          </a:p>
          <a:p>
            <a:endParaRPr lang="en-US" dirty="0"/>
          </a:p>
        </p:txBody>
      </p:sp>
    </p:spTree>
    <p:extLst>
      <p:ext uri="{BB962C8B-B14F-4D97-AF65-F5344CB8AC3E}">
        <p14:creationId xmlns:p14="http://schemas.microsoft.com/office/powerpoint/2010/main" val="16404590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28026-ADA4-B998-1D03-FDD3EE1BF965}"/>
              </a:ext>
            </a:extLst>
          </p:cNvPr>
          <p:cNvSpPr>
            <a:spLocks noGrp="1"/>
          </p:cNvSpPr>
          <p:nvPr>
            <p:ph type="title"/>
          </p:nvPr>
        </p:nvSpPr>
        <p:spPr/>
        <p:txBody>
          <a:bodyPr/>
          <a:lstStyle/>
          <a:p>
            <a:r>
              <a:rPr lang="en-US" dirty="0"/>
              <a:t>History &amp; Evolution</a:t>
            </a:r>
          </a:p>
        </p:txBody>
      </p:sp>
      <p:sp>
        <p:nvSpPr>
          <p:cNvPr id="3" name="Content Placeholder 2">
            <a:extLst>
              <a:ext uri="{FF2B5EF4-FFF2-40B4-BE49-F238E27FC236}">
                <a16:creationId xmlns:a16="http://schemas.microsoft.com/office/drawing/2014/main" id="{6A929682-0A21-173C-5627-E41A6B3D2754}"/>
              </a:ext>
            </a:extLst>
          </p:cNvPr>
          <p:cNvSpPr>
            <a:spLocks noGrp="1"/>
          </p:cNvSpPr>
          <p:nvPr>
            <p:ph idx="1"/>
          </p:nvPr>
        </p:nvSpPr>
        <p:spPr>
          <a:xfrm>
            <a:off x="677334" y="1796154"/>
            <a:ext cx="8596668" cy="4452246"/>
          </a:xfrm>
        </p:spPr>
        <p:txBody>
          <a:bodyPr>
            <a:normAutofit fontScale="85000" lnSpcReduction="10000"/>
          </a:bodyPr>
          <a:lstStyle/>
          <a:p>
            <a:r>
              <a:rPr lang="en-US" sz="2400" b="0" i="0" dirty="0">
                <a:solidFill>
                  <a:schemeClr val="tx1"/>
                </a:solidFill>
                <a:effectLst/>
                <a:latin typeface="Google Sans"/>
              </a:rPr>
              <a:t>Development began on similar systems in the </a:t>
            </a:r>
            <a:r>
              <a:rPr lang="en-US" sz="2400" b="1" i="0" dirty="0">
                <a:solidFill>
                  <a:schemeClr val="tx1"/>
                </a:solidFill>
                <a:effectLst/>
                <a:latin typeface="Google Sans"/>
              </a:rPr>
              <a:t>1960s</a:t>
            </a:r>
            <a:r>
              <a:rPr lang="en-US" sz="2400" b="0" i="0" dirty="0">
                <a:solidFill>
                  <a:schemeClr val="tx1"/>
                </a:solidFill>
                <a:effectLst/>
                <a:latin typeface="Google Sans"/>
              </a:rPr>
              <a:t>, beginning as a form of computer </a:t>
            </a:r>
            <a:r>
              <a:rPr lang="en-US" sz="2400" b="0" i="0" u="none" strike="noStrike" dirty="0">
                <a:solidFill>
                  <a:schemeClr val="tx1"/>
                </a:solidFill>
                <a:effectLst/>
                <a:latin typeface="Google Sans"/>
                <a:hlinkClick r:id="rId2" tooltip="Application software">
                  <a:extLst>
                    <a:ext uri="{A12FA001-AC4F-418D-AE19-62706E023703}">
                      <ahyp:hlinkClr xmlns:ahyp="http://schemas.microsoft.com/office/drawing/2018/hyperlinkcolor" val="tx"/>
                    </a:ext>
                  </a:extLst>
                </a:hlinkClick>
              </a:rPr>
              <a:t>application</a:t>
            </a:r>
            <a:r>
              <a:rPr lang="en-US" sz="2400" b="0" i="0" dirty="0">
                <a:solidFill>
                  <a:schemeClr val="tx1"/>
                </a:solidFill>
                <a:effectLst/>
                <a:latin typeface="Google Sans"/>
              </a:rPr>
              <a:t>. </a:t>
            </a:r>
            <a:r>
              <a:rPr lang="en-US" sz="2400" dirty="0">
                <a:solidFill>
                  <a:schemeClr val="tx1"/>
                </a:solidFill>
                <a:latin typeface="Google Sans"/>
              </a:rPr>
              <a:t>D</a:t>
            </a:r>
            <a:r>
              <a:rPr lang="en-US" sz="2400" b="0" i="0" dirty="0">
                <a:solidFill>
                  <a:schemeClr val="tx1"/>
                </a:solidFill>
                <a:effectLst/>
                <a:latin typeface="Google Sans"/>
              </a:rPr>
              <a:t>esigned to measure and pinpoint facial features with a view to identifying them from a collection of faces on a database</a:t>
            </a:r>
          </a:p>
          <a:p>
            <a:r>
              <a:rPr lang="en-US" sz="2400" b="0" i="0" dirty="0">
                <a:solidFill>
                  <a:schemeClr val="tx1"/>
                </a:solidFill>
                <a:effectLst/>
                <a:latin typeface="Google Sans"/>
              </a:rPr>
              <a:t>Facial recognition as a concept, however, was formally pioneered in </a:t>
            </a:r>
            <a:r>
              <a:rPr lang="en-US" sz="2400" b="1" i="0" dirty="0">
                <a:solidFill>
                  <a:schemeClr val="tx1"/>
                </a:solidFill>
                <a:effectLst/>
                <a:latin typeface="Google Sans"/>
              </a:rPr>
              <a:t>1964</a:t>
            </a:r>
            <a:r>
              <a:rPr lang="en-US" sz="2400" b="0" i="0" dirty="0">
                <a:solidFill>
                  <a:schemeClr val="tx1"/>
                </a:solidFill>
                <a:effectLst/>
                <a:latin typeface="Google Sans"/>
              </a:rPr>
              <a:t> by computer scientists and mathematicians, </a:t>
            </a:r>
            <a:r>
              <a:rPr lang="en-US" sz="2400" b="1" i="0" dirty="0">
                <a:solidFill>
                  <a:schemeClr val="tx1"/>
                </a:solidFill>
                <a:effectLst/>
                <a:latin typeface="Google Sans"/>
              </a:rPr>
              <a:t>Woody Bledsoe, Charles Bisson, and Helen Chan Wolf. </a:t>
            </a:r>
            <a:r>
              <a:rPr lang="en-US" sz="2400" dirty="0">
                <a:solidFill>
                  <a:schemeClr val="tx1"/>
                </a:solidFill>
                <a:latin typeface="Google Sans"/>
              </a:rPr>
              <a:t>H</a:t>
            </a:r>
            <a:r>
              <a:rPr lang="en-US" sz="2400" b="0" i="0" dirty="0">
                <a:solidFill>
                  <a:schemeClr val="tx1"/>
                </a:solidFill>
                <a:effectLst/>
                <a:latin typeface="Google Sans"/>
              </a:rPr>
              <a:t>owever much of their initial work was never made public, due to the secret nature of its funding from an unnamed intelligence agency. </a:t>
            </a:r>
          </a:p>
          <a:p>
            <a:r>
              <a:rPr lang="en-US" sz="2400" b="0" i="0" dirty="0">
                <a:solidFill>
                  <a:schemeClr val="tx1"/>
                </a:solidFill>
                <a:effectLst/>
                <a:latin typeface="Google Sans"/>
              </a:rPr>
              <a:t>By the </a:t>
            </a:r>
            <a:r>
              <a:rPr lang="en-US" sz="2400" b="1" i="0" dirty="0">
                <a:solidFill>
                  <a:schemeClr val="tx1"/>
                </a:solidFill>
                <a:effectLst/>
                <a:latin typeface="Google Sans"/>
              </a:rPr>
              <a:t>1970s</a:t>
            </a:r>
            <a:r>
              <a:rPr lang="en-US" sz="2400" b="0" i="0" dirty="0">
                <a:solidFill>
                  <a:schemeClr val="tx1"/>
                </a:solidFill>
                <a:effectLst/>
                <a:latin typeface="Google Sans"/>
              </a:rPr>
              <a:t>, facial recognition accuracy was coming on in leaps and bounds with aspects such as hair color, lip shape, and other key identifying areas</a:t>
            </a:r>
          </a:p>
          <a:p>
            <a:r>
              <a:rPr lang="en-US" sz="2400" b="0" i="0" dirty="0">
                <a:solidFill>
                  <a:schemeClr val="tx1"/>
                </a:solidFill>
                <a:effectLst/>
                <a:latin typeface="Google Sans"/>
              </a:rPr>
              <a:t>A key milestone came in </a:t>
            </a:r>
            <a:r>
              <a:rPr lang="en-US" sz="2400" b="1" i="0" dirty="0">
                <a:solidFill>
                  <a:schemeClr val="tx1"/>
                </a:solidFill>
                <a:effectLst/>
                <a:latin typeface="Google Sans"/>
              </a:rPr>
              <a:t>2001</a:t>
            </a:r>
            <a:r>
              <a:rPr lang="en-US" sz="2400" b="0" i="0" dirty="0">
                <a:solidFill>
                  <a:schemeClr val="tx1"/>
                </a:solidFill>
                <a:effectLst/>
                <a:latin typeface="Google Sans"/>
              </a:rPr>
              <a:t> when law enforcement in the US used facial recognition for the very first time to help identify Super Bowl spectators potentially causing disruption or harm.</a:t>
            </a:r>
            <a:endParaRPr lang="en-US" sz="2400" b="1" dirty="0">
              <a:solidFill>
                <a:schemeClr val="tx1"/>
              </a:solidFill>
              <a:latin typeface="Google Sans"/>
            </a:endParaRPr>
          </a:p>
        </p:txBody>
      </p:sp>
    </p:spTree>
    <p:extLst>
      <p:ext uri="{BB962C8B-B14F-4D97-AF65-F5344CB8AC3E}">
        <p14:creationId xmlns:p14="http://schemas.microsoft.com/office/powerpoint/2010/main" val="2142906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B2E107-9483-ED52-7498-66BB466A08F0}"/>
              </a:ext>
            </a:extLst>
          </p:cNvPr>
          <p:cNvSpPr>
            <a:spLocks noGrp="1"/>
          </p:cNvSpPr>
          <p:nvPr>
            <p:ph type="title"/>
          </p:nvPr>
        </p:nvSpPr>
        <p:spPr/>
        <p:txBody>
          <a:bodyPr/>
          <a:lstStyle/>
          <a:p>
            <a:r>
              <a:rPr lang="en-US" dirty="0"/>
              <a:t>Technologies used in Facial Recognition</a:t>
            </a:r>
            <a:br>
              <a:rPr lang="en-US" dirty="0"/>
            </a:br>
            <a:endParaRPr lang="en-US" dirty="0"/>
          </a:p>
        </p:txBody>
      </p:sp>
      <p:sp>
        <p:nvSpPr>
          <p:cNvPr id="3" name="Content Placeholder 2">
            <a:extLst>
              <a:ext uri="{FF2B5EF4-FFF2-40B4-BE49-F238E27FC236}">
                <a16:creationId xmlns:a16="http://schemas.microsoft.com/office/drawing/2014/main" id="{67BDC384-AFCB-6333-CD4E-95FEAD247C0A}"/>
              </a:ext>
            </a:extLst>
          </p:cNvPr>
          <p:cNvSpPr>
            <a:spLocks noGrp="1"/>
          </p:cNvSpPr>
          <p:nvPr>
            <p:ph idx="1"/>
          </p:nvPr>
        </p:nvSpPr>
        <p:spPr/>
        <p:txBody>
          <a:bodyPr/>
          <a:lstStyle/>
          <a:p>
            <a:r>
              <a:rPr lang="en-US" b="1" i="0" dirty="0">
                <a:solidFill>
                  <a:srgbClr val="021B41"/>
                </a:solidFill>
                <a:effectLst/>
                <a:latin typeface="Montserrat" panose="00000500000000000000" pitchFamily="2" charset="0"/>
              </a:rPr>
              <a:t>Artificial Intelligence (AI): </a:t>
            </a:r>
            <a:r>
              <a:rPr lang="en-US" b="0" i="0" dirty="0">
                <a:solidFill>
                  <a:srgbClr val="021B41"/>
                </a:solidFill>
                <a:effectLst/>
                <a:latin typeface="Montserrat" panose="00000500000000000000" pitchFamily="2" charset="0"/>
              </a:rPr>
              <a:t>AI, particularly machine learning and deep learning algorithms, is at the heart of modern facial recognition systems.</a:t>
            </a:r>
          </a:p>
          <a:p>
            <a:r>
              <a:rPr lang="en-US" b="1" i="0" dirty="0">
                <a:solidFill>
                  <a:srgbClr val="021B41"/>
                </a:solidFill>
                <a:effectLst/>
                <a:latin typeface="Montserrat" panose="00000500000000000000" pitchFamily="2" charset="0"/>
              </a:rPr>
              <a:t>Computer Vision: </a:t>
            </a:r>
            <a:r>
              <a:rPr lang="en-US" b="0" i="0" dirty="0">
                <a:solidFill>
                  <a:srgbClr val="021B41"/>
                </a:solidFill>
                <a:effectLst/>
                <a:latin typeface="Montserrat" panose="00000500000000000000" pitchFamily="2" charset="0"/>
              </a:rPr>
              <a:t>This field of AI is concerned with how computers can gain high-level understanding from digital images or videos. </a:t>
            </a:r>
          </a:p>
          <a:p>
            <a:r>
              <a:rPr lang="en-US" b="1" i="0" dirty="0">
                <a:solidFill>
                  <a:srgbClr val="021B41"/>
                </a:solidFill>
                <a:effectLst/>
                <a:latin typeface="Montserrat" panose="00000500000000000000" pitchFamily="2" charset="0"/>
              </a:rPr>
              <a:t>Biometric Analysis: </a:t>
            </a:r>
            <a:r>
              <a:rPr lang="en-US" b="0" i="0" dirty="0">
                <a:solidFill>
                  <a:srgbClr val="021B41"/>
                </a:solidFill>
                <a:effectLst/>
                <a:latin typeface="Montserrat" panose="00000500000000000000" pitchFamily="2" charset="0"/>
              </a:rPr>
              <a:t>Biometrics refers to the statistical analysis of biological data, which in the case of facial recognition is the unique features of the face.</a:t>
            </a:r>
          </a:p>
          <a:p>
            <a:r>
              <a:rPr lang="en-US" b="1" i="0" dirty="0">
                <a:solidFill>
                  <a:srgbClr val="021B41"/>
                </a:solidFill>
                <a:effectLst/>
                <a:latin typeface="Montserrat" panose="00000500000000000000" pitchFamily="2" charset="0"/>
              </a:rPr>
              <a:t>Neural Networks</a:t>
            </a:r>
            <a:r>
              <a:rPr lang="en-US" b="0" i="0" dirty="0">
                <a:solidFill>
                  <a:srgbClr val="021B41"/>
                </a:solidFill>
                <a:effectLst/>
                <a:latin typeface="Montserrat" panose="00000500000000000000" pitchFamily="2" charset="0"/>
              </a:rPr>
              <a:t>: Particularly, convolutional neural networks (CNNs) are used for image recognition tasks and are crucial for the feature extraction phase in facial recognition systems.</a:t>
            </a:r>
          </a:p>
          <a:p>
            <a:endParaRPr lang="en-US" dirty="0"/>
          </a:p>
        </p:txBody>
      </p:sp>
    </p:spTree>
    <p:extLst>
      <p:ext uri="{BB962C8B-B14F-4D97-AF65-F5344CB8AC3E}">
        <p14:creationId xmlns:p14="http://schemas.microsoft.com/office/powerpoint/2010/main" val="2167989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2A366-83D7-420D-C5FA-8BA384184926}"/>
              </a:ext>
            </a:extLst>
          </p:cNvPr>
          <p:cNvSpPr>
            <a:spLocks noGrp="1"/>
          </p:cNvSpPr>
          <p:nvPr>
            <p:ph type="title"/>
          </p:nvPr>
        </p:nvSpPr>
        <p:spPr>
          <a:xfrm>
            <a:off x="677334" y="278296"/>
            <a:ext cx="8596668" cy="821635"/>
          </a:xfrm>
        </p:spPr>
        <p:txBody>
          <a:bodyPr/>
          <a:lstStyle/>
          <a:p>
            <a:r>
              <a:rPr lang="en-US" dirty="0"/>
              <a:t>Face Recognition Algorithms</a:t>
            </a:r>
          </a:p>
        </p:txBody>
      </p:sp>
      <p:sp>
        <p:nvSpPr>
          <p:cNvPr id="4" name="Rectangle 1">
            <a:extLst>
              <a:ext uri="{FF2B5EF4-FFF2-40B4-BE49-F238E27FC236}">
                <a16:creationId xmlns:a16="http://schemas.microsoft.com/office/drawing/2014/main" id="{C97B2EA3-DDE3-9492-F1E2-31AD6D2F8FD2}"/>
              </a:ext>
            </a:extLst>
          </p:cNvPr>
          <p:cNvSpPr>
            <a:spLocks noGrp="1" noChangeArrowheads="1"/>
          </p:cNvSpPr>
          <p:nvPr>
            <p:ph idx="1"/>
          </p:nvPr>
        </p:nvSpPr>
        <p:spPr bwMode="auto">
          <a:xfrm>
            <a:off x="677334" y="1284821"/>
            <a:ext cx="7736990" cy="5632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Convolutional Neural Network (CNN)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Deep learning model with multiple convolutional and pooling layers.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Learns to extract and process image features directly.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Widely used in modern face recognition systems.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Eigenfaces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Uses Principal Component Analysis (PCA) to represent faces statistically.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Converts facial features into eigenvalues to measure variance.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Simple and fast, but sensitive to lighting and expressions.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Fisher faces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Extension of Eigenfaces using Linear Discriminant Analysis (LDA).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Takes class labels into account.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Performs well with varying lighting and facial expressions.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DeepFace</a:t>
            </a:r>
            <a:r>
              <a:rPr kumimoji="0" lang="en-US" altLang="en-US" sz="1800" b="1" i="0" u="none" strike="noStrike" cap="none" normalizeH="0" baseline="0" dirty="0">
                <a:ln>
                  <a:noFill/>
                </a:ln>
                <a:solidFill>
                  <a:schemeClr val="tx1"/>
                </a:solidFill>
                <a:effectLst/>
                <a:latin typeface="Arial" panose="020B0604020202020204" pitchFamily="34" charset="0"/>
              </a:rPr>
              <a:t> (by Facebook)</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CNN-based model trained on 4 million+ images.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Achieved human-level accuracy on some datasets.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Extracts features and compares via deep embeddings.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040194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EDEE4B1A-547D-3BCD-A7D9-45ACFCAA17FD}"/>
              </a:ext>
            </a:extLst>
          </p:cNvPr>
          <p:cNvSpPr>
            <a:spLocks noGrp="1" noChangeArrowheads="1"/>
          </p:cNvSpPr>
          <p:nvPr>
            <p:ph idx="1"/>
          </p:nvPr>
        </p:nvSpPr>
        <p:spPr bwMode="auto">
          <a:xfrm>
            <a:off x="664082" y="1292734"/>
            <a:ext cx="8731180" cy="5909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Principal Component Analysis (PCA)</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Reduces data dimensionality while retaining important info.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Creates eigenfaces from weighted eigenvectors.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Foundational technique for statistical face recognition.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Arial" panose="020B0604020202020204" pitchFamily="34" charset="0"/>
              </a:rPr>
              <a:t>Haar</a:t>
            </a:r>
            <a:r>
              <a:rPr kumimoji="0" lang="en-US" altLang="en-US" sz="1800" b="1" i="0" u="none" strike="noStrike" cap="none" normalizeH="0" baseline="0" dirty="0">
                <a:ln>
                  <a:noFill/>
                </a:ln>
                <a:solidFill>
                  <a:schemeClr val="tx1"/>
                </a:solidFill>
                <a:effectLst/>
                <a:latin typeface="Arial" panose="020B0604020202020204" pitchFamily="34" charset="0"/>
              </a:rPr>
              <a:t> Cascades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Feature-based object detection algorithm.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Trained to detect specific facial features (eyes, nose, etc.).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Useful for face detection in real-time applications.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Three-Dimensional Recognition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Analyzes 3D geometry of the skull and facial structure.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Recognizes faces despite occlusions like glasses or facial hair.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More robust than 2D techniques.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Skin Texture Analysis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Studies skin details like freckles, moles, and texture.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Requires high-resolution images for best performance.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Effective even with hairstyle changes or accessories.</a:t>
            </a:r>
          </a:p>
          <a:p>
            <a:pPr marL="0" marR="0" lvl="0" indent="0" algn="l" defTabSz="914400" rtl="0" eaLnBrk="0" fontAlgn="base" latinLnBrk="0" hangingPunct="0">
              <a:lnSpc>
                <a:spcPct val="100000"/>
              </a:lnSpc>
              <a:spcBef>
                <a:spcPct val="0"/>
              </a:spcBef>
              <a:spcAft>
                <a:spcPct val="0"/>
              </a:spcAft>
              <a:buClrTx/>
              <a:buSzTx/>
              <a:buNone/>
              <a:tabLst/>
            </a:pPr>
            <a:endParaRPr lang="en-US" altLang="en-US" dirty="0">
              <a:solidFill>
                <a:schemeClr val="tx1"/>
              </a:solidFill>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itle 1">
            <a:extLst>
              <a:ext uri="{FF2B5EF4-FFF2-40B4-BE49-F238E27FC236}">
                <a16:creationId xmlns:a16="http://schemas.microsoft.com/office/drawing/2014/main" id="{4CEF0637-624A-A36B-B96D-9CC1189DBF48}"/>
              </a:ext>
            </a:extLst>
          </p:cNvPr>
          <p:cNvSpPr>
            <a:spLocks noGrp="1"/>
          </p:cNvSpPr>
          <p:nvPr>
            <p:ph type="title"/>
          </p:nvPr>
        </p:nvSpPr>
        <p:spPr>
          <a:xfrm>
            <a:off x="677334" y="278296"/>
            <a:ext cx="8596668" cy="821635"/>
          </a:xfrm>
        </p:spPr>
        <p:txBody>
          <a:bodyPr/>
          <a:lstStyle/>
          <a:p>
            <a:r>
              <a:rPr lang="en-US" dirty="0"/>
              <a:t>Face Recognition Algorithms</a:t>
            </a:r>
          </a:p>
        </p:txBody>
      </p:sp>
    </p:spTree>
    <p:extLst>
      <p:ext uri="{BB962C8B-B14F-4D97-AF65-F5344CB8AC3E}">
        <p14:creationId xmlns:p14="http://schemas.microsoft.com/office/powerpoint/2010/main" val="2445358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1667A0-D546-0BAF-8EA1-1289FE863882}"/>
              </a:ext>
            </a:extLst>
          </p:cNvPr>
          <p:cNvSpPr>
            <a:spLocks noGrp="1"/>
          </p:cNvSpPr>
          <p:nvPr>
            <p:ph idx="1"/>
          </p:nvPr>
        </p:nvSpPr>
        <p:spPr>
          <a:xfrm>
            <a:off x="677334" y="251791"/>
            <a:ext cx="8596668" cy="5789571"/>
          </a:xfrm>
        </p:spPr>
        <p:txBody>
          <a:bodyPr/>
          <a:lstStyle/>
          <a:p>
            <a:endParaRPr lang="en-US" dirty="0"/>
          </a:p>
          <a:p>
            <a:endParaRPr lang="en-US" dirty="0"/>
          </a:p>
          <a:p>
            <a:pPr marL="0" indent="0">
              <a:buNone/>
            </a:pPr>
            <a:endParaRPr lang="en-US" dirty="0"/>
          </a:p>
        </p:txBody>
      </p:sp>
      <p:sp>
        <p:nvSpPr>
          <p:cNvPr id="19" name="Rectangle 16">
            <a:extLst>
              <a:ext uri="{FF2B5EF4-FFF2-40B4-BE49-F238E27FC236}">
                <a16:creationId xmlns:a16="http://schemas.microsoft.com/office/drawing/2014/main" id="{B50F55A2-DDE6-0524-7DED-5E59AF1CB3A3}"/>
              </a:ext>
            </a:extLst>
          </p:cNvPr>
          <p:cNvSpPr>
            <a:spLocks noChangeArrowheads="1"/>
          </p:cNvSpPr>
          <p:nvPr/>
        </p:nvSpPr>
        <p:spPr bwMode="auto">
          <a:xfrm>
            <a:off x="650827" y="591863"/>
            <a:ext cx="10919791"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indent="0" defTabSz="914400" eaLnBrk="0" fontAlgn="base" hangingPunct="0">
              <a:spcBef>
                <a:spcPct val="0"/>
              </a:spcBef>
              <a:spcAft>
                <a:spcPct val="0"/>
              </a:spcAft>
              <a:buClrTx/>
              <a:buSzTx/>
              <a:buNone/>
            </a:pPr>
            <a:r>
              <a:rPr kumimoji="0" lang="en-US" altLang="en-US" sz="1800" b="1" i="0" u="none" strike="noStrike" cap="none" normalizeH="0" baseline="0" dirty="0">
                <a:ln>
                  <a:noFill/>
                </a:ln>
                <a:solidFill>
                  <a:schemeClr val="tx1"/>
                </a:solidFill>
                <a:effectLst/>
                <a:latin typeface="Arial" panose="020B0604020202020204" pitchFamily="34" charset="0"/>
              </a:rPr>
              <a:t>ANFIS (Adaptive Neuro-Fuzzy Inference System)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Combines neural networks and fuzzy logic.</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Classifies features during preprocessing.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Speeds up recognition with adaptive feature interpretation.</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Local Binary Patterns Histograms (LBPH)</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Analyzes local pixel patterns relative to neighbors.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Generates histograms for facial data comparison.</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Lightweight and effective in low-complexity systems.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err="1">
                <a:ln>
                  <a:noFill/>
                </a:ln>
                <a:solidFill>
                  <a:schemeClr val="tx1"/>
                </a:solidFill>
                <a:effectLst/>
                <a:latin typeface="Arial" panose="020B0604020202020204" pitchFamily="34" charset="0"/>
              </a:rPr>
              <a:t>FaceNet</a:t>
            </a:r>
            <a:r>
              <a:rPr kumimoji="0" lang="en-US" altLang="en-US" sz="1800" b="1" i="0" u="none" strike="noStrike" cap="none" normalizeH="0" baseline="0" dirty="0">
                <a:ln>
                  <a:noFill/>
                </a:ln>
                <a:solidFill>
                  <a:schemeClr val="tx1"/>
                </a:solidFill>
                <a:effectLst/>
                <a:latin typeface="Arial" panose="020B0604020202020204" pitchFamily="34" charset="0"/>
              </a:rPr>
              <a:t> (by Google)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Maps faces to a Euclidean space using embeddings.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Measures face similarity by distance between embeddings.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Accurate and widely adopted in commercial systems.</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Face++ (by </a:t>
            </a:r>
            <a:r>
              <a:rPr kumimoji="0" lang="en-US" altLang="en-US" sz="1800" b="1" i="0" u="none" strike="noStrike" cap="none" normalizeH="0" baseline="0" dirty="0" err="1">
                <a:ln>
                  <a:noFill/>
                </a:ln>
                <a:solidFill>
                  <a:schemeClr val="tx1"/>
                </a:solidFill>
                <a:effectLst/>
                <a:latin typeface="Arial" panose="020B0604020202020204" pitchFamily="34" charset="0"/>
              </a:rPr>
              <a:t>Megvii</a:t>
            </a:r>
            <a:r>
              <a:rPr kumimoji="0" lang="en-US" altLang="en-US" sz="1800" b="1" i="0" u="none" strike="noStrike" cap="none" normalizeH="0" baseline="0" dirty="0">
                <a:ln>
                  <a:noFill/>
                </a:ln>
                <a:solidFill>
                  <a:schemeClr val="tx1"/>
                </a:solidFill>
                <a:effectLst/>
                <a:latin typeface="Arial" panose="020B0604020202020204" pitchFamily="34" charset="0"/>
              </a:rPr>
              <a: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Combines graph detection and fuzzy search.</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Built on proprietary </a:t>
            </a:r>
            <a:r>
              <a:rPr kumimoji="0" lang="en-US" altLang="en-US" sz="1800" b="0" i="0" u="none" strike="noStrike" cap="none" normalizeH="0" baseline="0" dirty="0" err="1">
                <a:ln>
                  <a:noFill/>
                </a:ln>
                <a:solidFill>
                  <a:schemeClr val="tx1"/>
                </a:solidFill>
                <a:effectLst/>
                <a:latin typeface="Arial" panose="020B0604020202020204" pitchFamily="34" charset="0"/>
              </a:rPr>
              <a:t>MegEngine</a:t>
            </a:r>
            <a:r>
              <a:rPr kumimoji="0" lang="en-US" altLang="en-US" sz="1800" b="0" i="0" u="none" strike="noStrike" cap="none" normalizeH="0" baseline="0" dirty="0">
                <a:ln>
                  <a:noFill/>
                </a:ln>
                <a:solidFill>
                  <a:schemeClr val="tx1"/>
                </a:solidFill>
                <a:effectLst/>
                <a:latin typeface="Arial" panose="020B0604020202020204" pitchFamily="34" charset="0"/>
              </a:rPr>
              <a:t> deep learning framework.</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Includes features like tracking, clustering, and info extraction.</a:t>
            </a: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Support Vector Machine (SVM)</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Machine learning classifier using kernel methods.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Effective in distinguishing facial features.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Works well when combined with feature extraction techniques.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2" name="Title 1">
            <a:extLst>
              <a:ext uri="{FF2B5EF4-FFF2-40B4-BE49-F238E27FC236}">
                <a16:creationId xmlns:a16="http://schemas.microsoft.com/office/drawing/2014/main" id="{47C91DFF-6745-F735-847D-770B12D1EBCD}"/>
              </a:ext>
            </a:extLst>
          </p:cNvPr>
          <p:cNvSpPr>
            <a:spLocks noGrp="1"/>
          </p:cNvSpPr>
          <p:nvPr>
            <p:ph type="title"/>
          </p:nvPr>
        </p:nvSpPr>
        <p:spPr>
          <a:xfrm>
            <a:off x="425541" y="181045"/>
            <a:ext cx="8596668" cy="821635"/>
          </a:xfrm>
        </p:spPr>
        <p:txBody>
          <a:bodyPr/>
          <a:lstStyle/>
          <a:p>
            <a:r>
              <a:rPr lang="en-US" dirty="0"/>
              <a:t>Face Recognition Algorithms</a:t>
            </a:r>
          </a:p>
        </p:txBody>
      </p:sp>
    </p:spTree>
    <p:extLst>
      <p:ext uri="{BB962C8B-B14F-4D97-AF65-F5344CB8AC3E}">
        <p14:creationId xmlns:p14="http://schemas.microsoft.com/office/powerpoint/2010/main" val="26439555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5C260-B5D6-4151-2D86-D6F570E3E99B}"/>
              </a:ext>
            </a:extLst>
          </p:cNvPr>
          <p:cNvSpPr>
            <a:spLocks noGrp="1"/>
          </p:cNvSpPr>
          <p:nvPr>
            <p:ph type="title"/>
          </p:nvPr>
        </p:nvSpPr>
        <p:spPr>
          <a:xfrm>
            <a:off x="823108" y="177179"/>
            <a:ext cx="8596668" cy="1320800"/>
          </a:xfrm>
        </p:spPr>
        <p:txBody>
          <a:bodyPr/>
          <a:lstStyle/>
          <a:p>
            <a:r>
              <a:rPr lang="en-US" dirty="0"/>
              <a:t>Neural networks in face recognition</a:t>
            </a:r>
          </a:p>
        </p:txBody>
      </p:sp>
      <p:pic>
        <p:nvPicPr>
          <p:cNvPr id="6146" name="Picture 2" descr="Deep Learning system developed for human face recognition. Source:... |  Download Scientific Diagram">
            <a:extLst>
              <a:ext uri="{FF2B5EF4-FFF2-40B4-BE49-F238E27FC236}">
                <a16:creationId xmlns:a16="http://schemas.microsoft.com/office/drawing/2014/main" id="{FC3839FD-8DC5-AD0F-1CE9-5DA43974C3B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121142" y="1179444"/>
            <a:ext cx="7417535" cy="53406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39674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1C890-4CC5-BDEC-8027-94D03134B654}"/>
              </a:ext>
            </a:extLst>
          </p:cNvPr>
          <p:cNvSpPr>
            <a:spLocks noGrp="1"/>
          </p:cNvSpPr>
          <p:nvPr>
            <p:ph type="title"/>
          </p:nvPr>
        </p:nvSpPr>
        <p:spPr/>
        <p:txBody>
          <a:bodyPr/>
          <a:lstStyle/>
          <a:p>
            <a:r>
              <a:rPr lang="en-US" b="0" i="0" dirty="0">
                <a:solidFill>
                  <a:srgbClr val="001D35"/>
                </a:solidFill>
                <a:effectLst/>
                <a:latin typeface="Google Sans"/>
              </a:rPr>
              <a:t>Neural Networks Work for Face Recognition</a:t>
            </a:r>
            <a:br>
              <a:rPr lang="en-US" b="0" i="0" dirty="0">
                <a:solidFill>
                  <a:srgbClr val="001D35"/>
                </a:solidFill>
                <a:effectLst/>
                <a:latin typeface="Google Sans"/>
              </a:rPr>
            </a:br>
            <a:endParaRPr lang="en-US" dirty="0"/>
          </a:p>
        </p:txBody>
      </p:sp>
      <p:sp>
        <p:nvSpPr>
          <p:cNvPr id="3" name="Content Placeholder 2">
            <a:extLst>
              <a:ext uri="{FF2B5EF4-FFF2-40B4-BE49-F238E27FC236}">
                <a16:creationId xmlns:a16="http://schemas.microsoft.com/office/drawing/2014/main" id="{1D88DA2F-B7C2-3AC7-280A-F7364D75EB8D}"/>
              </a:ext>
            </a:extLst>
          </p:cNvPr>
          <p:cNvSpPr>
            <a:spLocks noGrp="1"/>
          </p:cNvSpPr>
          <p:nvPr>
            <p:ph idx="1"/>
          </p:nvPr>
        </p:nvSpPr>
        <p:spPr>
          <a:xfrm>
            <a:off x="677334" y="1789043"/>
            <a:ext cx="8596668" cy="4744279"/>
          </a:xfrm>
        </p:spPr>
        <p:txBody>
          <a:bodyPr>
            <a:normAutofit/>
          </a:bodyPr>
          <a:lstStyle/>
          <a:p>
            <a:pPr marL="0" indent="0" algn="l">
              <a:buNone/>
            </a:pPr>
            <a:r>
              <a:rPr lang="en-US" sz="2000" b="1" i="0" dirty="0">
                <a:solidFill>
                  <a:srgbClr val="001D35"/>
                </a:solidFill>
                <a:effectLst/>
                <a:latin typeface="Google Sans"/>
              </a:rPr>
              <a:t>1. Input Processing:</a:t>
            </a:r>
            <a:endParaRPr lang="en-US" sz="2000" b="0" i="0" dirty="0">
              <a:solidFill>
                <a:srgbClr val="001D35"/>
              </a:solidFill>
              <a:effectLst/>
              <a:latin typeface="Google Sans"/>
            </a:endParaRPr>
          </a:p>
          <a:p>
            <a:pPr marL="0" indent="0" algn="l" fontAlgn="ctr">
              <a:buNone/>
            </a:pPr>
            <a:r>
              <a:rPr lang="en-US" sz="2000" b="0" i="0" dirty="0">
                <a:solidFill>
                  <a:srgbClr val="545D7E"/>
                </a:solidFill>
                <a:effectLst/>
                <a:latin typeface="Google Sans"/>
              </a:rPr>
              <a:t>A neural network takes a facial image as input. </a:t>
            </a:r>
            <a:endParaRPr lang="en-US" sz="2000" b="0" i="0" dirty="0">
              <a:solidFill>
                <a:srgbClr val="0B57D0"/>
              </a:solidFill>
              <a:effectLst/>
              <a:latin typeface="Google Sans"/>
            </a:endParaRPr>
          </a:p>
          <a:p>
            <a:pPr marL="0" indent="0" algn="l">
              <a:buNone/>
            </a:pPr>
            <a:r>
              <a:rPr lang="en-US" sz="2000" b="1" i="0" dirty="0">
                <a:solidFill>
                  <a:srgbClr val="001D35"/>
                </a:solidFill>
                <a:effectLst/>
                <a:latin typeface="Google Sans"/>
              </a:rPr>
              <a:t>2. Feature Extraction:</a:t>
            </a:r>
            <a:endParaRPr lang="en-US" sz="2000" b="0" i="0" dirty="0">
              <a:solidFill>
                <a:srgbClr val="001D35"/>
              </a:solidFill>
              <a:effectLst/>
              <a:latin typeface="Google Sans"/>
            </a:endParaRPr>
          </a:p>
          <a:p>
            <a:pPr marL="0" indent="0" algn="l" fontAlgn="ctr">
              <a:buNone/>
            </a:pPr>
            <a:r>
              <a:rPr lang="en-US" sz="2000" b="0" i="0" dirty="0">
                <a:solidFill>
                  <a:srgbClr val="545D7E"/>
                </a:solidFill>
                <a:effectLst/>
                <a:latin typeface="Google Sans"/>
              </a:rPr>
              <a:t>Deep networks, especially CNNs, are designed with multiple layers that automatically learn to identify key features from the image, such as facial contours, shapes, and textures. </a:t>
            </a:r>
            <a:endParaRPr lang="en-US" sz="2000" b="0" i="0" dirty="0">
              <a:solidFill>
                <a:srgbClr val="0B57D0"/>
              </a:solidFill>
              <a:effectLst/>
              <a:latin typeface="Google Sans"/>
            </a:endParaRPr>
          </a:p>
          <a:p>
            <a:pPr marL="0" indent="0" algn="l">
              <a:buNone/>
            </a:pPr>
            <a:r>
              <a:rPr lang="en-US" sz="2000" b="1" i="0" dirty="0">
                <a:solidFill>
                  <a:srgbClr val="001D35"/>
                </a:solidFill>
                <a:effectLst/>
                <a:latin typeface="Google Sans"/>
              </a:rPr>
              <a:t>3. Feature Representation:</a:t>
            </a:r>
            <a:endParaRPr lang="en-US" sz="2000" b="0" i="0" dirty="0">
              <a:solidFill>
                <a:srgbClr val="001D35"/>
              </a:solidFill>
              <a:effectLst/>
              <a:latin typeface="Google Sans"/>
            </a:endParaRPr>
          </a:p>
          <a:p>
            <a:pPr marL="0" indent="0" algn="l" fontAlgn="ctr">
              <a:buNone/>
            </a:pPr>
            <a:r>
              <a:rPr lang="en-US" sz="2000" b="0" i="0" dirty="0">
                <a:solidFill>
                  <a:srgbClr val="545D7E"/>
                </a:solidFill>
                <a:effectLst/>
                <a:latin typeface="Google Sans"/>
              </a:rPr>
              <a:t>The network creates a unique numerical representation, or "embedding," for each face, which captures its most distinctive characteristics. </a:t>
            </a:r>
            <a:endParaRPr lang="en-US" sz="2000" b="0" i="0" dirty="0">
              <a:solidFill>
                <a:srgbClr val="0B57D0"/>
              </a:solidFill>
              <a:effectLst/>
              <a:latin typeface="Google Sans"/>
            </a:endParaRPr>
          </a:p>
          <a:p>
            <a:pPr marL="0" indent="0" algn="l">
              <a:buNone/>
            </a:pPr>
            <a:r>
              <a:rPr lang="en-US" sz="2000" b="1" i="0" dirty="0">
                <a:solidFill>
                  <a:srgbClr val="001D35"/>
                </a:solidFill>
                <a:effectLst/>
                <a:latin typeface="Google Sans"/>
              </a:rPr>
              <a:t>4. Classification/Matching:</a:t>
            </a:r>
            <a:endParaRPr lang="en-US" sz="2000" b="0" i="0" dirty="0">
              <a:solidFill>
                <a:srgbClr val="001D35"/>
              </a:solidFill>
              <a:effectLst/>
              <a:latin typeface="Google Sans"/>
            </a:endParaRPr>
          </a:p>
          <a:p>
            <a:pPr marL="0" indent="0" algn="l">
              <a:buNone/>
            </a:pPr>
            <a:r>
              <a:rPr lang="en-US" sz="2000" b="0" i="0" dirty="0">
                <a:solidFill>
                  <a:srgbClr val="545D7E"/>
                </a:solidFill>
                <a:effectLst/>
                <a:latin typeface="Google Sans"/>
              </a:rPr>
              <a:t>This feature representation is then compared against a database of known faces to find the best match. </a:t>
            </a:r>
          </a:p>
          <a:p>
            <a:endParaRPr lang="en-US" sz="2000" dirty="0"/>
          </a:p>
        </p:txBody>
      </p:sp>
    </p:spTree>
    <p:extLst>
      <p:ext uri="{BB962C8B-B14F-4D97-AF65-F5344CB8AC3E}">
        <p14:creationId xmlns:p14="http://schemas.microsoft.com/office/powerpoint/2010/main" val="3457789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1DA2D-7903-E271-9D07-A315189F3648}"/>
              </a:ext>
            </a:extLst>
          </p:cNvPr>
          <p:cNvSpPr>
            <a:spLocks noGrp="1"/>
          </p:cNvSpPr>
          <p:nvPr>
            <p:ph type="title"/>
          </p:nvPr>
        </p:nvSpPr>
        <p:spPr/>
        <p:txBody>
          <a:bodyPr/>
          <a:lstStyle/>
          <a:p>
            <a:r>
              <a:rPr lang="en-US" dirty="0"/>
              <a:t>Neural networks in face recognition</a:t>
            </a:r>
          </a:p>
        </p:txBody>
      </p:sp>
      <p:sp>
        <p:nvSpPr>
          <p:cNvPr id="3" name="Content Placeholder 2">
            <a:extLst>
              <a:ext uri="{FF2B5EF4-FFF2-40B4-BE49-F238E27FC236}">
                <a16:creationId xmlns:a16="http://schemas.microsoft.com/office/drawing/2014/main" id="{BAB9284E-71AF-482E-5BFE-F3F647C0D2DE}"/>
              </a:ext>
            </a:extLst>
          </p:cNvPr>
          <p:cNvSpPr>
            <a:spLocks noGrp="1"/>
          </p:cNvSpPr>
          <p:nvPr>
            <p:ph idx="1"/>
          </p:nvPr>
        </p:nvSpPr>
        <p:spPr>
          <a:xfrm>
            <a:off x="677334" y="1524001"/>
            <a:ext cx="8596668" cy="4517362"/>
          </a:xfrm>
        </p:spPr>
        <p:txBody>
          <a:bodyPr/>
          <a:lstStyle/>
          <a:p>
            <a:pPr marL="0" indent="0">
              <a:buNone/>
            </a:pPr>
            <a:r>
              <a:rPr lang="en-US" b="0" i="0" dirty="0">
                <a:solidFill>
                  <a:srgbClr val="001D35"/>
                </a:solidFill>
                <a:effectLst/>
                <a:latin typeface="Google Sans"/>
              </a:rPr>
              <a:t>In face recognition, neural networks, are </a:t>
            </a:r>
            <a:r>
              <a:rPr lang="en-US" dirty="0"/>
              <a:t>used to analyze images and extract key facial features like edges, outlines, and specific features such as eyes and nose</a:t>
            </a:r>
            <a:r>
              <a:rPr lang="en-US" b="0" i="0" dirty="0">
                <a:solidFill>
                  <a:srgbClr val="001D35"/>
                </a:solidFill>
                <a:effectLst/>
                <a:latin typeface="Google Sans"/>
              </a:rPr>
              <a:t>.</a:t>
            </a:r>
          </a:p>
          <a:p>
            <a:pPr marL="0" indent="0">
              <a:buNone/>
            </a:pPr>
            <a:endParaRPr lang="en-US" b="0" i="0" dirty="0">
              <a:solidFill>
                <a:srgbClr val="001D35"/>
              </a:solidFill>
              <a:effectLst/>
              <a:latin typeface="Google Sans"/>
            </a:endParaRPr>
          </a:p>
          <a:p>
            <a:pPr marL="0" indent="0">
              <a:buNone/>
            </a:pPr>
            <a:endParaRPr lang="en-US" dirty="0"/>
          </a:p>
        </p:txBody>
      </p:sp>
      <p:sp>
        <p:nvSpPr>
          <p:cNvPr id="5" name="Rectangle 2">
            <a:extLst>
              <a:ext uri="{FF2B5EF4-FFF2-40B4-BE49-F238E27FC236}">
                <a16:creationId xmlns:a16="http://schemas.microsoft.com/office/drawing/2014/main" id="{A44F359B-BE15-B223-2652-BD2E9B824E11}"/>
              </a:ext>
            </a:extLst>
          </p:cNvPr>
          <p:cNvSpPr>
            <a:spLocks noChangeArrowheads="1"/>
          </p:cNvSpPr>
          <p:nvPr/>
        </p:nvSpPr>
        <p:spPr bwMode="auto">
          <a:xfrm>
            <a:off x="677334" y="2311860"/>
            <a:ext cx="903798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Powerful and robust classification technique</a:t>
            </a:r>
            <a:r>
              <a:rPr kumimoji="0" lang="en-US" altLang="en-US" sz="1800" b="0" i="0" u="none" strike="noStrike" cap="none" normalizeH="0" baseline="0" dirty="0">
                <a:ln>
                  <a:noFill/>
                </a:ln>
                <a:solidFill>
                  <a:schemeClr val="tx1"/>
                </a:solidFill>
                <a:effectLst/>
                <a:latin typeface="Arial" panose="020B0604020202020204" pitchFamily="34" charset="0"/>
              </a:rPr>
              <a:t> used for both: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Known data (training data)</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Unknown data (unseen/test data)</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Works effectively</a:t>
            </a:r>
            <a:r>
              <a:rPr kumimoji="0" lang="en-US" altLang="en-US" sz="1800" b="0" i="0" u="none" strike="noStrike" cap="none" normalizeH="0" baseline="0" dirty="0">
                <a:ln>
                  <a:noFill/>
                </a:ln>
                <a:solidFill>
                  <a:schemeClr val="tx1"/>
                </a:solidFill>
                <a:effectLst/>
                <a:latin typeface="Arial" panose="020B0604020202020204" pitchFamily="34" charset="0"/>
              </a:rPr>
              <a:t> with:</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Linear datasets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Non-linear separable datasets</a:t>
            </a:r>
          </a:p>
          <a:p>
            <a:pPr marL="0" marR="0" lvl="0" indent="0" algn="l" defTabSz="914400" rtl="0" eaLnBrk="0" fontAlgn="base" latinLnBrk="0" hangingPunct="0">
              <a:lnSpc>
                <a:spcPct val="100000"/>
              </a:lnSpc>
              <a:spcBef>
                <a:spcPct val="0"/>
              </a:spcBef>
              <a:spcAft>
                <a:spcPct val="0"/>
              </a:spcAft>
              <a:buClrTx/>
              <a:buSzTx/>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Applications include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Speech recognition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Face recognition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Fingerprint recognition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Iris recognition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97193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7E279-B76F-61AE-8850-914FDB4ACAA0}"/>
              </a:ext>
            </a:extLst>
          </p:cNvPr>
          <p:cNvSpPr>
            <a:spLocks noGrp="1"/>
          </p:cNvSpPr>
          <p:nvPr>
            <p:ph type="title"/>
          </p:nvPr>
        </p:nvSpPr>
        <p:spPr>
          <a:xfrm>
            <a:off x="677334" y="355311"/>
            <a:ext cx="8596668" cy="781878"/>
          </a:xfrm>
        </p:spPr>
        <p:txBody>
          <a:bodyPr/>
          <a:lstStyle/>
          <a:p>
            <a:r>
              <a:rPr lang="en-US" dirty="0"/>
              <a:t>Neural networks in face recognition</a:t>
            </a:r>
          </a:p>
        </p:txBody>
      </p:sp>
      <p:sp>
        <p:nvSpPr>
          <p:cNvPr id="3" name="Content Placeholder 2">
            <a:extLst>
              <a:ext uri="{FF2B5EF4-FFF2-40B4-BE49-F238E27FC236}">
                <a16:creationId xmlns:a16="http://schemas.microsoft.com/office/drawing/2014/main" id="{E8724730-1AE2-7D33-70C7-62CCF2F54733}"/>
              </a:ext>
            </a:extLst>
          </p:cNvPr>
          <p:cNvSpPr>
            <a:spLocks noGrp="1"/>
          </p:cNvSpPr>
          <p:nvPr>
            <p:ph idx="1"/>
          </p:nvPr>
        </p:nvSpPr>
        <p:spPr>
          <a:xfrm>
            <a:off x="225287" y="1375728"/>
            <a:ext cx="9846365" cy="5482272"/>
          </a:xfrm>
        </p:spPr>
        <p:txBody>
          <a:bodyPr>
            <a:normAutofit fontScale="77500" lnSpcReduction="20000"/>
          </a:bodyPr>
          <a:lstStyle/>
          <a:p>
            <a:pPr>
              <a:buFont typeface="Arial" panose="020B0604020202020204" pitchFamily="34" charset="0"/>
              <a:buChar char="•"/>
            </a:pPr>
            <a:r>
              <a:rPr lang="en-US" sz="2200" b="1" dirty="0">
                <a:solidFill>
                  <a:schemeClr val="tx1"/>
                </a:solidFill>
              </a:rPr>
              <a:t>Artificial Neural Network (ANN)</a:t>
            </a:r>
            <a:r>
              <a:rPr lang="en-US" sz="2200" dirty="0">
                <a:solidFill>
                  <a:schemeClr val="tx1"/>
                </a:solidFill>
              </a:rPr>
              <a:t> is made up of:</a:t>
            </a:r>
          </a:p>
          <a:p>
            <a:pPr marL="742950" lvl="1" indent="-285750">
              <a:buFont typeface="Arial" panose="020B0604020202020204" pitchFamily="34" charset="0"/>
              <a:buChar char="•"/>
            </a:pPr>
            <a:r>
              <a:rPr lang="en-US" sz="2200" b="1" dirty="0">
                <a:solidFill>
                  <a:schemeClr val="tx1"/>
                </a:solidFill>
              </a:rPr>
              <a:t>Artificial neurons (nodes)</a:t>
            </a:r>
            <a:r>
              <a:rPr lang="en-US" sz="2200" dirty="0">
                <a:solidFill>
                  <a:schemeClr val="tx1"/>
                </a:solidFill>
              </a:rPr>
              <a:t> connected in a network</a:t>
            </a:r>
          </a:p>
          <a:p>
            <a:pPr>
              <a:buFont typeface="Arial" panose="020B0604020202020204" pitchFamily="34" charset="0"/>
              <a:buChar char="•"/>
            </a:pPr>
            <a:r>
              <a:rPr lang="en-US" sz="2200" b="1" dirty="0">
                <a:solidFill>
                  <a:schemeClr val="tx1"/>
                </a:solidFill>
              </a:rPr>
              <a:t>Connection strength</a:t>
            </a:r>
            <a:r>
              <a:rPr lang="en-US" sz="2200" dirty="0">
                <a:solidFill>
                  <a:schemeClr val="tx1"/>
                </a:solidFill>
              </a:rPr>
              <a:t> between nodes is assigned a value:</a:t>
            </a:r>
          </a:p>
          <a:p>
            <a:pPr marL="742950" lvl="1" indent="-285750">
              <a:buFont typeface="Arial" panose="020B0604020202020204" pitchFamily="34" charset="0"/>
              <a:buChar char="•"/>
            </a:pPr>
            <a:r>
              <a:rPr lang="en-US" sz="2200" b="1" dirty="0">
                <a:solidFill>
                  <a:schemeClr val="tx1"/>
                </a:solidFill>
              </a:rPr>
              <a:t>Excitation</a:t>
            </a:r>
            <a:r>
              <a:rPr lang="en-US" sz="2200" dirty="0">
                <a:solidFill>
                  <a:schemeClr val="tx1"/>
                </a:solidFill>
              </a:rPr>
              <a:t>: up to +1.0 (strong positive influence)</a:t>
            </a:r>
          </a:p>
          <a:p>
            <a:pPr marL="742950" lvl="1" indent="-285750">
              <a:buFont typeface="Arial" panose="020B0604020202020204" pitchFamily="34" charset="0"/>
              <a:buChar char="•"/>
            </a:pPr>
            <a:r>
              <a:rPr lang="en-US" sz="2200" b="1" dirty="0">
                <a:solidFill>
                  <a:schemeClr val="tx1"/>
                </a:solidFill>
              </a:rPr>
              <a:t>Inhibition</a:t>
            </a:r>
            <a:r>
              <a:rPr lang="en-US" sz="2200" dirty="0">
                <a:solidFill>
                  <a:schemeClr val="tx1"/>
                </a:solidFill>
              </a:rPr>
              <a:t>: down to -1.0 (strong negative influence)</a:t>
            </a:r>
          </a:p>
          <a:p>
            <a:pPr marL="742950" lvl="1" indent="-285750">
              <a:buFont typeface="Arial" panose="020B0604020202020204" pitchFamily="34" charset="0"/>
              <a:buChar char="•"/>
            </a:pPr>
            <a:r>
              <a:rPr lang="en-US" sz="2200" dirty="0">
                <a:solidFill>
                  <a:schemeClr val="tx1"/>
                </a:solidFill>
              </a:rPr>
              <a:t>Higher value = stronger connection</a:t>
            </a:r>
          </a:p>
          <a:p>
            <a:pPr marL="0" indent="0" algn="l">
              <a:buNone/>
            </a:pPr>
            <a:r>
              <a:rPr lang="en-US" sz="2200" b="1" i="0" dirty="0">
                <a:solidFill>
                  <a:schemeClr val="tx1"/>
                </a:solidFill>
                <a:effectLst/>
                <a:latin typeface="Google Sans"/>
              </a:rPr>
              <a:t> (Excitation Up to 1.0)</a:t>
            </a:r>
            <a:endParaRPr lang="en-US" sz="2200" b="0" i="0" dirty="0">
              <a:solidFill>
                <a:schemeClr val="tx1"/>
              </a:solidFill>
              <a:effectLst/>
              <a:latin typeface="Google Sans"/>
            </a:endParaRPr>
          </a:p>
          <a:p>
            <a:pPr algn="l" fontAlgn="ctr">
              <a:buFont typeface="Arial" panose="020B0604020202020204" pitchFamily="34" charset="0"/>
              <a:buChar char="•"/>
            </a:pPr>
            <a:r>
              <a:rPr lang="en-US" sz="2200" b="1" i="0" dirty="0">
                <a:solidFill>
                  <a:schemeClr val="tx1"/>
                </a:solidFill>
                <a:effectLst/>
                <a:latin typeface="Google Sans"/>
              </a:rPr>
              <a:t>Feature Enhancement:</a:t>
            </a:r>
            <a:r>
              <a:rPr lang="en-US" sz="2200" b="0" i="0" dirty="0">
                <a:solidFill>
                  <a:schemeClr val="tx1"/>
                </a:solidFill>
                <a:effectLst/>
                <a:latin typeface="Google Sans"/>
              </a:rPr>
              <a:t> When the input data (a face image) arrives, excitation would strongly activate neurons that are responsible for recognizing features like the eyes, nose, or mouth. </a:t>
            </a:r>
          </a:p>
          <a:p>
            <a:pPr algn="l" fontAlgn="ctr">
              <a:buFont typeface="Arial" panose="020B0604020202020204" pitchFamily="34" charset="0"/>
              <a:buChar char="•"/>
            </a:pPr>
            <a:r>
              <a:rPr lang="en-US" sz="2200" b="1" i="0" dirty="0">
                <a:solidFill>
                  <a:schemeClr val="tx1"/>
                </a:solidFill>
                <a:effectLst/>
                <a:latin typeface="Google Sans"/>
              </a:rPr>
              <a:t>Increased Importance:</a:t>
            </a:r>
            <a:r>
              <a:rPr lang="en-US" sz="2200" b="0" i="0" dirty="0">
                <a:solidFill>
                  <a:schemeClr val="tx1"/>
                </a:solidFill>
                <a:effectLst/>
                <a:latin typeface="Google Sans"/>
              </a:rPr>
              <a:t> A value of "1.0" for excitation would suggest a maximum or strong positive contribution, amplifying the signal of these important features, making them more prominent for the network. </a:t>
            </a:r>
          </a:p>
          <a:p>
            <a:pPr marL="0" indent="0" algn="l">
              <a:buNone/>
            </a:pPr>
            <a:r>
              <a:rPr lang="en-US" sz="2200" b="1" i="0" dirty="0">
                <a:solidFill>
                  <a:schemeClr val="tx1"/>
                </a:solidFill>
                <a:effectLst/>
                <a:latin typeface="Google Sans"/>
              </a:rPr>
              <a:t>(Inhibition Down to 1.0):</a:t>
            </a:r>
            <a:endParaRPr lang="en-US" sz="2200" b="0" i="0" dirty="0">
              <a:solidFill>
                <a:schemeClr val="tx1"/>
              </a:solidFill>
              <a:effectLst/>
              <a:latin typeface="Google Sans"/>
            </a:endParaRPr>
          </a:p>
          <a:p>
            <a:pPr algn="l" fontAlgn="ctr">
              <a:buFont typeface="Arial" panose="020B0604020202020204" pitchFamily="34" charset="0"/>
              <a:buChar char="•"/>
            </a:pPr>
            <a:r>
              <a:rPr lang="en-US" sz="2200" b="1" i="0" dirty="0">
                <a:solidFill>
                  <a:schemeClr val="tx1"/>
                </a:solidFill>
                <a:effectLst/>
                <a:latin typeface="Google Sans"/>
              </a:rPr>
              <a:t>Noise Reduction:</a:t>
            </a:r>
            <a:r>
              <a:rPr lang="en-US" sz="2200" b="0" i="0" dirty="0">
                <a:solidFill>
                  <a:schemeClr val="tx1"/>
                </a:solidFill>
                <a:effectLst/>
                <a:latin typeface="Google Sans"/>
              </a:rPr>
              <a:t> Inhibition is used to suppress irrelevant information, such as shadows, background clutter, or changes in facial expression that are not relevant to individual identification. </a:t>
            </a:r>
          </a:p>
          <a:p>
            <a:pPr algn="l">
              <a:buFont typeface="Arial" panose="020B0604020202020204" pitchFamily="34" charset="0"/>
              <a:buChar char="•"/>
            </a:pPr>
            <a:r>
              <a:rPr lang="en-US" sz="2200" b="1" i="0" dirty="0">
                <a:solidFill>
                  <a:schemeClr val="tx1"/>
                </a:solidFill>
                <a:effectLst/>
                <a:latin typeface="Google Sans"/>
              </a:rPr>
              <a:t>Selective Processing:</a:t>
            </a:r>
            <a:r>
              <a:rPr lang="en-US" sz="2200" b="0" i="0" dirty="0">
                <a:solidFill>
                  <a:schemeClr val="tx1"/>
                </a:solidFill>
                <a:effectLst/>
                <a:latin typeface="Google Sans"/>
              </a:rPr>
              <a:t> A strong negative influence (where "down to 1.0" might imply a maximum suppression) ensures that the network focuses only on the core facial features, preventing these other variables from interfering with the recognition task. </a:t>
            </a:r>
            <a:endParaRPr lang="en-US" sz="2200" dirty="0">
              <a:solidFill>
                <a:schemeClr val="tx1"/>
              </a:solidFill>
            </a:endParaRPr>
          </a:p>
        </p:txBody>
      </p:sp>
    </p:spTree>
    <p:extLst>
      <p:ext uri="{BB962C8B-B14F-4D97-AF65-F5344CB8AC3E}">
        <p14:creationId xmlns:p14="http://schemas.microsoft.com/office/powerpoint/2010/main" val="42551137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4B69D-EA14-1E54-51DE-16C3852EDE75}"/>
              </a:ext>
            </a:extLst>
          </p:cNvPr>
          <p:cNvSpPr>
            <a:spLocks noGrp="1"/>
          </p:cNvSpPr>
          <p:nvPr>
            <p:ph type="title"/>
          </p:nvPr>
        </p:nvSpPr>
        <p:spPr>
          <a:xfrm>
            <a:off x="677334" y="609600"/>
            <a:ext cx="8596668" cy="622852"/>
          </a:xfrm>
        </p:spPr>
        <p:txBody>
          <a:bodyPr>
            <a:normAutofit fontScale="90000"/>
          </a:bodyPr>
          <a:lstStyle/>
          <a:p>
            <a:r>
              <a:rPr lang="en-US" dirty="0"/>
              <a:t>Neural networks in face recognition</a:t>
            </a:r>
          </a:p>
        </p:txBody>
      </p:sp>
      <p:sp>
        <p:nvSpPr>
          <p:cNvPr id="3" name="Content Placeholder 2">
            <a:extLst>
              <a:ext uri="{FF2B5EF4-FFF2-40B4-BE49-F238E27FC236}">
                <a16:creationId xmlns:a16="http://schemas.microsoft.com/office/drawing/2014/main" id="{EA736EFE-83DA-BF1D-CBDA-4D3FF6E998BE}"/>
              </a:ext>
            </a:extLst>
          </p:cNvPr>
          <p:cNvSpPr>
            <a:spLocks noGrp="1"/>
          </p:cNvSpPr>
          <p:nvPr>
            <p:ph idx="1"/>
          </p:nvPr>
        </p:nvSpPr>
        <p:spPr>
          <a:xfrm>
            <a:off x="677334" y="1457738"/>
            <a:ext cx="8596668" cy="5247861"/>
          </a:xfrm>
        </p:spPr>
        <p:txBody>
          <a:bodyPr>
            <a:normAutofit fontScale="85000" lnSpcReduction="20000"/>
          </a:bodyPr>
          <a:lstStyle/>
          <a:p>
            <a:pPr>
              <a:buFont typeface="Arial" panose="020B0604020202020204" pitchFamily="34" charset="0"/>
              <a:buChar char="•"/>
            </a:pPr>
            <a:r>
              <a:rPr lang="en-US" sz="2000" b="1" dirty="0"/>
              <a:t>Types of nodes in ANN</a:t>
            </a:r>
            <a:r>
              <a:rPr lang="en-US" sz="2000" dirty="0"/>
              <a:t>:</a:t>
            </a:r>
          </a:p>
          <a:p>
            <a:pPr marL="742950" lvl="1" indent="-285750">
              <a:buFont typeface="Arial" panose="020B0604020202020204" pitchFamily="34" charset="0"/>
              <a:buChar char="•"/>
            </a:pPr>
            <a:r>
              <a:rPr lang="en-US" sz="1800" b="1" dirty="0"/>
              <a:t>Input nodes</a:t>
            </a:r>
            <a:r>
              <a:rPr lang="en-US" sz="1800" dirty="0"/>
              <a:t> – receive raw data</a:t>
            </a:r>
          </a:p>
          <a:p>
            <a:pPr marL="742950" lvl="1" indent="-285750">
              <a:buFont typeface="Arial" panose="020B0604020202020204" pitchFamily="34" charset="0"/>
              <a:buChar char="•"/>
            </a:pPr>
            <a:r>
              <a:rPr lang="en-US" sz="1800" b="1" dirty="0"/>
              <a:t>Hidden nodes</a:t>
            </a:r>
            <a:r>
              <a:rPr lang="en-US" sz="1800" dirty="0"/>
              <a:t> – perform internal computation</a:t>
            </a:r>
          </a:p>
          <a:p>
            <a:pPr marL="742950" lvl="1" indent="-285750">
              <a:buFont typeface="Arial" panose="020B0604020202020204" pitchFamily="34" charset="0"/>
              <a:buChar char="•"/>
            </a:pPr>
            <a:r>
              <a:rPr lang="en-US" sz="1800" b="1" dirty="0"/>
              <a:t>Output nodes</a:t>
            </a:r>
            <a:r>
              <a:rPr lang="en-US" sz="1800" dirty="0"/>
              <a:t> – deliver final predictions or classifications</a:t>
            </a:r>
            <a:endParaRPr lang="en-US" b="1" dirty="0"/>
          </a:p>
          <a:p>
            <a:pPr marL="0" indent="0">
              <a:buNone/>
            </a:pPr>
            <a:r>
              <a:rPr lang="en-US" b="1" dirty="0"/>
              <a:t>Flow of Information in a Neural Network</a:t>
            </a:r>
          </a:p>
          <a:p>
            <a:pPr>
              <a:buFont typeface="Arial" panose="020B0604020202020204" pitchFamily="34" charset="0"/>
              <a:buChar char="•"/>
            </a:pPr>
            <a:r>
              <a:rPr lang="en-US" b="1" dirty="0"/>
              <a:t>Input nodes</a:t>
            </a:r>
            <a:r>
              <a:rPr lang="en-US" dirty="0"/>
              <a:t> receive information as </a:t>
            </a:r>
            <a:r>
              <a:rPr lang="en-US" b="1" dirty="0"/>
              <a:t>numeric values</a:t>
            </a:r>
            <a:r>
              <a:rPr lang="en-US" dirty="0"/>
              <a:t> (activation values).</a:t>
            </a:r>
          </a:p>
          <a:p>
            <a:pPr>
              <a:buFont typeface="Arial" panose="020B0604020202020204" pitchFamily="34" charset="0"/>
              <a:buChar char="•"/>
            </a:pPr>
            <a:r>
              <a:rPr lang="en-US" b="1" dirty="0"/>
              <a:t>Higher activation value = stronger activation</a:t>
            </a:r>
            <a:r>
              <a:rPr lang="en-US" dirty="0"/>
              <a:t> of the node.</a:t>
            </a:r>
          </a:p>
          <a:p>
            <a:pPr>
              <a:buFont typeface="Arial" panose="020B0604020202020204" pitchFamily="34" charset="0"/>
              <a:buChar char="•"/>
            </a:pPr>
            <a:r>
              <a:rPr lang="en-US" dirty="0"/>
              <a:t>Information is passed through the network based on:</a:t>
            </a:r>
          </a:p>
          <a:p>
            <a:pPr marL="742950" lvl="1" indent="-285750">
              <a:buFont typeface="Arial" panose="020B0604020202020204" pitchFamily="34" charset="0"/>
              <a:buChar char="•"/>
            </a:pPr>
            <a:r>
              <a:rPr lang="en-US" b="1" dirty="0"/>
              <a:t>Connection strengths (weights)</a:t>
            </a:r>
            <a:endParaRPr lang="en-US" dirty="0"/>
          </a:p>
          <a:p>
            <a:pPr marL="742950" lvl="1" indent="-285750">
              <a:buFont typeface="Arial" panose="020B0604020202020204" pitchFamily="34" charset="0"/>
              <a:buChar char="•"/>
            </a:pPr>
            <a:r>
              <a:rPr lang="en-US" b="1" dirty="0"/>
              <a:t>Inhibition (-1.0) or excitation (+1.0)</a:t>
            </a:r>
            <a:endParaRPr lang="en-US" dirty="0"/>
          </a:p>
          <a:p>
            <a:pPr marL="742950" lvl="1" indent="-285750">
              <a:buFont typeface="Arial" panose="020B0604020202020204" pitchFamily="34" charset="0"/>
              <a:buChar char="•"/>
            </a:pPr>
            <a:r>
              <a:rPr lang="en-US" b="1" dirty="0"/>
              <a:t>Transfer functions</a:t>
            </a:r>
            <a:r>
              <a:rPr lang="en-US" dirty="0"/>
              <a:t> within nodes</a:t>
            </a:r>
          </a:p>
          <a:p>
            <a:pPr>
              <a:buFont typeface="Arial" panose="020B0604020202020204" pitchFamily="34" charset="0"/>
              <a:buChar char="•"/>
            </a:pPr>
            <a:r>
              <a:rPr lang="en-US" dirty="0"/>
              <a:t>Each node:</a:t>
            </a:r>
          </a:p>
          <a:p>
            <a:pPr marL="742950" lvl="1" indent="-285750">
              <a:buFont typeface="Arial" panose="020B0604020202020204" pitchFamily="34" charset="0"/>
              <a:buChar char="•"/>
            </a:pPr>
            <a:r>
              <a:rPr lang="en-US" b="1" dirty="0"/>
              <a:t>Sums incoming activation values</a:t>
            </a:r>
            <a:endParaRPr lang="en-US" dirty="0"/>
          </a:p>
          <a:p>
            <a:pPr marL="742950" lvl="1" indent="-285750">
              <a:buFont typeface="Arial" panose="020B0604020202020204" pitchFamily="34" charset="0"/>
              <a:buChar char="•"/>
            </a:pPr>
            <a:r>
              <a:rPr lang="en-US" b="1" dirty="0"/>
              <a:t>Modifies them using its transfer function</a:t>
            </a:r>
            <a:endParaRPr lang="en-US" dirty="0"/>
          </a:p>
          <a:p>
            <a:pPr>
              <a:buFont typeface="Arial" panose="020B0604020202020204" pitchFamily="34" charset="0"/>
              <a:buChar char="•"/>
            </a:pPr>
            <a:r>
              <a:rPr lang="en-US" dirty="0"/>
              <a:t>Activation flows through </a:t>
            </a:r>
            <a:r>
              <a:rPr lang="en-US" b="1" dirty="0"/>
              <a:t>hidden layers</a:t>
            </a:r>
            <a:r>
              <a:rPr lang="en-US" dirty="0"/>
              <a:t> of the network.</a:t>
            </a:r>
          </a:p>
          <a:p>
            <a:pPr>
              <a:buFont typeface="Arial" panose="020B0604020202020204" pitchFamily="34" charset="0"/>
              <a:buChar char="•"/>
            </a:pPr>
            <a:r>
              <a:rPr lang="en-US" dirty="0"/>
              <a:t>Final activation reaches the </a:t>
            </a:r>
            <a:r>
              <a:rPr lang="en-US" b="1" dirty="0"/>
              <a:t>output nodes</a:t>
            </a:r>
            <a:r>
              <a:rPr lang="en-US" dirty="0"/>
              <a:t>, which produce </a:t>
            </a:r>
            <a:r>
              <a:rPr lang="en-US" b="1" dirty="0"/>
              <a:t>meaningful results</a:t>
            </a:r>
            <a:r>
              <a:rPr lang="en-US" dirty="0"/>
              <a:t> (e.g., classifications or predictions).</a:t>
            </a:r>
          </a:p>
          <a:p>
            <a:endParaRPr lang="en-US" dirty="0"/>
          </a:p>
        </p:txBody>
      </p:sp>
    </p:spTree>
    <p:extLst>
      <p:ext uri="{BB962C8B-B14F-4D97-AF65-F5344CB8AC3E}">
        <p14:creationId xmlns:p14="http://schemas.microsoft.com/office/powerpoint/2010/main" val="906367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2D21661-A923-A50D-64BD-509B719C6057}"/>
              </a:ext>
            </a:extLst>
          </p:cNvPr>
          <p:cNvPicPr>
            <a:picLocks noChangeAspect="1"/>
          </p:cNvPicPr>
          <p:nvPr/>
        </p:nvPicPr>
        <p:blipFill>
          <a:blip r:embed="rId2"/>
          <a:stretch>
            <a:fillRect/>
          </a:stretch>
        </p:blipFill>
        <p:spPr>
          <a:xfrm>
            <a:off x="1152939" y="347948"/>
            <a:ext cx="6557342" cy="5314329"/>
          </a:xfrm>
          <a:prstGeom prst="rect">
            <a:avLst/>
          </a:prstGeom>
        </p:spPr>
      </p:pic>
      <p:sp>
        <p:nvSpPr>
          <p:cNvPr id="4" name="Rectangle 3">
            <a:extLst>
              <a:ext uri="{FF2B5EF4-FFF2-40B4-BE49-F238E27FC236}">
                <a16:creationId xmlns:a16="http://schemas.microsoft.com/office/drawing/2014/main" id="{9612A0A8-A523-E4B3-662A-6C1EC1367A70}"/>
              </a:ext>
            </a:extLst>
          </p:cNvPr>
          <p:cNvSpPr/>
          <p:nvPr/>
        </p:nvSpPr>
        <p:spPr>
          <a:xfrm>
            <a:off x="1523999" y="4865346"/>
            <a:ext cx="1656521" cy="772225"/>
          </a:xfrm>
          <a:prstGeom prst="rect">
            <a:avLst/>
          </a:prstGeom>
          <a:ln>
            <a:solidFill>
              <a:schemeClr val="bg1"/>
            </a:solid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583634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Neural network-based face detector Algorithm | Download Scientific Diagram">
            <a:extLst>
              <a:ext uri="{FF2B5EF4-FFF2-40B4-BE49-F238E27FC236}">
                <a16:creationId xmlns:a16="http://schemas.microsoft.com/office/drawing/2014/main" id="{2F55B0D3-8DE1-76C6-56A4-C3866B7975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3708" y="1277489"/>
            <a:ext cx="10075947" cy="4303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09855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9D85D-81C2-A519-4CE2-8D3CD468D380}"/>
              </a:ext>
            </a:extLst>
          </p:cNvPr>
          <p:cNvSpPr>
            <a:spLocks noGrp="1"/>
          </p:cNvSpPr>
          <p:nvPr>
            <p:ph type="title"/>
          </p:nvPr>
        </p:nvSpPr>
        <p:spPr>
          <a:xfrm>
            <a:off x="438795" y="629480"/>
            <a:ext cx="8596668" cy="622852"/>
          </a:xfrm>
        </p:spPr>
        <p:txBody>
          <a:bodyPr>
            <a:normAutofit fontScale="90000"/>
          </a:bodyPr>
          <a:lstStyle/>
          <a:p>
            <a:r>
              <a:rPr lang="en-US" dirty="0">
                <a:solidFill>
                  <a:schemeClr val="tx1"/>
                </a:solidFill>
              </a:rPr>
              <a:t>Basics of Hand geometry</a:t>
            </a:r>
          </a:p>
        </p:txBody>
      </p:sp>
      <p:sp>
        <p:nvSpPr>
          <p:cNvPr id="3" name="Content Placeholder 2">
            <a:extLst>
              <a:ext uri="{FF2B5EF4-FFF2-40B4-BE49-F238E27FC236}">
                <a16:creationId xmlns:a16="http://schemas.microsoft.com/office/drawing/2014/main" id="{F1AE9E34-51EB-B94D-B0F8-F494FE3D9ECC}"/>
              </a:ext>
            </a:extLst>
          </p:cNvPr>
          <p:cNvSpPr>
            <a:spLocks noGrp="1"/>
          </p:cNvSpPr>
          <p:nvPr>
            <p:ph idx="1"/>
          </p:nvPr>
        </p:nvSpPr>
        <p:spPr>
          <a:xfrm>
            <a:off x="438795" y="2015353"/>
            <a:ext cx="8596668" cy="4689640"/>
          </a:xfrm>
        </p:spPr>
        <p:txBody>
          <a:bodyPr/>
          <a:lstStyle/>
          <a:p>
            <a:endParaRPr lang="en-US" b="0" i="0" dirty="0">
              <a:solidFill>
                <a:srgbClr val="001D35"/>
              </a:solidFill>
              <a:effectLst/>
              <a:latin typeface="Google Sans"/>
            </a:endParaRPr>
          </a:p>
          <a:p>
            <a:endParaRPr lang="en-US" dirty="0">
              <a:solidFill>
                <a:srgbClr val="001D35"/>
              </a:solidFill>
              <a:latin typeface="Google Sans"/>
            </a:endParaRPr>
          </a:p>
          <a:p>
            <a:r>
              <a:rPr lang="en-US" b="0" i="0" dirty="0">
                <a:solidFill>
                  <a:srgbClr val="001D35"/>
                </a:solidFill>
                <a:effectLst/>
                <a:latin typeface="Google Sans"/>
              </a:rPr>
              <a:t>Hand geometry is </a:t>
            </a:r>
            <a:r>
              <a:rPr lang="en-US" dirty="0"/>
              <a:t>a biometric system that verifies a person's identity by measuring unique physical characteristics of their hand, such as finger lengths, widths, and palm dimensions</a:t>
            </a:r>
            <a:r>
              <a:rPr lang="en-US" b="0" i="0" dirty="0">
                <a:solidFill>
                  <a:srgbClr val="001D35"/>
                </a:solidFill>
                <a:effectLst/>
                <a:latin typeface="Google Sans"/>
              </a:rPr>
              <a:t>.</a:t>
            </a:r>
          </a:p>
          <a:p>
            <a:r>
              <a:rPr lang="en-US" b="0" i="0" dirty="0">
                <a:solidFill>
                  <a:srgbClr val="001D35"/>
                </a:solidFill>
                <a:effectLst/>
                <a:latin typeface="Google Sans"/>
              </a:rPr>
              <a:t>It is a user-friendly, low-cost, and easily accepted technology for medium-security applications like access control and time-and-attendance systems.</a:t>
            </a:r>
            <a:endParaRPr lang="en-US" dirty="0">
              <a:solidFill>
                <a:srgbClr val="001D35"/>
              </a:solidFill>
              <a:latin typeface="Google Sans"/>
            </a:endParaRPr>
          </a:p>
          <a:p>
            <a:r>
              <a:rPr lang="en-US" b="0" i="0" dirty="0">
                <a:solidFill>
                  <a:srgbClr val="001D35"/>
                </a:solidFill>
                <a:effectLst/>
                <a:latin typeface="Google Sans"/>
              </a:rPr>
              <a:t> The process involves capturing an image of the hand, extracting features to create a unique template, and then comparing this template against a database to verify identity.</a:t>
            </a:r>
            <a:endParaRPr lang="en-US" dirty="0"/>
          </a:p>
        </p:txBody>
      </p:sp>
      <p:pic>
        <p:nvPicPr>
          <p:cNvPr id="4098" name="Picture 2" descr="Hand geometry - Wikipedia">
            <a:extLst>
              <a:ext uri="{FF2B5EF4-FFF2-40B4-BE49-F238E27FC236}">
                <a16:creationId xmlns:a16="http://schemas.microsoft.com/office/drawing/2014/main" id="{61389A0F-5805-68E8-CDB4-75EE44EAE9B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0" y="205617"/>
            <a:ext cx="4290907" cy="22922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1878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D99BF89A-E1EC-61F7-DD24-43D9953A7401}"/>
              </a:ext>
            </a:extLst>
          </p:cNvPr>
          <p:cNvSpPr>
            <a:spLocks noGrp="1" noChangeArrowheads="1"/>
          </p:cNvSpPr>
          <p:nvPr>
            <p:ph idx="1"/>
          </p:nvPr>
        </p:nvSpPr>
        <p:spPr bwMode="auto">
          <a:xfrm>
            <a:off x="677333" y="320457"/>
            <a:ext cx="8956997" cy="6217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lang="en-US" sz="2000" b="1" dirty="0">
                <a:solidFill>
                  <a:schemeClr val="tx1"/>
                </a:solidFill>
              </a:rPr>
              <a:t>Evolution of Hand Geometry Devices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1970s: Inception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Robert Miller (1971)</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Patented the </a:t>
            </a:r>
            <a:r>
              <a:rPr kumimoji="0" lang="en-US" altLang="en-US" sz="1800" b="1" i="0" u="none" strike="noStrike" cap="none" normalizeH="0" baseline="0" dirty="0">
                <a:ln>
                  <a:noFill/>
                </a:ln>
                <a:solidFill>
                  <a:schemeClr val="tx1"/>
                </a:solidFill>
                <a:effectLst/>
                <a:latin typeface="Arial" panose="020B0604020202020204" pitchFamily="34" charset="0"/>
              </a:rPr>
              <a:t>first automated hand geometry device</a:t>
            </a:r>
            <a:r>
              <a:rPr kumimoji="0" lang="en-US" altLang="en-US" sz="1800" b="0" i="0" u="none" strike="noStrike" cap="none" normalizeH="0" baseline="0" dirty="0">
                <a:ln>
                  <a:noFill/>
                </a:ln>
                <a:solidFill>
                  <a:schemeClr val="tx1"/>
                </a:solidFill>
                <a:effectLst/>
                <a:latin typeface="Arial" panose="020B0604020202020204" pitchFamily="34" charset="0"/>
              </a:rPr>
              <a:t> at the </a:t>
            </a:r>
            <a:r>
              <a:rPr kumimoji="0" lang="en-US" altLang="en-US" sz="1800" b="1" i="0" u="none" strike="noStrike" cap="none" normalizeH="0" baseline="0" dirty="0">
                <a:ln>
                  <a:noFill/>
                </a:ln>
                <a:solidFill>
                  <a:schemeClr val="tx1"/>
                </a:solidFill>
                <a:effectLst/>
                <a:latin typeface="Arial" panose="020B0604020202020204" pitchFamily="34" charset="0"/>
              </a:rPr>
              <a:t>Stanford Research Institute</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His system used hand measurements combined with a </a:t>
            </a:r>
            <a:r>
              <a:rPr kumimoji="0" lang="en-US" altLang="en-US" sz="1800" b="1" i="0" u="none" strike="noStrike" cap="none" normalizeH="0" baseline="0" dirty="0">
                <a:ln>
                  <a:noFill/>
                </a:ln>
                <a:solidFill>
                  <a:schemeClr val="tx1"/>
                </a:solidFill>
                <a:effectLst/>
                <a:latin typeface="Arial" panose="020B0604020202020204" pitchFamily="34" charset="0"/>
              </a:rPr>
              <a:t>punched ID card</a:t>
            </a:r>
            <a:r>
              <a:rPr kumimoji="0" lang="en-US" altLang="en-US" sz="1800" b="0" i="0" u="none" strike="noStrike" cap="none" normalizeH="0" baseline="0" dirty="0">
                <a:ln>
                  <a:noFill/>
                </a:ln>
                <a:solidFill>
                  <a:schemeClr val="tx1"/>
                </a:solidFill>
                <a:effectLst/>
                <a:latin typeface="Arial" panose="020B0604020202020204" pitchFamily="34" charset="0"/>
              </a:rPr>
              <a:t> to match identity and activate a circuit.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This marked the </a:t>
            </a:r>
            <a:r>
              <a:rPr kumimoji="0" lang="en-US" altLang="en-US" sz="1800" b="1" i="0" u="none" strike="noStrike" cap="none" normalizeH="0" baseline="0" dirty="0">
                <a:ln>
                  <a:noFill/>
                </a:ln>
                <a:solidFill>
                  <a:schemeClr val="tx1"/>
                </a:solidFill>
                <a:effectLst/>
                <a:latin typeface="Arial" panose="020B0604020202020204" pitchFamily="34" charset="0"/>
              </a:rPr>
              <a:t>first computerized use</a:t>
            </a:r>
            <a:r>
              <a:rPr kumimoji="0" lang="en-US" altLang="en-US" sz="1800" b="0" i="0" u="none" strike="noStrike" cap="none" normalizeH="0" baseline="0" dirty="0">
                <a:ln>
                  <a:noFill/>
                </a:ln>
                <a:solidFill>
                  <a:schemeClr val="tx1"/>
                </a:solidFill>
                <a:effectLst/>
                <a:latin typeface="Arial" panose="020B0604020202020204" pitchFamily="34" charset="0"/>
              </a:rPr>
              <a:t> of biometrics via hand geometry.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Advancements in 3D Hand Scanning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David </a:t>
            </a:r>
            <a:r>
              <a:rPr kumimoji="0" lang="en-US" altLang="en-US" sz="1800" b="1" i="0" u="none" strike="noStrike" cap="none" normalizeH="0" baseline="0" dirty="0" err="1">
                <a:ln>
                  <a:noFill/>
                </a:ln>
                <a:solidFill>
                  <a:schemeClr val="tx1"/>
                </a:solidFill>
                <a:effectLst/>
                <a:latin typeface="Arial" panose="020B0604020202020204" pitchFamily="34" charset="0"/>
              </a:rPr>
              <a:t>Sidlauskas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Developed the </a:t>
            </a:r>
            <a:r>
              <a:rPr kumimoji="0" lang="en-US" altLang="en-US" sz="1800" b="1" i="0" u="none" strike="noStrike" cap="none" normalizeH="0" baseline="0" dirty="0" err="1">
                <a:ln>
                  <a:noFill/>
                </a:ln>
                <a:solidFill>
                  <a:schemeClr val="tx1"/>
                </a:solidFill>
                <a:effectLst/>
                <a:latin typeface="Arial" panose="020B0604020202020204" pitchFamily="34" charset="0"/>
              </a:rPr>
              <a:t>Handkey</a:t>
            </a:r>
            <a:r>
              <a:rPr kumimoji="0" lang="en-US" altLang="en-US" sz="1800" b="1" i="0" u="none" strike="noStrike" cap="none" normalizeH="0" baseline="0" dirty="0">
                <a:ln>
                  <a:noFill/>
                </a:ln>
                <a:solidFill>
                  <a:schemeClr val="tx1"/>
                </a:solidFill>
                <a:effectLst/>
                <a:latin typeface="Arial" panose="020B0604020202020204" pitchFamily="34" charset="0"/>
              </a:rPr>
              <a:t> ID3D</a:t>
            </a:r>
            <a:r>
              <a:rPr kumimoji="0" lang="en-US" altLang="en-US" sz="1800" b="0" i="0" u="none" strike="noStrike" cap="none" normalizeH="0" baseline="0" dirty="0">
                <a:ln>
                  <a:noFill/>
                </a:ln>
                <a:solidFill>
                  <a:schemeClr val="tx1"/>
                </a:solidFill>
                <a:effectLst/>
                <a:latin typeface="Arial" panose="020B0604020202020204" pitchFamily="34" charset="0"/>
              </a:rPr>
              <a:t>, the </a:t>
            </a:r>
            <a:r>
              <a:rPr kumimoji="0" lang="en-US" altLang="en-US" sz="1800" b="1" i="0" u="none" strike="noStrike" cap="none" normalizeH="0" baseline="0" dirty="0">
                <a:ln>
                  <a:noFill/>
                </a:ln>
                <a:solidFill>
                  <a:schemeClr val="tx1"/>
                </a:solidFill>
                <a:effectLst/>
                <a:latin typeface="Arial" panose="020B0604020202020204" pitchFamily="34" charset="0"/>
              </a:rPr>
              <a:t>first 3D hand scanner</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Included:</a:t>
            </a: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Optical measuring plate</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Camera</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914400" marR="0" lvl="2"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Numeric keypad</a:t>
            </a:r>
            <a:r>
              <a:rPr kumimoji="0" lang="en-US" altLang="en-US" sz="1800" b="0" i="0" u="none" strike="noStrike" cap="none" normalizeH="0" baseline="0" dirty="0">
                <a:ln>
                  <a:noFill/>
                </a:ln>
                <a:solidFill>
                  <a:schemeClr val="tx1"/>
                </a:solidFill>
                <a:effectLst/>
                <a:latin typeface="Arial" panose="020B0604020202020204" pitchFamily="34" charset="0"/>
              </a:rPr>
              <a:t> (for PIN input)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Academic Contributions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Jain et al.</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One of the earliest academic studies.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Designed a </a:t>
            </a:r>
            <a:r>
              <a:rPr kumimoji="0" lang="en-US" altLang="en-US" sz="1800" b="1" i="0" u="none" strike="noStrike" cap="none" normalizeH="0" baseline="0" dirty="0">
                <a:ln>
                  <a:noFill/>
                </a:ln>
                <a:solidFill>
                  <a:schemeClr val="tx1"/>
                </a:solidFill>
                <a:effectLst/>
                <a:latin typeface="Arial" panose="020B0604020202020204" pitchFamily="34" charset="0"/>
              </a:rPr>
              <a:t>prototype hand geometry system</a:t>
            </a:r>
            <a:r>
              <a:rPr kumimoji="0" lang="en-US" altLang="en-US" sz="1800" b="0" i="0" u="none" strike="noStrike" cap="none" normalizeH="0" baseline="0" dirty="0">
                <a:ln>
                  <a:noFill/>
                </a:ln>
                <a:solidFill>
                  <a:schemeClr val="tx1"/>
                </a:solidFill>
                <a:effectLst/>
                <a:latin typeface="Arial" panose="020B0604020202020204" pitchFamily="34" charset="0"/>
              </a:rPr>
              <a:t> using </a:t>
            </a:r>
            <a:r>
              <a:rPr kumimoji="0" lang="en-US" altLang="en-US" sz="1800" b="1" i="0" u="none" strike="noStrike" cap="none" normalizeH="0" baseline="0" dirty="0">
                <a:ln>
                  <a:noFill/>
                </a:ln>
                <a:solidFill>
                  <a:schemeClr val="tx1"/>
                </a:solidFill>
                <a:effectLst/>
                <a:latin typeface="Arial" panose="020B0604020202020204" pitchFamily="34" charset="0"/>
              </a:rPr>
              <a:t>16 geometric features</a:t>
            </a:r>
            <a:r>
              <a:rPr kumimoji="0" lang="en-US" altLang="en-US" sz="1800" b="0" i="0" u="none" strike="noStrike" cap="none" normalizeH="0" baseline="0" dirty="0">
                <a:ln>
                  <a:noFill/>
                </a:ln>
                <a:solidFill>
                  <a:schemeClr val="tx1"/>
                </a:solidFill>
                <a:effectLst/>
                <a:latin typeface="Arial" panose="020B0604020202020204" pitchFamily="34" charset="0"/>
              </a:rPr>
              <a:t> for identity verification.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513764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73BF4-F297-9B13-3423-CAD5AA5413BF}"/>
              </a:ext>
            </a:extLst>
          </p:cNvPr>
          <p:cNvSpPr>
            <a:spLocks noGrp="1"/>
          </p:cNvSpPr>
          <p:nvPr>
            <p:ph type="title"/>
          </p:nvPr>
        </p:nvSpPr>
        <p:spPr/>
        <p:txBody>
          <a:bodyPr/>
          <a:lstStyle/>
          <a:p>
            <a:r>
              <a:rPr lang="en-US" dirty="0"/>
              <a:t>Basics of Hand geometry</a:t>
            </a:r>
          </a:p>
        </p:txBody>
      </p:sp>
      <p:sp>
        <p:nvSpPr>
          <p:cNvPr id="3" name="Content Placeholder 2">
            <a:extLst>
              <a:ext uri="{FF2B5EF4-FFF2-40B4-BE49-F238E27FC236}">
                <a16:creationId xmlns:a16="http://schemas.microsoft.com/office/drawing/2014/main" id="{43E080FC-8416-E69B-13A8-6BD076B525DD}"/>
              </a:ext>
            </a:extLst>
          </p:cNvPr>
          <p:cNvSpPr>
            <a:spLocks noGrp="1"/>
          </p:cNvSpPr>
          <p:nvPr>
            <p:ph idx="1"/>
          </p:nvPr>
        </p:nvSpPr>
        <p:spPr/>
        <p:txBody>
          <a:bodyPr/>
          <a:lstStyle/>
          <a:p>
            <a:pPr marL="0" indent="0">
              <a:buNone/>
            </a:pPr>
            <a:r>
              <a:rPr lang="en-US" b="0" i="0" dirty="0">
                <a:solidFill>
                  <a:srgbClr val="001D35"/>
                </a:solidFill>
                <a:effectLst/>
                <a:latin typeface="Google Sans"/>
              </a:rPr>
              <a:t>Key Principles</a:t>
            </a:r>
          </a:p>
          <a:p>
            <a:pPr algn="l">
              <a:buFont typeface="Arial" panose="020B0604020202020204" pitchFamily="34" charset="0"/>
              <a:buChar char="•"/>
            </a:pPr>
            <a:r>
              <a:rPr lang="en-US" b="1" i="0" dirty="0">
                <a:solidFill>
                  <a:srgbClr val="001D35"/>
                </a:solidFill>
                <a:effectLst/>
                <a:latin typeface="Google Sans"/>
              </a:rPr>
              <a:t>Unique Measurements</a:t>
            </a:r>
            <a:r>
              <a:rPr lang="en-US" b="0" i="0" dirty="0">
                <a:solidFill>
                  <a:srgbClr val="001D35"/>
                </a:solidFill>
                <a:effectLst/>
                <a:latin typeface="Google Sans"/>
              </a:rPr>
              <a:t>:</a:t>
            </a:r>
          </a:p>
          <a:p>
            <a:pPr algn="l" fontAlgn="ctr">
              <a:buFont typeface="Arial" panose="020B0604020202020204" pitchFamily="34" charset="0"/>
              <a:buChar char="•"/>
            </a:pPr>
            <a:r>
              <a:rPr lang="en-US" b="0" i="0" dirty="0">
                <a:solidFill>
                  <a:srgbClr val="545D7E"/>
                </a:solidFill>
                <a:effectLst/>
                <a:latin typeface="Google Sans"/>
              </a:rPr>
              <a:t>The system relies on the fact that each human hand has a unique shape, including the lengths, widths, thicknesses, and relative positions of fingers and palms.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Feature Extraction</a:t>
            </a:r>
            <a:r>
              <a:rPr lang="en-US" b="0" i="0" dirty="0">
                <a:solidFill>
                  <a:srgbClr val="001D35"/>
                </a:solidFill>
                <a:effectLst/>
                <a:latin typeface="Google Sans"/>
              </a:rPr>
              <a:t>:</a:t>
            </a:r>
          </a:p>
          <a:p>
            <a:pPr algn="l" fontAlgn="ctr">
              <a:buFont typeface="Arial" panose="020B0604020202020204" pitchFamily="34" charset="0"/>
              <a:buChar char="•"/>
            </a:pPr>
            <a:r>
              <a:rPr lang="en-US" b="0" i="0" dirty="0">
                <a:solidFill>
                  <a:srgbClr val="545D7E"/>
                </a:solidFill>
                <a:effectLst/>
                <a:latin typeface="Google Sans"/>
              </a:rPr>
              <a:t>A camera or scanner captures an image of the hand, and the system extracts key geometric features to create a digital template. </a:t>
            </a:r>
            <a:endParaRPr lang="en-US" b="0" i="0" dirty="0">
              <a:solidFill>
                <a:srgbClr val="0B57D0"/>
              </a:solidFill>
              <a:effectLst/>
              <a:latin typeface="Google Sans"/>
            </a:endParaRPr>
          </a:p>
          <a:p>
            <a:pPr algn="l">
              <a:buFont typeface="Arial" panose="020B0604020202020204" pitchFamily="34" charset="0"/>
              <a:buChar char="•"/>
            </a:pPr>
            <a:r>
              <a:rPr lang="en-US" b="1" i="0" dirty="0">
                <a:solidFill>
                  <a:srgbClr val="001D35"/>
                </a:solidFill>
                <a:effectLst/>
                <a:latin typeface="Google Sans"/>
              </a:rPr>
              <a:t>Verification Process</a:t>
            </a:r>
            <a:r>
              <a:rPr lang="en-US" b="0" i="0" dirty="0">
                <a:solidFill>
                  <a:srgbClr val="001D35"/>
                </a:solidFill>
                <a:effectLst/>
                <a:latin typeface="Google Sans"/>
              </a:rPr>
              <a:t>:</a:t>
            </a:r>
          </a:p>
          <a:p>
            <a:pPr algn="l">
              <a:buFont typeface="Arial" panose="020B0604020202020204" pitchFamily="34" charset="0"/>
              <a:buChar char="•"/>
            </a:pPr>
            <a:r>
              <a:rPr lang="en-US" b="0" i="0" dirty="0">
                <a:solidFill>
                  <a:srgbClr val="545D7E"/>
                </a:solidFill>
                <a:effectLst/>
                <a:latin typeface="Google Sans"/>
              </a:rPr>
              <a:t>During verification, the captured hand's features are compared against the stored template to confirm the user's identity. </a:t>
            </a:r>
          </a:p>
          <a:p>
            <a:endParaRPr lang="en-US" dirty="0"/>
          </a:p>
        </p:txBody>
      </p:sp>
    </p:spTree>
    <p:extLst>
      <p:ext uri="{BB962C8B-B14F-4D97-AF65-F5344CB8AC3E}">
        <p14:creationId xmlns:p14="http://schemas.microsoft.com/office/powerpoint/2010/main" val="3205468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4CA62-35C9-5058-CB9D-E3A8F2A6F822}"/>
              </a:ext>
            </a:extLst>
          </p:cNvPr>
          <p:cNvSpPr>
            <a:spLocks noGrp="1"/>
          </p:cNvSpPr>
          <p:nvPr>
            <p:ph type="title"/>
          </p:nvPr>
        </p:nvSpPr>
        <p:spPr/>
        <p:txBody>
          <a:bodyPr/>
          <a:lstStyle/>
          <a:p>
            <a:r>
              <a:rPr lang="en-US" dirty="0"/>
              <a:t>Basics of Hand geometry</a:t>
            </a:r>
          </a:p>
        </p:txBody>
      </p:sp>
      <p:sp>
        <p:nvSpPr>
          <p:cNvPr id="3" name="Content Placeholder 2">
            <a:extLst>
              <a:ext uri="{FF2B5EF4-FFF2-40B4-BE49-F238E27FC236}">
                <a16:creationId xmlns:a16="http://schemas.microsoft.com/office/drawing/2014/main" id="{76473BBD-ACA2-E046-2D13-D0527CDD9733}"/>
              </a:ext>
            </a:extLst>
          </p:cNvPr>
          <p:cNvSpPr>
            <a:spLocks noGrp="1"/>
          </p:cNvSpPr>
          <p:nvPr>
            <p:ph idx="1"/>
          </p:nvPr>
        </p:nvSpPr>
        <p:spPr/>
        <p:txBody>
          <a:bodyPr/>
          <a:lstStyle/>
          <a:p>
            <a:pPr algn="l" fontAlgn="ctr">
              <a:buFont typeface="+mj-lt"/>
              <a:buAutoNum type="arabicPeriod"/>
            </a:pPr>
            <a:r>
              <a:rPr lang="en-US" b="1" i="0" dirty="0">
                <a:solidFill>
                  <a:srgbClr val="001D35"/>
                </a:solidFill>
                <a:effectLst/>
                <a:latin typeface="Google Sans"/>
              </a:rPr>
              <a:t>Capture</a:t>
            </a:r>
            <a:r>
              <a:rPr lang="en-US" b="0" i="0" dirty="0">
                <a:solidFill>
                  <a:srgbClr val="001D35"/>
                </a:solidFill>
                <a:effectLst/>
                <a:latin typeface="Google Sans"/>
              </a:rPr>
              <a:t>: A user places their hand on a platform with a camera or scanner. </a:t>
            </a:r>
            <a:endParaRPr lang="en-US" b="0" i="0" dirty="0">
              <a:solidFill>
                <a:srgbClr val="0B57D0"/>
              </a:solidFill>
              <a:effectLst/>
              <a:latin typeface="Google Sans"/>
            </a:endParaRPr>
          </a:p>
          <a:p>
            <a:pPr algn="l" fontAlgn="ctr">
              <a:buFont typeface="+mj-lt"/>
              <a:buAutoNum type="arabicPeriod" startAt="2"/>
            </a:pPr>
            <a:r>
              <a:rPr lang="en-US" b="1" i="0" dirty="0">
                <a:solidFill>
                  <a:srgbClr val="001D35"/>
                </a:solidFill>
                <a:effectLst/>
                <a:latin typeface="Google Sans"/>
              </a:rPr>
              <a:t>Feature Extraction</a:t>
            </a:r>
            <a:r>
              <a:rPr lang="en-US" b="0" i="0" dirty="0">
                <a:solidFill>
                  <a:srgbClr val="001D35"/>
                </a:solidFill>
                <a:effectLst/>
                <a:latin typeface="Google Sans"/>
              </a:rPr>
              <a:t>: The system records the image and analyzes it to measure specific features like finger lengths, finger widths at different points, and palm dimensions. </a:t>
            </a:r>
            <a:endParaRPr lang="en-US" b="0" i="0" dirty="0">
              <a:solidFill>
                <a:srgbClr val="0B57D0"/>
              </a:solidFill>
              <a:effectLst/>
              <a:latin typeface="Google Sans"/>
            </a:endParaRPr>
          </a:p>
          <a:p>
            <a:pPr algn="l" fontAlgn="ctr">
              <a:buFont typeface="+mj-lt"/>
              <a:buAutoNum type="arabicPeriod" startAt="3"/>
            </a:pPr>
            <a:r>
              <a:rPr lang="en-US" b="1" i="0" dirty="0">
                <a:solidFill>
                  <a:srgbClr val="001D35"/>
                </a:solidFill>
                <a:effectLst/>
                <a:latin typeface="Google Sans"/>
              </a:rPr>
              <a:t>Template Creation</a:t>
            </a:r>
            <a:r>
              <a:rPr lang="en-US" b="0" i="0" dirty="0">
                <a:solidFill>
                  <a:srgbClr val="001D35"/>
                </a:solidFill>
                <a:effectLst/>
                <a:latin typeface="Google Sans"/>
              </a:rPr>
              <a:t>: A digital template is created from these measurements, which represents the individual's unique hand geometry. </a:t>
            </a:r>
            <a:endParaRPr lang="en-US" b="0" i="0" dirty="0">
              <a:solidFill>
                <a:srgbClr val="0B57D0"/>
              </a:solidFill>
              <a:effectLst/>
              <a:latin typeface="Google Sans"/>
            </a:endParaRPr>
          </a:p>
          <a:p>
            <a:pPr algn="l" fontAlgn="ctr">
              <a:buFont typeface="+mj-lt"/>
              <a:buAutoNum type="arabicPeriod" startAt="4"/>
            </a:pPr>
            <a:r>
              <a:rPr lang="en-US" b="1" i="0" dirty="0">
                <a:solidFill>
                  <a:srgbClr val="001D35"/>
                </a:solidFill>
                <a:effectLst/>
                <a:latin typeface="Google Sans"/>
              </a:rPr>
              <a:t>Enrollment</a:t>
            </a:r>
            <a:r>
              <a:rPr lang="en-US" b="0" i="0" dirty="0">
                <a:solidFill>
                  <a:srgbClr val="001D35"/>
                </a:solidFill>
                <a:effectLst/>
                <a:latin typeface="Google Sans"/>
              </a:rPr>
              <a:t>: The user's template is stored in a database during the enrollment phase. </a:t>
            </a:r>
            <a:endParaRPr lang="en-US" b="0" i="0" dirty="0">
              <a:solidFill>
                <a:srgbClr val="0B57D0"/>
              </a:solidFill>
              <a:effectLst/>
              <a:latin typeface="Google Sans"/>
            </a:endParaRPr>
          </a:p>
          <a:p>
            <a:pPr algn="l">
              <a:buFont typeface="+mj-lt"/>
              <a:buAutoNum type="arabicPeriod" startAt="5"/>
            </a:pPr>
            <a:r>
              <a:rPr lang="en-US" b="1" i="0" dirty="0">
                <a:solidFill>
                  <a:srgbClr val="001D35"/>
                </a:solidFill>
                <a:effectLst/>
                <a:latin typeface="Google Sans"/>
              </a:rPr>
              <a:t>Verification</a:t>
            </a:r>
            <a:r>
              <a:rPr lang="en-US" b="0" i="0" dirty="0">
                <a:solidFill>
                  <a:srgbClr val="001D35"/>
                </a:solidFill>
                <a:effectLst/>
                <a:latin typeface="Google Sans"/>
              </a:rPr>
              <a:t>: When the user presents their hand, a new template is created and compared to their stored template to confirm their identity. </a:t>
            </a:r>
          </a:p>
          <a:p>
            <a:endParaRPr lang="en-US" dirty="0"/>
          </a:p>
        </p:txBody>
      </p:sp>
    </p:spTree>
    <p:extLst>
      <p:ext uri="{BB962C8B-B14F-4D97-AF65-F5344CB8AC3E}">
        <p14:creationId xmlns:p14="http://schemas.microsoft.com/office/powerpoint/2010/main" val="229781462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BC2AB7-7BDD-B73D-DAC2-1BB7001E0C72}"/>
              </a:ext>
            </a:extLst>
          </p:cNvPr>
          <p:cNvSpPr>
            <a:spLocks noGrp="1"/>
          </p:cNvSpPr>
          <p:nvPr>
            <p:ph type="title"/>
          </p:nvPr>
        </p:nvSpPr>
        <p:spPr>
          <a:xfrm>
            <a:off x="677334" y="609600"/>
            <a:ext cx="8596668" cy="569843"/>
          </a:xfrm>
        </p:spPr>
        <p:txBody>
          <a:bodyPr>
            <a:normAutofit fontScale="90000"/>
          </a:bodyPr>
          <a:lstStyle/>
          <a:p>
            <a:r>
              <a:rPr lang="en-US" dirty="0"/>
              <a:t>Basics of Hand geometry</a:t>
            </a:r>
          </a:p>
        </p:txBody>
      </p:sp>
      <p:sp>
        <p:nvSpPr>
          <p:cNvPr id="3" name="Content Placeholder 2">
            <a:extLst>
              <a:ext uri="{FF2B5EF4-FFF2-40B4-BE49-F238E27FC236}">
                <a16:creationId xmlns:a16="http://schemas.microsoft.com/office/drawing/2014/main" id="{F0278FC1-0C95-4EF3-1FE6-E96834962C92}"/>
              </a:ext>
            </a:extLst>
          </p:cNvPr>
          <p:cNvSpPr>
            <a:spLocks noGrp="1"/>
          </p:cNvSpPr>
          <p:nvPr>
            <p:ph idx="1"/>
          </p:nvPr>
        </p:nvSpPr>
        <p:spPr>
          <a:xfrm>
            <a:off x="677333" y="1179444"/>
            <a:ext cx="9141915" cy="5678556"/>
          </a:xfrm>
        </p:spPr>
        <p:txBody>
          <a:bodyPr>
            <a:normAutofit fontScale="92500" lnSpcReduction="10000"/>
          </a:bodyPr>
          <a:lstStyle/>
          <a:p>
            <a:pPr algn="l"/>
            <a:r>
              <a:rPr lang="en-US" b="0" i="0" dirty="0">
                <a:solidFill>
                  <a:srgbClr val="000000"/>
                </a:solidFill>
                <a:effectLst/>
                <a:latin typeface="FSBrabo"/>
              </a:rPr>
              <a:t>Based on the data used for personal identification, technologies for reading human hand can be divided in three categories:</a:t>
            </a:r>
          </a:p>
          <a:p>
            <a:pPr algn="l">
              <a:buFont typeface="Arial" panose="020B0604020202020204" pitchFamily="34" charset="0"/>
              <a:buChar char="•"/>
            </a:pPr>
            <a:r>
              <a:rPr lang="en-US" b="0" i="0" dirty="0">
                <a:solidFill>
                  <a:srgbClr val="000000"/>
                </a:solidFill>
                <a:effectLst/>
                <a:latin typeface="FSBrabo"/>
              </a:rPr>
              <a:t>Palm technology,</a:t>
            </a:r>
          </a:p>
          <a:p>
            <a:pPr algn="l">
              <a:buFont typeface="Arial" panose="020B0604020202020204" pitchFamily="34" charset="0"/>
              <a:buChar char="•"/>
            </a:pPr>
            <a:r>
              <a:rPr lang="en-US" b="0" i="0" dirty="0">
                <a:solidFill>
                  <a:srgbClr val="000000"/>
                </a:solidFill>
                <a:effectLst/>
                <a:latin typeface="FSBrabo"/>
              </a:rPr>
              <a:t>Hand vein technology,</a:t>
            </a:r>
          </a:p>
          <a:p>
            <a:pPr algn="l">
              <a:buFont typeface="Arial" panose="020B0604020202020204" pitchFamily="34" charset="0"/>
              <a:buChar char="•"/>
            </a:pPr>
            <a:r>
              <a:rPr lang="en-US" b="0" i="0" dirty="0">
                <a:solidFill>
                  <a:srgbClr val="000000"/>
                </a:solidFill>
                <a:effectLst/>
                <a:latin typeface="FSBrabo"/>
              </a:rPr>
              <a:t>Hand geometry and hand shape technology.</a:t>
            </a:r>
          </a:p>
          <a:p>
            <a:r>
              <a:rPr lang="en-US" b="1" dirty="0"/>
              <a:t>. Palm Technology – </a:t>
            </a:r>
            <a:r>
              <a:rPr lang="en-US" b="1" i="1" dirty="0"/>
              <a:t>The Classic Approach</a:t>
            </a:r>
            <a:endParaRPr lang="en-US" b="1" dirty="0"/>
          </a:p>
          <a:p>
            <a:pPr>
              <a:buFont typeface="Arial" panose="020B0604020202020204" pitchFamily="34" charset="0"/>
              <a:buChar char="•"/>
            </a:pPr>
            <a:r>
              <a:rPr lang="en-US" b="1" dirty="0"/>
              <a:t>Relation to Fingerprint Biometrics (Dactyloscopy):</a:t>
            </a:r>
            <a:endParaRPr lang="en-US" dirty="0"/>
          </a:p>
          <a:p>
            <a:pPr marL="742950" lvl="1" indent="-285750">
              <a:buFont typeface="Arial" panose="020B0604020202020204" pitchFamily="34" charset="0"/>
              <a:buChar char="•"/>
            </a:pPr>
            <a:r>
              <a:rPr lang="en-US" dirty="0"/>
              <a:t>Considered an extension of fingerprint analysis.</a:t>
            </a:r>
          </a:p>
          <a:p>
            <a:pPr marL="742950" lvl="1" indent="-285750">
              <a:buFont typeface="Arial" panose="020B0604020202020204" pitchFamily="34" charset="0"/>
              <a:buChar char="•"/>
            </a:pPr>
            <a:r>
              <a:rPr lang="en-US" dirty="0"/>
              <a:t>Uses similar techniques to fingerprint recognition.</a:t>
            </a:r>
          </a:p>
          <a:p>
            <a:pPr>
              <a:buFont typeface="Arial" panose="020B0604020202020204" pitchFamily="34" charset="0"/>
              <a:buChar char="•"/>
            </a:pPr>
            <a:r>
              <a:rPr lang="en-US" b="1" dirty="0"/>
              <a:t>Identification Features:</a:t>
            </a:r>
            <a:endParaRPr lang="en-US" dirty="0"/>
          </a:p>
          <a:p>
            <a:pPr marL="742950" lvl="1" indent="-285750">
              <a:buFont typeface="Arial" panose="020B0604020202020204" pitchFamily="34" charset="0"/>
              <a:buChar char="•"/>
            </a:pPr>
            <a:r>
              <a:rPr lang="en-US" dirty="0"/>
              <a:t>Measures:</a:t>
            </a:r>
          </a:p>
          <a:p>
            <a:pPr marL="1143000" lvl="2" indent="-228600">
              <a:buFont typeface="Arial" panose="020B0604020202020204" pitchFamily="34" charset="0"/>
              <a:buChar char="•"/>
            </a:pPr>
            <a:r>
              <a:rPr lang="en-US" b="1" dirty="0"/>
              <a:t>Size, shape, and flow of papillae (skin ridges)</a:t>
            </a:r>
            <a:endParaRPr lang="en-US" dirty="0"/>
          </a:p>
          <a:p>
            <a:pPr marL="1143000" lvl="2" indent="-228600">
              <a:buFont typeface="Arial" panose="020B0604020202020204" pitchFamily="34" charset="0"/>
              <a:buChar char="•"/>
            </a:pPr>
            <a:r>
              <a:rPr lang="en-US" b="1" dirty="0"/>
              <a:t>Minutiae points</a:t>
            </a:r>
            <a:r>
              <a:rPr lang="en-US" dirty="0"/>
              <a:t> (ridge endings, bifurcations, etc.)</a:t>
            </a:r>
          </a:p>
          <a:p>
            <a:pPr marL="742950" lvl="1" indent="-285750">
              <a:buFont typeface="Arial" panose="020B0604020202020204" pitchFamily="34" charset="0"/>
              <a:buChar char="•"/>
            </a:pPr>
            <a:r>
              <a:rPr lang="en-US" dirty="0"/>
              <a:t>Preprocessing involves:</a:t>
            </a:r>
          </a:p>
          <a:p>
            <a:pPr marL="1143000" lvl="2" indent="-228600">
              <a:buFont typeface="Arial" panose="020B0604020202020204" pitchFamily="34" charset="0"/>
              <a:buChar char="•"/>
            </a:pPr>
            <a:r>
              <a:rPr lang="en-US" dirty="0"/>
              <a:t>Image normalization</a:t>
            </a:r>
          </a:p>
          <a:p>
            <a:pPr marL="1143000" lvl="2" indent="-228600">
              <a:buFont typeface="Arial" panose="020B0604020202020204" pitchFamily="34" charset="0"/>
              <a:buChar char="•"/>
            </a:pPr>
            <a:r>
              <a:rPr lang="en-US" dirty="0"/>
              <a:t>Conversion to </a:t>
            </a:r>
            <a:r>
              <a:rPr lang="en-US" b="1" dirty="0"/>
              <a:t>binary image</a:t>
            </a:r>
            <a:endParaRPr lang="en-US" dirty="0"/>
          </a:p>
          <a:p>
            <a:pPr marL="1143000" lvl="2" indent="-228600">
              <a:buFont typeface="Arial" panose="020B0604020202020204" pitchFamily="34" charset="0"/>
              <a:buChar char="•"/>
            </a:pPr>
            <a:r>
              <a:rPr lang="en-US" dirty="0"/>
              <a:t>Measuring </a:t>
            </a:r>
            <a:r>
              <a:rPr lang="en-US" b="1" dirty="0"/>
              <a:t>distances between papillae</a:t>
            </a:r>
            <a:endParaRPr lang="en-US" dirty="0"/>
          </a:p>
          <a:p>
            <a:pPr marL="0" indent="0">
              <a:buNone/>
            </a:pPr>
            <a:endParaRPr lang="en-US" dirty="0"/>
          </a:p>
        </p:txBody>
      </p:sp>
    </p:spTree>
    <p:extLst>
      <p:ext uri="{BB962C8B-B14F-4D97-AF65-F5344CB8AC3E}">
        <p14:creationId xmlns:p14="http://schemas.microsoft.com/office/powerpoint/2010/main" val="11454908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5220D-1617-114E-4144-7C3AC1F778E5}"/>
              </a:ext>
            </a:extLst>
          </p:cNvPr>
          <p:cNvSpPr>
            <a:spLocks noGrp="1"/>
          </p:cNvSpPr>
          <p:nvPr>
            <p:ph type="title"/>
          </p:nvPr>
        </p:nvSpPr>
        <p:spPr>
          <a:xfrm>
            <a:off x="677334" y="609600"/>
            <a:ext cx="8596668" cy="636104"/>
          </a:xfrm>
        </p:spPr>
        <p:txBody>
          <a:bodyPr>
            <a:normAutofit fontScale="90000"/>
          </a:bodyPr>
          <a:lstStyle/>
          <a:p>
            <a:r>
              <a:rPr lang="en-US" b="1" dirty="0"/>
              <a:t>Palm Technology</a:t>
            </a:r>
            <a:endParaRPr lang="en-US" dirty="0"/>
          </a:p>
        </p:txBody>
      </p:sp>
      <p:sp>
        <p:nvSpPr>
          <p:cNvPr id="5" name="Rectangle 2">
            <a:extLst>
              <a:ext uri="{FF2B5EF4-FFF2-40B4-BE49-F238E27FC236}">
                <a16:creationId xmlns:a16="http://schemas.microsoft.com/office/drawing/2014/main" id="{39783DDF-AB38-5F7A-DDE7-AEF23AAEC9F2}"/>
              </a:ext>
            </a:extLst>
          </p:cNvPr>
          <p:cNvSpPr>
            <a:spLocks noGrp="1" noChangeArrowheads="1"/>
          </p:cNvSpPr>
          <p:nvPr>
            <p:ph idx="1"/>
          </p:nvPr>
        </p:nvSpPr>
        <p:spPr bwMode="auto">
          <a:xfrm>
            <a:off x="556982" y="1518483"/>
            <a:ext cx="8837371" cy="5099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sz="1600" b="1" dirty="0"/>
              <a:t>Challenges:</a:t>
            </a:r>
            <a:endParaRPr lang="en-US" sz="1600" dirty="0"/>
          </a:p>
          <a:p>
            <a:pPr marL="742950" lvl="1" indent="-285750">
              <a:buFont typeface="Arial" panose="020B0604020202020204" pitchFamily="34" charset="0"/>
              <a:buChar char="•"/>
            </a:pPr>
            <a:r>
              <a:rPr lang="en-US" b="1" dirty="0"/>
              <a:t>Lighting variations</a:t>
            </a:r>
            <a:r>
              <a:rPr lang="en-US" dirty="0"/>
              <a:t> during image capture affect accuracy.</a:t>
            </a:r>
          </a:p>
          <a:p>
            <a:pPr marL="742950" lvl="1" indent="-285750">
              <a:buFont typeface="Arial" panose="020B0604020202020204" pitchFamily="34" charset="0"/>
              <a:buChar char="•"/>
            </a:pPr>
            <a:r>
              <a:rPr lang="en-US" dirty="0"/>
              <a:t>Solution: </a:t>
            </a:r>
            <a:r>
              <a:rPr lang="en-US" b="1" dirty="0"/>
              <a:t>Divide palm into five anatomical/functional regions</a:t>
            </a:r>
            <a:r>
              <a:rPr lang="en-US" dirty="0"/>
              <a:t> to aid consistency in analysis.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5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500" b="1" i="0" u="none" strike="noStrike" cap="none" normalizeH="0" baseline="0" dirty="0">
                <a:ln>
                  <a:noFill/>
                </a:ln>
                <a:solidFill>
                  <a:schemeClr val="tx1"/>
                </a:solidFill>
                <a:effectLst/>
                <a:latin typeface="Arial" panose="020B0604020202020204" pitchFamily="34" charset="0"/>
              </a:rPr>
              <a:t>Palm Areas for Image Processing </a:t>
            </a:r>
            <a:r>
              <a:rPr kumimoji="0" lang="en-US" altLang="en-US" sz="1500" b="1" i="1" u="none" strike="noStrike" cap="none" normalizeH="0" baseline="0" dirty="0">
                <a:ln>
                  <a:noFill/>
                </a:ln>
                <a:solidFill>
                  <a:schemeClr val="tx1"/>
                </a:solidFill>
                <a:effectLst/>
                <a:latin typeface="Arial" panose="020B0604020202020204" pitchFamily="34" charset="0"/>
              </a:rPr>
              <a:t>(used in biometrics)</a:t>
            </a:r>
            <a:endParaRPr kumimoji="0" lang="en-US" altLang="en-US" sz="15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Arial" panose="020B0604020202020204" pitchFamily="34" charset="0"/>
              </a:rPr>
              <a:t>While the palm medically has </a:t>
            </a:r>
            <a:r>
              <a:rPr kumimoji="0" lang="en-US" altLang="en-US" sz="1500" b="1" i="0" u="none" strike="noStrike" cap="none" normalizeH="0" baseline="0" dirty="0">
                <a:ln>
                  <a:noFill/>
                </a:ln>
                <a:solidFill>
                  <a:schemeClr val="tx1"/>
                </a:solidFill>
                <a:effectLst/>
                <a:latin typeface="Arial" panose="020B0604020202020204" pitchFamily="34" charset="0"/>
              </a:rPr>
              <a:t>three muscle-based regions</a:t>
            </a:r>
            <a:r>
              <a:rPr kumimoji="0" lang="en-US" altLang="en-US" sz="1500" b="0" i="0" u="none" strike="noStrike" cap="none" normalizeH="0" baseline="0" dirty="0">
                <a:ln>
                  <a:noFill/>
                </a:ln>
                <a:solidFill>
                  <a:schemeClr val="tx1"/>
                </a:solidFill>
                <a:effectLst/>
                <a:latin typeface="Arial" panose="020B0604020202020204" pitchFamily="34" charset="0"/>
              </a:rPr>
              <a:t>, for biometric image processing, it is often divided into </a:t>
            </a:r>
            <a:r>
              <a:rPr kumimoji="0" lang="en-US" altLang="en-US" sz="1500" b="1" i="0" u="none" strike="noStrike" cap="none" normalizeH="0" baseline="0" dirty="0">
                <a:ln>
                  <a:noFill/>
                </a:ln>
                <a:solidFill>
                  <a:schemeClr val="tx1"/>
                </a:solidFill>
                <a:effectLst/>
                <a:latin typeface="Arial" panose="020B0604020202020204" pitchFamily="34" charset="0"/>
              </a:rPr>
              <a:t>five zones</a:t>
            </a:r>
            <a:r>
              <a:rPr kumimoji="0" lang="en-US" altLang="en-US" sz="15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AutoNum type="arabicPeriod"/>
              <a:tabLst/>
            </a:pPr>
            <a:r>
              <a:rPr kumimoji="0" lang="en-US" altLang="en-US" sz="1500" b="1" i="0" u="none" strike="noStrike" cap="none" normalizeH="0" baseline="0" dirty="0">
                <a:ln>
                  <a:noFill/>
                </a:ln>
                <a:solidFill>
                  <a:schemeClr val="tx1"/>
                </a:solidFill>
                <a:effectLst/>
                <a:latin typeface="Arial" panose="020B0604020202020204" pitchFamily="34" charset="0"/>
              </a:rPr>
              <a:t>Lower Palm</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2"/>
              <a:tabLst/>
            </a:pPr>
            <a:r>
              <a:rPr kumimoji="0" lang="en-US" altLang="en-US" sz="1500" b="1" i="0" u="none" strike="noStrike" cap="none" normalizeH="0" baseline="0" dirty="0">
                <a:ln>
                  <a:noFill/>
                </a:ln>
                <a:solidFill>
                  <a:schemeClr val="tx1"/>
                </a:solidFill>
                <a:effectLst/>
                <a:latin typeface="Arial" panose="020B0604020202020204" pitchFamily="34" charset="0"/>
              </a:rPr>
              <a:t>Middle Palm</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3"/>
              <a:tabLst/>
            </a:pPr>
            <a:r>
              <a:rPr kumimoji="0" lang="en-US" altLang="en-US" sz="1500" b="1" i="0" u="none" strike="noStrike" cap="none" normalizeH="0" baseline="0" dirty="0">
                <a:ln>
                  <a:noFill/>
                </a:ln>
                <a:solidFill>
                  <a:schemeClr val="tx1"/>
                </a:solidFill>
                <a:effectLst/>
                <a:latin typeface="Arial" panose="020B0604020202020204" pitchFamily="34" charset="0"/>
              </a:rPr>
              <a:t>Upper Palm</a:t>
            </a:r>
            <a:endParaRPr kumimoji="0" lang="en-US" altLang="en-US" sz="15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AutoNum type="arabicPeriod" startAt="4"/>
              <a:tabLst/>
            </a:pPr>
            <a:r>
              <a:rPr kumimoji="0" lang="en-US" altLang="en-US" sz="1500" b="1" i="0" u="none" strike="noStrike" cap="none" normalizeH="0" baseline="0" dirty="0">
                <a:ln>
                  <a:noFill/>
                </a:ln>
                <a:solidFill>
                  <a:schemeClr val="tx1"/>
                </a:solidFill>
                <a:effectLst/>
                <a:latin typeface="Arial" panose="020B0604020202020204" pitchFamily="34" charset="0"/>
              </a:rPr>
              <a:t>Thenar</a:t>
            </a:r>
            <a:r>
              <a:rPr kumimoji="0" lang="en-US" altLang="en-US" sz="1500" b="0" i="0" u="none" strike="noStrike" cap="none" normalizeH="0" baseline="0" dirty="0">
                <a:ln>
                  <a:noFill/>
                </a:ln>
                <a:solidFill>
                  <a:schemeClr val="tx1"/>
                </a:solidFill>
                <a:effectLst/>
                <a:latin typeface="Arial" panose="020B0604020202020204" pitchFamily="34" charset="0"/>
              </a:rPr>
              <a:t> (area at the base of the </a:t>
            </a:r>
            <a:r>
              <a:rPr kumimoji="0" lang="en-US" altLang="en-US" sz="1500" b="1" i="0" u="none" strike="noStrike" cap="none" normalizeH="0" baseline="0" dirty="0">
                <a:ln>
                  <a:noFill/>
                </a:ln>
                <a:solidFill>
                  <a:schemeClr val="tx1"/>
                </a:solidFill>
                <a:effectLst/>
                <a:latin typeface="Arial" panose="020B0604020202020204" pitchFamily="34" charset="0"/>
              </a:rPr>
              <a:t>thumb</a:t>
            </a:r>
            <a:r>
              <a:rPr kumimoji="0" lang="en-US" altLang="en-US" sz="15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AutoNum type="arabicPeriod" startAt="5"/>
              <a:tabLst/>
            </a:pPr>
            <a:r>
              <a:rPr kumimoji="0" lang="en-US" altLang="en-US" sz="1500" b="1" i="0" u="none" strike="noStrike" cap="none" normalizeH="0" baseline="0" dirty="0">
                <a:ln>
                  <a:noFill/>
                </a:ln>
                <a:solidFill>
                  <a:schemeClr val="tx1"/>
                </a:solidFill>
                <a:effectLst/>
                <a:latin typeface="Arial" panose="020B0604020202020204" pitchFamily="34" charset="0"/>
              </a:rPr>
              <a:t>Hypothenar</a:t>
            </a:r>
            <a:r>
              <a:rPr kumimoji="0" lang="en-US" altLang="en-US" sz="1500" b="0" i="0" u="none" strike="noStrike" cap="none" normalizeH="0" baseline="0" dirty="0">
                <a:ln>
                  <a:noFill/>
                </a:ln>
                <a:solidFill>
                  <a:schemeClr val="tx1"/>
                </a:solidFill>
                <a:effectLst/>
                <a:latin typeface="Arial" panose="020B0604020202020204" pitchFamily="34" charset="0"/>
              </a:rPr>
              <a:t> (area at the base of the </a:t>
            </a:r>
            <a:r>
              <a:rPr kumimoji="0" lang="en-US" altLang="en-US" sz="1500" b="1" i="0" u="none" strike="noStrike" cap="none" normalizeH="0" baseline="0" dirty="0">
                <a:ln>
                  <a:noFill/>
                </a:ln>
                <a:solidFill>
                  <a:schemeClr val="tx1"/>
                </a:solidFill>
                <a:effectLst/>
                <a:latin typeface="Arial" panose="020B0604020202020204" pitchFamily="34" charset="0"/>
              </a:rPr>
              <a:t>little finger</a:t>
            </a:r>
            <a:r>
              <a:rPr kumimoji="0" lang="en-US" altLang="en-US" sz="15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1500" b="0" i="0" u="none" strike="noStrike" cap="none" normalizeH="0" baseline="0" dirty="0">
                <a:ln>
                  <a:noFill/>
                </a:ln>
                <a:solidFill>
                  <a:schemeClr val="tx1"/>
                </a:solidFill>
                <a:effectLst/>
                <a:latin typeface="Arial" panose="020B0604020202020204" pitchFamily="34" charset="0"/>
              </a:rPr>
              <a:t>🔍 </a:t>
            </a:r>
            <a:r>
              <a:rPr kumimoji="0" lang="en-US" altLang="en-US" sz="1500" b="0" i="1" u="none" strike="noStrike" cap="none" normalizeH="0" baseline="0" dirty="0">
                <a:ln>
                  <a:noFill/>
                </a:ln>
                <a:solidFill>
                  <a:schemeClr val="tx1"/>
                </a:solidFill>
                <a:effectLst/>
                <a:latin typeface="Arial" panose="020B0604020202020204" pitchFamily="34" charset="0"/>
              </a:rPr>
              <a:t>Note:</a:t>
            </a:r>
            <a:r>
              <a:rPr kumimoji="0" lang="en-US" altLang="en-US" sz="1500" b="0" i="0" u="none" strike="noStrike" cap="none" normalizeH="0" baseline="0" dirty="0">
                <a:ln>
                  <a:noFill/>
                </a:ln>
                <a:solidFill>
                  <a:schemeClr val="tx1"/>
                </a:solidFill>
                <a:effectLst/>
                <a:latin typeface="Arial" panose="020B0604020202020204" pitchFamily="34" charset="0"/>
              </a:rPr>
              <a:t> These regions help localize features and normalize lighting and orientation for accurate palmprint recognition.</a:t>
            </a:r>
          </a:p>
        </p:txBody>
      </p:sp>
    </p:spTree>
    <p:extLst>
      <p:ext uri="{BB962C8B-B14F-4D97-AF65-F5344CB8AC3E}">
        <p14:creationId xmlns:p14="http://schemas.microsoft.com/office/powerpoint/2010/main" val="2862107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igure 1.Palm areas according to [6]">
            <a:extLst>
              <a:ext uri="{FF2B5EF4-FFF2-40B4-BE49-F238E27FC236}">
                <a16:creationId xmlns:a16="http://schemas.microsoft.com/office/drawing/2014/main" id="{536096BE-5228-5DC0-5436-85490018A1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3043" y="1439675"/>
            <a:ext cx="4142834" cy="5187549"/>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3">
            <a:extLst>
              <a:ext uri="{FF2B5EF4-FFF2-40B4-BE49-F238E27FC236}">
                <a16:creationId xmlns:a16="http://schemas.microsoft.com/office/drawing/2014/main" id="{30A824A9-9A36-6A55-8598-DE375E7C3503}"/>
              </a:ext>
            </a:extLst>
          </p:cNvPr>
          <p:cNvSpPr>
            <a:spLocks noChangeArrowheads="1"/>
          </p:cNvSpPr>
          <p:nvPr/>
        </p:nvSpPr>
        <p:spPr bwMode="auto">
          <a:xfrm>
            <a:off x="1550504" y="554791"/>
            <a:ext cx="747724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chemeClr val="tx1"/>
                </a:solidFill>
                <a:effectLst/>
                <a:latin typeface="Arial" panose="020B0604020202020204" pitchFamily="34" charset="0"/>
              </a:rPr>
              <a:t>Medically, palm has 3 muscle regions —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chemeClr val="tx1"/>
                </a:solidFill>
                <a:effectLst/>
                <a:latin typeface="Arial" panose="020B0604020202020204" pitchFamily="34" charset="0"/>
              </a:rPr>
              <a:t>but 5 zones are used in biometric analysis for better image consistency.</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955198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E17B3-4080-CB14-34E2-03FBDDB95EDE}"/>
              </a:ext>
            </a:extLst>
          </p:cNvPr>
          <p:cNvSpPr>
            <a:spLocks noGrp="1"/>
          </p:cNvSpPr>
          <p:nvPr>
            <p:ph type="title"/>
          </p:nvPr>
        </p:nvSpPr>
        <p:spPr/>
        <p:txBody>
          <a:bodyPr/>
          <a:lstStyle/>
          <a:p>
            <a:br>
              <a:rPr lang="en-US" b="0" i="0" dirty="0">
                <a:solidFill>
                  <a:srgbClr val="000000"/>
                </a:solidFill>
                <a:effectLst/>
                <a:latin typeface="FSBrabo"/>
              </a:rPr>
            </a:br>
            <a:r>
              <a:rPr lang="en-US" b="0" i="0" dirty="0">
                <a:solidFill>
                  <a:srgbClr val="000000"/>
                </a:solidFill>
                <a:effectLst/>
                <a:latin typeface="FSBrabo"/>
              </a:rPr>
              <a:t>Hand vein technology</a:t>
            </a:r>
            <a:endParaRPr lang="en-US" dirty="0"/>
          </a:p>
        </p:txBody>
      </p:sp>
      <p:sp>
        <p:nvSpPr>
          <p:cNvPr id="3" name="Content Placeholder 2">
            <a:extLst>
              <a:ext uri="{FF2B5EF4-FFF2-40B4-BE49-F238E27FC236}">
                <a16:creationId xmlns:a16="http://schemas.microsoft.com/office/drawing/2014/main" id="{672B87B9-B591-F1C2-9576-7992BAA17655}"/>
              </a:ext>
            </a:extLst>
          </p:cNvPr>
          <p:cNvSpPr>
            <a:spLocks noGrp="1"/>
          </p:cNvSpPr>
          <p:nvPr>
            <p:ph idx="1"/>
          </p:nvPr>
        </p:nvSpPr>
        <p:spPr/>
        <p:txBody>
          <a:bodyPr/>
          <a:lstStyle/>
          <a:p>
            <a:pPr algn="l" fontAlgn="ctr"/>
            <a:r>
              <a:rPr lang="en-US" b="0" i="0" dirty="0">
                <a:solidFill>
                  <a:srgbClr val="001D35"/>
                </a:solidFill>
                <a:effectLst/>
                <a:latin typeface="Google Sans"/>
              </a:rPr>
              <a:t>Hand vein technology, particularly </a:t>
            </a:r>
            <a:r>
              <a:rPr lang="en-US" b="0" i="0" dirty="0">
                <a:solidFill>
                  <a:srgbClr val="001D35"/>
                </a:solidFill>
                <a:effectLst/>
                <a:latin typeface="Google Sans"/>
                <a:hlinkClick r:id="rId2"/>
              </a:rPr>
              <a:t>palm vein recognition</a:t>
            </a:r>
            <a:r>
              <a:rPr lang="en-US" b="0" i="0" dirty="0">
                <a:solidFill>
                  <a:srgbClr val="001D35"/>
                </a:solidFill>
                <a:effectLst/>
                <a:latin typeface="Google Sans"/>
              </a:rPr>
              <a:t>, uses near-infrared light to scan the unique patterns of blood vessels beneath the skin of the palm or finger for biometric authentication. </a:t>
            </a:r>
          </a:p>
          <a:p>
            <a:pPr algn="l" fontAlgn="ctr"/>
            <a:r>
              <a:rPr lang="en-US" b="0" i="0" dirty="0">
                <a:solidFill>
                  <a:srgbClr val="001D35"/>
                </a:solidFill>
                <a:effectLst/>
                <a:latin typeface="Google Sans"/>
              </a:rPr>
              <a:t>It is a contactless, highly accurate, and secure method for identifying individuals by comparing a captured vein pattern to a stored template, offering high user acceptance due to its hygiene and non-invasive nature.  </a:t>
            </a:r>
            <a:endParaRPr lang="en-US" b="0" i="0" dirty="0">
              <a:solidFill>
                <a:srgbClr val="0B57D0"/>
              </a:solidFill>
              <a:effectLst/>
              <a:latin typeface="Google Sans"/>
            </a:endParaRPr>
          </a:p>
          <a:p>
            <a:pPr marL="0" indent="0">
              <a:buNone/>
            </a:pPr>
            <a:endParaRPr lang="en-US" dirty="0"/>
          </a:p>
        </p:txBody>
      </p:sp>
    </p:spTree>
    <p:extLst>
      <p:ext uri="{BB962C8B-B14F-4D97-AF65-F5344CB8AC3E}">
        <p14:creationId xmlns:p14="http://schemas.microsoft.com/office/powerpoint/2010/main" val="3525927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B3CFEC6-3C3B-47FE-C10C-0A5DE285C5DF}"/>
              </a:ext>
            </a:extLst>
          </p:cNvPr>
          <p:cNvSpPr txBox="1"/>
          <p:nvPr/>
        </p:nvSpPr>
        <p:spPr>
          <a:xfrm>
            <a:off x="309488" y="535136"/>
            <a:ext cx="9312813" cy="6046271"/>
          </a:xfrm>
          <a:prstGeom prst="rect">
            <a:avLst/>
          </a:prstGeom>
          <a:noFill/>
        </p:spPr>
        <p:txBody>
          <a:bodyPr wrap="square">
            <a:spAutoFit/>
          </a:bodyPr>
          <a:lstStyle/>
          <a:p>
            <a:pPr algn="l">
              <a:lnSpc>
                <a:spcPct val="150000"/>
              </a:lnSpc>
            </a:pPr>
            <a:r>
              <a:rPr lang="en-US" sz="2000" b="1" i="0" dirty="0">
                <a:solidFill>
                  <a:srgbClr val="0A0A0A"/>
                </a:solidFill>
                <a:effectLst/>
                <a:latin typeface="Google Sans"/>
              </a:rPr>
              <a:t>Working</a:t>
            </a:r>
          </a:p>
          <a:p>
            <a:pPr algn="l">
              <a:lnSpc>
                <a:spcPct val="150000"/>
              </a:lnSpc>
              <a:buFont typeface="+mj-lt"/>
              <a:buAutoNum type="arabicPeriod"/>
            </a:pPr>
            <a:r>
              <a:rPr lang="en-US" sz="2000" b="1" i="0" dirty="0">
                <a:solidFill>
                  <a:srgbClr val="0A0A0A"/>
                </a:solidFill>
                <a:effectLst/>
                <a:latin typeface="Google Sans"/>
              </a:rPr>
              <a:t>Infrared Light Emission</a:t>
            </a:r>
            <a:r>
              <a:rPr lang="en-US" sz="2000" b="0" i="0" dirty="0">
                <a:solidFill>
                  <a:srgbClr val="0A0A0A"/>
                </a:solidFill>
                <a:effectLst/>
                <a:latin typeface="Google Sans"/>
              </a:rPr>
              <a:t>: A scanner emits near-infrared light towards the user's palm.</a:t>
            </a:r>
          </a:p>
          <a:p>
            <a:pPr algn="l">
              <a:lnSpc>
                <a:spcPct val="150000"/>
              </a:lnSpc>
              <a:buFont typeface="+mj-lt"/>
              <a:buAutoNum type="arabicPeriod"/>
            </a:pPr>
            <a:r>
              <a:rPr lang="en-US" sz="2000" b="1" i="0" dirty="0">
                <a:solidFill>
                  <a:srgbClr val="0A0A0A"/>
                </a:solidFill>
                <a:effectLst/>
                <a:latin typeface="Google Sans"/>
              </a:rPr>
              <a:t>Light Absorption by Hemoglobin</a:t>
            </a:r>
            <a:r>
              <a:rPr lang="en-US" sz="2000" b="0" i="0" dirty="0">
                <a:solidFill>
                  <a:srgbClr val="0A0A0A"/>
                </a:solidFill>
                <a:effectLst/>
                <a:latin typeface="Google Sans"/>
              </a:rPr>
              <a:t>: The deoxygenated hemoglobin in the palm's veins absorbs this infrared light, while the surrounding tissue reflects it.</a:t>
            </a:r>
          </a:p>
          <a:p>
            <a:pPr algn="l">
              <a:lnSpc>
                <a:spcPct val="150000"/>
              </a:lnSpc>
              <a:buFont typeface="+mj-lt"/>
              <a:buAutoNum type="arabicPeriod"/>
            </a:pPr>
            <a:r>
              <a:rPr lang="en-US" sz="2000" b="1" i="0" dirty="0">
                <a:solidFill>
                  <a:srgbClr val="0A0A0A"/>
                </a:solidFill>
                <a:effectLst/>
                <a:latin typeface="Google Sans"/>
              </a:rPr>
              <a:t>Vein Pattern Image Capture</a:t>
            </a:r>
            <a:r>
              <a:rPr lang="en-US" sz="2000" b="0" i="0" dirty="0">
                <a:solidFill>
                  <a:srgbClr val="0A0A0A"/>
                </a:solidFill>
                <a:effectLst/>
                <a:latin typeface="Google Sans"/>
              </a:rPr>
              <a:t>: The scanner captures the reflected light, which reveals the unique, dark pattern of the veins, as the absorbed light makes the veins appear distinct.</a:t>
            </a:r>
          </a:p>
          <a:p>
            <a:pPr algn="l">
              <a:lnSpc>
                <a:spcPct val="150000"/>
              </a:lnSpc>
              <a:buFont typeface="+mj-lt"/>
              <a:buAutoNum type="arabicPeriod"/>
            </a:pPr>
            <a:r>
              <a:rPr lang="en-US" sz="2000" b="1" i="0" dirty="0">
                <a:solidFill>
                  <a:srgbClr val="0A0A0A"/>
                </a:solidFill>
                <a:effectLst/>
                <a:latin typeface="Google Sans"/>
              </a:rPr>
              <a:t>Data Conversion and Storage</a:t>
            </a:r>
            <a:r>
              <a:rPr lang="en-US" sz="2000" b="0" i="0" dirty="0">
                <a:solidFill>
                  <a:srgbClr val="0A0A0A"/>
                </a:solidFill>
                <a:effectLst/>
                <a:latin typeface="Google Sans"/>
              </a:rPr>
              <a:t>: This captured image of the vein pattern is then digitized, encrypted, and stored as a unique template in a database for future comparison.</a:t>
            </a:r>
          </a:p>
          <a:p>
            <a:pPr algn="l">
              <a:lnSpc>
                <a:spcPct val="150000"/>
              </a:lnSpc>
              <a:buFont typeface="+mj-lt"/>
              <a:buAutoNum type="arabicPeriod"/>
            </a:pPr>
            <a:r>
              <a:rPr lang="en-US" sz="2000" b="1" i="0" dirty="0">
                <a:solidFill>
                  <a:srgbClr val="0A0A0A"/>
                </a:solidFill>
                <a:effectLst/>
                <a:latin typeface="Google Sans"/>
              </a:rPr>
              <a:t>Authentication and Verification</a:t>
            </a:r>
            <a:r>
              <a:rPr lang="en-US" sz="2000" b="0" i="0" dirty="0">
                <a:solidFill>
                  <a:srgbClr val="0A0A0A"/>
                </a:solidFill>
                <a:effectLst/>
                <a:latin typeface="Google Sans"/>
              </a:rPr>
              <a:t>: When a user attempts to gain access, their palm vein pattern is scanned again. The newly captured image is processed and compared against the previously stored template in the database to verify identity. </a:t>
            </a:r>
          </a:p>
        </p:txBody>
      </p:sp>
    </p:spTree>
    <p:extLst>
      <p:ext uri="{BB962C8B-B14F-4D97-AF65-F5344CB8AC3E}">
        <p14:creationId xmlns:p14="http://schemas.microsoft.com/office/powerpoint/2010/main" val="8623771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alm vein authentication [7] | Download Scientific Diagram">
            <a:extLst>
              <a:ext uri="{FF2B5EF4-FFF2-40B4-BE49-F238E27FC236}">
                <a16:creationId xmlns:a16="http://schemas.microsoft.com/office/drawing/2014/main" id="{BCB2CC10-7765-9229-E8AC-D1F5BE1179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613" y="763832"/>
            <a:ext cx="10181700" cy="55666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321598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F4F001D-C6CB-A1F1-AB24-C445A276617A}"/>
              </a:ext>
            </a:extLst>
          </p:cNvPr>
          <p:cNvSpPr txBox="1"/>
          <p:nvPr/>
        </p:nvSpPr>
        <p:spPr>
          <a:xfrm>
            <a:off x="506436" y="1773093"/>
            <a:ext cx="10072469" cy="4401205"/>
          </a:xfrm>
          <a:prstGeom prst="rect">
            <a:avLst/>
          </a:prstGeom>
          <a:noFill/>
        </p:spPr>
        <p:txBody>
          <a:bodyPr wrap="square">
            <a:spAutoFit/>
          </a:bodyPr>
          <a:lstStyle/>
          <a:p>
            <a:pPr algn="l"/>
            <a:r>
              <a:rPr lang="en-US" sz="2000" b="0" i="0" dirty="0">
                <a:solidFill>
                  <a:srgbClr val="001D35"/>
                </a:solidFill>
                <a:effectLst/>
                <a:latin typeface="Google Sans"/>
              </a:rPr>
              <a:t>Key Features</a:t>
            </a:r>
          </a:p>
          <a:p>
            <a:pPr algn="l">
              <a:buFont typeface="Arial" panose="020B0604020202020204" pitchFamily="34" charset="0"/>
              <a:buChar char="•"/>
            </a:pPr>
            <a:r>
              <a:rPr lang="en-US" sz="2000" b="1" i="0" dirty="0">
                <a:solidFill>
                  <a:srgbClr val="001D35"/>
                </a:solidFill>
                <a:effectLst/>
                <a:latin typeface="Google Sans"/>
              </a:rPr>
              <a:t>Contactless:</a:t>
            </a:r>
            <a:endParaRPr lang="en-US" sz="2000" b="0" i="0" dirty="0">
              <a:solidFill>
                <a:srgbClr val="001D35"/>
              </a:solidFill>
              <a:effectLst/>
              <a:latin typeface="Google Sans"/>
            </a:endParaRPr>
          </a:p>
          <a:p>
            <a:pPr algn="l" fontAlgn="ctr">
              <a:buFont typeface="Arial" panose="020B0604020202020204" pitchFamily="34" charset="0"/>
              <a:buChar char="•"/>
            </a:pPr>
            <a:r>
              <a:rPr lang="en-US" sz="2000" b="0" i="0" dirty="0">
                <a:solidFill>
                  <a:srgbClr val="545D7E"/>
                </a:solidFill>
                <a:effectLst/>
                <a:latin typeface="Google Sans"/>
              </a:rPr>
              <a:t>The process does not require direct physical contact with the scanner, ensuring high levels of hygiene. </a:t>
            </a:r>
            <a:endParaRPr lang="en-US" sz="2000" b="0" i="0" dirty="0">
              <a:solidFill>
                <a:srgbClr val="0B57D0"/>
              </a:solidFill>
              <a:effectLst/>
              <a:latin typeface="Google Sans"/>
            </a:endParaRPr>
          </a:p>
          <a:p>
            <a:pPr algn="l">
              <a:buFont typeface="Arial" panose="020B0604020202020204" pitchFamily="34" charset="0"/>
              <a:buChar char="•"/>
            </a:pPr>
            <a:r>
              <a:rPr lang="en-US" sz="2000" b="1" i="0" dirty="0">
                <a:solidFill>
                  <a:srgbClr val="001D35"/>
                </a:solidFill>
                <a:effectLst/>
                <a:latin typeface="Google Sans"/>
              </a:rPr>
              <a:t>Accuracy:</a:t>
            </a:r>
            <a:endParaRPr lang="en-US" sz="2000" b="0" i="0" dirty="0">
              <a:solidFill>
                <a:srgbClr val="001D35"/>
              </a:solidFill>
              <a:effectLst/>
              <a:latin typeface="Google Sans"/>
            </a:endParaRPr>
          </a:p>
          <a:p>
            <a:pPr algn="l" fontAlgn="ctr">
              <a:buFont typeface="Arial" panose="020B0604020202020204" pitchFamily="34" charset="0"/>
              <a:buChar char="•"/>
            </a:pPr>
            <a:r>
              <a:rPr lang="en-US" sz="2000" b="0" i="0" dirty="0">
                <a:solidFill>
                  <a:srgbClr val="545D7E"/>
                </a:solidFill>
                <a:effectLst/>
                <a:latin typeface="Google Sans"/>
              </a:rPr>
              <a:t>Vein patterns are complex and unique to each individual, even twins, leading to very low false acceptance and rejection rates. </a:t>
            </a:r>
            <a:endParaRPr lang="en-US" sz="2000" b="0" i="0" dirty="0">
              <a:solidFill>
                <a:srgbClr val="0B57D0"/>
              </a:solidFill>
              <a:effectLst/>
              <a:latin typeface="Google Sans"/>
            </a:endParaRPr>
          </a:p>
          <a:p>
            <a:pPr algn="l">
              <a:buFont typeface="Arial" panose="020B0604020202020204" pitchFamily="34" charset="0"/>
              <a:buChar char="•"/>
            </a:pPr>
            <a:r>
              <a:rPr lang="en-US" sz="2000" b="1" i="0" dirty="0">
                <a:solidFill>
                  <a:srgbClr val="001D35"/>
                </a:solidFill>
                <a:effectLst/>
                <a:latin typeface="Google Sans"/>
              </a:rPr>
              <a:t>Security:</a:t>
            </a:r>
            <a:endParaRPr lang="en-US" sz="2000" b="0" i="0" dirty="0">
              <a:solidFill>
                <a:srgbClr val="001D35"/>
              </a:solidFill>
              <a:effectLst/>
              <a:latin typeface="Google Sans"/>
            </a:endParaRPr>
          </a:p>
          <a:p>
            <a:pPr algn="l" fontAlgn="ctr">
              <a:buFont typeface="Arial" panose="020B0604020202020204" pitchFamily="34" charset="0"/>
              <a:buChar char="•"/>
            </a:pPr>
            <a:r>
              <a:rPr lang="en-US" sz="2000" b="0" i="0" dirty="0">
                <a:solidFill>
                  <a:srgbClr val="545D7E"/>
                </a:solidFill>
                <a:effectLst/>
                <a:latin typeface="Google Sans"/>
              </a:rPr>
              <a:t>Vein patterns are internal to the body, making them extremely difficult to forge. </a:t>
            </a:r>
            <a:endParaRPr lang="en-US" sz="2000" b="0" i="0" dirty="0">
              <a:solidFill>
                <a:srgbClr val="0B57D0"/>
              </a:solidFill>
              <a:effectLst/>
              <a:latin typeface="Google Sans"/>
            </a:endParaRPr>
          </a:p>
          <a:p>
            <a:pPr algn="l">
              <a:buFont typeface="Arial" panose="020B0604020202020204" pitchFamily="34" charset="0"/>
              <a:buChar char="•"/>
            </a:pPr>
            <a:r>
              <a:rPr lang="en-US" sz="2000" b="1" i="0" dirty="0">
                <a:solidFill>
                  <a:srgbClr val="001D35"/>
                </a:solidFill>
                <a:effectLst/>
                <a:latin typeface="Google Sans"/>
              </a:rPr>
              <a:t>Non-invasive:</a:t>
            </a:r>
            <a:endParaRPr lang="en-US" sz="2000" b="0" i="0" dirty="0">
              <a:solidFill>
                <a:srgbClr val="001D35"/>
              </a:solidFill>
              <a:effectLst/>
              <a:latin typeface="Google Sans"/>
            </a:endParaRPr>
          </a:p>
          <a:p>
            <a:pPr algn="l" fontAlgn="ctr">
              <a:buFont typeface="Arial" panose="020B0604020202020204" pitchFamily="34" charset="0"/>
              <a:buChar char="•"/>
            </a:pPr>
            <a:r>
              <a:rPr lang="en-US" sz="2000" b="0" i="0" dirty="0">
                <a:solidFill>
                  <a:srgbClr val="545D7E"/>
                </a:solidFill>
                <a:effectLst/>
                <a:latin typeface="Google Sans"/>
              </a:rPr>
              <a:t>It is a non-intrusive method, promoting user acceptance. </a:t>
            </a:r>
            <a:endParaRPr lang="en-US" sz="2000" b="0" i="0" dirty="0">
              <a:solidFill>
                <a:srgbClr val="0B57D0"/>
              </a:solidFill>
              <a:effectLst/>
              <a:latin typeface="Google Sans"/>
            </a:endParaRPr>
          </a:p>
          <a:p>
            <a:pPr algn="l">
              <a:buFont typeface="Arial" panose="020B0604020202020204" pitchFamily="34" charset="0"/>
              <a:buChar char="•"/>
            </a:pPr>
            <a:r>
              <a:rPr lang="en-US" sz="2000" b="1" i="0" dirty="0">
                <a:solidFill>
                  <a:srgbClr val="001D35"/>
                </a:solidFill>
                <a:effectLst/>
                <a:latin typeface="Google Sans"/>
              </a:rPr>
              <a:t>Durability:</a:t>
            </a:r>
            <a:endParaRPr lang="en-US" sz="2000" b="0" i="0" dirty="0">
              <a:solidFill>
                <a:srgbClr val="001D35"/>
              </a:solidFill>
              <a:effectLst/>
              <a:latin typeface="Google Sans"/>
            </a:endParaRPr>
          </a:p>
          <a:p>
            <a:pPr algn="l">
              <a:buFont typeface="Arial" panose="020B0604020202020204" pitchFamily="34" charset="0"/>
              <a:buChar char="•"/>
            </a:pPr>
            <a:r>
              <a:rPr lang="en-US" sz="2000" b="0" i="0" dirty="0">
                <a:solidFill>
                  <a:srgbClr val="545D7E"/>
                </a:solidFill>
                <a:effectLst/>
                <a:latin typeface="Google Sans"/>
              </a:rPr>
              <a:t>The vein pattern remains constant throughout a person's lifetime, ensuring consistent identification. </a:t>
            </a:r>
          </a:p>
        </p:txBody>
      </p:sp>
      <p:sp>
        <p:nvSpPr>
          <p:cNvPr id="4" name="Title 1">
            <a:extLst>
              <a:ext uri="{FF2B5EF4-FFF2-40B4-BE49-F238E27FC236}">
                <a16:creationId xmlns:a16="http://schemas.microsoft.com/office/drawing/2014/main" id="{3A0F6696-361E-8628-B42F-5D6605E433EA}"/>
              </a:ext>
            </a:extLst>
          </p:cNvPr>
          <p:cNvSpPr txBox="1">
            <a:spLocks/>
          </p:cNvSpPr>
          <p:nvPr/>
        </p:nvSpPr>
        <p:spPr>
          <a:xfrm>
            <a:off x="621063" y="243840"/>
            <a:ext cx="8596668" cy="1320800"/>
          </a:xfrm>
          <a:prstGeom prst="rect">
            <a:avLst/>
          </a:prstGeom>
        </p:spPr>
        <p:txBody>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br>
              <a:rPr lang="en-US">
                <a:solidFill>
                  <a:srgbClr val="000000"/>
                </a:solidFill>
                <a:latin typeface="FSBrabo"/>
              </a:rPr>
            </a:br>
            <a:r>
              <a:rPr lang="en-US">
                <a:solidFill>
                  <a:srgbClr val="000000"/>
                </a:solidFill>
                <a:latin typeface="FSBrabo"/>
              </a:rPr>
              <a:t>Hand vein technology</a:t>
            </a:r>
            <a:endParaRPr lang="en-US" dirty="0"/>
          </a:p>
        </p:txBody>
      </p:sp>
    </p:spTree>
    <p:extLst>
      <p:ext uri="{BB962C8B-B14F-4D97-AF65-F5344CB8AC3E}">
        <p14:creationId xmlns:p14="http://schemas.microsoft.com/office/powerpoint/2010/main" val="33548488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6B3308-3CC7-A08E-EF63-8CF76150DC34}"/>
              </a:ext>
            </a:extLst>
          </p:cNvPr>
          <p:cNvSpPr>
            <a:spLocks noGrp="1"/>
          </p:cNvSpPr>
          <p:nvPr>
            <p:ph type="title"/>
          </p:nvPr>
        </p:nvSpPr>
        <p:spPr/>
        <p:txBody>
          <a:bodyPr/>
          <a:lstStyle/>
          <a:p>
            <a:r>
              <a:rPr lang="en-US" b="0" i="0" dirty="0">
                <a:solidFill>
                  <a:srgbClr val="000000"/>
                </a:solidFill>
                <a:effectLst/>
                <a:latin typeface="FSBrabo"/>
              </a:rPr>
              <a:t>Hand geometry and hand shape technology.</a:t>
            </a:r>
            <a:br>
              <a:rPr lang="en-US" b="0" i="0" dirty="0">
                <a:solidFill>
                  <a:srgbClr val="000000"/>
                </a:solidFill>
                <a:effectLst/>
                <a:latin typeface="FSBrabo"/>
              </a:rPr>
            </a:br>
            <a:endParaRPr lang="en-US" dirty="0"/>
          </a:p>
        </p:txBody>
      </p:sp>
      <p:sp>
        <p:nvSpPr>
          <p:cNvPr id="3" name="Content Placeholder 2">
            <a:extLst>
              <a:ext uri="{FF2B5EF4-FFF2-40B4-BE49-F238E27FC236}">
                <a16:creationId xmlns:a16="http://schemas.microsoft.com/office/drawing/2014/main" id="{0BDDB8D0-BB01-C190-5FF8-D5C4A2FEAAF6}"/>
              </a:ext>
            </a:extLst>
          </p:cNvPr>
          <p:cNvSpPr>
            <a:spLocks noGrp="1"/>
          </p:cNvSpPr>
          <p:nvPr>
            <p:ph idx="1"/>
          </p:nvPr>
        </p:nvSpPr>
        <p:spPr>
          <a:xfrm>
            <a:off x="677334" y="1364567"/>
            <a:ext cx="10661226" cy="4676796"/>
          </a:xfrm>
        </p:spPr>
        <p:txBody>
          <a:bodyPr>
            <a:normAutofit/>
          </a:bodyPr>
          <a:lstStyle/>
          <a:p>
            <a:pPr marL="0" indent="0">
              <a:buNone/>
            </a:pPr>
            <a:r>
              <a:rPr lang="en-US" b="1" dirty="0"/>
              <a:t>Hand Geometry Technology</a:t>
            </a:r>
          </a:p>
          <a:p>
            <a:pPr marL="0" indent="0">
              <a:buNone/>
            </a:pPr>
            <a:r>
              <a:rPr lang="en-US" dirty="0"/>
              <a:t>Hand geometry technology measures and analyzes the </a:t>
            </a:r>
            <a:r>
              <a:rPr lang="en-US" b="1" dirty="0"/>
              <a:t>shape, size, and dimensions</a:t>
            </a:r>
            <a:r>
              <a:rPr lang="en-US" dirty="0"/>
              <a:t> of a person’s hand, including fingers, palm, and overall structure.</a:t>
            </a:r>
          </a:p>
          <a:p>
            <a:pPr marL="0" indent="0">
              <a:buNone/>
            </a:pPr>
            <a:r>
              <a:rPr lang="en-US" b="1" dirty="0"/>
              <a:t>Key Features:</a:t>
            </a:r>
          </a:p>
          <a:p>
            <a:pPr marL="0" indent="0">
              <a:buNone/>
            </a:pPr>
            <a:r>
              <a:rPr lang="en-US" dirty="0"/>
              <a:t>Measures:</a:t>
            </a:r>
          </a:p>
          <a:p>
            <a:pPr marL="742950" lvl="1" indent="-285750">
              <a:buFont typeface="Arial" panose="020B0604020202020204" pitchFamily="34" charset="0"/>
              <a:buChar char="•"/>
            </a:pPr>
            <a:r>
              <a:rPr lang="en-US" dirty="0"/>
              <a:t>Length and width of fingers</a:t>
            </a:r>
          </a:p>
          <a:p>
            <a:pPr marL="742950" lvl="1" indent="-285750">
              <a:buFont typeface="Arial" panose="020B0604020202020204" pitchFamily="34" charset="0"/>
              <a:buChar char="•"/>
            </a:pPr>
            <a:r>
              <a:rPr lang="en-US" dirty="0"/>
              <a:t>Width of palm</a:t>
            </a:r>
          </a:p>
          <a:p>
            <a:pPr marL="742950" lvl="1" indent="-285750">
              <a:buFont typeface="Arial" panose="020B0604020202020204" pitchFamily="34" charset="0"/>
              <a:buChar char="•"/>
            </a:pPr>
            <a:r>
              <a:rPr lang="en-US" dirty="0"/>
              <a:t>Thickness of the hand</a:t>
            </a:r>
          </a:p>
          <a:p>
            <a:pPr marL="742950" lvl="1" indent="-285750">
              <a:buFont typeface="Arial" panose="020B0604020202020204" pitchFamily="34" charset="0"/>
              <a:buChar char="•"/>
            </a:pPr>
            <a:r>
              <a:rPr lang="en-US" dirty="0"/>
              <a:t>Distance between knuckles</a:t>
            </a:r>
          </a:p>
          <a:p>
            <a:pPr marL="0" indent="0">
              <a:buNone/>
            </a:pPr>
            <a:r>
              <a:rPr lang="en-US" dirty="0"/>
              <a:t>Uses a camera or scanner to capture a 2D or 3D image.</a:t>
            </a:r>
          </a:p>
          <a:p>
            <a:pPr marL="0" indent="0">
              <a:buNone/>
            </a:pPr>
            <a:r>
              <a:rPr lang="en-US" dirty="0"/>
              <a:t>Converts measurements into a </a:t>
            </a:r>
            <a:r>
              <a:rPr lang="en-US" b="1" dirty="0"/>
              <a:t>numerical template</a:t>
            </a:r>
            <a:r>
              <a:rPr lang="en-US" dirty="0"/>
              <a:t> for identity verification.</a:t>
            </a:r>
          </a:p>
          <a:p>
            <a:endParaRPr lang="en-US" dirty="0"/>
          </a:p>
        </p:txBody>
      </p:sp>
    </p:spTree>
    <p:extLst>
      <p:ext uri="{BB962C8B-B14F-4D97-AF65-F5344CB8AC3E}">
        <p14:creationId xmlns:p14="http://schemas.microsoft.com/office/powerpoint/2010/main" val="49521700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59257DC-6516-87D6-6C0A-155228DE98B7}"/>
              </a:ext>
            </a:extLst>
          </p:cNvPr>
          <p:cNvSpPr txBox="1"/>
          <p:nvPr/>
        </p:nvSpPr>
        <p:spPr>
          <a:xfrm>
            <a:off x="0" y="0"/>
            <a:ext cx="8806376" cy="369332"/>
          </a:xfrm>
          <a:prstGeom prst="rect">
            <a:avLst/>
          </a:prstGeom>
          <a:noFill/>
        </p:spPr>
        <p:txBody>
          <a:bodyPr wrap="square">
            <a:spAutoFit/>
          </a:bodyPr>
          <a:lstStyle/>
          <a:p>
            <a:pPr algn="l"/>
            <a:r>
              <a:rPr lang="en-US" b="0" i="0" dirty="0">
                <a:solidFill>
                  <a:srgbClr val="231F20"/>
                </a:solidFill>
                <a:effectLst/>
                <a:latin typeface="ff4"/>
              </a:rPr>
              <a:t>Every human hand is unique. In 2002, thirty global features of hand geometry were defined</a:t>
            </a:r>
          </a:p>
        </p:txBody>
      </p:sp>
      <p:pic>
        <p:nvPicPr>
          <p:cNvPr id="2050" name="Picture 2" descr="Figure 2.Hand geometry features according to [7]">
            <a:extLst>
              <a:ext uri="{FF2B5EF4-FFF2-40B4-BE49-F238E27FC236}">
                <a16:creationId xmlns:a16="http://schemas.microsoft.com/office/drawing/2014/main" id="{09FA19F8-7F7D-125E-2F3D-2C988B462B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95265" y="643890"/>
            <a:ext cx="4422221" cy="5273518"/>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AEF9A82-3171-FCC5-56EF-EE2C4706F01D}"/>
              </a:ext>
            </a:extLst>
          </p:cNvPr>
          <p:cNvSpPr txBox="1"/>
          <p:nvPr/>
        </p:nvSpPr>
        <p:spPr>
          <a:xfrm>
            <a:off x="196947" y="940592"/>
            <a:ext cx="6133514" cy="3970318"/>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rgbClr val="000000"/>
                </a:solidFill>
                <a:effectLst/>
                <a:latin typeface="FSBrabo"/>
              </a:rPr>
              <a:t>Thumb length</a:t>
            </a:r>
          </a:p>
          <a:p>
            <a:pPr marL="285750" indent="-285750" algn="l">
              <a:buFont typeface="Arial" panose="020B0604020202020204" pitchFamily="34" charset="0"/>
              <a:buChar char="•"/>
            </a:pPr>
            <a:r>
              <a:rPr lang="en-US" b="0" i="0" dirty="0">
                <a:solidFill>
                  <a:srgbClr val="000000"/>
                </a:solidFill>
                <a:effectLst/>
                <a:latin typeface="FSBrabo"/>
              </a:rPr>
              <a:t>Index finger length</a:t>
            </a:r>
          </a:p>
          <a:p>
            <a:pPr marL="285750" indent="-285750" algn="l">
              <a:buFont typeface="Arial" panose="020B0604020202020204" pitchFamily="34" charset="0"/>
              <a:buChar char="•"/>
            </a:pPr>
            <a:r>
              <a:rPr lang="en-US" b="0" i="0" dirty="0">
                <a:solidFill>
                  <a:srgbClr val="000000"/>
                </a:solidFill>
                <a:effectLst/>
                <a:latin typeface="FSBrabo"/>
              </a:rPr>
              <a:t>Middle finger length</a:t>
            </a:r>
          </a:p>
          <a:p>
            <a:pPr marL="285750" indent="-285750" algn="l">
              <a:buFont typeface="Arial" panose="020B0604020202020204" pitchFamily="34" charset="0"/>
              <a:buChar char="•"/>
            </a:pPr>
            <a:r>
              <a:rPr lang="en-US" b="0" i="0" dirty="0">
                <a:solidFill>
                  <a:srgbClr val="000000"/>
                </a:solidFill>
                <a:effectLst/>
                <a:latin typeface="FSBrabo"/>
              </a:rPr>
              <a:t>Ring finger length</a:t>
            </a:r>
          </a:p>
          <a:p>
            <a:pPr marL="285750" indent="-285750" algn="l">
              <a:buFont typeface="Arial" panose="020B0604020202020204" pitchFamily="34" charset="0"/>
              <a:buChar char="•"/>
            </a:pPr>
            <a:r>
              <a:rPr lang="en-US" b="0" i="0" dirty="0">
                <a:solidFill>
                  <a:srgbClr val="000000"/>
                </a:solidFill>
                <a:effectLst/>
                <a:latin typeface="FSBrabo"/>
              </a:rPr>
              <a:t>Pinkie length</a:t>
            </a:r>
          </a:p>
          <a:p>
            <a:pPr marL="285750" indent="-285750" algn="l">
              <a:buFont typeface="Arial" panose="020B0604020202020204" pitchFamily="34" charset="0"/>
              <a:buChar char="•"/>
            </a:pPr>
            <a:r>
              <a:rPr lang="en-US" b="0" i="0" dirty="0">
                <a:solidFill>
                  <a:srgbClr val="000000"/>
                </a:solidFill>
                <a:effectLst/>
                <a:latin typeface="FSBrabo"/>
              </a:rPr>
              <a:t>Thumb width</a:t>
            </a:r>
          </a:p>
          <a:p>
            <a:pPr marL="285750" indent="-285750" algn="l">
              <a:buFont typeface="Arial" panose="020B0604020202020204" pitchFamily="34" charset="0"/>
              <a:buChar char="•"/>
            </a:pPr>
            <a:r>
              <a:rPr lang="en-US" b="0" i="0" dirty="0">
                <a:solidFill>
                  <a:srgbClr val="000000"/>
                </a:solidFill>
                <a:effectLst/>
                <a:latin typeface="FSBrabo"/>
              </a:rPr>
              <a:t>Index finger width</a:t>
            </a:r>
          </a:p>
          <a:p>
            <a:pPr marL="285750" indent="-285750" algn="l">
              <a:buFont typeface="Arial" panose="020B0604020202020204" pitchFamily="34" charset="0"/>
              <a:buChar char="•"/>
            </a:pPr>
            <a:r>
              <a:rPr lang="en-US" b="0" i="0" dirty="0">
                <a:solidFill>
                  <a:srgbClr val="000000"/>
                </a:solidFill>
                <a:effectLst/>
                <a:latin typeface="FSBrabo"/>
              </a:rPr>
              <a:t>Middle finger width</a:t>
            </a:r>
          </a:p>
          <a:p>
            <a:pPr marL="285750" indent="-285750" algn="l">
              <a:buFont typeface="Arial" panose="020B0604020202020204" pitchFamily="34" charset="0"/>
              <a:buChar char="•"/>
            </a:pPr>
            <a:r>
              <a:rPr lang="en-US" b="0" i="0" dirty="0">
                <a:solidFill>
                  <a:srgbClr val="000000"/>
                </a:solidFill>
                <a:effectLst/>
                <a:latin typeface="FSBrabo"/>
              </a:rPr>
              <a:t>Ring finger width</a:t>
            </a:r>
          </a:p>
          <a:p>
            <a:pPr marL="285750" indent="-285750" algn="l">
              <a:buFont typeface="Arial" panose="020B0604020202020204" pitchFamily="34" charset="0"/>
              <a:buChar char="•"/>
            </a:pPr>
            <a:r>
              <a:rPr lang="en-US" b="0" i="0" dirty="0">
                <a:solidFill>
                  <a:srgbClr val="000000"/>
                </a:solidFill>
                <a:effectLst/>
                <a:latin typeface="FSBrabo"/>
              </a:rPr>
              <a:t>Pinkie width</a:t>
            </a:r>
          </a:p>
          <a:p>
            <a:pPr marL="285750" indent="-285750" algn="l">
              <a:buFont typeface="Arial" panose="020B0604020202020204" pitchFamily="34" charset="0"/>
              <a:buChar char="•"/>
            </a:pPr>
            <a:r>
              <a:rPr lang="en-US" b="0" i="0" dirty="0">
                <a:solidFill>
                  <a:srgbClr val="000000"/>
                </a:solidFill>
                <a:effectLst/>
                <a:latin typeface="FSBrabo"/>
              </a:rPr>
              <a:t>Thumb circle radius</a:t>
            </a:r>
          </a:p>
          <a:p>
            <a:pPr marL="285750" indent="-285750" algn="l">
              <a:buFont typeface="Arial" panose="020B0604020202020204" pitchFamily="34" charset="0"/>
              <a:buChar char="•"/>
            </a:pPr>
            <a:r>
              <a:rPr lang="en-US" b="0" i="0" dirty="0">
                <a:solidFill>
                  <a:srgbClr val="000000"/>
                </a:solidFill>
                <a:effectLst/>
                <a:latin typeface="FSBrabo"/>
              </a:rPr>
              <a:t>Index circle radius lower</a:t>
            </a:r>
          </a:p>
          <a:p>
            <a:pPr marL="285750" indent="-285750" algn="l">
              <a:buFont typeface="Arial" panose="020B0604020202020204" pitchFamily="34" charset="0"/>
              <a:buChar char="•"/>
            </a:pPr>
            <a:r>
              <a:rPr lang="en-US" b="0" i="0" dirty="0">
                <a:solidFill>
                  <a:srgbClr val="000000"/>
                </a:solidFill>
                <a:effectLst/>
                <a:latin typeface="FSBrabo"/>
              </a:rPr>
              <a:t>Index circle radius upper</a:t>
            </a:r>
          </a:p>
          <a:p>
            <a:pPr marL="285750" indent="-285750" algn="l">
              <a:buFont typeface="Arial" panose="020B0604020202020204" pitchFamily="34" charset="0"/>
              <a:buChar char="•"/>
            </a:pPr>
            <a:r>
              <a:rPr lang="en-US" b="0" i="0" dirty="0">
                <a:solidFill>
                  <a:srgbClr val="000000"/>
                </a:solidFill>
                <a:effectLst/>
                <a:latin typeface="FSBrabo"/>
              </a:rPr>
              <a:t>Middle circle radius lower</a:t>
            </a:r>
          </a:p>
        </p:txBody>
      </p:sp>
      <p:sp>
        <p:nvSpPr>
          <p:cNvPr id="8" name="TextBox 7">
            <a:extLst>
              <a:ext uri="{FF2B5EF4-FFF2-40B4-BE49-F238E27FC236}">
                <a16:creationId xmlns:a16="http://schemas.microsoft.com/office/drawing/2014/main" id="{1BD4EEBB-F1DB-B1FA-A686-4C042904C829}"/>
              </a:ext>
            </a:extLst>
          </p:cNvPr>
          <p:cNvSpPr txBox="1"/>
          <p:nvPr/>
        </p:nvSpPr>
        <p:spPr>
          <a:xfrm>
            <a:off x="3029243" y="940592"/>
            <a:ext cx="6133514" cy="4524315"/>
          </a:xfrm>
          <a:prstGeom prst="rect">
            <a:avLst/>
          </a:prstGeom>
          <a:noFill/>
        </p:spPr>
        <p:txBody>
          <a:bodyPr wrap="square">
            <a:spAutoFit/>
          </a:bodyPr>
          <a:lstStyle/>
          <a:p>
            <a:pPr marL="285750" indent="-285750" algn="l">
              <a:buFont typeface="Arial" panose="020B0604020202020204" pitchFamily="34" charset="0"/>
              <a:buChar char="•"/>
            </a:pPr>
            <a:r>
              <a:rPr lang="en-US" b="0" i="0" dirty="0">
                <a:solidFill>
                  <a:srgbClr val="000000"/>
                </a:solidFill>
                <a:effectLst/>
                <a:latin typeface="FSBrabo"/>
              </a:rPr>
              <a:t>Middle circle radius upper</a:t>
            </a:r>
          </a:p>
          <a:p>
            <a:pPr marL="285750" indent="-285750" algn="l">
              <a:buFont typeface="Arial" panose="020B0604020202020204" pitchFamily="34" charset="0"/>
              <a:buChar char="•"/>
            </a:pPr>
            <a:r>
              <a:rPr lang="en-US" b="0" i="0" dirty="0">
                <a:solidFill>
                  <a:srgbClr val="000000"/>
                </a:solidFill>
                <a:effectLst/>
                <a:latin typeface="FSBrabo"/>
              </a:rPr>
              <a:t>Ring circle radius lower</a:t>
            </a:r>
          </a:p>
          <a:p>
            <a:pPr marL="285750" indent="-285750" algn="l">
              <a:buFont typeface="Arial" panose="020B0604020202020204" pitchFamily="34" charset="0"/>
              <a:buChar char="•"/>
            </a:pPr>
            <a:r>
              <a:rPr lang="en-US" b="0" i="0" dirty="0">
                <a:solidFill>
                  <a:srgbClr val="000000"/>
                </a:solidFill>
                <a:effectLst/>
                <a:latin typeface="FSBrabo"/>
              </a:rPr>
              <a:t>Ring circle radius upper</a:t>
            </a:r>
          </a:p>
          <a:p>
            <a:pPr marL="285750" indent="-285750" algn="l">
              <a:buFont typeface="Arial" panose="020B0604020202020204" pitchFamily="34" charset="0"/>
              <a:buChar char="•"/>
            </a:pPr>
            <a:r>
              <a:rPr lang="en-US" b="0" i="0" dirty="0">
                <a:solidFill>
                  <a:srgbClr val="000000"/>
                </a:solidFill>
                <a:effectLst/>
                <a:latin typeface="FSBrabo"/>
              </a:rPr>
              <a:t>Pinkie circle radius lower</a:t>
            </a:r>
          </a:p>
          <a:p>
            <a:pPr marL="285750" indent="-285750" algn="l">
              <a:buFont typeface="Arial" panose="020B0604020202020204" pitchFamily="34" charset="0"/>
              <a:buChar char="•"/>
            </a:pPr>
            <a:r>
              <a:rPr lang="en-US" b="0" i="0" dirty="0">
                <a:solidFill>
                  <a:srgbClr val="000000"/>
                </a:solidFill>
                <a:effectLst/>
                <a:latin typeface="FSBrabo"/>
              </a:rPr>
              <a:t>Pinkie circle radius upper</a:t>
            </a:r>
          </a:p>
          <a:p>
            <a:pPr marL="285750" indent="-285750" algn="l">
              <a:buFont typeface="Arial" panose="020B0604020202020204" pitchFamily="34" charset="0"/>
              <a:buChar char="•"/>
            </a:pPr>
            <a:r>
              <a:rPr lang="en-US" b="0" i="0" dirty="0">
                <a:solidFill>
                  <a:srgbClr val="000000"/>
                </a:solidFill>
                <a:effectLst/>
                <a:latin typeface="FSBrabo"/>
              </a:rPr>
              <a:t>Thumb perimeter</a:t>
            </a:r>
          </a:p>
          <a:p>
            <a:pPr marL="285750" indent="-285750" algn="l">
              <a:buFont typeface="Arial" panose="020B0604020202020204" pitchFamily="34" charset="0"/>
              <a:buChar char="•"/>
            </a:pPr>
            <a:r>
              <a:rPr lang="en-US" b="0" i="0" dirty="0">
                <a:solidFill>
                  <a:srgbClr val="000000"/>
                </a:solidFill>
                <a:effectLst/>
                <a:latin typeface="FSBrabo"/>
              </a:rPr>
              <a:t>Index finger perimeter</a:t>
            </a:r>
          </a:p>
          <a:p>
            <a:pPr marL="285750" indent="-285750" algn="l">
              <a:buFont typeface="Arial" panose="020B0604020202020204" pitchFamily="34" charset="0"/>
              <a:buChar char="•"/>
            </a:pPr>
            <a:r>
              <a:rPr lang="en-US" b="0" i="0" dirty="0">
                <a:solidFill>
                  <a:srgbClr val="000000"/>
                </a:solidFill>
                <a:effectLst/>
                <a:latin typeface="FSBrabo"/>
              </a:rPr>
              <a:t>Middle finger perimeter</a:t>
            </a:r>
          </a:p>
          <a:p>
            <a:pPr marL="285750" indent="-285750" algn="l">
              <a:buFont typeface="Arial" panose="020B0604020202020204" pitchFamily="34" charset="0"/>
              <a:buChar char="•"/>
            </a:pPr>
            <a:r>
              <a:rPr lang="en-US" b="0" i="0" dirty="0">
                <a:solidFill>
                  <a:srgbClr val="000000"/>
                </a:solidFill>
                <a:effectLst/>
                <a:latin typeface="FSBrabo"/>
              </a:rPr>
              <a:t>Ring finger perimeter</a:t>
            </a:r>
          </a:p>
          <a:p>
            <a:pPr marL="285750" indent="-285750" algn="l">
              <a:buFont typeface="Arial" panose="020B0604020202020204" pitchFamily="34" charset="0"/>
              <a:buChar char="•"/>
            </a:pPr>
            <a:r>
              <a:rPr lang="en-US" b="0" i="0" dirty="0">
                <a:solidFill>
                  <a:srgbClr val="000000"/>
                </a:solidFill>
                <a:effectLst/>
                <a:latin typeface="FSBrabo"/>
              </a:rPr>
              <a:t>Pinkie perimeter</a:t>
            </a:r>
          </a:p>
          <a:p>
            <a:pPr marL="285750" indent="-285750" algn="l">
              <a:buFont typeface="Arial" panose="020B0604020202020204" pitchFamily="34" charset="0"/>
              <a:buChar char="•"/>
            </a:pPr>
            <a:r>
              <a:rPr lang="en-US" b="0" i="0" dirty="0">
                <a:solidFill>
                  <a:srgbClr val="000000"/>
                </a:solidFill>
                <a:effectLst/>
                <a:latin typeface="FSBrabo"/>
              </a:rPr>
              <a:t>Thumb area</a:t>
            </a:r>
          </a:p>
          <a:p>
            <a:pPr marL="285750" indent="-285750" algn="l">
              <a:buFont typeface="Arial" panose="020B0604020202020204" pitchFamily="34" charset="0"/>
              <a:buChar char="•"/>
            </a:pPr>
            <a:r>
              <a:rPr lang="en-US" b="0" i="0" dirty="0">
                <a:solidFill>
                  <a:srgbClr val="000000"/>
                </a:solidFill>
                <a:effectLst/>
                <a:latin typeface="FSBrabo"/>
              </a:rPr>
              <a:t>Index finger area</a:t>
            </a:r>
          </a:p>
          <a:p>
            <a:pPr marL="285750" indent="-285750" algn="l">
              <a:buFont typeface="Arial" panose="020B0604020202020204" pitchFamily="34" charset="0"/>
              <a:buChar char="•"/>
            </a:pPr>
            <a:r>
              <a:rPr lang="en-US" b="0" i="0" dirty="0">
                <a:solidFill>
                  <a:srgbClr val="000000"/>
                </a:solidFill>
                <a:effectLst/>
                <a:latin typeface="FSBrabo"/>
              </a:rPr>
              <a:t>Middle finger area</a:t>
            </a:r>
          </a:p>
          <a:p>
            <a:pPr marL="285750" indent="-285750" algn="l">
              <a:buFont typeface="Arial" panose="020B0604020202020204" pitchFamily="34" charset="0"/>
              <a:buChar char="•"/>
            </a:pPr>
            <a:r>
              <a:rPr lang="en-US" b="0" i="0" dirty="0">
                <a:solidFill>
                  <a:srgbClr val="000000"/>
                </a:solidFill>
                <a:effectLst/>
                <a:latin typeface="FSBrabo"/>
              </a:rPr>
              <a:t>Ring finger area</a:t>
            </a:r>
          </a:p>
          <a:p>
            <a:pPr marL="285750" indent="-285750" algn="l">
              <a:buFont typeface="Arial" panose="020B0604020202020204" pitchFamily="34" charset="0"/>
              <a:buChar char="•"/>
            </a:pPr>
            <a:r>
              <a:rPr lang="en-US" b="0" i="0" dirty="0">
                <a:solidFill>
                  <a:srgbClr val="000000"/>
                </a:solidFill>
                <a:effectLst/>
                <a:latin typeface="FSBrabo"/>
              </a:rPr>
              <a:t>Pinkie area</a:t>
            </a:r>
          </a:p>
          <a:p>
            <a:pPr marL="285750" indent="-285750" algn="l">
              <a:buFont typeface="Arial" panose="020B0604020202020204" pitchFamily="34" charset="0"/>
              <a:buChar char="•"/>
            </a:pPr>
            <a:r>
              <a:rPr lang="en-US" b="0" i="0" dirty="0">
                <a:solidFill>
                  <a:srgbClr val="000000"/>
                </a:solidFill>
                <a:effectLst/>
                <a:latin typeface="FSBrabo"/>
              </a:rPr>
              <a:t>Largest inscribed circle radius</a:t>
            </a:r>
          </a:p>
        </p:txBody>
      </p:sp>
    </p:spTree>
    <p:extLst>
      <p:ext uri="{BB962C8B-B14F-4D97-AF65-F5344CB8AC3E}">
        <p14:creationId xmlns:p14="http://schemas.microsoft.com/office/powerpoint/2010/main" val="19363619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8F22B9-107F-1F25-A571-3F26A7196766}"/>
              </a:ext>
            </a:extLst>
          </p:cNvPr>
          <p:cNvSpPr>
            <a:spLocks noGrp="1"/>
          </p:cNvSpPr>
          <p:nvPr>
            <p:ph idx="1"/>
          </p:nvPr>
        </p:nvSpPr>
        <p:spPr>
          <a:xfrm>
            <a:off x="677333" y="365761"/>
            <a:ext cx="10633091" cy="5675602"/>
          </a:xfrm>
        </p:spPr>
        <p:txBody>
          <a:bodyPr/>
          <a:lstStyle/>
          <a:p>
            <a:pPr marL="0" indent="0">
              <a:buNone/>
            </a:pPr>
            <a:r>
              <a:rPr lang="en-US" b="1" dirty="0"/>
              <a:t>Hand Shape Technology</a:t>
            </a:r>
          </a:p>
          <a:p>
            <a:pPr marL="0" indent="0">
              <a:buNone/>
            </a:pPr>
            <a:r>
              <a:rPr lang="en-US" dirty="0"/>
              <a:t>Hand shape technology is similar to hand geometry but focuses more broadly on the </a:t>
            </a:r>
            <a:r>
              <a:rPr lang="en-US" b="1" dirty="0"/>
              <a:t>outline or contour</a:t>
            </a:r>
            <a:r>
              <a:rPr lang="en-US" dirty="0"/>
              <a:t> of the hand, possibly using a more </a:t>
            </a:r>
            <a:r>
              <a:rPr lang="en-US" b="1" dirty="0"/>
              <a:t>visual or image-based</a:t>
            </a:r>
            <a:r>
              <a:rPr lang="en-US" dirty="0"/>
              <a:t> recognition process.</a:t>
            </a:r>
          </a:p>
          <a:p>
            <a:pPr marL="0" indent="0">
              <a:buNone/>
            </a:pPr>
            <a:endParaRPr lang="en-US" dirty="0"/>
          </a:p>
          <a:p>
            <a:pPr marL="0" indent="0">
              <a:buNone/>
            </a:pPr>
            <a:r>
              <a:rPr lang="en-US" dirty="0"/>
              <a:t>May use 2D images or depth sensors to analyze the shape of the hand.</a:t>
            </a:r>
          </a:p>
          <a:p>
            <a:pPr marL="0" indent="0">
              <a:buNone/>
            </a:pPr>
            <a:r>
              <a:rPr lang="en-US" dirty="0"/>
              <a:t>Focuses more on the silhouette or outer boundary than internal measurements.</a:t>
            </a:r>
          </a:p>
          <a:p>
            <a:pPr marL="0" indent="0">
              <a:buNone/>
            </a:pPr>
            <a:r>
              <a:rPr lang="en-US" dirty="0"/>
              <a:t>Sometimes used in gesture recognition or human-computer interaction (e.g., gaming, VR).</a:t>
            </a:r>
          </a:p>
          <a:p>
            <a:pPr marL="0" indent="0">
              <a:buNone/>
            </a:pPr>
            <a:endParaRPr lang="en-US" dirty="0"/>
          </a:p>
        </p:txBody>
      </p:sp>
      <p:pic>
        <p:nvPicPr>
          <p:cNvPr id="1027" name="Picture 3" descr="Basic Principles and Trends in Hand Geometry and Hand Shape ...">
            <a:extLst>
              <a:ext uri="{FF2B5EF4-FFF2-40B4-BE49-F238E27FC236}">
                <a16:creationId xmlns:a16="http://schemas.microsoft.com/office/drawing/2014/main" id="{FFCC8A14-BA1F-5A23-3AB7-7A71C75ED5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7333" y="3302391"/>
            <a:ext cx="3965005" cy="3380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576345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Non-Touch Sign Word Recognition Based on Dynamic Hand Gesture Using Hybrid  Segmentation and CNN Feature Fusion">
            <a:extLst>
              <a:ext uri="{FF2B5EF4-FFF2-40B4-BE49-F238E27FC236}">
                <a16:creationId xmlns:a16="http://schemas.microsoft.com/office/drawing/2014/main" id="{4BABEBC9-9BD6-9274-A76A-A87E8F121D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4200" y="1961698"/>
            <a:ext cx="11523849" cy="31135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40196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7F899C-703D-34B2-92BC-F8429101A8E7}"/>
              </a:ext>
            </a:extLst>
          </p:cNvPr>
          <p:cNvSpPr>
            <a:spLocks noGrp="1"/>
          </p:cNvSpPr>
          <p:nvPr>
            <p:ph type="title"/>
          </p:nvPr>
        </p:nvSpPr>
        <p:spPr/>
        <p:txBody>
          <a:bodyPr/>
          <a:lstStyle/>
          <a:p>
            <a:r>
              <a:rPr lang="en-US" dirty="0">
                <a:solidFill>
                  <a:schemeClr val="tx1"/>
                </a:solidFill>
              </a:rPr>
              <a:t>Hand Segmentation - Adaptive Classifiers</a:t>
            </a:r>
          </a:p>
        </p:txBody>
      </p:sp>
      <p:sp>
        <p:nvSpPr>
          <p:cNvPr id="3" name="Content Placeholder 2">
            <a:extLst>
              <a:ext uri="{FF2B5EF4-FFF2-40B4-BE49-F238E27FC236}">
                <a16:creationId xmlns:a16="http://schemas.microsoft.com/office/drawing/2014/main" id="{86746CEB-99C5-DAFB-9688-99B3467F84EB}"/>
              </a:ext>
            </a:extLst>
          </p:cNvPr>
          <p:cNvSpPr>
            <a:spLocks noGrp="1"/>
          </p:cNvSpPr>
          <p:nvPr>
            <p:ph idx="1"/>
          </p:nvPr>
        </p:nvSpPr>
        <p:spPr>
          <a:xfrm>
            <a:off x="677334" y="1519311"/>
            <a:ext cx="8596668" cy="4522051"/>
          </a:xfrm>
        </p:spPr>
        <p:txBody>
          <a:bodyPr/>
          <a:lstStyle/>
          <a:p>
            <a:r>
              <a:rPr lang="en-US" b="0" i="0" dirty="0">
                <a:solidFill>
                  <a:schemeClr val="tx1"/>
                </a:solidFill>
                <a:effectLst/>
                <a:latin typeface="Google Sans"/>
              </a:rPr>
              <a:t>Hand segmentation using adaptive classifiers involves dynamically adjusting the classification process to improve accuracy under varying conditions, such as changing light or background. </a:t>
            </a:r>
          </a:p>
          <a:p>
            <a:r>
              <a:rPr lang="en-US" b="0" i="0" dirty="0">
                <a:solidFill>
                  <a:schemeClr val="tx1"/>
                </a:solidFill>
                <a:effectLst/>
                <a:latin typeface="Google Sans"/>
              </a:rPr>
              <a:t>Adaptive methods often utilize online learning or </a:t>
            </a:r>
            <a:r>
              <a:rPr lang="en-US" b="0" i="0" dirty="0">
                <a:solidFill>
                  <a:schemeClr val="tx1"/>
                </a:solidFill>
                <a:effectLst/>
                <a:latin typeface="Google Sans"/>
                <a:hlinkClick r:id="rId2">
                  <a:extLst>
                    <a:ext uri="{A12FA001-AC4F-418D-AE19-62706E023703}">
                      <ahyp:hlinkClr xmlns:ahyp="http://schemas.microsoft.com/office/drawing/2018/hyperlinkcolor" val="tx"/>
                    </a:ext>
                  </a:extLst>
                </a:hlinkClick>
              </a:rPr>
              <a:t>active learning</a:t>
            </a:r>
            <a:r>
              <a:rPr lang="en-US" b="0" i="0" dirty="0">
                <a:solidFill>
                  <a:schemeClr val="tx1"/>
                </a:solidFill>
                <a:effectLst/>
                <a:latin typeface="Google Sans"/>
              </a:rPr>
              <a:t> to continuously update skin color models and </a:t>
            </a:r>
            <a:r>
              <a:rPr lang="en-US" b="0" i="0" dirty="0">
                <a:solidFill>
                  <a:schemeClr val="tx1"/>
                </a:solidFill>
                <a:effectLst/>
                <a:latin typeface="Google Sans"/>
                <a:hlinkClick r:id="rId3">
                  <a:extLst>
                    <a:ext uri="{A12FA001-AC4F-418D-AE19-62706E023703}">
                      <ahyp:hlinkClr xmlns:ahyp="http://schemas.microsoft.com/office/drawing/2018/hyperlinkcolor" val="tx"/>
                    </a:ext>
                  </a:extLst>
                </a:hlinkClick>
              </a:rPr>
              <a:t>feature extractors</a:t>
            </a:r>
            <a:r>
              <a:rPr lang="en-US" b="0" i="0" dirty="0">
                <a:solidFill>
                  <a:schemeClr val="tx1"/>
                </a:solidFill>
                <a:effectLst/>
                <a:latin typeface="Google Sans"/>
              </a:rPr>
              <a:t>, enhancing robustness for real-time hand and </a:t>
            </a:r>
            <a:r>
              <a:rPr lang="en-US" b="0" i="0" dirty="0">
                <a:solidFill>
                  <a:schemeClr val="tx2"/>
                </a:solidFill>
                <a:effectLst/>
                <a:latin typeface="Google Sans"/>
              </a:rPr>
              <a:t>gesture recognition systems. </a:t>
            </a:r>
          </a:p>
          <a:p>
            <a:r>
              <a:rPr lang="en-US" b="0" i="0" dirty="0">
                <a:solidFill>
                  <a:schemeClr val="tx2"/>
                </a:solidFill>
                <a:effectLst/>
                <a:latin typeface="Google Sans"/>
              </a:rPr>
              <a:t>Techniques like </a:t>
            </a:r>
            <a:r>
              <a:rPr lang="en-US" b="0" i="0" dirty="0">
                <a:solidFill>
                  <a:schemeClr val="tx2"/>
                </a:solidFill>
                <a:effectLst/>
                <a:latin typeface="Google Sans"/>
                <a:hlinkClick r:id="rId4">
                  <a:extLst>
                    <a:ext uri="{A12FA001-AC4F-418D-AE19-62706E023703}">
                      <ahyp:hlinkClr xmlns:ahyp="http://schemas.microsoft.com/office/drawing/2018/hyperlinkcolor" val="tx"/>
                    </a:ext>
                  </a:extLst>
                </a:hlinkClick>
              </a:rPr>
              <a:t>boosted classifiers</a:t>
            </a:r>
            <a:r>
              <a:rPr lang="en-US" b="0" i="0" dirty="0">
                <a:solidFill>
                  <a:schemeClr val="tx2"/>
                </a:solidFill>
                <a:effectLst/>
                <a:latin typeface="Google Sans"/>
              </a:rPr>
              <a:t>, </a:t>
            </a:r>
            <a:r>
              <a:rPr lang="en-US" b="0" i="0" dirty="0">
                <a:solidFill>
                  <a:schemeClr val="tx2"/>
                </a:solidFill>
                <a:effectLst/>
                <a:latin typeface="Google Sans"/>
                <a:hlinkClick r:id="rId5">
                  <a:extLst>
                    <a:ext uri="{A12FA001-AC4F-418D-AE19-62706E023703}">
                      <ahyp:hlinkClr xmlns:ahyp="http://schemas.microsoft.com/office/drawing/2018/hyperlinkcolor" val="tx"/>
                    </a:ext>
                  </a:extLst>
                </a:hlinkClick>
              </a:rPr>
              <a:t>deep learning models (e.g., </a:t>
            </a:r>
            <a:r>
              <a:rPr lang="en-US" b="0" i="0" dirty="0" err="1">
                <a:solidFill>
                  <a:schemeClr val="tx2"/>
                </a:solidFill>
                <a:effectLst/>
                <a:latin typeface="Google Sans"/>
                <a:hlinkClick r:id="rId5">
                  <a:extLst>
                    <a:ext uri="{A12FA001-AC4F-418D-AE19-62706E023703}">
                      <ahyp:hlinkClr xmlns:ahyp="http://schemas.microsoft.com/office/drawing/2018/hyperlinkcolor" val="tx"/>
                    </a:ext>
                  </a:extLst>
                </a:hlinkClick>
              </a:rPr>
              <a:t>UNet</a:t>
            </a:r>
            <a:r>
              <a:rPr lang="en-US" b="0" i="0" dirty="0">
                <a:solidFill>
                  <a:schemeClr val="tx2"/>
                </a:solidFill>
                <a:effectLst/>
                <a:latin typeface="Google Sans"/>
                <a:hlinkClick r:id="rId5">
                  <a:extLst>
                    <a:ext uri="{A12FA001-AC4F-418D-AE19-62706E023703}">
                      <ahyp:hlinkClr xmlns:ahyp="http://schemas.microsoft.com/office/drawing/2018/hyperlinkcolor" val="tx"/>
                    </a:ext>
                  </a:extLst>
                </a:hlinkClick>
              </a:rPr>
              <a:t>)</a:t>
            </a:r>
            <a:r>
              <a:rPr lang="en-US" b="0" i="0" dirty="0">
                <a:solidFill>
                  <a:schemeClr val="tx2"/>
                </a:solidFill>
                <a:effectLst/>
                <a:latin typeface="Google Sans"/>
              </a:rPr>
              <a:t>, and </a:t>
            </a:r>
            <a:r>
              <a:rPr lang="en-US" b="0" i="0" dirty="0">
                <a:solidFill>
                  <a:schemeClr val="tx2"/>
                </a:solidFill>
                <a:effectLst/>
                <a:latin typeface="Google Sans"/>
                <a:hlinkClick r:id="rId6">
                  <a:extLst>
                    <a:ext uri="{A12FA001-AC4F-418D-AE19-62706E023703}">
                      <ahyp:hlinkClr xmlns:ahyp="http://schemas.microsoft.com/office/drawing/2018/hyperlinkcolor" val="tx"/>
                    </a:ext>
                  </a:extLst>
                </a:hlinkClick>
              </a:rPr>
              <a:t>particle filters</a:t>
            </a:r>
            <a:r>
              <a:rPr lang="en-US" b="0" i="0" dirty="0">
                <a:solidFill>
                  <a:schemeClr val="tx2"/>
                </a:solidFill>
                <a:effectLst/>
                <a:latin typeface="Google Sans"/>
              </a:rPr>
              <a:t> can be adapted for improved performance in these applications.  </a:t>
            </a:r>
          </a:p>
          <a:p>
            <a:r>
              <a:rPr lang="en-US" b="0" i="0" dirty="0">
                <a:solidFill>
                  <a:schemeClr val="tx2"/>
                </a:solidFill>
                <a:effectLst/>
                <a:latin typeface="Google Sans"/>
              </a:rPr>
              <a:t>Adaptive classifiers in biometrics are </a:t>
            </a:r>
            <a:r>
              <a:rPr lang="en-US" dirty="0">
                <a:solidFill>
                  <a:schemeClr val="tx2"/>
                </a:solidFill>
                <a:latin typeface="Google Sans"/>
              </a:rPr>
              <a:t>systems designed to automatically adjust their recognition models to improve performance over time by adapting to changes in user behavior, environmental conditions, or the inherent variability of biometric traits</a:t>
            </a:r>
            <a:r>
              <a:rPr lang="en-US" b="0" i="0" dirty="0">
                <a:solidFill>
                  <a:schemeClr val="tx2"/>
                </a:solidFill>
                <a:effectLst/>
                <a:latin typeface="Google Sans"/>
              </a:rPr>
              <a:t>, a phenomenon known as </a:t>
            </a:r>
            <a:r>
              <a:rPr lang="en-US" b="0" i="0" dirty="0">
                <a:solidFill>
                  <a:schemeClr val="tx2"/>
                </a:solidFill>
                <a:effectLst/>
                <a:latin typeface="Google Sans"/>
                <a:hlinkClick r:id="rId7">
                  <a:extLst>
                    <a:ext uri="{A12FA001-AC4F-418D-AE19-62706E023703}">
                      <ahyp:hlinkClr xmlns:ahyp="http://schemas.microsoft.com/office/drawing/2018/hyperlinkcolor" val="tx"/>
                    </a:ext>
                  </a:extLst>
                </a:hlinkClick>
              </a:rPr>
              <a:t>template aging</a:t>
            </a:r>
            <a:r>
              <a:rPr lang="en-US" b="0" i="0" dirty="0">
                <a:solidFill>
                  <a:schemeClr val="tx2"/>
                </a:solidFill>
                <a:effectLst/>
                <a:latin typeface="Google Sans"/>
              </a:rPr>
              <a:t>.</a:t>
            </a:r>
            <a:endParaRPr lang="en-US" dirty="0">
              <a:solidFill>
                <a:schemeClr val="tx2"/>
              </a:solidFill>
              <a:latin typeface="Google Sans"/>
            </a:endParaRPr>
          </a:p>
        </p:txBody>
      </p:sp>
    </p:spTree>
    <p:extLst>
      <p:ext uri="{BB962C8B-B14F-4D97-AF65-F5344CB8AC3E}">
        <p14:creationId xmlns:p14="http://schemas.microsoft.com/office/powerpoint/2010/main" val="30653913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E46F5E-C34F-6A2A-4B7D-7D238DF9B021}"/>
              </a:ext>
            </a:extLst>
          </p:cNvPr>
          <p:cNvSpPr>
            <a:spLocks noGrp="1"/>
          </p:cNvSpPr>
          <p:nvPr>
            <p:ph idx="1"/>
          </p:nvPr>
        </p:nvSpPr>
        <p:spPr>
          <a:xfrm>
            <a:off x="677333" y="393895"/>
            <a:ext cx="8804291" cy="6063176"/>
          </a:xfrm>
        </p:spPr>
        <p:txBody>
          <a:bodyPr>
            <a:normAutofit/>
          </a:bodyPr>
          <a:lstStyle/>
          <a:p>
            <a:pPr marL="0" indent="0" algn="l">
              <a:buNone/>
            </a:pPr>
            <a:r>
              <a:rPr lang="en-US" b="1" i="0" dirty="0">
                <a:solidFill>
                  <a:srgbClr val="001D35"/>
                </a:solidFill>
                <a:effectLst/>
                <a:latin typeface="Google Sans"/>
              </a:rPr>
              <a:t>Adaptive Skin Color Models</a:t>
            </a:r>
            <a:r>
              <a:rPr lang="en-US" b="0" i="0" dirty="0">
                <a:solidFill>
                  <a:srgbClr val="001D35"/>
                </a:solidFill>
                <a:effectLst/>
                <a:latin typeface="Google Sans"/>
              </a:rPr>
              <a:t>: </a:t>
            </a:r>
          </a:p>
          <a:p>
            <a:pPr marL="0" indent="0" algn="l" fontAlgn="ctr">
              <a:buNone/>
            </a:pPr>
            <a:r>
              <a:rPr lang="en-US" b="0" i="0" dirty="0">
                <a:solidFill>
                  <a:srgbClr val="001D35"/>
                </a:solidFill>
                <a:effectLst/>
                <a:latin typeface="Google Sans"/>
              </a:rPr>
              <a:t>Instead of relying on a static skin color model, these systems learn and adapt to changes in illumination and other environmental factors in real-time. This is often achieved through online adaptation, where the model continuously updates its parameters based on incoming image frames. </a:t>
            </a:r>
            <a:endParaRPr lang="en-US" b="0" i="0" dirty="0">
              <a:solidFill>
                <a:srgbClr val="0B57D0"/>
              </a:solidFill>
              <a:effectLst/>
              <a:latin typeface="Google Sans"/>
            </a:endParaRPr>
          </a:p>
          <a:p>
            <a:pPr marL="0" indent="0" algn="l">
              <a:buNone/>
            </a:pPr>
            <a:r>
              <a:rPr lang="en-US" b="1" i="0" u="sng" dirty="0">
                <a:solidFill>
                  <a:schemeClr val="tx2"/>
                </a:solidFill>
                <a:effectLst/>
                <a:latin typeface="Google Sans"/>
                <a:hlinkClick r:id="rId2">
                  <a:extLst>
                    <a:ext uri="{A12FA001-AC4F-418D-AE19-62706E023703}">
                      <ahyp:hlinkClr xmlns:ahyp="http://schemas.microsoft.com/office/drawing/2018/hyperlinkcolor" val="tx"/>
                    </a:ext>
                  </a:extLst>
                </a:hlinkClick>
              </a:rPr>
              <a:t>Active Learning</a:t>
            </a:r>
            <a:r>
              <a:rPr lang="en-US" b="0" i="0" dirty="0">
                <a:solidFill>
                  <a:schemeClr val="tx2"/>
                </a:solidFill>
                <a:effectLst/>
                <a:latin typeface="Google Sans"/>
              </a:rPr>
              <a:t>: </a:t>
            </a:r>
          </a:p>
          <a:p>
            <a:pPr algn="l" fontAlgn="ctr">
              <a:buFont typeface="Arial" panose="020B0604020202020204" pitchFamily="34" charset="0"/>
              <a:buChar char="•"/>
            </a:pPr>
            <a:r>
              <a:rPr lang="en-US" b="0" i="0" dirty="0">
                <a:solidFill>
                  <a:srgbClr val="001D35"/>
                </a:solidFill>
                <a:effectLst/>
                <a:latin typeface="Google Sans"/>
              </a:rPr>
              <a:t>This technique allows the system to intelligently request labels for the most informative samples, leading to more efficient training and better performance with fewer annotated data points. </a:t>
            </a:r>
            <a:endParaRPr lang="en-US" b="0" i="0" dirty="0">
              <a:solidFill>
                <a:srgbClr val="0B57D0"/>
              </a:solidFill>
              <a:effectLst/>
              <a:latin typeface="Google Sans"/>
            </a:endParaRPr>
          </a:p>
          <a:p>
            <a:pPr marL="0" indent="0" algn="l">
              <a:buNone/>
            </a:pPr>
            <a:r>
              <a:rPr lang="en-US" b="1" i="0" dirty="0">
                <a:solidFill>
                  <a:srgbClr val="001D35"/>
                </a:solidFill>
                <a:effectLst/>
                <a:latin typeface="Google Sans"/>
              </a:rPr>
              <a:t>Dynamic Feature Extraction</a:t>
            </a:r>
            <a:r>
              <a:rPr lang="en-US" b="0" i="0" dirty="0">
                <a:solidFill>
                  <a:srgbClr val="001D35"/>
                </a:solidFill>
                <a:effectLst/>
                <a:latin typeface="Google Sans"/>
              </a:rPr>
              <a:t>: </a:t>
            </a:r>
          </a:p>
          <a:p>
            <a:pPr algn="l" fontAlgn="ctr">
              <a:buFont typeface="Arial" panose="020B0604020202020204" pitchFamily="34" charset="0"/>
              <a:buChar char="•"/>
            </a:pPr>
            <a:r>
              <a:rPr lang="en-US" b="0" i="0" dirty="0">
                <a:solidFill>
                  <a:srgbClr val="001D35"/>
                </a:solidFill>
                <a:effectLst/>
                <a:latin typeface="Google Sans"/>
              </a:rPr>
              <a:t>Adaptive systems can adjust feature extraction parameters based on the input, such as </a:t>
            </a:r>
            <a:r>
              <a:rPr lang="en-US" b="0" i="0" dirty="0">
                <a:solidFill>
                  <a:schemeClr val="tx2"/>
                </a:solidFill>
                <a:effectLst/>
                <a:latin typeface="Google Sans"/>
              </a:rPr>
              <a:t>using adaptive weighted </a:t>
            </a:r>
            <a:r>
              <a:rPr lang="en-US" b="0" i="0" dirty="0">
                <a:solidFill>
                  <a:schemeClr val="tx2"/>
                </a:solidFill>
                <a:effectLst/>
                <a:latin typeface="Google Sans"/>
                <a:hlinkClick r:id="rId3">
                  <a:extLst>
                    <a:ext uri="{A12FA001-AC4F-418D-AE19-62706E023703}">
                      <ahyp:hlinkClr xmlns:ahyp="http://schemas.microsoft.com/office/drawing/2018/hyperlinkcolor" val="tx"/>
                    </a:ext>
                  </a:extLst>
                </a:hlinkClick>
              </a:rPr>
              <a:t>SIFT (Scale-Invariant Feature Transform)</a:t>
            </a:r>
            <a:r>
              <a:rPr lang="en-US" b="0" i="0" dirty="0">
                <a:solidFill>
                  <a:schemeClr val="tx2"/>
                </a:solidFill>
                <a:effectLst/>
                <a:latin typeface="Google Sans"/>
              </a:rPr>
              <a:t> to maximize variance in hand data points. </a:t>
            </a:r>
          </a:p>
          <a:p>
            <a:pPr marL="0" indent="0" algn="l">
              <a:buNone/>
            </a:pPr>
            <a:r>
              <a:rPr lang="en-US" b="1" i="0" dirty="0">
                <a:solidFill>
                  <a:schemeClr val="tx2"/>
                </a:solidFill>
                <a:effectLst/>
                <a:latin typeface="Google Sans"/>
              </a:rPr>
              <a:t>Online Adaptation for Tracking</a:t>
            </a:r>
            <a:r>
              <a:rPr lang="en-US" b="0" i="0" dirty="0">
                <a:solidFill>
                  <a:schemeClr val="tx2"/>
                </a:solidFill>
                <a:effectLst/>
                <a:latin typeface="Google Sans"/>
              </a:rPr>
              <a:t>: </a:t>
            </a:r>
          </a:p>
          <a:p>
            <a:pPr algn="l">
              <a:buFont typeface="Arial" panose="020B0604020202020204" pitchFamily="34" charset="0"/>
              <a:buChar char="•"/>
            </a:pPr>
            <a:r>
              <a:rPr lang="en-US" b="0" i="0" dirty="0">
                <a:solidFill>
                  <a:schemeClr val="tx2"/>
                </a:solidFill>
                <a:effectLst/>
                <a:latin typeface="Google Sans"/>
              </a:rPr>
              <a:t>For hand tracking, techniques like </a:t>
            </a:r>
            <a:r>
              <a:rPr lang="en-US" b="0" i="0" dirty="0">
                <a:solidFill>
                  <a:schemeClr val="tx2"/>
                </a:solidFill>
                <a:effectLst/>
                <a:latin typeface="Google Sans"/>
                <a:hlinkClick r:id="rId4">
                  <a:extLst>
                    <a:ext uri="{A12FA001-AC4F-418D-AE19-62706E023703}">
                      <ahyp:hlinkClr xmlns:ahyp="http://schemas.microsoft.com/office/drawing/2018/hyperlinkcolor" val="tx"/>
                    </a:ext>
                  </a:extLst>
                </a:hlinkClick>
              </a:rPr>
              <a:t>Sequential Monte Carlo</a:t>
            </a:r>
            <a:r>
              <a:rPr lang="en-US" b="0" i="0" dirty="0">
                <a:solidFill>
                  <a:schemeClr val="tx2"/>
                </a:solidFill>
                <a:effectLst/>
                <a:latin typeface="Google Sans"/>
              </a:rPr>
              <a:t> or </a:t>
            </a:r>
            <a:r>
              <a:rPr lang="en-US" b="0" i="0" dirty="0">
                <a:solidFill>
                  <a:schemeClr val="tx2"/>
                </a:solidFill>
                <a:effectLst/>
                <a:latin typeface="Google Sans"/>
                <a:hlinkClick r:id="rId5">
                  <a:extLst>
                    <a:ext uri="{A12FA001-AC4F-418D-AE19-62706E023703}">
                      <ahyp:hlinkClr xmlns:ahyp="http://schemas.microsoft.com/office/drawing/2018/hyperlinkcolor" val="tx"/>
                    </a:ext>
                  </a:extLst>
                </a:hlinkClick>
              </a:rPr>
              <a:t>particle filters</a:t>
            </a:r>
            <a:r>
              <a:rPr lang="en-US" b="0" i="0" dirty="0">
                <a:solidFill>
                  <a:schemeClr val="tx2"/>
                </a:solidFill>
                <a:effectLst/>
                <a:latin typeface="Google Sans"/>
              </a:rPr>
              <a:t> can be used to efficiently track fingertips, adapting to changes in their positions and orientations. </a:t>
            </a:r>
          </a:p>
          <a:p>
            <a:endParaRPr lang="en-US" dirty="0"/>
          </a:p>
        </p:txBody>
      </p:sp>
    </p:spTree>
    <p:extLst>
      <p:ext uri="{BB962C8B-B14F-4D97-AF65-F5344CB8AC3E}">
        <p14:creationId xmlns:p14="http://schemas.microsoft.com/office/powerpoint/2010/main" val="16885627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196C989-804F-6D05-FAF6-9532AABF7DBA}"/>
              </a:ext>
            </a:extLst>
          </p:cNvPr>
          <p:cNvSpPr>
            <a:spLocks noGrp="1"/>
          </p:cNvSpPr>
          <p:nvPr>
            <p:ph idx="1"/>
          </p:nvPr>
        </p:nvSpPr>
        <p:spPr>
          <a:xfrm>
            <a:off x="677333" y="422031"/>
            <a:ext cx="9141915" cy="6435969"/>
          </a:xfrm>
        </p:spPr>
        <p:txBody>
          <a:bodyPr>
            <a:normAutofit/>
          </a:bodyPr>
          <a:lstStyle/>
          <a:p>
            <a:pPr marL="0" indent="0" algn="l" fontAlgn="ctr">
              <a:buNone/>
            </a:pPr>
            <a:r>
              <a:rPr lang="en-US" sz="2000" b="1" i="0" dirty="0">
                <a:solidFill>
                  <a:srgbClr val="001D35"/>
                </a:solidFill>
                <a:effectLst/>
                <a:latin typeface="Google Sans"/>
              </a:rPr>
              <a:t>Working</a:t>
            </a:r>
          </a:p>
          <a:p>
            <a:pPr marL="0" indent="0" algn="l" fontAlgn="ctr">
              <a:buNone/>
            </a:pPr>
            <a:r>
              <a:rPr lang="en-US" sz="2000" b="0" i="0" dirty="0">
                <a:solidFill>
                  <a:srgbClr val="001D35"/>
                </a:solidFill>
                <a:effectLst/>
                <a:latin typeface="Google Sans"/>
              </a:rPr>
              <a:t>Adaptive biometric systems typically use one or more of the following strategies: </a:t>
            </a:r>
            <a:endParaRPr lang="en-US" sz="2000" b="0" i="0" dirty="0">
              <a:solidFill>
                <a:srgbClr val="0B57D0"/>
              </a:solidFill>
              <a:effectLst/>
              <a:latin typeface="Google Sans"/>
            </a:endParaRPr>
          </a:p>
          <a:p>
            <a:pPr marL="0" indent="0" algn="l">
              <a:buNone/>
            </a:pPr>
            <a:r>
              <a:rPr lang="en-US" sz="2000" b="1" i="0" dirty="0">
                <a:solidFill>
                  <a:srgbClr val="001D35"/>
                </a:solidFill>
                <a:effectLst/>
                <a:latin typeface="Google Sans"/>
              </a:rPr>
              <a:t>Reference Modeling/Template Update:</a:t>
            </a:r>
            <a:r>
              <a:rPr lang="en-US" sz="2000" b="0" i="0" dirty="0">
                <a:solidFill>
                  <a:srgbClr val="001D35"/>
                </a:solidFill>
                <a:effectLst/>
                <a:latin typeface="Google Sans"/>
              </a:rPr>
              <a:t> </a:t>
            </a:r>
          </a:p>
          <a:p>
            <a:pPr algn="l" fontAlgn="ctr">
              <a:buFont typeface="Arial" panose="020B0604020202020204" pitchFamily="34" charset="0"/>
              <a:buChar char="•"/>
            </a:pPr>
            <a:r>
              <a:rPr lang="en-US" sz="2000" b="0" i="0" dirty="0">
                <a:solidFill>
                  <a:srgbClr val="001D35"/>
                </a:solidFill>
                <a:effectLst/>
                <a:latin typeface="Google Sans"/>
              </a:rPr>
              <a:t>The system automatically updates the stored reference template using new genuine user samples to reflect current biometric characteristics. </a:t>
            </a:r>
            <a:endParaRPr lang="en-US" sz="2000" b="0" i="0" dirty="0">
              <a:solidFill>
                <a:srgbClr val="0B57D0"/>
              </a:solidFill>
              <a:effectLst/>
              <a:latin typeface="Google Sans"/>
            </a:endParaRPr>
          </a:p>
          <a:p>
            <a:pPr marL="0" indent="0" algn="l">
              <a:buNone/>
            </a:pPr>
            <a:r>
              <a:rPr lang="en-US" sz="2000" b="1" i="0" dirty="0">
                <a:solidFill>
                  <a:srgbClr val="001D35"/>
                </a:solidFill>
                <a:effectLst/>
                <a:latin typeface="Google Sans"/>
              </a:rPr>
              <a:t>Adaptive Behavior Modification:</a:t>
            </a:r>
            <a:r>
              <a:rPr lang="en-US" sz="2000" b="0" i="0" dirty="0">
                <a:solidFill>
                  <a:srgbClr val="001D35"/>
                </a:solidFill>
                <a:effectLst/>
                <a:latin typeface="Google Sans"/>
              </a:rPr>
              <a:t> </a:t>
            </a:r>
          </a:p>
          <a:p>
            <a:pPr algn="l" fontAlgn="ctr">
              <a:buFont typeface="Arial" panose="020B0604020202020204" pitchFamily="34" charset="0"/>
              <a:buChar char="•"/>
            </a:pPr>
            <a:r>
              <a:rPr lang="en-US" sz="2000" b="0" i="0" dirty="0">
                <a:solidFill>
                  <a:srgbClr val="001D35"/>
                </a:solidFill>
                <a:effectLst/>
                <a:latin typeface="Google Sans"/>
              </a:rPr>
              <a:t>The system can change its own behavior, such as deactivating a specific biometric modality (like face recognition under poor lighting) or adjusting the processing steps based on environmental cues. </a:t>
            </a:r>
            <a:endParaRPr lang="en-US" sz="2000" b="0" i="0" dirty="0">
              <a:solidFill>
                <a:srgbClr val="0B57D0"/>
              </a:solidFill>
              <a:effectLst/>
              <a:latin typeface="Google Sans"/>
            </a:endParaRPr>
          </a:p>
          <a:p>
            <a:pPr marL="0" indent="0" algn="l">
              <a:buNone/>
            </a:pPr>
            <a:r>
              <a:rPr lang="en-US" sz="2000" b="1" i="0" dirty="0">
                <a:solidFill>
                  <a:srgbClr val="001D35"/>
                </a:solidFill>
                <a:effectLst/>
                <a:latin typeface="Google Sans"/>
              </a:rPr>
              <a:t>Adaptive Ensemble Selection:</a:t>
            </a:r>
            <a:r>
              <a:rPr lang="en-US" sz="2000" b="0" i="0" dirty="0">
                <a:solidFill>
                  <a:srgbClr val="001D35"/>
                </a:solidFill>
                <a:effectLst/>
                <a:latin typeface="Google Sans"/>
              </a:rPr>
              <a:t> </a:t>
            </a:r>
          </a:p>
          <a:p>
            <a:pPr algn="l" fontAlgn="ctr">
              <a:buFont typeface="Arial" panose="020B0604020202020204" pitchFamily="34" charset="0"/>
              <a:buChar char="•"/>
            </a:pPr>
            <a:r>
              <a:rPr lang="en-US" sz="2000" b="0" i="0" dirty="0">
                <a:solidFill>
                  <a:srgbClr val="001D35"/>
                </a:solidFill>
                <a:effectLst/>
                <a:latin typeface="Google Sans"/>
              </a:rPr>
              <a:t>In multimodal biometric systems, the system can dynamically select the most competent classifier or combination of classifiers for a given user or set of biometric samples. </a:t>
            </a:r>
            <a:endParaRPr lang="en-US" sz="2000" b="0" i="0" dirty="0">
              <a:solidFill>
                <a:srgbClr val="0B57D0"/>
              </a:solidFill>
              <a:effectLst/>
              <a:latin typeface="Google Sans"/>
            </a:endParaRPr>
          </a:p>
          <a:p>
            <a:pPr marL="0" indent="0" algn="l">
              <a:buNone/>
            </a:pPr>
            <a:r>
              <a:rPr lang="en-US" sz="2000" b="1" i="0" dirty="0">
                <a:solidFill>
                  <a:srgbClr val="001D35"/>
                </a:solidFill>
                <a:effectLst/>
                <a:latin typeface="Google Sans"/>
              </a:rPr>
              <a:t>Incremental Learning:</a:t>
            </a:r>
            <a:r>
              <a:rPr lang="en-US" sz="2000" b="0" i="0" dirty="0">
                <a:solidFill>
                  <a:srgbClr val="001D35"/>
                </a:solidFill>
                <a:effectLst/>
                <a:latin typeface="Google Sans"/>
              </a:rPr>
              <a:t> </a:t>
            </a:r>
          </a:p>
          <a:p>
            <a:pPr algn="l">
              <a:buFont typeface="Arial" panose="020B0604020202020204" pitchFamily="34" charset="0"/>
              <a:buChar char="•"/>
            </a:pPr>
            <a:r>
              <a:rPr lang="en-US" sz="2000" b="0" i="0" dirty="0">
                <a:solidFill>
                  <a:srgbClr val="001D35"/>
                </a:solidFill>
                <a:effectLst/>
                <a:latin typeface="Google Sans"/>
              </a:rPr>
              <a:t>The classifier is continuously or periodically retrained with new data streams to learn from changes, for instance, by adapting the meta-classifier in an ensemble approach. </a:t>
            </a:r>
          </a:p>
          <a:p>
            <a:pPr marL="0" indent="0">
              <a:buNone/>
            </a:pPr>
            <a:endParaRPr lang="en-US" sz="2000" dirty="0"/>
          </a:p>
        </p:txBody>
      </p:sp>
    </p:spTree>
    <p:extLst>
      <p:ext uri="{BB962C8B-B14F-4D97-AF65-F5344CB8AC3E}">
        <p14:creationId xmlns:p14="http://schemas.microsoft.com/office/powerpoint/2010/main" val="97160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483D59-4A06-63CC-4117-45E2D470631A}"/>
              </a:ext>
            </a:extLst>
          </p:cNvPr>
          <p:cNvSpPr>
            <a:spLocks noGrp="1"/>
          </p:cNvSpPr>
          <p:nvPr>
            <p:ph idx="1"/>
          </p:nvPr>
        </p:nvSpPr>
        <p:spPr>
          <a:xfrm>
            <a:off x="677334" y="154745"/>
            <a:ext cx="8596668" cy="5886617"/>
          </a:xfrm>
        </p:spPr>
        <p:txBody>
          <a:bodyPr>
            <a:normAutofit/>
          </a:bodyPr>
          <a:lstStyle/>
          <a:p>
            <a:pPr marL="0" indent="0" algn="l">
              <a:buNone/>
            </a:pPr>
            <a:r>
              <a:rPr lang="en-US" b="1" i="0" dirty="0">
                <a:solidFill>
                  <a:srgbClr val="0A0A0A"/>
                </a:solidFill>
                <a:effectLst/>
                <a:latin typeface="Google Sans"/>
              </a:rPr>
              <a:t>Key applications</a:t>
            </a:r>
          </a:p>
          <a:p>
            <a:pPr marL="0" indent="0" algn="l">
              <a:buNone/>
            </a:pPr>
            <a:r>
              <a:rPr lang="en-US" b="0" i="0" dirty="0">
                <a:solidFill>
                  <a:srgbClr val="0A0A0A"/>
                </a:solidFill>
                <a:effectLst/>
                <a:latin typeface="Google Sans"/>
              </a:rPr>
              <a:t>Adaptive classification for hand segmentation is a critical component in systems for:</a:t>
            </a:r>
          </a:p>
          <a:p>
            <a:pPr algn="l">
              <a:buFont typeface="Arial" panose="020B0604020202020204" pitchFamily="34" charset="0"/>
              <a:buChar char="•"/>
            </a:pPr>
            <a:r>
              <a:rPr lang="en-US" b="1" i="0" dirty="0">
                <a:solidFill>
                  <a:srgbClr val="0A0A0A"/>
                </a:solidFill>
                <a:effectLst/>
                <a:latin typeface="Google Sans"/>
              </a:rPr>
              <a:t>Hand Gesture Recognition</a:t>
            </a:r>
            <a:r>
              <a:rPr lang="en-US" b="0" i="0" dirty="0">
                <a:solidFill>
                  <a:srgbClr val="0A0A0A"/>
                </a:solidFill>
                <a:effectLst/>
                <a:latin typeface="Google Sans"/>
              </a:rPr>
              <a:t>: This is a major application, with gestures being interpreted as either static hand signs or dynamic hand movements. Accurate, real-time segmentation is the foundation for recognizing these gestures.</a:t>
            </a:r>
          </a:p>
          <a:p>
            <a:pPr algn="l">
              <a:buFont typeface="Arial" panose="020B0604020202020204" pitchFamily="34" charset="0"/>
              <a:buChar char="•"/>
            </a:pPr>
            <a:r>
              <a:rPr lang="en-US" b="1" i="0" dirty="0">
                <a:solidFill>
                  <a:srgbClr val="0A0A0A"/>
                </a:solidFill>
                <a:effectLst/>
                <a:latin typeface="Google Sans"/>
              </a:rPr>
              <a:t>Human-Robot Interaction (HRI): </a:t>
            </a:r>
            <a:r>
              <a:rPr lang="en-US" b="0" i="0" dirty="0">
                <a:solidFill>
                  <a:srgbClr val="0A0A0A"/>
                </a:solidFill>
                <a:effectLst/>
                <a:latin typeface="Google Sans"/>
              </a:rPr>
              <a:t>In industrial and collaborative settings, adaptive hand segmentation ensures safety by allowing robots to accurately track human hands. Models are trained on large datasets but must adapt to new, real-world conditions to work reliably.</a:t>
            </a:r>
          </a:p>
          <a:p>
            <a:pPr algn="l">
              <a:buFont typeface="Arial" panose="020B0604020202020204" pitchFamily="34" charset="0"/>
              <a:buChar char="•"/>
            </a:pPr>
            <a:r>
              <a:rPr lang="en-US" b="1" i="0" dirty="0">
                <a:solidFill>
                  <a:srgbClr val="0A0A0A"/>
                </a:solidFill>
                <a:effectLst/>
                <a:latin typeface="Google Sans"/>
              </a:rPr>
              <a:t>Medical Applications: </a:t>
            </a:r>
            <a:r>
              <a:rPr lang="en-US" b="0" i="0" dirty="0">
                <a:solidFill>
                  <a:srgbClr val="0A0A0A"/>
                </a:solidFill>
                <a:effectLst/>
                <a:latin typeface="Google Sans"/>
              </a:rPr>
              <a:t>The technique has been used for specialized segmentation tasks, such as diagnosing health conditions based on hand images in traditional Chinese medicine.</a:t>
            </a:r>
          </a:p>
          <a:p>
            <a:pPr algn="l">
              <a:buFont typeface="Arial" panose="020B0604020202020204" pitchFamily="34" charset="0"/>
              <a:buChar char="•"/>
            </a:pPr>
            <a:r>
              <a:rPr lang="en-US" b="1" i="0" dirty="0">
                <a:solidFill>
                  <a:srgbClr val="0A0A0A"/>
                </a:solidFill>
                <a:effectLst/>
                <a:latin typeface="Google Sans"/>
              </a:rPr>
              <a:t>Virtual and Augmented Reality (VR/AR): </a:t>
            </a:r>
            <a:r>
              <a:rPr lang="en-US" b="0" i="0" dirty="0">
                <a:solidFill>
                  <a:srgbClr val="0A0A0A"/>
                </a:solidFill>
                <a:effectLst/>
                <a:latin typeface="Google Sans"/>
              </a:rPr>
              <a:t>Adaptive segmentation enables immersive, touchless interaction by correctly interpreting hand movements and occlusion in a virtual space.</a:t>
            </a:r>
          </a:p>
          <a:p>
            <a:pPr algn="l">
              <a:buFont typeface="Arial" panose="020B0604020202020204" pitchFamily="34" charset="0"/>
              <a:buChar char="•"/>
            </a:pPr>
            <a:r>
              <a:rPr lang="en-US" b="0" i="0" dirty="0">
                <a:solidFill>
                  <a:srgbClr val="0A0A0A"/>
                </a:solidFill>
                <a:effectLst/>
                <a:latin typeface="Google Sans"/>
              </a:rPr>
              <a:t>Assistive Communication: Researchers have developed systems that use machine learning to adaptively recognize hand gestures for people with communication disorders.</a:t>
            </a:r>
          </a:p>
          <a:p>
            <a:endParaRPr lang="en-US" dirty="0"/>
          </a:p>
        </p:txBody>
      </p:sp>
    </p:spTree>
    <p:extLst>
      <p:ext uri="{BB962C8B-B14F-4D97-AF65-F5344CB8AC3E}">
        <p14:creationId xmlns:p14="http://schemas.microsoft.com/office/powerpoint/2010/main" val="20627314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3D2A5-1933-36B0-023A-8422987BDE00}"/>
              </a:ext>
            </a:extLst>
          </p:cNvPr>
          <p:cNvSpPr>
            <a:spLocks noGrp="1"/>
          </p:cNvSpPr>
          <p:nvPr>
            <p:ph type="title"/>
          </p:nvPr>
        </p:nvSpPr>
        <p:spPr/>
        <p:txBody>
          <a:bodyPr/>
          <a:lstStyle/>
          <a:p>
            <a:r>
              <a:rPr lang="en-US" dirty="0">
                <a:solidFill>
                  <a:schemeClr val="tx2"/>
                </a:solidFill>
              </a:rPr>
              <a:t>Visual-Based Feature Extraction and Pattern Classification</a:t>
            </a:r>
          </a:p>
        </p:txBody>
      </p:sp>
      <p:sp>
        <p:nvSpPr>
          <p:cNvPr id="3" name="Content Placeholder 2">
            <a:extLst>
              <a:ext uri="{FF2B5EF4-FFF2-40B4-BE49-F238E27FC236}">
                <a16:creationId xmlns:a16="http://schemas.microsoft.com/office/drawing/2014/main" id="{67164C09-446F-42E9-E4F3-A740B4C5AC5D}"/>
              </a:ext>
            </a:extLst>
          </p:cNvPr>
          <p:cNvSpPr>
            <a:spLocks noGrp="1"/>
          </p:cNvSpPr>
          <p:nvPr>
            <p:ph idx="1"/>
          </p:nvPr>
        </p:nvSpPr>
        <p:spPr/>
        <p:txBody>
          <a:bodyPr>
            <a:normAutofit/>
          </a:bodyPr>
          <a:lstStyle/>
          <a:p>
            <a:r>
              <a:rPr lang="en-US" sz="2000" b="0" i="0" dirty="0">
                <a:solidFill>
                  <a:schemeClr val="tx2"/>
                </a:solidFill>
                <a:effectLst/>
                <a:latin typeface="Google Sans"/>
              </a:rPr>
              <a:t>Visual-based hand geometry involves capturing an image of a hand to extract its unique shape features, such as finger lengths, widths, and palm size, which are then used to classify individuals.</a:t>
            </a:r>
          </a:p>
          <a:p>
            <a:r>
              <a:rPr lang="en-US" sz="2000" b="0" i="0" dirty="0">
                <a:solidFill>
                  <a:schemeClr val="tx2"/>
                </a:solidFill>
                <a:effectLst/>
                <a:latin typeface="Google Sans"/>
              </a:rPr>
              <a:t> Preprocessing techniques like noise reduction and contrast enhancement are applied to the image, followed by feature extraction methods to isolate key geometric points and curves.</a:t>
            </a:r>
          </a:p>
          <a:p>
            <a:r>
              <a:rPr lang="en-US" sz="2000" b="0" i="0" dirty="0">
                <a:solidFill>
                  <a:schemeClr val="tx2"/>
                </a:solidFill>
                <a:effectLst/>
                <a:latin typeface="Google Sans"/>
              </a:rPr>
              <a:t> Finally, these extracted features are fed into pattern recognition classifiers, such as </a:t>
            </a:r>
            <a:r>
              <a:rPr lang="en-US" sz="2000" b="0" i="0" dirty="0">
                <a:solidFill>
                  <a:schemeClr val="tx2"/>
                </a:solidFill>
                <a:effectLst/>
                <a:latin typeface="Google Sans"/>
                <a:hlinkClick r:id="rId2">
                  <a:extLst>
                    <a:ext uri="{A12FA001-AC4F-418D-AE19-62706E023703}">
                      <ahyp:hlinkClr xmlns:ahyp="http://schemas.microsoft.com/office/drawing/2018/hyperlinkcolor" val="tx"/>
                    </a:ext>
                  </a:extLst>
                </a:hlinkClick>
              </a:rPr>
              <a:t>neural networks</a:t>
            </a:r>
            <a:r>
              <a:rPr lang="en-US" sz="2000" b="0" i="0" dirty="0">
                <a:solidFill>
                  <a:schemeClr val="tx2"/>
                </a:solidFill>
                <a:effectLst/>
                <a:latin typeface="Google Sans"/>
              </a:rPr>
              <a:t>, to identify and verify individuals. </a:t>
            </a:r>
            <a:endParaRPr lang="en-US" sz="2000" dirty="0">
              <a:solidFill>
                <a:schemeClr val="tx2"/>
              </a:solidFill>
            </a:endParaRPr>
          </a:p>
        </p:txBody>
      </p:sp>
    </p:spTree>
    <p:extLst>
      <p:ext uri="{BB962C8B-B14F-4D97-AF65-F5344CB8AC3E}">
        <p14:creationId xmlns:p14="http://schemas.microsoft.com/office/powerpoint/2010/main" val="8599527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5DDCCF-5ED6-8A77-A1B9-F3D5C93AC829}"/>
              </a:ext>
            </a:extLst>
          </p:cNvPr>
          <p:cNvSpPr>
            <a:spLocks noGrp="1"/>
          </p:cNvSpPr>
          <p:nvPr>
            <p:ph idx="1"/>
          </p:nvPr>
        </p:nvSpPr>
        <p:spPr>
          <a:xfrm>
            <a:off x="550725" y="527894"/>
            <a:ext cx="10745632" cy="6330106"/>
          </a:xfrm>
        </p:spPr>
        <p:txBody>
          <a:bodyPr>
            <a:normAutofit/>
          </a:bodyPr>
          <a:lstStyle/>
          <a:p>
            <a:pPr marL="0" indent="0">
              <a:buNone/>
            </a:pPr>
            <a:r>
              <a:rPr lang="en-US" sz="2000" b="0" i="0" dirty="0">
                <a:solidFill>
                  <a:schemeClr val="tx2"/>
                </a:solidFill>
                <a:effectLst/>
                <a:latin typeface="Google Sans"/>
              </a:rPr>
              <a:t>The process involves </a:t>
            </a:r>
            <a:r>
              <a:rPr lang="en-US" sz="2000" dirty="0">
                <a:solidFill>
                  <a:schemeClr val="tx2"/>
                </a:solidFill>
              </a:rPr>
              <a:t>capturing an image of a hand, extracting unique geometric features, and using a classification algorithm to verify an individual's identity by comparing the extracted features to a stored template</a:t>
            </a:r>
          </a:p>
          <a:p>
            <a:pPr marL="0" indent="0" algn="l">
              <a:buNone/>
            </a:pPr>
            <a:r>
              <a:rPr lang="en-US" sz="2000" b="1" i="0" dirty="0">
                <a:solidFill>
                  <a:schemeClr val="tx2"/>
                </a:solidFill>
                <a:effectLst/>
                <a:latin typeface="Google Sans"/>
              </a:rPr>
              <a:t>Image acquisition</a:t>
            </a:r>
            <a:r>
              <a:rPr lang="en-US" sz="2000" b="0" i="0" dirty="0">
                <a:solidFill>
                  <a:schemeClr val="tx2"/>
                </a:solidFill>
                <a:effectLst/>
                <a:latin typeface="Google Sans"/>
              </a:rPr>
              <a:t>: </a:t>
            </a:r>
          </a:p>
          <a:p>
            <a:pPr marL="0" indent="0" algn="l">
              <a:buNone/>
            </a:pPr>
            <a:r>
              <a:rPr lang="en-US" sz="2000" b="0" i="0" dirty="0">
                <a:solidFill>
                  <a:schemeClr val="tx2"/>
                </a:solidFill>
                <a:effectLst/>
                <a:latin typeface="Google Sans"/>
              </a:rPr>
              <a:t>An optical scanner or a digital camera captures an image of a user's hand.</a:t>
            </a:r>
          </a:p>
          <a:p>
            <a:pPr lvl="1"/>
            <a:r>
              <a:rPr lang="en-US" sz="1800" b="1" i="0" dirty="0">
                <a:solidFill>
                  <a:schemeClr val="tx2"/>
                </a:solidFill>
                <a:effectLst/>
                <a:latin typeface="Google Sans"/>
              </a:rPr>
              <a:t>Peg-based systems</a:t>
            </a:r>
            <a:r>
              <a:rPr lang="en-US" sz="1800" b="0" i="0" dirty="0">
                <a:solidFill>
                  <a:schemeClr val="tx2"/>
                </a:solidFill>
                <a:effectLst/>
                <a:latin typeface="Google Sans"/>
              </a:rPr>
              <a:t>: Some older systems use pegs on a flat surface to guide hand placement for consistent image capture.</a:t>
            </a:r>
          </a:p>
          <a:p>
            <a:pPr lvl="1"/>
            <a:r>
              <a:rPr lang="en-US" sz="1800" b="1" i="0" dirty="0">
                <a:solidFill>
                  <a:schemeClr val="tx2"/>
                </a:solidFill>
                <a:effectLst/>
                <a:latin typeface="Google Sans"/>
              </a:rPr>
              <a:t>Peg-free systems</a:t>
            </a:r>
            <a:r>
              <a:rPr lang="en-US" sz="1800" b="0" i="0" dirty="0">
                <a:solidFill>
                  <a:schemeClr val="tx2"/>
                </a:solidFill>
                <a:effectLst/>
                <a:latin typeface="Google Sans"/>
              </a:rPr>
              <a:t>: Modern systems are more flexible and use sophisticated image processing to achieve alignment without physical guides.</a:t>
            </a:r>
          </a:p>
          <a:p>
            <a:pPr marL="0" indent="0" algn="l">
              <a:buNone/>
            </a:pPr>
            <a:r>
              <a:rPr lang="en-US" sz="2000" b="1" i="0" dirty="0">
                <a:solidFill>
                  <a:srgbClr val="0A0A0A"/>
                </a:solidFill>
                <a:effectLst/>
                <a:latin typeface="Google Sans"/>
              </a:rPr>
              <a:t>Preprocessing</a:t>
            </a:r>
            <a:r>
              <a:rPr lang="en-US" sz="2000" b="0" i="0" dirty="0">
                <a:solidFill>
                  <a:srgbClr val="0A0A0A"/>
                </a:solidFill>
                <a:effectLst/>
                <a:latin typeface="Google Sans"/>
              </a:rPr>
              <a:t>: </a:t>
            </a:r>
          </a:p>
          <a:p>
            <a:pPr marL="0" indent="0" algn="l">
              <a:buNone/>
            </a:pPr>
            <a:r>
              <a:rPr lang="en-US" sz="2000" b="0" i="0" dirty="0">
                <a:solidFill>
                  <a:srgbClr val="0A0A0A"/>
                </a:solidFill>
                <a:effectLst/>
                <a:latin typeface="Google Sans"/>
              </a:rPr>
              <a:t>The raw image is refined for feature extraction.</a:t>
            </a:r>
          </a:p>
          <a:p>
            <a:pPr lvl="1"/>
            <a:r>
              <a:rPr lang="en-US" sz="1800" b="1" i="0" dirty="0">
                <a:solidFill>
                  <a:srgbClr val="0A0A0A"/>
                </a:solidFill>
                <a:effectLst/>
                <a:latin typeface="Google Sans"/>
              </a:rPr>
              <a:t>Image segmentation</a:t>
            </a:r>
            <a:r>
              <a:rPr lang="en-US" sz="1800" b="0" i="0" dirty="0">
                <a:solidFill>
                  <a:srgbClr val="0A0A0A"/>
                </a:solidFill>
                <a:effectLst/>
                <a:latin typeface="Google Sans"/>
              </a:rPr>
              <a:t>: The hand contour is isolated from the background, often by converting the image to grayscale and applying a thresholding technique.</a:t>
            </a:r>
          </a:p>
          <a:p>
            <a:pPr lvl="1"/>
            <a:r>
              <a:rPr lang="en-US" sz="1800" b="1" i="0" dirty="0">
                <a:solidFill>
                  <a:srgbClr val="0A0A0A"/>
                </a:solidFill>
                <a:effectLst/>
                <a:latin typeface="Google Sans"/>
              </a:rPr>
              <a:t>Noise removal</a:t>
            </a:r>
            <a:r>
              <a:rPr lang="en-US" sz="1800" b="0" i="0" dirty="0">
                <a:solidFill>
                  <a:srgbClr val="0A0A0A"/>
                </a:solidFill>
                <a:effectLst/>
                <a:latin typeface="Google Sans"/>
              </a:rPr>
              <a:t>: Filters are used to reduce noise and enhance image contrast.</a:t>
            </a:r>
          </a:p>
          <a:p>
            <a:pPr lvl="1"/>
            <a:r>
              <a:rPr lang="en-US" sz="1800" b="1" i="0" dirty="0">
                <a:solidFill>
                  <a:srgbClr val="0A0A0A"/>
                </a:solidFill>
                <a:effectLst/>
                <a:latin typeface="Google Sans"/>
              </a:rPr>
              <a:t>Alignment</a:t>
            </a:r>
            <a:r>
              <a:rPr lang="en-US" sz="1800" b="0" i="0" dirty="0">
                <a:solidFill>
                  <a:srgbClr val="0A0A0A"/>
                </a:solidFill>
                <a:effectLst/>
                <a:latin typeface="Google Sans"/>
              </a:rPr>
              <a:t>: Images are rotated or translated so they are consistently oriented for feature measurement.</a:t>
            </a:r>
          </a:p>
          <a:p>
            <a:pPr marL="0" indent="0">
              <a:buNone/>
            </a:pPr>
            <a:br>
              <a:rPr lang="en-US" sz="2000" dirty="0">
                <a:solidFill>
                  <a:schemeClr val="tx2"/>
                </a:solidFill>
              </a:rPr>
            </a:br>
            <a:endParaRPr lang="en-US" sz="2000" dirty="0">
              <a:solidFill>
                <a:schemeClr val="tx2"/>
              </a:solidFill>
            </a:endParaRPr>
          </a:p>
        </p:txBody>
      </p:sp>
    </p:spTree>
    <p:extLst>
      <p:ext uri="{BB962C8B-B14F-4D97-AF65-F5344CB8AC3E}">
        <p14:creationId xmlns:p14="http://schemas.microsoft.com/office/powerpoint/2010/main" val="28277419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8A6B206-2B9D-5626-54C6-824C327F441C}"/>
              </a:ext>
            </a:extLst>
          </p:cNvPr>
          <p:cNvSpPr>
            <a:spLocks noGrp="1"/>
          </p:cNvSpPr>
          <p:nvPr>
            <p:ph idx="1"/>
          </p:nvPr>
        </p:nvSpPr>
        <p:spPr>
          <a:xfrm>
            <a:off x="803944" y="787791"/>
            <a:ext cx="8596668" cy="5816279"/>
          </a:xfrm>
        </p:spPr>
        <p:txBody>
          <a:bodyPr>
            <a:normAutofit/>
          </a:bodyPr>
          <a:lstStyle/>
          <a:p>
            <a:pPr marL="0" indent="0" algn="l">
              <a:buNone/>
            </a:pPr>
            <a:r>
              <a:rPr lang="en-US" sz="1700" b="1" i="0" dirty="0">
                <a:solidFill>
                  <a:srgbClr val="0A0A0A"/>
                </a:solidFill>
                <a:effectLst/>
                <a:latin typeface="Google Sans"/>
              </a:rPr>
              <a:t>Feature extraction</a:t>
            </a:r>
            <a:r>
              <a:rPr lang="en-US" sz="1700" b="0" i="0" dirty="0">
                <a:solidFill>
                  <a:srgbClr val="0A0A0A"/>
                </a:solidFill>
                <a:effectLst/>
                <a:latin typeface="Google Sans"/>
              </a:rPr>
              <a:t>: Key geometric characteristics are measured from the preprocessed image.</a:t>
            </a:r>
          </a:p>
          <a:p>
            <a:pPr lvl="1"/>
            <a:r>
              <a:rPr lang="en-US" sz="1700" b="1" i="0" dirty="0">
                <a:solidFill>
                  <a:srgbClr val="0A0A0A"/>
                </a:solidFill>
                <a:effectLst/>
                <a:latin typeface="Google Sans"/>
              </a:rPr>
              <a:t>Measurements:</a:t>
            </a:r>
            <a:r>
              <a:rPr lang="en-US" sz="1700" b="0" i="0" dirty="0">
                <a:solidFill>
                  <a:srgbClr val="0A0A0A"/>
                </a:solidFill>
                <a:effectLst/>
                <a:latin typeface="Google Sans"/>
              </a:rPr>
              <a:t> Common features include finger lengths, finger widths at different points, palm width, palm diameter, hand area, and hand perimeter.</a:t>
            </a:r>
          </a:p>
          <a:p>
            <a:pPr lvl="1"/>
            <a:r>
              <a:rPr lang="en-US" sz="1700" b="1" i="0" dirty="0">
                <a:solidFill>
                  <a:srgbClr val="0A0A0A"/>
                </a:solidFill>
                <a:effectLst/>
                <a:latin typeface="Google Sans"/>
              </a:rPr>
              <a:t>Landmark points</a:t>
            </a:r>
            <a:r>
              <a:rPr lang="en-US" sz="1700" b="0" i="0" dirty="0">
                <a:solidFill>
                  <a:srgbClr val="0A0A0A"/>
                </a:solidFill>
                <a:effectLst/>
                <a:latin typeface="Google Sans"/>
              </a:rPr>
              <a:t>: Reference points like fingertips and finger valleys are identified to perform geometric calculations.</a:t>
            </a:r>
          </a:p>
          <a:p>
            <a:pPr lvl="1"/>
            <a:r>
              <a:rPr lang="en-US" sz="1700" b="1" i="0" dirty="0">
                <a:solidFill>
                  <a:srgbClr val="0A0A0A"/>
                </a:solidFill>
                <a:effectLst/>
                <a:latin typeface="Google Sans"/>
              </a:rPr>
              <a:t>Advanced methods</a:t>
            </a:r>
            <a:r>
              <a:rPr lang="en-US" sz="1700" b="0" i="0" dirty="0">
                <a:solidFill>
                  <a:srgbClr val="0A0A0A"/>
                </a:solidFill>
                <a:effectLst/>
                <a:latin typeface="Google Sans"/>
              </a:rPr>
              <a:t>: More sophisticated techniques might use curvature profile analysis, Principal Component Analysis (PCA), or deep learning models like convolutional neural networks (CNNs) to extract features.</a:t>
            </a:r>
          </a:p>
          <a:p>
            <a:pPr marL="0" indent="0" algn="l">
              <a:buNone/>
            </a:pPr>
            <a:r>
              <a:rPr lang="en-US" sz="1700" b="1" i="0" dirty="0">
                <a:solidFill>
                  <a:srgbClr val="0A0A0A"/>
                </a:solidFill>
                <a:effectLst/>
                <a:latin typeface="Google Sans"/>
              </a:rPr>
              <a:t>Pattern classification</a:t>
            </a:r>
            <a:r>
              <a:rPr lang="en-US" sz="1700" b="0" i="0" dirty="0">
                <a:solidFill>
                  <a:srgbClr val="0A0A0A"/>
                </a:solidFill>
                <a:effectLst/>
                <a:latin typeface="Google Sans"/>
              </a:rPr>
              <a:t>: </a:t>
            </a:r>
          </a:p>
          <a:p>
            <a:pPr marL="0" indent="0" algn="l">
              <a:buNone/>
            </a:pPr>
            <a:r>
              <a:rPr lang="en-US" sz="1700" b="0" i="0" dirty="0">
                <a:solidFill>
                  <a:srgbClr val="0A0A0A"/>
                </a:solidFill>
                <a:effectLst/>
                <a:latin typeface="Google Sans"/>
              </a:rPr>
              <a:t>A stored template is matched with the extracted feature vector from the new image to verify identity.</a:t>
            </a:r>
          </a:p>
          <a:p>
            <a:r>
              <a:rPr lang="en-US" sz="1700" b="1" i="0" dirty="0">
                <a:solidFill>
                  <a:srgbClr val="0A0A0A"/>
                </a:solidFill>
                <a:effectLst/>
                <a:latin typeface="Google Sans"/>
              </a:rPr>
              <a:t>Similarity score</a:t>
            </a:r>
            <a:r>
              <a:rPr lang="en-US" sz="1700" b="0" i="0" dirty="0">
                <a:solidFill>
                  <a:srgbClr val="0A0A0A"/>
                </a:solidFill>
                <a:effectLst/>
                <a:latin typeface="Google Sans"/>
              </a:rPr>
              <a:t>: The system computes a similarity score by measuring the distance between the feature vectors.</a:t>
            </a:r>
          </a:p>
          <a:p>
            <a:r>
              <a:rPr lang="en-US" sz="1700" b="1" i="0" dirty="0">
                <a:solidFill>
                  <a:srgbClr val="0A0A0A"/>
                </a:solidFill>
                <a:effectLst/>
                <a:latin typeface="Google Sans"/>
              </a:rPr>
              <a:t>Distance metrics</a:t>
            </a:r>
            <a:r>
              <a:rPr lang="en-US" sz="1700" b="0" i="0" dirty="0">
                <a:solidFill>
                  <a:srgbClr val="0A0A0A"/>
                </a:solidFill>
                <a:effectLst/>
                <a:latin typeface="Google Sans"/>
              </a:rPr>
              <a:t>: Common distance-based methods include Euclidean distance, weighted Euclidean distance, and Hamming distance.</a:t>
            </a:r>
          </a:p>
          <a:p>
            <a:r>
              <a:rPr lang="en-US" sz="1700" b="1" i="0" dirty="0">
                <a:solidFill>
                  <a:srgbClr val="0A0A0A"/>
                </a:solidFill>
                <a:effectLst/>
                <a:latin typeface="Google Sans"/>
              </a:rPr>
              <a:t>Classification algorithms</a:t>
            </a:r>
            <a:r>
              <a:rPr lang="en-US" sz="1700" b="0" i="0" dirty="0">
                <a:solidFill>
                  <a:srgbClr val="0A0A0A"/>
                </a:solidFill>
                <a:effectLst/>
                <a:latin typeface="Google Sans"/>
              </a:rPr>
              <a:t>: Machine learning models are trained on hand geometry features for verification. </a:t>
            </a:r>
            <a:endParaRPr lang="en-US" sz="1700" dirty="0">
              <a:solidFill>
                <a:srgbClr val="0A0A0A"/>
              </a:solidFill>
              <a:latin typeface="Google Sans"/>
            </a:endParaRPr>
          </a:p>
          <a:p>
            <a:pPr marL="457200" lvl="1" indent="0">
              <a:buNone/>
            </a:pPr>
            <a:endParaRPr lang="en-US" sz="1700" b="0" i="0" dirty="0">
              <a:solidFill>
                <a:srgbClr val="0A0A0A"/>
              </a:solidFill>
              <a:effectLst/>
              <a:latin typeface="Google Sans"/>
            </a:endParaRPr>
          </a:p>
          <a:p>
            <a:pPr marL="0" indent="0">
              <a:buNone/>
            </a:pPr>
            <a:endParaRPr lang="en-US" sz="1700" dirty="0"/>
          </a:p>
        </p:txBody>
      </p:sp>
    </p:spTree>
    <p:extLst>
      <p:ext uri="{BB962C8B-B14F-4D97-AF65-F5344CB8AC3E}">
        <p14:creationId xmlns:p14="http://schemas.microsoft.com/office/powerpoint/2010/main" val="230394991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A4C2DC-E4E2-89B0-5582-57941AC0237D}"/>
              </a:ext>
            </a:extLst>
          </p:cNvPr>
          <p:cNvSpPr>
            <a:spLocks noGrp="1"/>
          </p:cNvSpPr>
          <p:nvPr>
            <p:ph idx="1"/>
          </p:nvPr>
        </p:nvSpPr>
        <p:spPr>
          <a:xfrm>
            <a:off x="677334" y="407963"/>
            <a:ext cx="8596668" cy="5745941"/>
          </a:xfrm>
        </p:spPr>
        <p:txBody>
          <a:bodyPr>
            <a:normAutofit/>
          </a:bodyPr>
          <a:lstStyle/>
          <a:p>
            <a:pPr marL="0" indent="0">
              <a:buNone/>
            </a:pPr>
            <a:r>
              <a:rPr lang="en-US" sz="2000" b="1" i="0" dirty="0">
                <a:solidFill>
                  <a:srgbClr val="0A0A0A"/>
                </a:solidFill>
                <a:effectLst/>
                <a:latin typeface="Google Sans"/>
              </a:rPr>
              <a:t>Classification algorithms</a:t>
            </a:r>
          </a:p>
          <a:p>
            <a:pPr algn="l">
              <a:buFont typeface="Arial" panose="020B0604020202020204" pitchFamily="34" charset="0"/>
              <a:buChar char="•"/>
            </a:pPr>
            <a:r>
              <a:rPr lang="en-US" sz="2000" b="1" i="0" dirty="0">
                <a:solidFill>
                  <a:srgbClr val="0A0A0A"/>
                </a:solidFill>
                <a:effectLst/>
                <a:latin typeface="Google Sans"/>
              </a:rPr>
              <a:t>Support Vector Machines (SVMs):</a:t>
            </a:r>
          </a:p>
          <a:p>
            <a:pPr marL="0" indent="0" algn="l">
              <a:buNone/>
            </a:pPr>
            <a:r>
              <a:rPr lang="en-US" sz="2000" b="1" i="0" dirty="0">
                <a:solidFill>
                  <a:srgbClr val="0A0A0A"/>
                </a:solidFill>
                <a:effectLst/>
                <a:latin typeface="Google Sans"/>
              </a:rPr>
              <a:t> </a:t>
            </a:r>
            <a:r>
              <a:rPr lang="en-US" sz="2000" b="0" i="0" dirty="0">
                <a:solidFill>
                  <a:srgbClr val="0A0A0A"/>
                </a:solidFill>
                <a:effectLst/>
                <a:latin typeface="Google Sans"/>
              </a:rPr>
              <a:t>Effective for separating data into classes.</a:t>
            </a:r>
          </a:p>
          <a:p>
            <a:pPr algn="l">
              <a:buFont typeface="Arial" panose="020B0604020202020204" pitchFamily="34" charset="0"/>
              <a:buChar char="•"/>
            </a:pPr>
            <a:r>
              <a:rPr lang="en-US" sz="2000" b="1" i="0" dirty="0">
                <a:solidFill>
                  <a:srgbClr val="0A0A0A"/>
                </a:solidFill>
                <a:effectLst/>
                <a:latin typeface="Google Sans"/>
              </a:rPr>
              <a:t>Neural Networks (NNs): </a:t>
            </a:r>
          </a:p>
          <a:p>
            <a:pPr marL="0" indent="0" algn="l">
              <a:buNone/>
            </a:pPr>
            <a:r>
              <a:rPr lang="en-US" sz="2000" b="0" i="0" dirty="0">
                <a:solidFill>
                  <a:srgbClr val="0A0A0A"/>
                </a:solidFill>
                <a:effectLst/>
                <a:latin typeface="Google Sans"/>
              </a:rPr>
              <a:t>Such as Radial Basis Function (RBF) networks and backpropagation networks, learn patterns from training data.</a:t>
            </a:r>
          </a:p>
          <a:p>
            <a:pPr algn="l">
              <a:buFont typeface="Arial" panose="020B0604020202020204" pitchFamily="34" charset="0"/>
              <a:buChar char="•"/>
            </a:pPr>
            <a:r>
              <a:rPr lang="en-US" sz="2000" b="1" i="0" dirty="0">
                <a:solidFill>
                  <a:srgbClr val="0A0A0A"/>
                </a:solidFill>
                <a:effectLst/>
                <a:latin typeface="Google Sans"/>
              </a:rPr>
              <a:t>Gaussian Mixture Models (GMMs): </a:t>
            </a:r>
          </a:p>
          <a:p>
            <a:pPr marL="0" indent="0" algn="l">
              <a:buNone/>
            </a:pPr>
            <a:r>
              <a:rPr lang="en-US" sz="2000" b="0" i="0" dirty="0">
                <a:solidFill>
                  <a:srgbClr val="0A0A0A"/>
                </a:solidFill>
                <a:effectLst/>
                <a:latin typeface="Google Sans"/>
              </a:rPr>
              <a:t>Probabilistic models that identify which class a hand belongs to. </a:t>
            </a:r>
          </a:p>
          <a:p>
            <a:pPr marL="0" indent="0">
              <a:buNone/>
            </a:pPr>
            <a:endParaRPr lang="en-US" sz="2000" dirty="0"/>
          </a:p>
        </p:txBody>
      </p:sp>
    </p:spTree>
    <p:extLst>
      <p:ext uri="{BB962C8B-B14F-4D97-AF65-F5344CB8AC3E}">
        <p14:creationId xmlns:p14="http://schemas.microsoft.com/office/powerpoint/2010/main" val="359745842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15918</TotalTime>
  <Words>4091</Words>
  <Application>Microsoft Office PowerPoint</Application>
  <PresentationFormat>Widescreen</PresentationFormat>
  <Paragraphs>377</Paragraphs>
  <Slides>42</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42</vt:i4>
      </vt:variant>
    </vt:vector>
  </HeadingPairs>
  <TitlesOfParts>
    <vt:vector size="52" baseType="lpstr">
      <vt:lpstr>Arial</vt:lpstr>
      <vt:lpstr>ff4</vt:lpstr>
      <vt:lpstr>FSBrabo</vt:lpstr>
      <vt:lpstr>Google Sans</vt:lpstr>
      <vt:lpstr>KasperskySansDisplay</vt:lpstr>
      <vt:lpstr>Montserrat</vt:lpstr>
      <vt:lpstr>PT Serif</vt:lpstr>
      <vt:lpstr>Trebuchet MS</vt:lpstr>
      <vt:lpstr>Wingdings 3</vt:lpstr>
      <vt:lpstr>Facet</vt:lpstr>
      <vt:lpstr>UNIT III  FACE RECOGNITION AND HAND GESTURE RECOGNITION </vt:lpstr>
      <vt:lpstr>Introduction to face recognition</vt:lpstr>
      <vt:lpstr>Introduction to face recognition</vt:lpstr>
      <vt:lpstr>Working of Facial Recognition </vt:lpstr>
      <vt:lpstr>PowerPoint Presentation</vt:lpstr>
      <vt:lpstr>PowerPoint Presentation</vt:lpstr>
      <vt:lpstr>Application of Facial Recognition</vt:lpstr>
      <vt:lpstr>History &amp; Evolution</vt:lpstr>
      <vt:lpstr>Technologies used in Facial Recognition </vt:lpstr>
      <vt:lpstr>Face Recognition Algorithms</vt:lpstr>
      <vt:lpstr>Face Recognition Algorithms</vt:lpstr>
      <vt:lpstr>Face Recognition Algorithms</vt:lpstr>
      <vt:lpstr>Neural networks in face recognition</vt:lpstr>
      <vt:lpstr>Neural Networks Work for Face Recognition </vt:lpstr>
      <vt:lpstr>Neural networks in face recognition</vt:lpstr>
      <vt:lpstr>Neural networks in face recognition</vt:lpstr>
      <vt:lpstr>Neural networks in face recognition</vt:lpstr>
      <vt:lpstr>PowerPoint Presentation</vt:lpstr>
      <vt:lpstr>PowerPoint Presentation</vt:lpstr>
      <vt:lpstr>Basics of Hand geometry</vt:lpstr>
      <vt:lpstr>PowerPoint Presentation</vt:lpstr>
      <vt:lpstr>Basics of Hand geometry</vt:lpstr>
      <vt:lpstr>Basics of Hand geometry</vt:lpstr>
      <vt:lpstr>Basics of Hand geometry</vt:lpstr>
      <vt:lpstr>Palm Technology</vt:lpstr>
      <vt:lpstr>PowerPoint Presentation</vt:lpstr>
      <vt:lpstr> Hand vein technology</vt:lpstr>
      <vt:lpstr>PowerPoint Presentation</vt:lpstr>
      <vt:lpstr>PowerPoint Presentation</vt:lpstr>
      <vt:lpstr>PowerPoint Presentation</vt:lpstr>
      <vt:lpstr>Hand geometry and hand shape technology. </vt:lpstr>
      <vt:lpstr>PowerPoint Presentation</vt:lpstr>
      <vt:lpstr>PowerPoint Presentation</vt:lpstr>
      <vt:lpstr>PowerPoint Presentation</vt:lpstr>
      <vt:lpstr>Hand Segmentation - Adaptive Classifiers</vt:lpstr>
      <vt:lpstr>PowerPoint Presentation</vt:lpstr>
      <vt:lpstr>PowerPoint Presentation</vt:lpstr>
      <vt:lpstr>PowerPoint Presentation</vt:lpstr>
      <vt:lpstr>Visual-Based Feature Extraction and Pattern Classification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III  FACE RECOGNITION AND HAND GESTURE RECOGNITION</dc:title>
  <dc:creator>HP</dc:creator>
  <cp:lastModifiedBy>Devi</cp:lastModifiedBy>
  <cp:revision>17</cp:revision>
  <dcterms:created xsi:type="dcterms:W3CDTF">2025-08-20T16:12:21Z</dcterms:created>
  <dcterms:modified xsi:type="dcterms:W3CDTF">2026-08-05T05:44:21Z</dcterms:modified>
</cp:coreProperties>
</file>
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61" r:id="rId6"/>
    <p:sldId id="259" r:id="rId7"/>
    <p:sldId id="263" r:id="rId8"/>
    <p:sldId id="262" r:id="rId9"/>
    <p:sldId id="264" r:id="rId10"/>
    <p:sldId id="265" r:id="rId11"/>
    <p:sldId id="273"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jumpcloud.com/blog/beginners-guide-2f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A634-BA53-E05E-553E-574DB9B6148D}"/>
              </a:ext>
            </a:extLst>
          </p:cNvPr>
          <p:cNvSpPr>
            <a:spLocks noGrp="1"/>
          </p:cNvSpPr>
          <p:nvPr>
            <p:ph type="ctrTitle"/>
          </p:nvPr>
        </p:nvSpPr>
        <p:spPr>
          <a:xfrm>
            <a:off x="1507066" y="2404534"/>
            <a:ext cx="8635739" cy="1646302"/>
          </a:xfrm>
        </p:spPr>
        <p:txBody>
          <a:bodyPr/>
          <a:lstStyle/>
          <a:p>
            <a:pPr algn="ctr"/>
            <a:r>
              <a:rPr lang="en-US" sz="4400" dirty="0"/>
              <a:t>UNIT 5</a:t>
            </a:r>
            <a:br>
              <a:rPr lang="en-US" sz="4400" dirty="0"/>
            </a:br>
            <a:r>
              <a:rPr lang="en-US" sz="4400" dirty="0">
                <a:solidFill>
                  <a:schemeClr val="tx1"/>
                </a:solidFill>
              </a:rPr>
              <a:t>MULTIMODAL BIOMETRICS AND PERFORMANCE MEASURES </a:t>
            </a:r>
          </a:p>
        </p:txBody>
      </p:sp>
    </p:spTree>
    <p:extLst>
      <p:ext uri="{BB962C8B-B14F-4D97-AF65-F5344CB8AC3E}">
        <p14:creationId xmlns:p14="http://schemas.microsoft.com/office/powerpoint/2010/main" val="568680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9A39-7415-819A-248C-F63E6DDBBB53}"/>
              </a:ext>
            </a:extLst>
          </p:cNvPr>
          <p:cNvSpPr>
            <a:spLocks noGrp="1"/>
          </p:cNvSpPr>
          <p:nvPr>
            <p:ph type="title"/>
          </p:nvPr>
        </p:nvSpPr>
        <p:spPr>
          <a:xfrm>
            <a:off x="677334" y="609600"/>
            <a:ext cx="8596668" cy="712763"/>
          </a:xfrm>
        </p:spPr>
        <p:txBody>
          <a:bodyPr>
            <a:normAutofit/>
          </a:bodyPr>
          <a:lstStyle/>
          <a:p>
            <a:r>
              <a:rPr lang="en-US" dirty="0"/>
              <a:t>Introduction to Multimodal Biometrics</a:t>
            </a:r>
          </a:p>
        </p:txBody>
      </p:sp>
      <p:sp>
        <p:nvSpPr>
          <p:cNvPr id="3" name="Content Placeholder 2">
            <a:extLst>
              <a:ext uri="{FF2B5EF4-FFF2-40B4-BE49-F238E27FC236}">
                <a16:creationId xmlns:a16="http://schemas.microsoft.com/office/drawing/2014/main" id="{DCB4FC05-BC2F-8709-0616-CBC3C4BB3BBD}"/>
              </a:ext>
            </a:extLst>
          </p:cNvPr>
          <p:cNvSpPr>
            <a:spLocks noGrp="1"/>
          </p:cNvSpPr>
          <p:nvPr>
            <p:ph idx="1"/>
          </p:nvPr>
        </p:nvSpPr>
        <p:spPr>
          <a:xfrm>
            <a:off x="677334" y="1505243"/>
            <a:ext cx="8596668" cy="4536119"/>
          </a:xfrm>
        </p:spPr>
        <p:txBody>
          <a:bodyPr/>
          <a:lstStyle/>
          <a:p>
            <a:r>
              <a:rPr lang="en-US" dirty="0"/>
              <a:t>Multimodal biometrics is an automated personal identification system that uses </a:t>
            </a:r>
            <a:r>
              <a:rPr lang="en-US" b="1" dirty="0">
                <a:effectLst/>
              </a:rPr>
              <a:t>a combination of two or more distinct biometric traits</a:t>
            </a:r>
            <a:r>
              <a:rPr lang="en-US" dirty="0"/>
              <a:t> to determine or verify an individual's identity</a:t>
            </a:r>
            <a:r>
              <a:rPr lang="en-US" b="0" i="0" dirty="0">
                <a:solidFill>
                  <a:srgbClr val="0A0A0A"/>
                </a:solidFill>
                <a:effectLst/>
                <a:latin typeface="Google Sans"/>
              </a:rPr>
              <a:t>. </a:t>
            </a:r>
          </a:p>
          <a:p>
            <a:r>
              <a:rPr lang="en-US" b="0" i="0" dirty="0">
                <a:solidFill>
                  <a:srgbClr val="0A0A0A"/>
                </a:solidFill>
                <a:effectLst/>
                <a:latin typeface="Google Sans"/>
              </a:rPr>
              <a:t>This approach was developed to address the limitations of traditional </a:t>
            </a:r>
            <a:r>
              <a:rPr lang="en-US" b="1" i="0" dirty="0">
                <a:solidFill>
                  <a:srgbClr val="0A0A0A"/>
                </a:solidFill>
                <a:effectLst/>
                <a:latin typeface="Google Sans"/>
              </a:rPr>
              <a:t>unimodal biometric systems</a:t>
            </a:r>
            <a:r>
              <a:rPr lang="en-US" b="0" i="0" dirty="0">
                <a:solidFill>
                  <a:srgbClr val="0A0A0A"/>
                </a:solidFill>
                <a:effectLst/>
                <a:latin typeface="Google Sans"/>
              </a:rPr>
              <a:t>, which rely on a single characteristic (like a single fingerprint) and may be vulnerable to performance issues, environmental factors, or spoofing.</a:t>
            </a:r>
          </a:p>
          <a:p>
            <a:pPr marL="0" indent="0">
              <a:buNone/>
            </a:pPr>
            <a:r>
              <a:rPr lang="en-US" b="1" dirty="0"/>
              <a:t>Common Biometric Modalities</a:t>
            </a:r>
          </a:p>
          <a:p>
            <a:pPr algn="l">
              <a:buFont typeface="Arial" panose="020B0604020202020204" pitchFamily="34" charset="0"/>
              <a:buChar char="•"/>
            </a:pPr>
            <a:r>
              <a:rPr lang="en-US" b="1" i="0" dirty="0">
                <a:solidFill>
                  <a:srgbClr val="0A0A0A"/>
                </a:solidFill>
                <a:effectLst/>
                <a:latin typeface="Google Sans"/>
              </a:rPr>
              <a:t>Physiological Traits:</a:t>
            </a:r>
            <a:r>
              <a:rPr lang="en-US" b="0" i="0" dirty="0">
                <a:solidFill>
                  <a:srgbClr val="0A0A0A"/>
                </a:solidFill>
                <a:effectLst/>
                <a:latin typeface="Google Sans"/>
              </a:rPr>
              <a:t> Fingerprint, Face, Iris, Retina, Palmprint, Finger Vein, DNA.</a:t>
            </a:r>
          </a:p>
          <a:p>
            <a:pPr algn="l">
              <a:buFont typeface="Arial" panose="020B0604020202020204" pitchFamily="34" charset="0"/>
              <a:buChar char="•"/>
            </a:pPr>
            <a:r>
              <a:rPr lang="en-US" b="1" i="0" dirty="0">
                <a:solidFill>
                  <a:srgbClr val="0A0A0A"/>
                </a:solidFill>
                <a:effectLst/>
                <a:latin typeface="Google Sans"/>
              </a:rPr>
              <a:t>Behavioral Traits:</a:t>
            </a:r>
            <a:r>
              <a:rPr lang="en-US" b="0" i="0" dirty="0">
                <a:solidFill>
                  <a:srgbClr val="0A0A0A"/>
                </a:solidFill>
                <a:effectLst/>
                <a:latin typeface="Google Sans"/>
              </a:rPr>
              <a:t> Voice (which has physiological and behavioral aspects), Signature, Gait (walking pattern), Keystroke dynamics</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309870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01C9-73B3-D2DF-6203-5F06811A1C05}"/>
              </a:ext>
            </a:extLst>
          </p:cNvPr>
          <p:cNvSpPr>
            <a:spLocks noGrp="1"/>
          </p:cNvSpPr>
          <p:nvPr>
            <p:ph type="title"/>
          </p:nvPr>
        </p:nvSpPr>
        <p:spPr/>
        <p:txBody>
          <a:bodyPr/>
          <a:lstStyle/>
          <a:p>
            <a:r>
              <a:rPr lang="en-US" b="0" i="0" dirty="0">
                <a:solidFill>
                  <a:srgbClr val="000000"/>
                </a:solidFill>
                <a:effectLst/>
                <a:latin typeface="Lato" panose="020F0502020204030203" pitchFamily="34" charset="0"/>
              </a:rPr>
              <a:t>Working of Multimodal Biometric System</a:t>
            </a:r>
            <a:br>
              <a:rPr lang="en-US" b="0" i="0" dirty="0">
                <a:solidFill>
                  <a:srgbClr val="000000"/>
                </a:solidFill>
                <a:effectLst/>
                <a:latin typeface="Lato" panose="020F0502020204030203" pitchFamily="34" charset="0"/>
              </a:rPr>
            </a:br>
            <a:endParaRPr lang="en-US" dirty="0"/>
          </a:p>
        </p:txBody>
      </p:sp>
      <p:sp>
        <p:nvSpPr>
          <p:cNvPr id="3" name="Content Placeholder 2">
            <a:extLst>
              <a:ext uri="{FF2B5EF4-FFF2-40B4-BE49-F238E27FC236}">
                <a16:creationId xmlns:a16="http://schemas.microsoft.com/office/drawing/2014/main" id="{A2094CD4-14DE-9185-D89B-B0B55260508C}"/>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Verdana" panose="020B0604030504040204" pitchFamily="34" charset="0"/>
              </a:rPr>
              <a:t>Capturing module</a:t>
            </a:r>
          </a:p>
          <a:p>
            <a:pPr algn="just">
              <a:buFont typeface="Arial" panose="020B0604020202020204" pitchFamily="34" charset="0"/>
              <a:buChar char="•"/>
            </a:pPr>
            <a:r>
              <a:rPr lang="en-US" b="0" i="0" dirty="0">
                <a:solidFill>
                  <a:srgbClr val="000000"/>
                </a:solidFill>
                <a:effectLst/>
                <a:latin typeface="Verdana" panose="020B0604030504040204" pitchFamily="34" charset="0"/>
              </a:rPr>
              <a:t>Feature extraction module</a:t>
            </a:r>
          </a:p>
          <a:p>
            <a:pPr algn="just">
              <a:buFont typeface="Arial" panose="020B0604020202020204" pitchFamily="34" charset="0"/>
              <a:buChar char="•"/>
            </a:pPr>
            <a:r>
              <a:rPr lang="en-US" b="0" i="0" dirty="0">
                <a:solidFill>
                  <a:srgbClr val="000000"/>
                </a:solidFill>
                <a:effectLst/>
                <a:latin typeface="Verdana" panose="020B0604030504040204" pitchFamily="34" charset="0"/>
              </a:rPr>
              <a:t>Comparison module</a:t>
            </a:r>
          </a:p>
          <a:p>
            <a:pPr algn="just">
              <a:buFont typeface="Arial" panose="020B0604020202020204" pitchFamily="34" charset="0"/>
              <a:buChar char="•"/>
            </a:pPr>
            <a:r>
              <a:rPr lang="en-US" b="0" i="0" dirty="0">
                <a:solidFill>
                  <a:srgbClr val="000000"/>
                </a:solidFill>
                <a:effectLst/>
                <a:latin typeface="Verdana" panose="020B0604030504040204" pitchFamily="34" charset="0"/>
              </a:rPr>
              <a:t>Decision making module</a:t>
            </a:r>
          </a:p>
          <a:p>
            <a:endParaRPr lang="en-US" dirty="0"/>
          </a:p>
        </p:txBody>
      </p:sp>
    </p:spTree>
    <p:extLst>
      <p:ext uri="{BB962C8B-B14F-4D97-AF65-F5344CB8AC3E}">
        <p14:creationId xmlns:p14="http://schemas.microsoft.com/office/powerpoint/2010/main" val="391920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Diagram of Multimodal Biometric Systems">
            <a:extLst>
              <a:ext uri="{FF2B5EF4-FFF2-40B4-BE49-F238E27FC236}">
                <a16:creationId xmlns:a16="http://schemas.microsoft.com/office/drawing/2014/main" id="{DA2BB0AD-1501-A525-75BE-4CB929C5A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25" y="2164812"/>
            <a:ext cx="9365806" cy="34341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742B144-DDC3-56AF-9364-52AFBD474E52}"/>
              </a:ext>
            </a:extLst>
          </p:cNvPr>
          <p:cNvSpPr txBox="1"/>
          <p:nvPr/>
        </p:nvSpPr>
        <p:spPr>
          <a:xfrm>
            <a:off x="2025748" y="1123630"/>
            <a:ext cx="6105378" cy="400110"/>
          </a:xfrm>
          <a:prstGeom prst="rect">
            <a:avLst/>
          </a:prstGeom>
          <a:noFill/>
        </p:spPr>
        <p:txBody>
          <a:bodyPr wrap="square">
            <a:spAutoFit/>
          </a:bodyPr>
          <a:lstStyle/>
          <a:p>
            <a:r>
              <a:rPr lang="en-US" sz="2000" b="1" i="0" dirty="0">
                <a:effectLst/>
                <a:latin typeface="Open Sans" panose="020B0606030504020204" pitchFamily="34" charset="0"/>
              </a:rPr>
              <a:t>Block diagram of Multimodal Systems</a:t>
            </a:r>
            <a:endParaRPr lang="en-US" sz="2000" b="1" dirty="0"/>
          </a:p>
        </p:txBody>
      </p:sp>
    </p:spTree>
    <p:extLst>
      <p:ext uri="{BB962C8B-B14F-4D97-AF65-F5344CB8AC3E}">
        <p14:creationId xmlns:p14="http://schemas.microsoft.com/office/powerpoint/2010/main" val="3276340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BAC8-3A4A-CF70-EFDB-42D003145FEB}"/>
              </a:ext>
            </a:extLst>
          </p:cNvPr>
          <p:cNvSpPr>
            <a:spLocks noGrp="1"/>
          </p:cNvSpPr>
          <p:nvPr>
            <p:ph type="title"/>
          </p:nvPr>
        </p:nvSpPr>
        <p:spPr/>
        <p:txBody>
          <a:bodyPr>
            <a:normAutofit fontScale="90000"/>
          </a:bodyPr>
          <a:lstStyle/>
          <a:p>
            <a:r>
              <a:rPr lang="en-US" b="0" dirty="0">
                <a:solidFill>
                  <a:srgbClr val="000000"/>
                </a:solidFill>
                <a:effectLst/>
                <a:latin typeface="Montserrat" panose="00000500000000000000" pitchFamily="2" charset="0"/>
              </a:rPr>
              <a:t>Types of multimodal biometric systems</a:t>
            </a:r>
            <a:br>
              <a:rPr lang="en-US" b="0" dirty="0">
                <a:solidFill>
                  <a:srgbClr val="000000"/>
                </a:solidFill>
                <a:effectLst/>
                <a:latin typeface="Montserrat" panose="00000500000000000000" pitchFamily="2" charset="0"/>
              </a:rPr>
            </a:br>
            <a:endParaRPr lang="en-US" dirty="0"/>
          </a:p>
        </p:txBody>
      </p:sp>
      <p:sp>
        <p:nvSpPr>
          <p:cNvPr id="3" name="Content Placeholder 2">
            <a:extLst>
              <a:ext uri="{FF2B5EF4-FFF2-40B4-BE49-F238E27FC236}">
                <a16:creationId xmlns:a16="http://schemas.microsoft.com/office/drawing/2014/main" id="{DC19E9CD-B6D9-8788-7FAA-E17DD969967F}"/>
              </a:ext>
            </a:extLst>
          </p:cNvPr>
          <p:cNvSpPr>
            <a:spLocks noGrp="1"/>
          </p:cNvSpPr>
          <p:nvPr>
            <p:ph idx="1"/>
          </p:nvPr>
        </p:nvSpPr>
        <p:spPr>
          <a:xfrm>
            <a:off x="677334" y="2160589"/>
            <a:ext cx="8596668" cy="4087811"/>
          </a:xfrm>
        </p:spPr>
        <p:txBody>
          <a:bodyPr/>
          <a:lstStyle/>
          <a:p>
            <a:pPr algn="l" fontAlgn="base"/>
            <a:r>
              <a:rPr lang="en-US" b="1" i="1" dirty="0">
                <a:solidFill>
                  <a:schemeClr val="tx1"/>
                </a:solidFill>
                <a:effectLst/>
                <a:latin typeface="inherit"/>
              </a:rPr>
              <a:t>The various types of multimodal biometric systems are discussed below:</a:t>
            </a:r>
            <a:endParaRPr lang="en-US" b="0" i="0" dirty="0">
              <a:solidFill>
                <a:schemeClr val="tx1"/>
              </a:solidFill>
              <a:effectLst/>
              <a:latin typeface="Open Sans" panose="020B0606030504020204" pitchFamily="34" charset="0"/>
            </a:endParaRPr>
          </a:p>
          <a:p>
            <a:pPr algn="l" fontAlgn="base"/>
            <a:r>
              <a:rPr lang="en-US" b="1" i="0" dirty="0">
                <a:solidFill>
                  <a:schemeClr val="tx1"/>
                </a:solidFill>
                <a:effectLst/>
                <a:latin typeface="inherit"/>
              </a:rPr>
              <a:t>Multi-algorithmic biometric systems</a:t>
            </a:r>
            <a:endParaRPr lang="en-US" b="0" i="0" dirty="0">
              <a:solidFill>
                <a:schemeClr val="tx1"/>
              </a:solidFill>
              <a:effectLst/>
              <a:latin typeface="Open Sans" panose="020B0606030504020204" pitchFamily="34" charset="0"/>
            </a:endParaRPr>
          </a:p>
          <a:p>
            <a:pPr algn="l" fontAlgn="base"/>
            <a:r>
              <a:rPr lang="en-US" b="0" i="0" dirty="0">
                <a:solidFill>
                  <a:schemeClr val="tx1"/>
                </a:solidFill>
                <a:effectLst/>
                <a:latin typeface="Open Sans" panose="020B0606030504020204" pitchFamily="34" charset="0"/>
              </a:rPr>
              <a:t>These systems take a single biometric sample from a single sensor and then process it using two or more different algorithms.</a:t>
            </a:r>
          </a:p>
          <a:p>
            <a:pPr algn="l" fontAlgn="base"/>
            <a:r>
              <a:rPr lang="en-US" b="1" i="0" dirty="0">
                <a:solidFill>
                  <a:schemeClr val="tx1"/>
                </a:solidFill>
                <a:effectLst/>
                <a:latin typeface="inherit"/>
              </a:rPr>
              <a:t>Multi-instance biometric systems</a:t>
            </a:r>
            <a:endParaRPr lang="en-US" b="0" i="0" dirty="0">
              <a:solidFill>
                <a:schemeClr val="tx1"/>
              </a:solidFill>
              <a:effectLst/>
              <a:latin typeface="Open Sans" panose="020B0606030504020204" pitchFamily="34" charset="0"/>
            </a:endParaRPr>
          </a:p>
          <a:p>
            <a:pPr algn="l" fontAlgn="base"/>
            <a:r>
              <a:rPr lang="en-US" b="0" i="0" dirty="0">
                <a:solidFill>
                  <a:schemeClr val="tx1"/>
                </a:solidFill>
                <a:effectLst/>
                <a:latin typeface="Open Sans" panose="020B0606030504020204" pitchFamily="34" charset="0"/>
              </a:rPr>
              <a:t>These systems use one or more sensors to capture samples of two or more different samples of the same biometric trait. An example of this could be a system capturing images of multiple fingers.</a:t>
            </a:r>
          </a:p>
          <a:p>
            <a:pPr algn="l" fontAlgn="base"/>
            <a:r>
              <a:rPr lang="en-US" b="1" i="0" dirty="0">
                <a:solidFill>
                  <a:schemeClr val="tx1"/>
                </a:solidFill>
                <a:effectLst/>
                <a:latin typeface="inherit"/>
              </a:rPr>
              <a:t>Multi-sensorial biometric systems</a:t>
            </a:r>
            <a:endParaRPr lang="en-US" b="0" i="0" dirty="0">
              <a:solidFill>
                <a:schemeClr val="tx1"/>
              </a:solidFill>
              <a:effectLst/>
              <a:latin typeface="Open Sans" panose="020B0606030504020204" pitchFamily="34" charset="0"/>
            </a:endParaRPr>
          </a:p>
          <a:p>
            <a:pPr algn="l" fontAlgn="base"/>
            <a:r>
              <a:rPr lang="en-US" b="0" i="0" dirty="0">
                <a:solidFill>
                  <a:schemeClr val="tx1"/>
                </a:solidFill>
                <a:effectLst/>
                <a:latin typeface="Open Sans" panose="020B0606030504020204" pitchFamily="34" charset="0"/>
              </a:rPr>
              <a:t>These systems use two or more distinctly different sensors to capture the same instance of a biometric trait.</a:t>
            </a:r>
          </a:p>
          <a:p>
            <a:endParaRPr lang="en-US" dirty="0">
              <a:solidFill>
                <a:schemeClr val="tx1"/>
              </a:solidFill>
            </a:endParaRPr>
          </a:p>
        </p:txBody>
      </p:sp>
    </p:spTree>
    <p:extLst>
      <p:ext uri="{BB962C8B-B14F-4D97-AF65-F5344CB8AC3E}">
        <p14:creationId xmlns:p14="http://schemas.microsoft.com/office/powerpoint/2010/main" val="392741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5C65A-A6CD-EFB7-01BF-9883B098B74E}"/>
              </a:ext>
            </a:extLst>
          </p:cNvPr>
          <p:cNvSpPr>
            <a:spLocks noGrp="1"/>
          </p:cNvSpPr>
          <p:nvPr>
            <p:ph type="title"/>
          </p:nvPr>
        </p:nvSpPr>
        <p:spPr>
          <a:xfrm>
            <a:off x="677334" y="609600"/>
            <a:ext cx="8596668" cy="754966"/>
          </a:xfrm>
        </p:spPr>
        <p:txBody>
          <a:bodyPr/>
          <a:lstStyle/>
          <a:p>
            <a:r>
              <a:rPr lang="en-US" dirty="0"/>
              <a:t>Biometric Fusion</a:t>
            </a:r>
          </a:p>
        </p:txBody>
      </p:sp>
      <p:sp>
        <p:nvSpPr>
          <p:cNvPr id="3" name="Content Placeholder 2">
            <a:extLst>
              <a:ext uri="{FF2B5EF4-FFF2-40B4-BE49-F238E27FC236}">
                <a16:creationId xmlns:a16="http://schemas.microsoft.com/office/drawing/2014/main" id="{2AC25B85-272D-7D18-65F6-ADAAE7679EAA}"/>
              </a:ext>
            </a:extLst>
          </p:cNvPr>
          <p:cNvSpPr>
            <a:spLocks noGrp="1"/>
          </p:cNvSpPr>
          <p:nvPr>
            <p:ph idx="1"/>
          </p:nvPr>
        </p:nvSpPr>
        <p:spPr>
          <a:xfrm>
            <a:off x="677334" y="1463041"/>
            <a:ext cx="8596668" cy="4578322"/>
          </a:xfrm>
        </p:spPr>
        <p:txBody>
          <a:bodyPr/>
          <a:lstStyle/>
          <a:p>
            <a:pPr marL="0" indent="0">
              <a:buNone/>
            </a:pPr>
            <a:r>
              <a:rPr lang="en-US" b="0" i="0" dirty="0">
                <a:effectLst/>
                <a:latin typeface="Verdana" panose="020B0604030504040204" pitchFamily="34" charset="0"/>
              </a:rPr>
              <a:t>Fusion Scenarios</a:t>
            </a:r>
          </a:p>
          <a:p>
            <a:pPr algn="just">
              <a:buFont typeface="Arial" panose="020B0604020202020204" pitchFamily="34" charset="0"/>
              <a:buChar char="•"/>
            </a:pPr>
            <a:r>
              <a:rPr lang="en-US" b="0" i="0" dirty="0">
                <a:solidFill>
                  <a:srgbClr val="000000"/>
                </a:solidFill>
                <a:effectLst/>
                <a:latin typeface="Verdana" panose="020B0604030504040204" pitchFamily="34" charset="0"/>
              </a:rPr>
              <a:t>Single biometric trait, multiple sensors.</a:t>
            </a:r>
          </a:p>
          <a:p>
            <a:pPr algn="just">
              <a:buFont typeface="Arial" panose="020B0604020202020204" pitchFamily="34" charset="0"/>
              <a:buChar char="•"/>
            </a:pPr>
            <a:r>
              <a:rPr lang="en-US" b="0" i="0" dirty="0">
                <a:solidFill>
                  <a:srgbClr val="000000"/>
                </a:solidFill>
                <a:effectLst/>
                <a:latin typeface="Verdana" panose="020B0604030504040204" pitchFamily="34" charset="0"/>
              </a:rPr>
              <a:t>Single biometric trait, multiple classifiers (say, minutiae-based matcher and texture-based matcher).</a:t>
            </a:r>
          </a:p>
          <a:p>
            <a:pPr algn="just">
              <a:buFont typeface="Arial" panose="020B0604020202020204" pitchFamily="34" charset="0"/>
              <a:buChar char="•"/>
            </a:pPr>
            <a:r>
              <a:rPr lang="en-US" b="0" i="0" dirty="0">
                <a:solidFill>
                  <a:srgbClr val="000000"/>
                </a:solidFill>
                <a:effectLst/>
                <a:latin typeface="Verdana" panose="020B0604030504040204" pitchFamily="34" charset="0"/>
              </a:rPr>
              <a:t>Single biometric trait, multiple units (say, multiple fingers).</a:t>
            </a:r>
          </a:p>
          <a:p>
            <a:pPr algn="just">
              <a:buFont typeface="Arial" panose="020B0604020202020204" pitchFamily="34" charset="0"/>
              <a:buChar char="•"/>
            </a:pPr>
            <a:r>
              <a:rPr lang="en-US" b="0" i="0" dirty="0">
                <a:solidFill>
                  <a:srgbClr val="000000"/>
                </a:solidFill>
                <a:effectLst/>
                <a:latin typeface="Verdana" panose="020B0604030504040204" pitchFamily="34" charset="0"/>
              </a:rPr>
              <a:t>Multiple biometric traits of an individual (say, iris, fingerprint, etc.).</a:t>
            </a:r>
          </a:p>
          <a:p>
            <a:pPr marL="0" indent="0">
              <a:buNone/>
            </a:pPr>
            <a:endParaRPr lang="en-US" dirty="0"/>
          </a:p>
        </p:txBody>
      </p:sp>
    </p:spTree>
    <p:extLst>
      <p:ext uri="{BB962C8B-B14F-4D97-AF65-F5344CB8AC3E}">
        <p14:creationId xmlns:p14="http://schemas.microsoft.com/office/powerpoint/2010/main" val="2048633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usion Levels in Multimodal Biometric System">
            <a:extLst>
              <a:ext uri="{FF2B5EF4-FFF2-40B4-BE49-F238E27FC236}">
                <a16:creationId xmlns:a16="http://schemas.microsoft.com/office/drawing/2014/main" id="{0D30B755-D10A-3C65-2506-9B25C15FA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549" y="829994"/>
            <a:ext cx="7915275" cy="4221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970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AB58-E39E-EC0D-D4C4-50EC91F279D4}"/>
              </a:ext>
            </a:extLst>
          </p:cNvPr>
          <p:cNvSpPr>
            <a:spLocks noGrp="1"/>
          </p:cNvSpPr>
          <p:nvPr>
            <p:ph type="title"/>
          </p:nvPr>
        </p:nvSpPr>
        <p:spPr/>
        <p:txBody>
          <a:bodyPr>
            <a:normAutofit fontScale="90000"/>
          </a:bodyPr>
          <a:lstStyle/>
          <a:p>
            <a:r>
              <a:rPr lang="en-US" b="0" dirty="0">
                <a:solidFill>
                  <a:srgbClr val="000000"/>
                </a:solidFill>
                <a:effectLst/>
                <a:latin typeface="Montserrat" panose="00000500000000000000" pitchFamily="2" charset="0"/>
              </a:rPr>
              <a:t>Fusion in multimodal biometric systems</a:t>
            </a:r>
            <a:br>
              <a:rPr lang="en-US" b="0" dirty="0">
                <a:solidFill>
                  <a:srgbClr val="000000"/>
                </a:solidFill>
                <a:effectLst/>
                <a:latin typeface="Montserrat" panose="00000500000000000000" pitchFamily="2" charset="0"/>
              </a:rPr>
            </a:br>
            <a:endParaRPr lang="en-US" dirty="0"/>
          </a:p>
        </p:txBody>
      </p:sp>
      <p:sp>
        <p:nvSpPr>
          <p:cNvPr id="3" name="Content Placeholder 2">
            <a:extLst>
              <a:ext uri="{FF2B5EF4-FFF2-40B4-BE49-F238E27FC236}">
                <a16:creationId xmlns:a16="http://schemas.microsoft.com/office/drawing/2014/main" id="{C9BAC65F-FBB4-9F74-B6E2-6FC6B5F78A49}"/>
              </a:ext>
            </a:extLst>
          </p:cNvPr>
          <p:cNvSpPr>
            <a:spLocks noGrp="1"/>
          </p:cNvSpPr>
          <p:nvPr>
            <p:ph idx="1"/>
          </p:nvPr>
        </p:nvSpPr>
        <p:spPr>
          <a:xfrm>
            <a:off x="677334" y="1392703"/>
            <a:ext cx="8596668" cy="5219112"/>
          </a:xfrm>
        </p:spPr>
        <p:txBody>
          <a:bodyPr>
            <a:normAutofit fontScale="92500" lnSpcReduction="10000"/>
          </a:bodyPr>
          <a:lstStyle/>
          <a:p>
            <a:pPr algn="l" fontAlgn="base"/>
            <a:r>
              <a:rPr lang="en-US" b="1" i="0" dirty="0">
                <a:solidFill>
                  <a:schemeClr val="tx1"/>
                </a:solidFill>
                <a:effectLst/>
                <a:latin typeface="inherit"/>
              </a:rPr>
              <a:t>Sensor level fusion</a:t>
            </a:r>
            <a:endParaRPr lang="en-US" b="0" i="0" dirty="0">
              <a:solidFill>
                <a:schemeClr val="tx1"/>
              </a:solidFill>
              <a:effectLst/>
              <a:latin typeface="Open Sans" panose="020B0606030504020204" pitchFamily="34" charset="0"/>
            </a:endParaRPr>
          </a:p>
          <a:p>
            <a:pPr marL="0" indent="0" algn="l" fontAlgn="base">
              <a:buNone/>
            </a:pPr>
            <a:r>
              <a:rPr lang="en-US" b="0" i="0" dirty="0">
                <a:solidFill>
                  <a:schemeClr val="tx1"/>
                </a:solidFill>
                <a:effectLst/>
                <a:latin typeface="Open Sans" panose="020B0606030504020204" pitchFamily="34" charset="0"/>
              </a:rPr>
              <a:t>In sensor level fusion, we fuse the biometric traits coming from different sensors such as fingerprint scanner, iris scanner, video camera etc. to form a merged biometric trait and process.</a:t>
            </a:r>
          </a:p>
          <a:p>
            <a:pPr algn="l" fontAlgn="base"/>
            <a:r>
              <a:rPr lang="en-US" b="1" i="0" dirty="0">
                <a:solidFill>
                  <a:schemeClr val="tx1"/>
                </a:solidFill>
                <a:effectLst/>
                <a:latin typeface="inherit"/>
              </a:rPr>
              <a:t>Feature level fusion</a:t>
            </a:r>
            <a:endParaRPr lang="en-US" b="0" i="0" dirty="0">
              <a:solidFill>
                <a:schemeClr val="tx1"/>
              </a:solidFill>
              <a:effectLst/>
              <a:latin typeface="Open Sans" panose="020B0606030504020204" pitchFamily="34" charset="0"/>
            </a:endParaRPr>
          </a:p>
          <a:p>
            <a:pPr marL="0" indent="0" algn="l" fontAlgn="base">
              <a:buNone/>
            </a:pPr>
            <a:r>
              <a:rPr lang="en-US" b="0" i="0" dirty="0">
                <a:solidFill>
                  <a:schemeClr val="tx1"/>
                </a:solidFill>
                <a:effectLst/>
                <a:latin typeface="Open Sans" panose="020B0606030504020204" pitchFamily="34" charset="0"/>
              </a:rPr>
              <a:t>In feature level fusion, signals coming from different biometric channels are first processed after which the feature vectors are extracted separately from each biometric trait.</a:t>
            </a:r>
          </a:p>
          <a:p>
            <a:pPr algn="l" fontAlgn="base"/>
            <a:r>
              <a:rPr lang="en-US" b="1" i="0" dirty="0">
                <a:solidFill>
                  <a:schemeClr val="tx1"/>
                </a:solidFill>
                <a:effectLst/>
                <a:latin typeface="inherit"/>
              </a:rPr>
              <a:t>Matching score level fusion</a:t>
            </a:r>
            <a:endParaRPr lang="en-US" b="0" i="0" dirty="0">
              <a:solidFill>
                <a:schemeClr val="tx1"/>
              </a:solidFill>
              <a:effectLst/>
              <a:latin typeface="Open Sans" panose="020B0606030504020204" pitchFamily="34" charset="0"/>
            </a:endParaRPr>
          </a:p>
          <a:p>
            <a:pPr marL="0" indent="0" algn="l" fontAlgn="base">
              <a:buNone/>
            </a:pPr>
            <a:r>
              <a:rPr lang="en-US" b="0" i="0" dirty="0">
                <a:solidFill>
                  <a:schemeClr val="tx1"/>
                </a:solidFill>
                <a:effectLst/>
                <a:latin typeface="Open Sans" panose="020B0606030504020204" pitchFamily="34" charset="0"/>
              </a:rPr>
              <a:t>In this fusion level, the feature vectors are processed separately rather than combining them. Then an individual matching score is found and based on the accuracy of each biometric channel, we then fuse the matching level to find a composite matching score which will be used for classification</a:t>
            </a:r>
          </a:p>
          <a:p>
            <a:pPr algn="l" fontAlgn="base"/>
            <a:r>
              <a:rPr lang="en-US" b="1" i="0" dirty="0">
                <a:solidFill>
                  <a:schemeClr val="tx1"/>
                </a:solidFill>
                <a:effectLst/>
                <a:latin typeface="inherit"/>
              </a:rPr>
              <a:t>Decision level fusion</a:t>
            </a:r>
            <a:endParaRPr lang="en-US" b="0" i="0" dirty="0">
              <a:solidFill>
                <a:schemeClr val="tx1"/>
              </a:solidFill>
              <a:effectLst/>
              <a:latin typeface="Open Sans" panose="020B0606030504020204" pitchFamily="34" charset="0"/>
            </a:endParaRPr>
          </a:p>
          <a:p>
            <a:pPr marL="0" indent="0" algn="l" fontAlgn="base">
              <a:buNone/>
            </a:pPr>
            <a:r>
              <a:rPr lang="en-US" b="0" i="0" dirty="0">
                <a:solidFill>
                  <a:schemeClr val="tx1"/>
                </a:solidFill>
                <a:effectLst/>
                <a:latin typeface="Open Sans" panose="020B0606030504020204" pitchFamily="34" charset="0"/>
              </a:rPr>
              <a:t>In decision level fusion, each biometric trait is first pre-classified separately. The individual biometric trait is first captured and then features are extracted from the captured trait.</a:t>
            </a:r>
          </a:p>
          <a:p>
            <a:pPr marL="0" indent="0" algn="l" fontAlgn="base">
              <a:buNone/>
            </a:pPr>
            <a:endParaRPr lang="en-US" b="0" i="0" dirty="0">
              <a:solidFill>
                <a:schemeClr val="tx1"/>
              </a:solidFill>
              <a:effectLst/>
              <a:latin typeface="Open Sans" panose="020B0606030504020204" pitchFamily="34" charset="0"/>
            </a:endParaRPr>
          </a:p>
          <a:p>
            <a:endParaRPr lang="en-US" dirty="0">
              <a:solidFill>
                <a:schemeClr val="tx1"/>
              </a:solidFill>
            </a:endParaRPr>
          </a:p>
        </p:txBody>
      </p:sp>
    </p:spTree>
    <p:extLst>
      <p:ext uri="{BB962C8B-B14F-4D97-AF65-F5344CB8AC3E}">
        <p14:creationId xmlns:p14="http://schemas.microsoft.com/office/powerpoint/2010/main" val="360075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99C2-00B2-6FA9-0D79-052628C4E9C6}"/>
              </a:ext>
            </a:extLst>
          </p:cNvPr>
          <p:cNvSpPr>
            <a:spLocks noGrp="1"/>
          </p:cNvSpPr>
          <p:nvPr>
            <p:ph type="title"/>
          </p:nvPr>
        </p:nvSpPr>
        <p:spPr>
          <a:xfrm>
            <a:off x="677334" y="609600"/>
            <a:ext cx="8596668" cy="712763"/>
          </a:xfrm>
        </p:spPr>
        <p:txBody>
          <a:bodyPr/>
          <a:lstStyle/>
          <a:p>
            <a:r>
              <a:rPr lang="en-US" dirty="0"/>
              <a:t>Two Factor Authentication</a:t>
            </a:r>
          </a:p>
        </p:txBody>
      </p:sp>
      <p:sp>
        <p:nvSpPr>
          <p:cNvPr id="3" name="Content Placeholder 2">
            <a:extLst>
              <a:ext uri="{FF2B5EF4-FFF2-40B4-BE49-F238E27FC236}">
                <a16:creationId xmlns:a16="http://schemas.microsoft.com/office/drawing/2014/main" id="{DB3D97B7-923E-B875-AB67-901743C13A92}"/>
              </a:ext>
            </a:extLst>
          </p:cNvPr>
          <p:cNvSpPr>
            <a:spLocks noGrp="1"/>
          </p:cNvSpPr>
          <p:nvPr>
            <p:ph idx="1"/>
          </p:nvPr>
        </p:nvSpPr>
        <p:spPr>
          <a:xfrm>
            <a:off x="677334" y="1505243"/>
            <a:ext cx="8596668" cy="5092505"/>
          </a:xfrm>
        </p:spPr>
        <p:txBody>
          <a:bodyPr>
            <a:normAutofit lnSpcReduction="10000"/>
          </a:bodyPr>
          <a:lstStyle/>
          <a:p>
            <a:r>
              <a:rPr lang="en-US" b="0" i="0" dirty="0">
                <a:solidFill>
                  <a:srgbClr val="001D35"/>
                </a:solidFill>
                <a:effectLst/>
                <a:latin typeface="Google Sans"/>
              </a:rPr>
              <a:t>Two-Factor Authentication (2FA) with biometrics </a:t>
            </a:r>
            <a:r>
              <a:rPr lang="en-US" dirty="0"/>
              <a:t>requires users to provide two distinct pieces of evidence to prove their identity, combining </a:t>
            </a:r>
          </a:p>
          <a:p>
            <a:pPr>
              <a:buFont typeface="Arial" panose="020B0604020202020204" pitchFamily="34" charset="0"/>
              <a:buChar char="•"/>
            </a:pPr>
            <a:r>
              <a:rPr lang="en-US" dirty="0"/>
              <a:t>"something they know" (like a password) with </a:t>
            </a:r>
          </a:p>
          <a:p>
            <a:pPr>
              <a:buFont typeface="Arial" panose="020B0604020202020204" pitchFamily="34" charset="0"/>
              <a:buChar char="•"/>
            </a:pPr>
            <a:r>
              <a:rPr lang="en-US" dirty="0"/>
              <a:t>"something they are" (their unique physical or behavioral traits)</a:t>
            </a:r>
          </a:p>
          <a:p>
            <a:pPr marL="0" indent="0">
              <a:buNone/>
            </a:pPr>
            <a:r>
              <a:rPr lang="en-US" b="0" i="0" dirty="0">
                <a:solidFill>
                  <a:srgbClr val="000000"/>
                </a:solidFill>
                <a:effectLst/>
                <a:latin typeface="canada-type-gibson"/>
              </a:rPr>
              <a:t> </a:t>
            </a:r>
            <a:r>
              <a:rPr lang="en-US" b="1" dirty="0">
                <a:solidFill>
                  <a:srgbClr val="14A19C"/>
                </a:solidFill>
                <a:latin typeface="canada-type-gibson"/>
              </a:rPr>
              <a:t>T</a:t>
            </a:r>
            <a:r>
              <a:rPr lang="en-US" b="1" i="0" u="none" strike="noStrike" dirty="0">
                <a:solidFill>
                  <a:srgbClr val="14A19C"/>
                </a:solidFill>
                <a:effectLst/>
                <a:latin typeface="canada-type-gibson"/>
                <a:hlinkClick r:id="rId2"/>
              </a:rPr>
              <a:t>wo-factor authentication (2FA)</a:t>
            </a:r>
            <a:r>
              <a:rPr lang="en-US" b="0" i="0" dirty="0">
                <a:solidFill>
                  <a:srgbClr val="000000"/>
                </a:solidFill>
                <a:effectLst/>
                <a:latin typeface="canada-type-gibson"/>
              </a:rPr>
              <a:t> –– also known as multi-factor authentication (MFA)</a:t>
            </a:r>
            <a:endParaRPr lang="en-US" dirty="0"/>
          </a:p>
          <a:p>
            <a:pPr marL="0" indent="0" algn="l">
              <a:buNone/>
            </a:pPr>
            <a:r>
              <a:rPr lang="en-US" b="0" i="0" dirty="0">
                <a:solidFill>
                  <a:srgbClr val="001D35"/>
                </a:solidFill>
                <a:effectLst/>
                <a:latin typeface="Google Sans"/>
              </a:rPr>
              <a:t>Biometric 2FA Working</a:t>
            </a:r>
          </a:p>
          <a:p>
            <a:pPr marL="0" indent="0" algn="l">
              <a:buNone/>
            </a:pPr>
            <a:r>
              <a:rPr lang="en-US" b="1" i="0" dirty="0">
                <a:solidFill>
                  <a:srgbClr val="001D35"/>
                </a:solidFill>
                <a:effectLst/>
                <a:latin typeface="Google Sans"/>
              </a:rPr>
              <a:t>First Factor (Something You Know):</a:t>
            </a:r>
            <a:r>
              <a:rPr lang="en-US" b="0" i="0" dirty="0">
                <a:solidFill>
                  <a:srgbClr val="001D35"/>
                </a:solidFill>
                <a:effectLst/>
                <a:latin typeface="Google Sans"/>
              </a:rPr>
              <a:t> </a:t>
            </a:r>
          </a:p>
          <a:p>
            <a:pPr marL="0" indent="0" algn="l" fontAlgn="ctr">
              <a:buNone/>
            </a:pPr>
            <a:r>
              <a:rPr lang="en-US" b="0" i="0" dirty="0">
                <a:solidFill>
                  <a:srgbClr val="001D35"/>
                </a:solidFill>
                <a:effectLst/>
                <a:latin typeface="Google Sans"/>
              </a:rPr>
              <a:t>The user typically provides a password or PIN to access an account or system. </a:t>
            </a:r>
            <a:endParaRPr lang="en-US" b="0" i="0" dirty="0">
              <a:solidFill>
                <a:srgbClr val="0B57D0"/>
              </a:solidFill>
              <a:effectLst/>
              <a:latin typeface="Google Sans"/>
            </a:endParaRPr>
          </a:p>
          <a:p>
            <a:pPr marL="0" indent="0" algn="l">
              <a:buNone/>
            </a:pPr>
            <a:r>
              <a:rPr lang="en-US" b="1" i="0" dirty="0">
                <a:solidFill>
                  <a:srgbClr val="001D35"/>
                </a:solidFill>
                <a:effectLst/>
                <a:latin typeface="Google Sans"/>
              </a:rPr>
              <a:t>Second Factor (Something You Are):</a:t>
            </a:r>
            <a:r>
              <a:rPr lang="en-US" b="0" i="0" dirty="0">
                <a:solidFill>
                  <a:srgbClr val="001D35"/>
                </a:solidFill>
                <a:effectLst/>
                <a:latin typeface="Google Sans"/>
              </a:rPr>
              <a:t> </a:t>
            </a:r>
          </a:p>
          <a:p>
            <a:pPr marL="0" indent="0" algn="l" fontAlgn="ctr">
              <a:buNone/>
            </a:pPr>
            <a:r>
              <a:rPr lang="en-US" b="0" i="0" dirty="0">
                <a:solidFill>
                  <a:srgbClr val="001D35"/>
                </a:solidFill>
                <a:effectLst/>
                <a:latin typeface="Google Sans"/>
              </a:rPr>
              <a:t>The system then prompts the user for a biometric verification, such as a fingerprint scan, facial recognition, or voice command. </a:t>
            </a:r>
            <a:endParaRPr lang="en-US" b="0" i="0" dirty="0">
              <a:solidFill>
                <a:srgbClr val="0B57D0"/>
              </a:solidFill>
              <a:effectLst/>
              <a:latin typeface="Google Sans"/>
            </a:endParaRPr>
          </a:p>
          <a:p>
            <a:pPr marL="0" indent="0" algn="l">
              <a:buNone/>
            </a:pPr>
            <a:r>
              <a:rPr lang="en-US" b="1" i="0" dirty="0">
                <a:solidFill>
                  <a:srgbClr val="001D35"/>
                </a:solidFill>
                <a:effectLst/>
                <a:latin typeface="Google Sans"/>
              </a:rPr>
              <a:t>Verification:</a:t>
            </a:r>
            <a:r>
              <a:rPr lang="en-US" b="0" i="0" dirty="0">
                <a:solidFill>
                  <a:srgbClr val="001D35"/>
                </a:solidFill>
                <a:effectLst/>
                <a:latin typeface="Google Sans"/>
              </a:rPr>
              <a:t> </a:t>
            </a:r>
          </a:p>
          <a:p>
            <a:pPr marL="0" indent="0" algn="l">
              <a:buNone/>
            </a:pPr>
            <a:r>
              <a:rPr lang="en-US" b="0" i="0" dirty="0">
                <a:solidFill>
                  <a:srgbClr val="001D35"/>
                </a:solidFill>
                <a:effectLst/>
                <a:latin typeface="Google Sans"/>
              </a:rPr>
              <a:t>The system compares the submitted biometric data with the pre-registered biometric template, and if both factors match, access is granted. </a:t>
            </a:r>
          </a:p>
          <a:p>
            <a:pPr marL="0" indent="0">
              <a:buNone/>
            </a:pPr>
            <a:endParaRPr lang="en-US" dirty="0"/>
          </a:p>
        </p:txBody>
      </p:sp>
    </p:spTree>
    <p:extLst>
      <p:ext uri="{BB962C8B-B14F-4D97-AF65-F5344CB8AC3E}">
        <p14:creationId xmlns:p14="http://schemas.microsoft.com/office/powerpoint/2010/main" val="648681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What Are the Three Authentication Factors? - Rublon">
            <a:extLst>
              <a:ext uri="{FF2B5EF4-FFF2-40B4-BE49-F238E27FC236}">
                <a16:creationId xmlns:a16="http://schemas.microsoft.com/office/drawing/2014/main" id="{004C744A-19B9-BE25-9517-DB8DBFA60B7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85" t="-8410" r="-9385" b="21641"/>
          <a:stretch/>
        </p:blipFill>
        <p:spPr bwMode="auto">
          <a:xfrm>
            <a:off x="1087901" y="196948"/>
            <a:ext cx="9144000" cy="5950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361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F788D-4DF8-73CA-231B-4D876E2D9D60}"/>
              </a:ext>
            </a:extLst>
          </p:cNvPr>
          <p:cNvSpPr>
            <a:spLocks noGrp="1"/>
          </p:cNvSpPr>
          <p:nvPr>
            <p:ph type="title"/>
          </p:nvPr>
        </p:nvSpPr>
        <p:spPr>
          <a:xfrm>
            <a:off x="677334" y="609600"/>
            <a:ext cx="8596668" cy="417342"/>
          </a:xfrm>
        </p:spPr>
        <p:txBody>
          <a:bodyPr>
            <a:no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TWO FACTOR AUTHENTICATION - NORMALIZATION IN BIOMETRICS</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9164E38-5A2B-3EE0-DFB1-96BD9DE1D156}"/>
              </a:ext>
            </a:extLst>
          </p:cNvPr>
          <p:cNvSpPr>
            <a:spLocks noGrp="1"/>
          </p:cNvSpPr>
          <p:nvPr>
            <p:ph idx="1"/>
          </p:nvPr>
        </p:nvSpPr>
        <p:spPr>
          <a:xfrm>
            <a:off x="677334" y="1322363"/>
            <a:ext cx="8596668" cy="4718999"/>
          </a:xfrm>
        </p:spPr>
        <p:txBody>
          <a:bodyPr/>
          <a:lstStyle/>
          <a:p>
            <a:endParaRPr lang="en-US" dirty="0"/>
          </a:p>
        </p:txBody>
      </p:sp>
    </p:spTree>
    <p:extLst>
      <p:ext uri="{BB962C8B-B14F-4D97-AF65-F5344CB8AC3E}">
        <p14:creationId xmlns:p14="http://schemas.microsoft.com/office/powerpoint/2010/main" val="647595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6CCF-4665-1F4D-351F-007B44BEC03C}"/>
              </a:ext>
            </a:extLst>
          </p:cNvPr>
          <p:cNvSpPr>
            <a:spLocks noGrp="1"/>
          </p:cNvSpPr>
          <p:nvPr>
            <p:ph type="title"/>
          </p:nvPr>
        </p:nvSpPr>
        <p:spPr/>
        <p:txBody>
          <a:bodyPr/>
          <a:lstStyle/>
          <a:p>
            <a:r>
              <a:rPr lang="en-US" b="0" i="0" dirty="0">
                <a:solidFill>
                  <a:srgbClr val="001D35"/>
                </a:solidFill>
                <a:effectLst/>
                <a:latin typeface="Google Sans"/>
              </a:rPr>
              <a:t>Statistical measures of biometrics</a:t>
            </a:r>
            <a:endParaRPr lang="en-US" dirty="0"/>
          </a:p>
        </p:txBody>
      </p:sp>
      <p:sp>
        <p:nvSpPr>
          <p:cNvPr id="3" name="Content Placeholder 2">
            <a:extLst>
              <a:ext uri="{FF2B5EF4-FFF2-40B4-BE49-F238E27FC236}">
                <a16:creationId xmlns:a16="http://schemas.microsoft.com/office/drawing/2014/main" id="{3FC2D0D6-C21A-D4C1-3123-EF2958191B47}"/>
              </a:ext>
            </a:extLst>
          </p:cNvPr>
          <p:cNvSpPr>
            <a:spLocks noGrp="1"/>
          </p:cNvSpPr>
          <p:nvPr>
            <p:ph idx="1"/>
          </p:nvPr>
        </p:nvSpPr>
        <p:spPr>
          <a:xfrm>
            <a:off x="677334" y="1364567"/>
            <a:ext cx="8596668" cy="4676796"/>
          </a:xfrm>
        </p:spPr>
        <p:txBody>
          <a:bodyPr>
            <a:normAutofit/>
          </a:bodyPr>
          <a:lstStyle/>
          <a:p>
            <a:pPr marL="0" indent="0">
              <a:buNone/>
            </a:pPr>
            <a:r>
              <a:rPr lang="en-US" sz="2000" b="0" i="0" dirty="0">
                <a:solidFill>
                  <a:schemeClr val="tx1"/>
                </a:solidFill>
                <a:effectLst/>
                <a:latin typeface="Google Sans"/>
              </a:rPr>
              <a:t>Statistical measures of biometrics include </a:t>
            </a:r>
          </a:p>
          <a:p>
            <a:r>
              <a:rPr lang="en-US" sz="2000" b="0" i="0" dirty="0">
                <a:solidFill>
                  <a:schemeClr val="tx1"/>
                </a:solidFill>
                <a:effectLst/>
                <a:latin typeface="Google Sans"/>
              </a:rPr>
              <a:t>False Acceptance Rate (FAR) (imposters are incorrectly accepted), </a:t>
            </a:r>
          </a:p>
          <a:p>
            <a:r>
              <a:rPr lang="en-US" sz="2000" b="0" i="0" dirty="0">
                <a:solidFill>
                  <a:schemeClr val="tx1"/>
                </a:solidFill>
                <a:effectLst/>
                <a:latin typeface="Google Sans"/>
              </a:rPr>
              <a:t>False Rejection Rate (FRR) (legitimate users are incorrectly rejected), </a:t>
            </a:r>
          </a:p>
          <a:p>
            <a:r>
              <a:rPr lang="en-US" sz="2000" b="0" i="0" dirty="0">
                <a:solidFill>
                  <a:schemeClr val="tx1"/>
                </a:solidFill>
                <a:effectLst/>
                <a:latin typeface="Google Sans"/>
              </a:rPr>
              <a:t>Failure to Enroll Rate (FTE) (users cannot successfully enroll), and </a:t>
            </a:r>
          </a:p>
          <a:p>
            <a:r>
              <a:rPr lang="en-US" sz="2000" b="0" i="0" dirty="0">
                <a:solidFill>
                  <a:schemeClr val="tx1"/>
                </a:solidFill>
                <a:effectLst/>
                <a:latin typeface="Google Sans"/>
              </a:rPr>
              <a:t>Equal Error Rate (EER) (the point where FAR and FRR are equal).</a:t>
            </a:r>
          </a:p>
          <a:p>
            <a:pPr marL="0" indent="0">
              <a:buNone/>
            </a:pPr>
            <a:r>
              <a:rPr lang="en-US" sz="2000" b="0" i="0" dirty="0">
                <a:solidFill>
                  <a:schemeClr val="tx1"/>
                </a:solidFill>
                <a:effectLst/>
                <a:latin typeface="Google Sans"/>
              </a:rPr>
              <a:t> A lower FAR and FRR indicate a more secure and user-friendly system, respectively, while a lower EER shows a more accurate biometric system overall.</a:t>
            </a:r>
            <a:endParaRPr lang="en-US" sz="2000" dirty="0">
              <a:solidFill>
                <a:schemeClr val="tx1"/>
              </a:solidFill>
            </a:endParaRPr>
          </a:p>
        </p:txBody>
      </p:sp>
    </p:spTree>
    <p:extLst>
      <p:ext uri="{BB962C8B-B14F-4D97-AF65-F5344CB8AC3E}">
        <p14:creationId xmlns:p14="http://schemas.microsoft.com/office/powerpoint/2010/main" val="26500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394A-D111-A055-D1DF-91F1F7C922CC}"/>
              </a:ext>
            </a:extLst>
          </p:cNvPr>
          <p:cNvSpPr>
            <a:spLocks noGrp="1"/>
          </p:cNvSpPr>
          <p:nvPr>
            <p:ph type="title"/>
          </p:nvPr>
        </p:nvSpPr>
        <p:spPr/>
        <p:txBody>
          <a:bodyPr/>
          <a:lstStyle/>
          <a:p>
            <a:r>
              <a:rPr lang="en-US" b="0" i="0" dirty="0">
                <a:solidFill>
                  <a:srgbClr val="001D35"/>
                </a:solidFill>
                <a:effectLst/>
                <a:latin typeface="Google Sans"/>
              </a:rPr>
              <a:t>FAR (False Acceptance Rate)</a:t>
            </a:r>
            <a:endParaRPr lang="en-US" dirty="0"/>
          </a:p>
        </p:txBody>
      </p:sp>
      <p:sp>
        <p:nvSpPr>
          <p:cNvPr id="3" name="Content Placeholder 2">
            <a:extLst>
              <a:ext uri="{FF2B5EF4-FFF2-40B4-BE49-F238E27FC236}">
                <a16:creationId xmlns:a16="http://schemas.microsoft.com/office/drawing/2014/main" id="{CCD17526-A3FC-B78D-6A8F-9D1A6D3C5C23}"/>
              </a:ext>
            </a:extLst>
          </p:cNvPr>
          <p:cNvSpPr>
            <a:spLocks noGrp="1"/>
          </p:cNvSpPr>
          <p:nvPr>
            <p:ph idx="1"/>
          </p:nvPr>
        </p:nvSpPr>
        <p:spPr/>
        <p:txBody>
          <a:bodyPr/>
          <a:lstStyle/>
          <a:p>
            <a:pPr algn="l">
              <a:buFont typeface="Arial" panose="020B0604020202020204" pitchFamily="34" charset="0"/>
              <a:buChar char="•"/>
            </a:pPr>
            <a:r>
              <a:rPr lang="en-US" b="1" i="0" dirty="0">
                <a:solidFill>
                  <a:srgbClr val="001D35"/>
                </a:solidFill>
                <a:effectLst/>
                <a:latin typeface="Google Sans"/>
              </a:rPr>
              <a:t>Definition</a:t>
            </a:r>
            <a:r>
              <a:rPr lang="en-US" b="0" i="0" dirty="0">
                <a:solidFill>
                  <a:srgbClr val="001D35"/>
                </a:solidFill>
                <a:effectLst/>
                <a:latin typeface="Google Sans"/>
              </a:rPr>
              <a:t>: </a:t>
            </a:r>
          </a:p>
          <a:p>
            <a:pPr algn="l" fontAlgn="ctr">
              <a:buFont typeface="Arial" panose="020B0604020202020204" pitchFamily="34" charset="0"/>
              <a:buChar char="•"/>
            </a:pPr>
            <a:r>
              <a:rPr lang="en-US" b="0" i="0" dirty="0">
                <a:solidFill>
                  <a:srgbClr val="001D35"/>
                </a:solidFill>
                <a:effectLst/>
                <a:latin typeface="Google Sans"/>
              </a:rPr>
              <a:t>The probability that a biometric system incorrectly identifies an unauthorized person (imposter) as a genuine user.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Implication</a:t>
            </a:r>
            <a:r>
              <a:rPr lang="en-US" b="0" i="0" dirty="0">
                <a:solidFill>
                  <a:srgbClr val="001D35"/>
                </a:solidFill>
                <a:effectLst/>
                <a:latin typeface="Google Sans"/>
              </a:rPr>
              <a:t>: </a:t>
            </a:r>
          </a:p>
          <a:p>
            <a:pPr algn="l" fontAlgn="ctr">
              <a:buFont typeface="Arial" panose="020B0604020202020204" pitchFamily="34" charset="0"/>
              <a:buChar char="•"/>
            </a:pPr>
            <a:r>
              <a:rPr lang="en-US" b="0" i="0" dirty="0">
                <a:solidFill>
                  <a:srgbClr val="001D35"/>
                </a:solidFill>
                <a:effectLst/>
                <a:latin typeface="Google Sans"/>
              </a:rPr>
              <a:t>A high FAR means the system is not secure, as it allows unauthorized access.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Example</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A facial recognition system incorrectly identifying a stranger as a registered user. </a:t>
            </a:r>
          </a:p>
          <a:p>
            <a:endParaRPr lang="en-US" dirty="0"/>
          </a:p>
        </p:txBody>
      </p:sp>
    </p:spTree>
    <p:extLst>
      <p:ext uri="{BB962C8B-B14F-4D97-AF65-F5344CB8AC3E}">
        <p14:creationId xmlns:p14="http://schemas.microsoft.com/office/powerpoint/2010/main" val="119082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F164-1F62-FF3A-906E-04742D18AD49}"/>
              </a:ext>
            </a:extLst>
          </p:cNvPr>
          <p:cNvSpPr>
            <a:spLocks noGrp="1"/>
          </p:cNvSpPr>
          <p:nvPr>
            <p:ph type="title"/>
          </p:nvPr>
        </p:nvSpPr>
        <p:spPr/>
        <p:txBody>
          <a:bodyPr/>
          <a:lstStyle/>
          <a:p>
            <a:r>
              <a:rPr lang="en-US" b="0" i="0" dirty="0">
                <a:solidFill>
                  <a:srgbClr val="001D35"/>
                </a:solidFill>
                <a:effectLst/>
                <a:latin typeface="Google Sans"/>
              </a:rPr>
              <a:t>FRR (False Rejection Rate) </a:t>
            </a:r>
            <a:endParaRPr lang="en-US" dirty="0"/>
          </a:p>
        </p:txBody>
      </p:sp>
      <p:sp>
        <p:nvSpPr>
          <p:cNvPr id="3" name="Content Placeholder 2">
            <a:extLst>
              <a:ext uri="{FF2B5EF4-FFF2-40B4-BE49-F238E27FC236}">
                <a16:creationId xmlns:a16="http://schemas.microsoft.com/office/drawing/2014/main" id="{CA785037-6E5D-1BFE-2DE5-202A388EFE96}"/>
              </a:ext>
            </a:extLst>
          </p:cNvPr>
          <p:cNvSpPr>
            <a:spLocks noGrp="1"/>
          </p:cNvSpPr>
          <p:nvPr>
            <p:ph idx="1"/>
          </p:nvPr>
        </p:nvSpPr>
        <p:spPr/>
        <p:txBody>
          <a:bodyPr/>
          <a:lstStyle/>
          <a:p>
            <a:pPr algn="l">
              <a:buFont typeface="Arial" panose="020B0604020202020204" pitchFamily="34" charset="0"/>
              <a:buChar char="•"/>
            </a:pPr>
            <a:r>
              <a:rPr lang="en-US" b="1" i="0" dirty="0">
                <a:solidFill>
                  <a:srgbClr val="001D35"/>
                </a:solidFill>
                <a:effectLst/>
                <a:latin typeface="Google Sans"/>
              </a:rPr>
              <a:t>Definition</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The probability that a biometric system incorrectly rejects a legitimate user.</a:t>
            </a:r>
          </a:p>
          <a:p>
            <a:pPr algn="l">
              <a:buFont typeface="Arial" panose="020B0604020202020204" pitchFamily="34" charset="0"/>
              <a:buChar char="•"/>
            </a:pPr>
            <a:r>
              <a:rPr lang="en-US" b="1" i="0" dirty="0">
                <a:solidFill>
                  <a:srgbClr val="001D35"/>
                </a:solidFill>
                <a:effectLst/>
                <a:latin typeface="Google Sans"/>
              </a:rPr>
              <a:t>Implication</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A high FRR leads to a poor user experience, as it frequently denies access to authorized individuals.</a:t>
            </a:r>
          </a:p>
          <a:p>
            <a:pPr algn="l">
              <a:buFont typeface="Arial" panose="020B0604020202020204" pitchFamily="34" charset="0"/>
              <a:buChar char="•"/>
            </a:pPr>
            <a:r>
              <a:rPr lang="en-US" b="1" i="0" dirty="0">
                <a:solidFill>
                  <a:srgbClr val="001D35"/>
                </a:solidFill>
                <a:effectLst/>
                <a:latin typeface="Google Sans"/>
              </a:rPr>
              <a:t>Example</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A fingerprint system failing to recognize a registered user's fingerprint due to factors like dirt or improper placement.</a:t>
            </a:r>
          </a:p>
          <a:p>
            <a:endParaRPr lang="en-US" dirty="0"/>
          </a:p>
        </p:txBody>
      </p:sp>
    </p:spTree>
    <p:extLst>
      <p:ext uri="{BB962C8B-B14F-4D97-AF65-F5344CB8AC3E}">
        <p14:creationId xmlns:p14="http://schemas.microsoft.com/office/powerpoint/2010/main" val="43028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7C31-D2B9-101C-93D3-63DE861523F7}"/>
              </a:ext>
            </a:extLst>
          </p:cNvPr>
          <p:cNvSpPr>
            <a:spLocks noGrp="1"/>
          </p:cNvSpPr>
          <p:nvPr>
            <p:ph type="title"/>
          </p:nvPr>
        </p:nvSpPr>
        <p:spPr/>
        <p:txBody>
          <a:bodyPr/>
          <a:lstStyle/>
          <a:p>
            <a:r>
              <a:rPr lang="en-US" b="0" i="0" dirty="0">
                <a:solidFill>
                  <a:srgbClr val="001D35"/>
                </a:solidFill>
                <a:effectLst/>
                <a:latin typeface="Google Sans"/>
              </a:rPr>
              <a:t>FTE (Failure to Enroll Rate)</a:t>
            </a:r>
            <a:endParaRPr lang="en-US" dirty="0"/>
          </a:p>
        </p:txBody>
      </p:sp>
      <p:sp>
        <p:nvSpPr>
          <p:cNvPr id="3" name="Content Placeholder 2">
            <a:extLst>
              <a:ext uri="{FF2B5EF4-FFF2-40B4-BE49-F238E27FC236}">
                <a16:creationId xmlns:a16="http://schemas.microsoft.com/office/drawing/2014/main" id="{8119F00B-3377-A033-52A6-5BA98D42709E}"/>
              </a:ext>
            </a:extLst>
          </p:cNvPr>
          <p:cNvSpPr>
            <a:spLocks noGrp="1"/>
          </p:cNvSpPr>
          <p:nvPr>
            <p:ph idx="1"/>
          </p:nvPr>
        </p:nvSpPr>
        <p:spPr/>
        <p:txBody>
          <a:bodyPr/>
          <a:lstStyle/>
          <a:p>
            <a:pPr algn="l">
              <a:buFont typeface="Arial" panose="020B0604020202020204" pitchFamily="34" charset="0"/>
              <a:buChar char="•"/>
            </a:pPr>
            <a:r>
              <a:rPr lang="en-US" b="1" i="0" dirty="0">
                <a:solidFill>
                  <a:srgbClr val="001D35"/>
                </a:solidFill>
                <a:effectLst/>
                <a:latin typeface="Google Sans"/>
              </a:rPr>
              <a:t>Definition</a:t>
            </a:r>
            <a:r>
              <a:rPr lang="en-US" b="0" i="0" dirty="0">
                <a:solidFill>
                  <a:srgbClr val="001D35"/>
                </a:solidFill>
                <a:effectLst/>
                <a:latin typeface="Google Sans"/>
              </a:rPr>
              <a:t>: </a:t>
            </a:r>
          </a:p>
          <a:p>
            <a:pPr algn="l" fontAlgn="ctr">
              <a:buFont typeface="Arial" panose="020B0604020202020204" pitchFamily="34" charset="0"/>
              <a:buChar char="•"/>
            </a:pPr>
            <a:r>
              <a:rPr lang="en-US" b="0" i="0" dirty="0">
                <a:solidFill>
                  <a:srgbClr val="001D35"/>
                </a:solidFill>
                <a:effectLst/>
                <a:latin typeface="Google Sans"/>
              </a:rPr>
              <a:t>The percentage of users who are unable to successfully register their biometric data with the system.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Implication</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High FTE can indicate issues with the biometric template quality, scanning device, or the system's ability to handle certain types of biometric data. </a:t>
            </a:r>
          </a:p>
          <a:p>
            <a:endParaRPr lang="en-US" dirty="0"/>
          </a:p>
        </p:txBody>
      </p:sp>
    </p:spTree>
    <p:extLst>
      <p:ext uri="{BB962C8B-B14F-4D97-AF65-F5344CB8AC3E}">
        <p14:creationId xmlns:p14="http://schemas.microsoft.com/office/powerpoint/2010/main" val="2540202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0D97-AEB7-0706-B161-5BD473EDE680}"/>
              </a:ext>
            </a:extLst>
          </p:cNvPr>
          <p:cNvSpPr>
            <a:spLocks noGrp="1"/>
          </p:cNvSpPr>
          <p:nvPr>
            <p:ph type="title"/>
          </p:nvPr>
        </p:nvSpPr>
        <p:spPr/>
        <p:txBody>
          <a:bodyPr/>
          <a:lstStyle/>
          <a:p>
            <a:r>
              <a:rPr lang="en-US" b="0" i="0" dirty="0">
                <a:solidFill>
                  <a:srgbClr val="001D35"/>
                </a:solidFill>
                <a:effectLst/>
                <a:latin typeface="Google Sans"/>
              </a:rPr>
              <a:t>EER (Equal Error Rate) </a:t>
            </a:r>
            <a:endParaRPr lang="en-US" dirty="0"/>
          </a:p>
        </p:txBody>
      </p:sp>
      <p:sp>
        <p:nvSpPr>
          <p:cNvPr id="3" name="Content Placeholder 2">
            <a:extLst>
              <a:ext uri="{FF2B5EF4-FFF2-40B4-BE49-F238E27FC236}">
                <a16:creationId xmlns:a16="http://schemas.microsoft.com/office/drawing/2014/main" id="{3FE698EA-E223-BF19-EE62-E510A95C0DB1}"/>
              </a:ext>
            </a:extLst>
          </p:cNvPr>
          <p:cNvSpPr>
            <a:spLocks noGrp="1"/>
          </p:cNvSpPr>
          <p:nvPr>
            <p:ph idx="1"/>
          </p:nvPr>
        </p:nvSpPr>
        <p:spPr/>
        <p:txBody>
          <a:bodyPr/>
          <a:lstStyle/>
          <a:p>
            <a:pPr algn="l">
              <a:buFont typeface="Arial" panose="020B0604020202020204" pitchFamily="34" charset="0"/>
              <a:buChar char="•"/>
            </a:pPr>
            <a:r>
              <a:rPr lang="en-US" b="1" i="0" dirty="0">
                <a:solidFill>
                  <a:srgbClr val="001D35"/>
                </a:solidFill>
                <a:effectLst/>
                <a:latin typeface="Google Sans"/>
              </a:rPr>
              <a:t>Definition</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The point at which the False Acceptance Rate (FAR) and the False Rejection Rate (FRR) are equal.</a:t>
            </a:r>
          </a:p>
          <a:p>
            <a:pPr algn="l">
              <a:buFont typeface="Arial" panose="020B0604020202020204" pitchFamily="34" charset="0"/>
              <a:buChar char="•"/>
            </a:pPr>
            <a:r>
              <a:rPr lang="en-US" b="1" i="0" dirty="0">
                <a:solidFill>
                  <a:srgbClr val="001D35"/>
                </a:solidFill>
                <a:effectLst/>
                <a:latin typeface="Google Sans"/>
              </a:rPr>
              <a:t>Implication</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A lower EER indicates a more accurate biometric system and is a common metric for comparing different systems.</a:t>
            </a:r>
          </a:p>
          <a:p>
            <a:pPr algn="l">
              <a:buFont typeface="Arial" panose="020B0604020202020204" pitchFamily="34" charset="0"/>
              <a:buChar char="•"/>
            </a:pPr>
            <a:r>
              <a:rPr lang="en-US" b="1" i="0" dirty="0">
                <a:solidFill>
                  <a:srgbClr val="001D35"/>
                </a:solidFill>
                <a:effectLst/>
                <a:latin typeface="Google Sans"/>
              </a:rPr>
              <a:t>Relationship</a:t>
            </a:r>
            <a:r>
              <a:rPr lang="en-US" b="0" i="0" dirty="0">
                <a:solidFill>
                  <a:srgbClr val="001D35"/>
                </a:solidFill>
                <a:effectLst/>
                <a:latin typeface="Google Sans"/>
              </a:rPr>
              <a:t>: </a:t>
            </a:r>
          </a:p>
          <a:p>
            <a:pPr algn="l">
              <a:buFont typeface="Arial" panose="020B0604020202020204" pitchFamily="34" charset="0"/>
              <a:buChar char="•"/>
            </a:pPr>
            <a:r>
              <a:rPr lang="en-US" b="0" i="0" dirty="0">
                <a:solidFill>
                  <a:srgbClr val="001D35"/>
                </a:solidFill>
                <a:effectLst/>
                <a:latin typeface="Google Sans"/>
              </a:rPr>
              <a:t>EER represents the crossover point where the system's sensitivity is balanced between security (minimizing unauthorized access) and usability (minimizing rejection of legitimate users)</a:t>
            </a:r>
          </a:p>
          <a:p>
            <a:endParaRPr lang="en-US" dirty="0"/>
          </a:p>
        </p:txBody>
      </p:sp>
    </p:spTree>
    <p:extLst>
      <p:ext uri="{BB962C8B-B14F-4D97-AF65-F5344CB8AC3E}">
        <p14:creationId xmlns:p14="http://schemas.microsoft.com/office/powerpoint/2010/main" val="1590754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Relationship between FAR, FRR and Equal Error Rate (EER) [1]. | Download  Scientific Diagram">
            <a:extLst>
              <a:ext uri="{FF2B5EF4-FFF2-40B4-BE49-F238E27FC236}">
                <a16:creationId xmlns:a16="http://schemas.microsoft.com/office/drawing/2014/main" id="{3E0308DA-C53B-4CA0-6008-0062C2A89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920" y="849813"/>
            <a:ext cx="7187496" cy="5158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676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594243"/>
      </p:ext>
    </p:extLst>
  </p:cSld>
  <p:clrMapOvr>
    <a:masterClrMapping/>
  </p:clrMapOvr>
</p:sld>
</file>

<file path=ppt/theme/theme1.xml><?xml version="1.0" encoding="utf-8"?>
<a:theme xmlns:a="http://schemas.openxmlformats.org/drawingml/2006/main" name="Face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2528</TotalTime>
  <Words>961</Words>
  <Application>Microsoft Office PowerPoint</Application>
  <PresentationFormat>Widescreen</PresentationFormat>
  <Paragraphs>82</Paragraphs>
  <Slides>18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Arial</vt:lpstr>
      <vt:lpstr>canada-type-gibson</vt:lpstr>
      <vt:lpstr>Google Sans</vt:lpstr>
      <vt:lpstr>inherit</vt:lpstr>
      <vt:lpstr>Lato</vt:lpstr>
      <vt:lpstr>Montserrat</vt:lpstr>
      <vt:lpstr>Open Sans</vt:lpstr>
      <vt:lpstr>Times New Roman</vt:lpstr>
      <vt:lpstr>Trebuchet MS</vt:lpstr>
      <vt:lpstr>Verdana</vt:lpstr>
      <vt:lpstr>Wingdings 3</vt:lpstr>
      <vt:lpstr>Facet</vt:lpstr>
      <vt:lpstr>UNIT 5 MULTIMODAL BIOMETRICS AND PERFORMANCE MEASURES </vt:lpstr>
      <vt:lpstr>Introduction to Multimodal Biometrics</vt:lpstr>
      <vt:lpstr>Working of Multimodal Biometric System </vt:lpstr>
      <vt:lpstr>PowerPoint Presentation</vt:lpstr>
      <vt:lpstr>Types of multimodal biometric systems </vt:lpstr>
      <vt:lpstr>Biometric Fusion</vt:lpstr>
      <vt:lpstr>PowerPoint Presentation</vt:lpstr>
      <vt:lpstr>Fusion in multimodal biometric systems </vt:lpstr>
      <vt:lpstr>Two Factor Authentication</vt:lpstr>
      <vt:lpstr>PowerPoint Presentation</vt:lpstr>
      <vt:lpstr>TWO FACTOR AUTHENTICATION - NORMALIZATION IN BIOMETRICS </vt:lpstr>
      <vt:lpstr>Statistical measures of biometrics</vt:lpstr>
      <vt:lpstr>FAR (False Acceptance Rate)</vt:lpstr>
      <vt:lpstr>FRR (False Rejection Rate) </vt:lpstr>
      <vt:lpstr>FTE (Failure to Enroll Rate)</vt:lpstr>
      <vt:lpstr>EER (Equal Error Rate)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MULTIMODAL BIOMETRICS AND PERFORMANCE MEASURES </dc:title>
  <dc:creator>HP</dc:creator>
  <cp:lastModifiedBy>HP</cp:lastModifiedBy>
  <cp:revision>4</cp:revision>
  <dcterms:created xsi:type="dcterms:W3CDTF">2025-10-09T03:12:08Z</dcterms:created>
  <dcterms:modified xsi:type="dcterms:W3CDTF">2025-10-16T03:53:43Z</dcterms:modified>
</cp:coreProperties>
</file>
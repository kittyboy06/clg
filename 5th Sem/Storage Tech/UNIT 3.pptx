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6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7" r:id="rId11"/>
    <p:sldId id="265" r:id="rId12"/>
    <p:sldId id="266" r:id="rId13"/>
    <p:sldId id="268" r:id="rId14"/>
    <p:sldId id="271" r:id="rId15"/>
    <p:sldId id="269" r:id="rId16"/>
    <p:sldId id="270" r:id="rId17"/>
    <p:sldId id="272" r:id="rId18"/>
    <p:sldId id="274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9" r:id="rId32"/>
    <p:sldId id="290" r:id="rId33"/>
    <p:sldId id="288" r:id="rId34"/>
    <p:sldId id="286" r:id="rId35"/>
    <p:sldId id="291" r:id="rId36"/>
    <p:sldId id="292" r:id="rId37"/>
    <p:sldId id="33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</p:sldIdLst>
  <p:sldSz cx="12192000" cy="6858000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050" y="0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3E939-4292-44C8-B5E5-982BE4DA39D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275" y="4784725"/>
            <a:ext cx="5408613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050" y="9444038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30795-0347-46D2-9798-0E85252FD5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723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30795-0347-46D2-9798-0E85252FD549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851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F4F54-674A-4C74-8233-6B15909B8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C2387-9261-43BD-813D-F9DD71475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5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720DC-7B78-4391-B881-CCF54AD8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27699-A2F1-46FD-837A-4B563CFD01C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B6625-23B9-4CEB-AD9C-7ED5F6E94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14420-6DBC-4C78-9632-23756057C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C663-291F-4A0E-A36A-5A27E8346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318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AD0B-AA98-44D2-B401-2750BA49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79232-2C7E-46C1-B27B-E46D971F0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5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5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>
              <a:buNone/>
              <a:defRPr sz="25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>
              <a:buNone/>
              <a:defRPr sz="25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>
              <a:buNone/>
              <a:defRPr sz="25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AF055-2B8B-4745-A60C-AAC3F3B30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27699-A2F1-46FD-837A-4B563CFD01C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73BED-2910-4978-9731-566517301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8101F-96B6-4B6E-A4BC-17316F31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C663-291F-4A0E-A36A-5A27E8346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421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27BA-A9EF-4F5B-A0F4-227220B6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94FF3-73C5-4B62-860A-F91E9424C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407BA-DA61-458D-88C8-BF3FA1B60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27699-A2F1-46FD-837A-4B563CFD01C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B4F48-3E9D-434F-BE29-41F845BD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D9DC0-BC39-4AED-BF6A-5056CC38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C663-291F-4A0E-A36A-5A27E8346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971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3FB0-9F28-4324-895B-7A6D8270C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18A58-993A-42E1-9033-DC7CFE695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4B7FA-175B-4A1C-8480-FCFFD6CA8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F7F76-C2DC-4B6B-BF14-5E9774ED0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27699-A2F1-46FD-837A-4B563CFD01C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EC1C3-F9E7-48C5-9F7D-46FE36BE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8BF4A-0981-4479-AB6C-FDB50723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C663-291F-4A0E-A36A-5A27E8346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22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A696-6DFB-4DC0-AE23-591F13A4A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75B50-431F-44FE-A0F7-FE61C28EF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BA0D3-E229-4F87-A052-C3D998783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447C7-F7A7-4A9D-AD5B-11DFDC819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CBA15D-6B00-44AD-9E7F-435C922E1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9857E1-EBBE-4FCC-960A-D7C96E906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27699-A2F1-46FD-837A-4B563CFD01C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CBBBE-1E23-4537-B4E6-07A1B4CD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7356B-9BD6-43AC-BF06-6531269C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C663-291F-4A0E-A36A-5A27E8346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410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50467-D6B6-415C-8C33-88D02781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7AF69-C2C7-446C-BCE4-BB0E0DA4F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27699-A2F1-46FD-837A-4B563CFD01C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AD3ECB-AD93-4BAC-8425-6D1EE8A5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AFA58-1B80-41E4-8299-566D0442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C663-291F-4A0E-A36A-5A27E8346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080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0F1A6-20AF-4DA3-A5F8-4504EBA44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27699-A2F1-46FD-837A-4B563CFD01C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745D4-4771-4E39-B170-81389C7E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23164-FD7D-4B63-BA55-314DFAEF2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C663-291F-4A0E-A36A-5A27E8346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77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3961-BD47-45EC-AE5D-25DD86B0E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BD204-D720-4041-88C5-251B3E8D5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7C40C-54C7-40DB-9D7A-8FCFDD14E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B52B9-EE76-42DC-83AD-E80D4FF1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27699-A2F1-46FD-837A-4B563CFD01C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73512-E41A-452F-A96B-3D996127A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A0ECA-EF73-4A63-B99D-6E8982D4A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C663-291F-4A0E-A36A-5A27E8346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4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51A49-F577-4BC0-AF9D-3F3CF8D4C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3F0196-94D9-4AB8-8182-F529C8455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596C3-BF08-465E-9E60-747A2BA9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D572C-8B2A-432B-B57A-339B17397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27699-A2F1-46FD-837A-4B563CFD01C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15F27-D145-4BC8-BCC8-46F4D54D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48141-C4D2-47D5-B035-49C38EDE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C663-291F-4A0E-A36A-5A27E8346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222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7836E-B46E-4B91-9E01-5A484A687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3A90C-CB1B-4709-95F3-A1CE550A2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AFB26-EA61-4A36-ACFB-3344566E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27699-A2F1-46FD-837A-4B563CFD01C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8FCEC-CF3F-4425-ADCB-F67DBE55D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10244-9BEF-4EB1-A8CC-92A5FBB19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C663-291F-4A0E-A36A-5A27E8346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731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C11848-DCC8-4F96-9CEA-3052174CD0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2C9B5-0EAF-4F41-A2B5-E6C08BB6D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C749F-C098-47E1-9256-E41352A9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27699-A2F1-46FD-837A-4B563CFD01C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F14AE-C29D-442A-9AB2-5F6E91F04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81348-632A-45B4-969D-A7809D0E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C663-291F-4A0E-A36A-5A27E8346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460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C2C827-ABDA-4390-AB66-4A71FCD3C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A01E5-B5B4-4FB9-BC49-AD2FCD4B8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B730D-34BB-4020-889E-B35560C9D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27699-A2F1-46FD-837A-4B563CFD01C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23C77-FE37-4BEE-AD01-036B46696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06E9E-4E96-4CC6-B8E2-AF9E36BA3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DC663-291F-4A0E-A36A-5A27E8346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868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ebp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eb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B010-32A9-4951-A623-966CDCB152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UNIT III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7ED61-43C1-46C5-9A9D-0F14629FFD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b="1" dirty="0"/>
          </a:p>
          <a:p>
            <a:r>
              <a:rPr lang="en-IN" b="1" dirty="0"/>
              <a:t>STORAGE NETWORKING TECHNOLOGIES AND VIRTUALIZATION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368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7F071-7DFA-4A8E-8D7B-263D3E149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BEDE-43F7-42B9-8596-3315CD207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769"/>
            <a:ext cx="10515600" cy="457419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Block-Based Storage System - File-Based Storage System - Object-Based and Unified Storage. 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Fibre Channel SAN</a:t>
            </a:r>
            <a:r>
              <a:rPr lang="en-IN" dirty="0"/>
              <a:t>: Software-defined networking - FC SAN components and architecture - FC SAN topologies - link aggregation - and zoning - Virtualization in FC SAN environment.</a:t>
            </a:r>
          </a:p>
          <a:p>
            <a:pPr marL="0" indent="0" algn="just">
              <a:buNone/>
            </a:pPr>
            <a:r>
              <a:rPr lang="en-IN" dirty="0"/>
              <a:t> </a:t>
            </a:r>
          </a:p>
          <a:p>
            <a:pPr algn="just"/>
            <a:r>
              <a:rPr lang="en-IN" b="1" dirty="0"/>
              <a:t>Internet Protocol SAN</a:t>
            </a:r>
            <a:r>
              <a:rPr lang="en-IN" dirty="0"/>
              <a:t>: iSCSI protocol - network components - and connectivity - Link aggregation - switch aggregation - and VLAN - FCIP protocol - connectivity - and configuration. 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Fibre Channel over Ethernet SAN</a:t>
            </a:r>
            <a:r>
              <a:rPr lang="en-IN" dirty="0"/>
              <a:t>: Components of </a:t>
            </a:r>
            <a:r>
              <a:rPr lang="en-IN" dirty="0" err="1"/>
              <a:t>FCoE</a:t>
            </a:r>
            <a:r>
              <a:rPr lang="en-IN" dirty="0"/>
              <a:t> SAN - </a:t>
            </a:r>
            <a:r>
              <a:rPr lang="en-IN" dirty="0" err="1"/>
              <a:t>FCoE</a:t>
            </a:r>
            <a:r>
              <a:rPr lang="en-IN" dirty="0"/>
              <a:t> SAN connectivity - Converged Enhanced Ethernet - </a:t>
            </a:r>
            <a:r>
              <a:rPr lang="en-IN" dirty="0" err="1"/>
              <a:t>FCoE</a:t>
            </a:r>
            <a:r>
              <a:rPr lang="en-IN" dirty="0"/>
              <a:t> architecture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84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B4364-7505-42DF-9715-6F816D01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STORAGE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3FC9D-2336-487C-97AE-A5D386090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849"/>
            <a:ext cx="10515600" cy="464611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Storage networking is a dedicated high-speed network that connects servers to storage devices.</a:t>
            </a:r>
          </a:p>
          <a:p>
            <a:pPr algn="just"/>
            <a:r>
              <a:rPr lang="en-US" dirty="0"/>
              <a:t>Unlike traditional storage attached directly to servers, storage networking allows multiple servers to access centralized storage.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Advantages</a:t>
            </a:r>
          </a:p>
          <a:p>
            <a:pPr marL="457200" lvl="1" indent="0">
              <a:buNone/>
            </a:pPr>
            <a:r>
              <a:rPr lang="en-US" dirty="0"/>
              <a:t>Centralized storage management </a:t>
            </a:r>
          </a:p>
          <a:p>
            <a:pPr marL="457200" lvl="1" indent="0">
              <a:buNone/>
            </a:pPr>
            <a:r>
              <a:rPr lang="en-US" dirty="0"/>
              <a:t>High availability </a:t>
            </a:r>
          </a:p>
          <a:p>
            <a:pPr marL="457200" lvl="1" indent="0">
              <a:buNone/>
            </a:pPr>
            <a:r>
              <a:rPr lang="en-US" dirty="0"/>
              <a:t>Faster data access </a:t>
            </a:r>
          </a:p>
          <a:p>
            <a:pPr marL="457200" lvl="1" indent="0">
              <a:buNone/>
            </a:pPr>
            <a:r>
              <a:rPr lang="en-US" dirty="0"/>
              <a:t>Better scalability </a:t>
            </a:r>
          </a:p>
          <a:p>
            <a:pPr marL="457200" lvl="1" indent="0">
              <a:buNone/>
            </a:pPr>
            <a:r>
              <a:rPr lang="en-US" dirty="0"/>
              <a:t>Easy backup and disaster recovery </a:t>
            </a:r>
          </a:p>
          <a:p>
            <a:pPr marL="457200" lvl="1" indent="0">
              <a:buNone/>
            </a:pPr>
            <a:r>
              <a:rPr lang="en-US" dirty="0"/>
              <a:t>Efficient utilization of storage resources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345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EB9E9-AD28-4131-AD81-6CB758E80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STORAGE SYSTEMS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15588-54E5-4403-BDA8-549A1DF26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three major storage access methods:</a:t>
            </a:r>
          </a:p>
          <a:p>
            <a:pPr lvl="1"/>
            <a:r>
              <a:rPr lang="en-US" dirty="0"/>
              <a:t>Block-Based Storage </a:t>
            </a:r>
          </a:p>
          <a:p>
            <a:pPr lvl="1"/>
            <a:r>
              <a:rPr lang="en-US" dirty="0"/>
              <a:t>File-Based Storage </a:t>
            </a:r>
          </a:p>
          <a:p>
            <a:pPr lvl="1"/>
            <a:r>
              <a:rPr lang="en-US" dirty="0"/>
              <a:t>Object-Based Storage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Modern systems combine these into</a:t>
            </a:r>
          </a:p>
          <a:p>
            <a:pPr lvl="1"/>
            <a:r>
              <a:rPr lang="en-US" dirty="0"/>
              <a:t>Unified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3707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F82DE-8FA7-4516-B725-AB3F01724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BLOCK-BASED STORAGE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2D712-36AF-414F-A645-A4F18B03F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8656"/>
            <a:ext cx="10515600" cy="4859677"/>
          </a:xfrm>
        </p:spPr>
        <p:txBody>
          <a:bodyPr>
            <a:normAutofit/>
          </a:bodyPr>
          <a:lstStyle/>
          <a:p>
            <a:r>
              <a:rPr lang="en-US" dirty="0"/>
              <a:t>Block storage stores data as fixed-sized blocks.</a:t>
            </a:r>
          </a:p>
          <a:p>
            <a:r>
              <a:rPr lang="en-US" dirty="0"/>
              <a:t>Each block has a unique address but does not contain file information.</a:t>
            </a:r>
          </a:p>
          <a:p>
            <a:r>
              <a:rPr lang="en-US" dirty="0"/>
              <a:t>The operating system combines these blocks to create files.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pPr lvl="1"/>
            <a:r>
              <a:rPr lang="en-US" dirty="0"/>
              <a:t>No file hierarchy </a:t>
            </a:r>
          </a:p>
          <a:p>
            <a:pPr lvl="1"/>
            <a:r>
              <a:rPr lang="en-US" dirty="0"/>
              <a:t>Storage appears as raw disk </a:t>
            </a:r>
          </a:p>
          <a:p>
            <a:pPr lvl="1"/>
            <a:r>
              <a:rPr lang="en-US" dirty="0"/>
              <a:t>High performance </a:t>
            </a:r>
          </a:p>
          <a:p>
            <a:pPr lvl="1"/>
            <a:r>
              <a:rPr lang="en-US" dirty="0"/>
              <a:t>Low latency </a:t>
            </a:r>
          </a:p>
          <a:p>
            <a:pPr lvl="1"/>
            <a:r>
              <a:rPr lang="en-US" dirty="0"/>
              <a:t>Used in databases </a:t>
            </a:r>
          </a:p>
          <a:p>
            <a:pPr lvl="1"/>
            <a:r>
              <a:rPr lang="en-US" dirty="0"/>
              <a:t>Used in virtualization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947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B834E-4E6C-49B5-8D5B-E33F99D8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BLOCK-BASED STORAGE SYSTEM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60793C-2918-4E27-957E-322EFF293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4701" y="2397836"/>
            <a:ext cx="6855987" cy="374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2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047C-0D98-4570-9A42-CA961E740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BLOCK-BASED STORAGE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63118-A7A6-47FA-95C9-30197950D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220"/>
            <a:ext cx="10515600" cy="5024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pPr marL="457200" lvl="1" indent="0">
              <a:buNone/>
            </a:pPr>
            <a:r>
              <a:rPr lang="en-US" dirty="0"/>
              <a:t>Very fast</a:t>
            </a:r>
          </a:p>
          <a:p>
            <a:pPr marL="457200" lvl="1" indent="0">
              <a:buNone/>
            </a:pPr>
            <a:r>
              <a:rPr lang="en-US" dirty="0"/>
              <a:t>High I/O performance</a:t>
            </a:r>
          </a:p>
          <a:p>
            <a:pPr marL="457200" lvl="1" indent="0">
              <a:buNone/>
            </a:pPr>
            <a:r>
              <a:rPr lang="en-US" dirty="0"/>
              <a:t>Reliable</a:t>
            </a:r>
          </a:p>
          <a:p>
            <a:pPr marL="457200" lvl="1" indent="0">
              <a:buNone/>
            </a:pPr>
            <a:r>
              <a:rPr lang="en-US" dirty="0"/>
              <a:t>Supports clustering</a:t>
            </a:r>
          </a:p>
          <a:p>
            <a:pPr marL="457200" lvl="1" indent="0">
              <a:buNone/>
            </a:pPr>
            <a:r>
              <a:rPr lang="en-US" dirty="0"/>
              <a:t>Suitable for mission-critical applications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pPr marL="457200" lvl="1" indent="0">
              <a:buNone/>
            </a:pPr>
            <a:r>
              <a:rPr lang="en-US" dirty="0"/>
              <a:t>Requires file system management </a:t>
            </a:r>
          </a:p>
          <a:p>
            <a:pPr marL="457200" lvl="1" indent="0">
              <a:buNone/>
            </a:pPr>
            <a:r>
              <a:rPr lang="en-US" dirty="0"/>
              <a:t>Difficult to share directly </a:t>
            </a:r>
          </a:p>
          <a:p>
            <a:pPr marL="457200" lvl="1" indent="0">
              <a:buNone/>
            </a:pPr>
            <a:r>
              <a:rPr lang="en-US" dirty="0"/>
              <a:t>Costlier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884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68D17-AC73-4C98-AF10-7E271996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BLOCK-BASED STORAGE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5C326-B144-42F2-8F63-21A05B5FE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Applications</a:t>
            </a:r>
          </a:p>
          <a:p>
            <a:pPr marL="457200" lvl="1" indent="0">
              <a:buNone/>
            </a:pPr>
            <a:r>
              <a:rPr lang="en-IN" dirty="0"/>
              <a:t>Oracle Database </a:t>
            </a:r>
          </a:p>
          <a:p>
            <a:pPr marL="457200" lvl="1" indent="0">
              <a:buNone/>
            </a:pPr>
            <a:r>
              <a:rPr lang="en-IN" dirty="0"/>
              <a:t>SQL Server </a:t>
            </a:r>
          </a:p>
          <a:p>
            <a:pPr marL="457200" lvl="1" indent="0">
              <a:buNone/>
            </a:pPr>
            <a:r>
              <a:rPr lang="en-IN" dirty="0"/>
              <a:t>VMware Datastores </a:t>
            </a:r>
          </a:p>
          <a:p>
            <a:pPr marL="457200" lvl="1" indent="0">
              <a:buNone/>
            </a:pPr>
            <a:r>
              <a:rPr lang="en-IN" dirty="0"/>
              <a:t>Hyper-V </a:t>
            </a:r>
          </a:p>
          <a:p>
            <a:pPr marL="457200" lvl="1" indent="0">
              <a:buNone/>
            </a:pPr>
            <a:r>
              <a:rPr lang="en-IN" dirty="0"/>
              <a:t>Banking applications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457200" lvl="1" indent="0">
              <a:buNone/>
            </a:pPr>
            <a:r>
              <a:rPr lang="en-US" dirty="0"/>
              <a:t>A bank database stores customer records.</a:t>
            </a:r>
          </a:p>
          <a:p>
            <a:pPr marL="457200" lvl="1" indent="0">
              <a:buNone/>
            </a:pPr>
            <a:r>
              <a:rPr lang="en-US" dirty="0"/>
              <a:t>Every transaction accesses disk blocks directly.</a:t>
            </a:r>
          </a:p>
          <a:p>
            <a:pPr marL="457200" lvl="1" indent="0">
              <a:buNone/>
            </a:pPr>
            <a:r>
              <a:rPr lang="en-US" dirty="0"/>
              <a:t>This provides extremely fast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233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E1C02-FC81-45B0-8C1A-D5E7521E2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FILE-BASED STORAGE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EC7CB-E32D-4E63-99DC-E04EED5DE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File storage stores information in files organized into folders.</a:t>
            </a:r>
          </a:p>
          <a:p>
            <a:pPr marL="0" indent="0">
              <a:buNone/>
            </a:pPr>
            <a:r>
              <a:rPr lang="en-US" dirty="0"/>
              <a:t>Users access files through file names instead of block addresses.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File Sharing Protocols</a:t>
            </a:r>
          </a:p>
          <a:p>
            <a:pPr marL="0" indent="0">
              <a:buNone/>
            </a:pPr>
            <a:r>
              <a:rPr lang="en-US" b="1" dirty="0"/>
              <a:t>NFS</a:t>
            </a:r>
          </a:p>
          <a:p>
            <a:pPr marL="457200" lvl="1" indent="0">
              <a:buNone/>
            </a:pPr>
            <a:r>
              <a:rPr lang="en-US" dirty="0"/>
              <a:t>Network File System</a:t>
            </a:r>
          </a:p>
          <a:p>
            <a:pPr marL="457200" lvl="1" indent="0">
              <a:buNone/>
            </a:pPr>
            <a:r>
              <a:rPr lang="en-US" dirty="0"/>
              <a:t>Used mainly in Linux and UNIX.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SMB/CIFS</a:t>
            </a:r>
          </a:p>
          <a:p>
            <a:pPr marL="457200" lvl="1" indent="0">
              <a:buNone/>
            </a:pPr>
            <a:r>
              <a:rPr lang="en-US" dirty="0"/>
              <a:t>Server Message Block</a:t>
            </a:r>
          </a:p>
          <a:p>
            <a:pPr marL="457200" lvl="1" indent="0">
              <a:buNone/>
            </a:pPr>
            <a:r>
              <a:rPr lang="en-US" dirty="0"/>
              <a:t>Used mainly in Windows.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618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D903-B788-426E-9D8F-F7E14B9BD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FILE-BASED STORAGE SYSTEM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12A3C1-DC4F-48D0-94A6-0F6982FC9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8670" y="2416887"/>
            <a:ext cx="7072493" cy="370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64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FD9D3-42B7-470F-97D6-B17149F64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FILE-BASED STORAGE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0DFF1-E901-4FE2-A92B-B3C0358CE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pPr marL="457200" lvl="1" indent="0">
              <a:buNone/>
            </a:pPr>
            <a:r>
              <a:rPr lang="en-US" dirty="0"/>
              <a:t>Easy to manage </a:t>
            </a:r>
          </a:p>
          <a:p>
            <a:pPr marL="457200" lvl="1" indent="0">
              <a:buNone/>
            </a:pPr>
            <a:r>
              <a:rPr lang="en-US" dirty="0"/>
              <a:t>Easy file sharing </a:t>
            </a:r>
          </a:p>
          <a:p>
            <a:pPr marL="457200" lvl="1" indent="0">
              <a:buNone/>
            </a:pPr>
            <a:r>
              <a:rPr lang="en-US" dirty="0"/>
              <a:t>Supports permissions </a:t>
            </a:r>
          </a:p>
          <a:p>
            <a:pPr marL="457200" lvl="1" indent="0">
              <a:buNone/>
            </a:pPr>
            <a:r>
              <a:rPr lang="en-US" dirty="0"/>
              <a:t>Human-readable hierarchy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pPr marL="457200" lvl="1" indent="0">
              <a:buNone/>
            </a:pPr>
            <a:r>
              <a:rPr lang="en-US" dirty="0"/>
              <a:t>Slower than block storage </a:t>
            </a:r>
          </a:p>
          <a:p>
            <a:pPr marL="457200" lvl="1" indent="0">
              <a:buNone/>
            </a:pPr>
            <a:r>
              <a:rPr lang="en-US" dirty="0"/>
              <a:t>Metadata overhead </a:t>
            </a:r>
          </a:p>
          <a:p>
            <a:pPr marL="457200" lvl="1" indent="0">
              <a:buNone/>
            </a:pPr>
            <a:r>
              <a:rPr lang="en-US" dirty="0"/>
              <a:t>Less suitable for databases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6544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6F1C-AE55-4D95-8C40-E0989B447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FILE-BASED STORAGE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E5811-66B1-415C-BB8C-428A6391A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Applications</a:t>
            </a:r>
          </a:p>
          <a:p>
            <a:pPr marL="457200" lvl="1" indent="0">
              <a:buNone/>
            </a:pPr>
            <a:r>
              <a:rPr lang="en-US" dirty="0"/>
              <a:t>File servers </a:t>
            </a:r>
          </a:p>
          <a:p>
            <a:pPr marL="457200" lvl="1" indent="0">
              <a:buNone/>
            </a:pPr>
            <a:r>
              <a:rPr lang="en-US" dirty="0"/>
              <a:t>Home directories </a:t>
            </a:r>
          </a:p>
          <a:p>
            <a:pPr marL="457200" lvl="1" indent="0">
              <a:buNone/>
            </a:pPr>
            <a:r>
              <a:rPr lang="en-US" dirty="0"/>
              <a:t>Office documents </a:t>
            </a:r>
          </a:p>
          <a:p>
            <a:pPr marL="457200" lvl="1" indent="0">
              <a:buNone/>
            </a:pPr>
            <a:r>
              <a:rPr lang="en-US" dirty="0"/>
              <a:t>Shared folders </a:t>
            </a:r>
          </a:p>
          <a:p>
            <a:pPr marL="457200" lvl="1" indent="0">
              <a:buNone/>
            </a:pPr>
            <a:r>
              <a:rPr lang="en-US" dirty="0"/>
              <a:t>Multimedia storage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457200" lvl="1" indent="0">
              <a:buNone/>
            </a:pPr>
            <a:r>
              <a:rPr lang="en-US" dirty="0"/>
              <a:t>College staff share question papers using a common network folder.</a:t>
            </a:r>
          </a:p>
          <a:p>
            <a:pPr marL="457200" lvl="1" indent="0">
              <a:buNone/>
            </a:pPr>
            <a:r>
              <a:rPr lang="en-US" dirty="0"/>
              <a:t>Everyone accesses files using filenames.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9659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65BF4-E952-45B7-8356-99539EBC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OBJECT-BASED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89453-B7A1-459C-9A6A-3110D4CB8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457200" lvl="1" indent="0">
              <a:buNone/>
            </a:pPr>
            <a:r>
              <a:rPr lang="en-US" dirty="0"/>
              <a:t>Object storage stores information as independent objects.</a:t>
            </a:r>
          </a:p>
          <a:p>
            <a:pPr marL="457200" lvl="1" indent="0">
              <a:buNone/>
            </a:pPr>
            <a:r>
              <a:rPr lang="en-US" dirty="0"/>
              <a:t>Each object contains</a:t>
            </a:r>
          </a:p>
          <a:p>
            <a:pPr marL="457200" lvl="1" indent="0">
              <a:buNone/>
            </a:pPr>
            <a:r>
              <a:rPr lang="en-US" dirty="0"/>
              <a:t>Data </a:t>
            </a:r>
          </a:p>
          <a:p>
            <a:pPr marL="457200" lvl="1" indent="0">
              <a:buNone/>
            </a:pPr>
            <a:r>
              <a:rPr lang="en-US" dirty="0"/>
              <a:t>Metadata </a:t>
            </a:r>
          </a:p>
          <a:p>
            <a:pPr marL="457200" lvl="1" indent="0">
              <a:buNone/>
            </a:pPr>
            <a:r>
              <a:rPr lang="en-US" dirty="0"/>
              <a:t>Unique Object ID</a:t>
            </a:r>
          </a:p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pPr marL="457200" lvl="1" indent="0">
              <a:buNone/>
            </a:pPr>
            <a:r>
              <a:rPr lang="en-US" dirty="0"/>
              <a:t>No folders required </a:t>
            </a:r>
          </a:p>
          <a:p>
            <a:pPr marL="457200" lvl="1" indent="0">
              <a:buNone/>
            </a:pPr>
            <a:r>
              <a:rPr lang="en-US" dirty="0"/>
              <a:t>Flat namespace </a:t>
            </a:r>
          </a:p>
          <a:p>
            <a:pPr marL="457200" lvl="1" indent="0">
              <a:buNone/>
            </a:pPr>
            <a:r>
              <a:rPr lang="en-US" dirty="0"/>
              <a:t>Massive scalability </a:t>
            </a:r>
          </a:p>
          <a:p>
            <a:pPr marL="457200" lvl="1" indent="0">
              <a:buNone/>
            </a:pPr>
            <a:r>
              <a:rPr lang="en-US" dirty="0"/>
              <a:t>Rich metadata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147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3557-B714-468A-8EF2-CF562FA31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OBJECT-BASED STORAGE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16BF5E-DC16-47B6-8289-5B85FA0B5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9161" y="2162874"/>
            <a:ext cx="7353678" cy="367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40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A387-B1B5-4DD5-B2A0-3D493F8BF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OBJECT-BASED STORAGE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B9BE8-7F16-46C7-8C8A-B74C0090C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pPr marL="457200" lvl="1" indent="0">
              <a:buNone/>
            </a:pPr>
            <a:r>
              <a:rPr lang="en-US" dirty="0"/>
              <a:t>Unlimited scalability </a:t>
            </a:r>
          </a:p>
          <a:p>
            <a:pPr marL="457200" lvl="1" indent="0">
              <a:buNone/>
            </a:pPr>
            <a:r>
              <a:rPr lang="en-US" dirty="0"/>
              <a:t>Cost-effective </a:t>
            </a:r>
          </a:p>
          <a:p>
            <a:pPr marL="457200" lvl="1" indent="0">
              <a:buNone/>
            </a:pPr>
            <a:r>
              <a:rPr lang="en-US" dirty="0"/>
              <a:t>Cloud ready </a:t>
            </a:r>
          </a:p>
          <a:p>
            <a:pPr marL="457200" lvl="1" indent="0">
              <a:buNone/>
            </a:pPr>
            <a:r>
              <a:rPr lang="en-US" dirty="0"/>
              <a:t>Highly durable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pPr marL="457200" lvl="1" indent="0">
              <a:buNone/>
            </a:pPr>
            <a:r>
              <a:rPr lang="en-US" dirty="0"/>
              <a:t>Higher latency </a:t>
            </a:r>
          </a:p>
          <a:p>
            <a:pPr marL="457200" lvl="1" indent="0">
              <a:buNone/>
            </a:pPr>
            <a:r>
              <a:rPr lang="en-US" dirty="0"/>
              <a:t>Not suitable for databases </a:t>
            </a:r>
          </a:p>
          <a:p>
            <a:pPr marL="457200" lvl="1" indent="0">
              <a:buNone/>
            </a:pPr>
            <a:r>
              <a:rPr lang="en-US" dirty="0"/>
              <a:t>Cannot be mounted as normal disk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678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C4EA5-EA22-4EE8-826A-9F91F6AA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OBJECT-BASED STORAGE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DE402-1DD9-422D-BCD3-F0222FE28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Applications</a:t>
            </a:r>
          </a:p>
          <a:p>
            <a:pPr marL="457200" lvl="1" indent="0">
              <a:buNone/>
            </a:pPr>
            <a:r>
              <a:rPr lang="en-US" dirty="0"/>
              <a:t>Cloud storage </a:t>
            </a:r>
          </a:p>
          <a:p>
            <a:pPr marL="457200" lvl="1" indent="0">
              <a:buNone/>
            </a:pPr>
            <a:r>
              <a:rPr lang="en-US" dirty="0"/>
              <a:t>Backup archives </a:t>
            </a:r>
          </a:p>
          <a:p>
            <a:pPr marL="457200" lvl="1" indent="0">
              <a:buNone/>
            </a:pPr>
            <a:r>
              <a:rPr lang="en-US" dirty="0"/>
              <a:t>Video streaming </a:t>
            </a:r>
          </a:p>
          <a:p>
            <a:pPr marL="457200" lvl="1" indent="0">
              <a:buNone/>
            </a:pPr>
            <a:r>
              <a:rPr lang="en-US" dirty="0"/>
              <a:t>AI datasets </a:t>
            </a:r>
          </a:p>
          <a:p>
            <a:pPr marL="457200" lvl="1" indent="0">
              <a:buNone/>
            </a:pPr>
            <a:r>
              <a:rPr lang="en-US" dirty="0"/>
              <a:t>IoT data</a:t>
            </a:r>
          </a:p>
          <a:p>
            <a:pPr marL="0" indent="0">
              <a:buNone/>
            </a:pPr>
            <a:r>
              <a:rPr lang="en-US" b="1" dirty="0"/>
              <a:t>Examples</a:t>
            </a:r>
          </a:p>
          <a:p>
            <a:pPr marL="457200" lvl="1" indent="0">
              <a:buNone/>
            </a:pPr>
            <a:r>
              <a:rPr lang="en-US" dirty="0"/>
              <a:t>Amazon S3 </a:t>
            </a:r>
          </a:p>
          <a:p>
            <a:pPr marL="457200" lvl="1" indent="0">
              <a:buNone/>
            </a:pPr>
            <a:r>
              <a:rPr lang="en-US" dirty="0"/>
              <a:t>OpenStack Swift </a:t>
            </a:r>
          </a:p>
          <a:p>
            <a:pPr marL="457200" lvl="1" indent="0">
              <a:buNone/>
            </a:pPr>
            <a:r>
              <a:rPr lang="en-US" dirty="0" err="1"/>
              <a:t>MinIO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5942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5B9A-16E3-429C-9DFE-23F847CC8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UNIFIED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6D813-A9FD-4C94-82C2-DD364413F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Unified Storage supports both</a:t>
            </a:r>
          </a:p>
          <a:p>
            <a:pPr lvl="1"/>
            <a:r>
              <a:rPr lang="en-US" dirty="0"/>
              <a:t>Block Storage </a:t>
            </a:r>
          </a:p>
          <a:p>
            <a:pPr lvl="1"/>
            <a:r>
              <a:rPr lang="en-US" dirty="0"/>
              <a:t>File Storage </a:t>
            </a:r>
          </a:p>
          <a:p>
            <a:pPr marL="0" indent="0">
              <a:buNone/>
            </a:pPr>
            <a:r>
              <a:rPr lang="en-US" dirty="0"/>
              <a:t>using a single storage array.</a:t>
            </a:r>
          </a:p>
          <a:p>
            <a:pPr marL="0" indent="0">
              <a:buNone/>
            </a:pPr>
            <a:r>
              <a:rPr lang="en-US" b="1" dirty="0"/>
              <a:t>Benefits</a:t>
            </a:r>
          </a:p>
          <a:p>
            <a:pPr lvl="1"/>
            <a:r>
              <a:rPr lang="en-US" dirty="0"/>
              <a:t>Single management interface, Reduced hardware cost </a:t>
            </a:r>
          </a:p>
          <a:p>
            <a:pPr lvl="1"/>
            <a:r>
              <a:rPr lang="en-US" dirty="0"/>
              <a:t>Better storage utilization and Easy scalability</a:t>
            </a:r>
          </a:p>
          <a:p>
            <a:pPr marL="0" indent="0">
              <a:buNone/>
            </a:pPr>
            <a:r>
              <a:rPr lang="fr-FR" b="1" dirty="0"/>
              <a:t>Applications</a:t>
            </a:r>
          </a:p>
          <a:p>
            <a:pPr lvl="1"/>
            <a:r>
              <a:rPr lang="fr-FR" dirty="0" err="1"/>
              <a:t>Universities</a:t>
            </a:r>
            <a:r>
              <a:rPr lang="fr-FR" dirty="0"/>
              <a:t>, </a:t>
            </a:r>
            <a:r>
              <a:rPr lang="fr-FR" dirty="0" err="1"/>
              <a:t>Hospitals</a:t>
            </a:r>
            <a:r>
              <a:rPr lang="fr-FR" dirty="0"/>
              <a:t>, </a:t>
            </a:r>
            <a:r>
              <a:rPr lang="fr-FR" dirty="0" err="1"/>
              <a:t>Enterprises</a:t>
            </a:r>
            <a:r>
              <a:rPr lang="fr-FR" dirty="0"/>
              <a:t>, Cloud </a:t>
            </a:r>
            <a:r>
              <a:rPr lang="fr-FR" dirty="0" err="1"/>
              <a:t>environments</a:t>
            </a:r>
            <a:endParaRPr lang="fr-FR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9848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77DC9-7408-4F15-82E2-C3FA137F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Storage Vs Object Storage Vs File Storage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1E5E5F-E604-4F88-9835-FF4586E137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189" y="1345915"/>
            <a:ext cx="8517276" cy="505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5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4B5F4-BCF2-446D-B649-FFBE47E5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of Storage Systems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F9E686-5D6D-4FE3-A2F1-04F030C31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5249" y="1690688"/>
            <a:ext cx="7058347" cy="408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12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CCA6-021B-41C0-821A-4F3CB8478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of Storage Systems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806844-CAC0-4E99-A170-564FD34E46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0137245"/>
              </p:ext>
            </p:extLst>
          </p:nvPr>
        </p:nvGraphicFramePr>
        <p:xfrm>
          <a:off x="838200" y="1690688"/>
          <a:ext cx="10515600" cy="493688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308875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556373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65797061"/>
                    </a:ext>
                  </a:extLst>
                </a:gridCol>
              </a:tblGrid>
              <a:tr h="717987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 Storage</a:t>
                      </a:r>
                      <a:endParaRPr lang="en-IN" sz="20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95250" marB="9525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Storage</a:t>
                      </a:r>
                      <a:endParaRPr lang="en-IN" sz="20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Storage</a:t>
                      </a:r>
                      <a:endParaRPr lang="en-IN" sz="20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552478"/>
                  </a:ext>
                </a:extLst>
              </a:tr>
              <a:tr h="1292012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</a:rPr>
                        <a:t>Divides data into fixed-size blocks, each with a unique identifier.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</a:rPr>
                        <a:t>Stores data as objects with metadata and a unique ID in a flat structure.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>
                          <a:effectLst/>
                        </a:rPr>
                        <a:t>Organizes data in a hierarchical structure of files and folders.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943490806"/>
                  </a:ext>
                </a:extLst>
              </a:tr>
              <a:tr h="163487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</a:rPr>
                        <a:t>Ideal for databases, virtual machines, and transactional workloads requiring high performance.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</a:rPr>
                        <a:t>Best for storing large amounts of unstructured data, like multimedia files or backups.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</a:rPr>
                        <a:t>Suitable for structured file storage and shared file access, such as documents and spreadsheets.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657311006"/>
                  </a:ext>
                </a:extLst>
              </a:tr>
              <a:tr h="1292012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>
                          <a:effectLst/>
                        </a:rPr>
                        <a:t>High performance and low latency, especially for read/write operations.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>
                          <a:effectLst/>
                        </a:rPr>
                        <a:t>Optimised for scalability and durability, not real-time performance.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</a:rPr>
                        <a:t>Moderate performance; dependent on file system and storage device.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4817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022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28678-A819-47CC-AAFF-716CB98BF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4317FC-F6D6-481A-8CDD-006A46DE74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8647871"/>
              </p:ext>
            </p:extLst>
          </p:nvPr>
        </p:nvGraphicFramePr>
        <p:xfrm>
          <a:off x="838200" y="1183022"/>
          <a:ext cx="10515600" cy="36869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471973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947552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47433277"/>
                    </a:ext>
                  </a:extLst>
                </a:gridCol>
              </a:tblGrid>
              <a:tr h="120500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</a:rPr>
                        <a:t>Scales well but may require  manual configuration for capacity expansion.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</a:rPr>
                        <a:t>Highly scalable; can handle massive amounts of data across distributed systems.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>
                          <a:effectLst/>
                        </a:rPr>
                        <a:t>Limited scalability compared to object storage; suitable for smaller systems.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57201465"/>
                  </a:ext>
                </a:extLst>
              </a:tr>
              <a:tr h="120500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>
                          <a:effectLst/>
                        </a:rPr>
                        <a:t>Minimal metadata, often handled by the application layer.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</a:rPr>
                        <a:t>Extensive metadata stored with each object, enabling advanced search and analytics.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>
                          <a:effectLst/>
                        </a:rPr>
                        <a:t>Basic metadata, such as file name, type, and permissions.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669493659"/>
                  </a:ext>
                </a:extLst>
              </a:tr>
              <a:tr h="120500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</a:rPr>
                        <a:t>Requires manual backup or snapshot configurations for data durability.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</a:rPr>
                        <a:t>Highly durable with built-in redundancy across multiple locations.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</a:rPr>
                        <a:t>Data durability depends on the underlying file system and backup strategies.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92832788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8EA553-D91B-4087-83BE-69798530B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848378"/>
              </p:ext>
            </p:extLst>
          </p:nvPr>
        </p:nvGraphicFramePr>
        <p:xfrm>
          <a:off x="838200" y="365125"/>
          <a:ext cx="10515600" cy="8178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931311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694844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98694190"/>
                    </a:ext>
                  </a:extLst>
                </a:gridCol>
              </a:tblGrid>
              <a:tr h="81789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 Storage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95250" marB="95250" anchor="b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Storage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Storage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b"/>
                </a:tc>
                <a:extLst>
                  <a:ext uri="{0D108BD9-81ED-4DB2-BD59-A6C34878D82A}">
                    <a16:rowId xmlns:a16="http://schemas.microsoft.com/office/drawing/2014/main" val="293482498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B82819C-3E27-4E30-B373-59460AB66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3261"/>
              </p:ext>
            </p:extLst>
          </p:nvPr>
        </p:nvGraphicFramePr>
        <p:xfrm>
          <a:off x="838200" y="4869958"/>
          <a:ext cx="10515600" cy="122307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4815491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221431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02598602"/>
                    </a:ext>
                  </a:extLst>
                </a:gridCol>
              </a:tblGrid>
              <a:tr h="121234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 EBS, Google Persistent Disks, SAN (Storage Area Network).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 S3, Azure Blob Storage, Google Cloud Storage.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75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Attached Storage (NAS), Shared Drives, Local File Systems.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600365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321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33A8D-E8A5-4061-86DB-1045D3831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Fibre Channel SAN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4B317-2148-4C4B-805E-3B28357EB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011"/>
            <a:ext cx="10515600" cy="47899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/>
              <a:t>Introduction to Fibre Channel SAN</a:t>
            </a:r>
          </a:p>
          <a:p>
            <a:r>
              <a:rPr lang="en-US" dirty="0"/>
              <a:t>A </a:t>
            </a:r>
            <a:r>
              <a:rPr lang="en-US" b="1" dirty="0"/>
              <a:t>Storage Area Network (SAN)</a:t>
            </a:r>
            <a:r>
              <a:rPr lang="en-US" dirty="0"/>
              <a:t> is a dedicated high-speed network that provides </a:t>
            </a:r>
            <a:r>
              <a:rPr lang="en-US" b="1" dirty="0"/>
              <a:t>block-level access to storage devices</a:t>
            </a:r>
            <a:r>
              <a:rPr lang="en-US" dirty="0"/>
              <a:t> such as disk arrays, SSDs, and tape libraries.</a:t>
            </a:r>
          </a:p>
          <a:p>
            <a:endParaRPr lang="en-US" dirty="0"/>
          </a:p>
          <a:p>
            <a:r>
              <a:rPr lang="en-US" dirty="0"/>
              <a:t>Unlike a traditional LAN, which mainly connects users and applications to servers, a SAN connects:</a:t>
            </a:r>
          </a:p>
          <a:p>
            <a:pPr marL="457200" lvl="1" indent="0">
              <a:buNone/>
            </a:pPr>
            <a:r>
              <a:rPr lang="en-US" b="1" dirty="0"/>
              <a:t>Servers → SAN switches → Storage systems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The server sees SAN storage as if it were a locally attached disk.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u="sng" dirty="0"/>
              <a:t>Example</a:t>
            </a:r>
          </a:p>
          <a:p>
            <a:pPr marL="0" indent="0">
              <a:buNone/>
            </a:pPr>
            <a:r>
              <a:rPr lang="en-US" dirty="0"/>
              <a:t>Consider a company with 100 application servers and a large storage array.</a:t>
            </a:r>
          </a:p>
          <a:p>
            <a:pPr marL="0" indent="0">
              <a:buNone/>
            </a:pPr>
            <a:r>
              <a:rPr lang="en-US" dirty="0"/>
              <a:t>Instead of connecting every server directly to the storage system: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440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74B3-5FDE-4F10-AEC3-DDF1DB053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FC Switch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A6D03C-B959-4BBA-8D18-A7166B92E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233" y="1825625"/>
            <a:ext cx="7729533" cy="4351338"/>
          </a:xfrm>
        </p:spPr>
      </p:pic>
    </p:spTree>
    <p:extLst>
      <p:ext uri="{BB962C8B-B14F-4D97-AF65-F5344CB8AC3E}">
        <p14:creationId xmlns:p14="http://schemas.microsoft.com/office/powerpoint/2010/main" val="3122742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99849-9744-44E5-BA07-F92E2D2B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What is Fibre Channel?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D5B95-3403-4753-8EFF-811EAAF15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Fibre Channel (FC)</a:t>
            </a:r>
            <a:r>
              <a:rPr lang="en-US" dirty="0"/>
              <a:t> is a high-speed networking technology designed primarily for transporting </a:t>
            </a:r>
            <a:r>
              <a:rPr lang="en-US" b="1" dirty="0"/>
              <a:t>storage traffic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It is widely used to implement SANs because it provides:</a:t>
            </a:r>
          </a:p>
          <a:p>
            <a:pPr marL="457200" lvl="1" indent="0">
              <a:buNone/>
            </a:pPr>
            <a:r>
              <a:rPr lang="en-US" dirty="0"/>
              <a:t>High bandwidth </a:t>
            </a:r>
          </a:p>
          <a:p>
            <a:pPr marL="457200" lvl="1" indent="0">
              <a:buNone/>
            </a:pPr>
            <a:r>
              <a:rPr lang="en-US" dirty="0"/>
              <a:t>Low latency </a:t>
            </a:r>
          </a:p>
          <a:p>
            <a:pPr marL="457200" lvl="1" indent="0">
              <a:buNone/>
            </a:pPr>
            <a:r>
              <a:rPr lang="en-US" dirty="0"/>
              <a:t>High reliability </a:t>
            </a:r>
          </a:p>
          <a:p>
            <a:pPr marL="457200" lvl="1" indent="0">
              <a:buNone/>
            </a:pPr>
            <a:r>
              <a:rPr lang="en-US" dirty="0"/>
              <a:t>Deterministic performance </a:t>
            </a:r>
          </a:p>
          <a:p>
            <a:pPr marL="457200" lvl="1" indent="0">
              <a:buNone/>
            </a:pPr>
            <a:r>
              <a:rPr lang="en-US" dirty="0"/>
              <a:t>Low error rates </a:t>
            </a:r>
          </a:p>
          <a:p>
            <a:pPr marL="457200" lvl="1" indent="0">
              <a:buNone/>
            </a:pPr>
            <a:r>
              <a:rPr lang="en-US" dirty="0"/>
              <a:t>Support for long-distance connectivity </a:t>
            </a:r>
          </a:p>
          <a:p>
            <a:pPr marL="457200" lvl="1" indent="0">
              <a:buNone/>
            </a:pPr>
            <a:r>
              <a:rPr lang="en-US" dirty="0"/>
              <a:t>Dedicated storage networking </a:t>
            </a:r>
          </a:p>
          <a:p>
            <a:pPr marL="457200" lvl="1" indent="0">
              <a:buNone/>
            </a:pPr>
            <a:r>
              <a:rPr lang="en-US" dirty="0"/>
              <a:t>Multiple communication protocols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4594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C45E-A68E-4FE1-8E65-315731B1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What is Fibre Channel?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8B513-A1F4-4A46-8C1F-162541A9D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the name contains "Fibre", Fibre Channel can operate over:</a:t>
            </a:r>
          </a:p>
          <a:p>
            <a:pPr lvl="1"/>
            <a:r>
              <a:rPr lang="en-US" dirty="0"/>
              <a:t>Optical </a:t>
            </a:r>
            <a:r>
              <a:rPr lang="en-US" dirty="0" err="1"/>
              <a:t>fibre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Copper cables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Important Point</a:t>
            </a:r>
          </a:p>
          <a:p>
            <a:pPr lvl="1"/>
            <a:r>
              <a:rPr lang="en-US" b="1" dirty="0"/>
              <a:t>Fibre Channel is not the same as Fibre Optic.</a:t>
            </a:r>
            <a:endParaRPr lang="en-US" dirty="0"/>
          </a:p>
          <a:p>
            <a:pPr lvl="1"/>
            <a:r>
              <a:rPr lang="en-US" dirty="0"/>
              <a:t>Fibre Channel is a </a:t>
            </a:r>
            <a:r>
              <a:rPr lang="en-US" b="1" dirty="0"/>
              <a:t>networking protocol and technology</a:t>
            </a:r>
            <a:r>
              <a:rPr lang="en-US" dirty="0"/>
              <a:t>, whereas </a:t>
            </a:r>
            <a:r>
              <a:rPr lang="en-US" dirty="0" err="1"/>
              <a:t>fibre</a:t>
            </a:r>
            <a:r>
              <a:rPr lang="en-US" dirty="0"/>
              <a:t> optic is a </a:t>
            </a:r>
            <a:r>
              <a:rPr lang="en-US" b="1" dirty="0"/>
              <a:t>physical transmission medium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3648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450B-4B04-4F92-BD80-C359418A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Why Fibre Channel is Used in SAN?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01CFB-B756-4BE8-BAAE-43018BF10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915"/>
            <a:ext cx="10515600" cy="51469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Traditional storage connectivity has limitations.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b="1" dirty="0"/>
              <a:t>Direct-Attached Storage (DAS)</a:t>
            </a:r>
          </a:p>
          <a:p>
            <a:pPr marL="0" indent="0">
              <a:buNone/>
            </a:pPr>
            <a:r>
              <a:rPr lang="en-IN" dirty="0"/>
              <a:t>Server ───── Storage</a:t>
            </a:r>
          </a:p>
          <a:p>
            <a:pPr marL="0" indent="0">
              <a:buNone/>
            </a:pPr>
            <a:r>
              <a:rPr lang="en-US" dirty="0"/>
              <a:t>Only a limited number of servers can directly access the storage.</a:t>
            </a:r>
          </a:p>
          <a:p>
            <a:pPr marL="0" indent="0">
              <a:buNone/>
            </a:pPr>
            <a:r>
              <a:rPr lang="en-US" dirty="0"/>
              <a:t>With FC SAN:</a:t>
            </a:r>
          </a:p>
          <a:p>
            <a:pPr marL="0" indent="0">
              <a:buNone/>
            </a:pPr>
            <a:r>
              <a:rPr lang="en-US" dirty="0"/>
              <a:t>Multiple servers can access centralized storage.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27A56-0C94-4CF3-AAB5-6E216A21C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922" y="4856095"/>
            <a:ext cx="2189689" cy="163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622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EF1A0-FC37-4A25-85C8-791262175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Software-Defined Networking (SDN)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FAF1-A090-4D96-A394-B33484A0B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447"/>
            <a:ext cx="10515600" cy="52394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Software-Defined Networking (SDN)</a:t>
            </a:r>
            <a:r>
              <a:rPr lang="en-US" dirty="0"/>
              <a:t> is a networking approach where the </a:t>
            </a:r>
            <a:r>
              <a:rPr lang="en-US" b="1" dirty="0"/>
              <a:t>control of the network is separated from the hardware that forwards data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Normally, a network switch decides where packets should go.</a:t>
            </a:r>
          </a:p>
          <a:p>
            <a:pPr marL="0" indent="0">
              <a:buNone/>
            </a:pPr>
            <a:r>
              <a:rPr lang="en-US" dirty="0"/>
              <a:t>In SDN:</a:t>
            </a:r>
          </a:p>
          <a:p>
            <a:pPr marL="0" indent="0">
              <a:buNone/>
            </a:pPr>
            <a:r>
              <a:rPr lang="en-US" b="1" dirty="0"/>
              <a:t>SDN Controller → controls → Network Switches</a:t>
            </a:r>
          </a:p>
          <a:p>
            <a:pPr marL="0" indent="0">
              <a:buNone/>
            </a:pPr>
            <a:r>
              <a:rPr lang="en-US" b="1" dirty="0"/>
              <a:t>Two important planes</a:t>
            </a:r>
          </a:p>
          <a:p>
            <a:pPr marL="0" indent="0">
              <a:buNone/>
            </a:pPr>
            <a:r>
              <a:rPr lang="en-US" b="1" dirty="0"/>
              <a:t>1. Control Plane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Decides </a:t>
            </a:r>
            <a:r>
              <a:rPr lang="en-US" b="1" dirty="0"/>
              <a:t>where the data should go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Managed centrally by the </a:t>
            </a:r>
            <a:r>
              <a:rPr lang="en-US" b="1" dirty="0"/>
              <a:t>SDN controller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b="1" dirty="0"/>
              <a:t>2. Data Plane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Actually </a:t>
            </a:r>
            <a:r>
              <a:rPr lang="en-US" b="1" dirty="0"/>
              <a:t>forwards the data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Implemented by switches/routers.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6506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9140D-CD27-48E8-9579-B04447F4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SDN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8AD00D-0E5B-41D9-9F94-06A2733C7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944" y="1825625"/>
            <a:ext cx="65061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03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AB338-5AFC-4FCD-8740-85A30D96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Software-Defined Networking (SDN)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4712A-76B0-4CDE-AA02-C4DCF8598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Simple example</a:t>
            </a:r>
          </a:p>
          <a:p>
            <a:pPr marL="0" indent="0">
              <a:buNone/>
            </a:pPr>
            <a:r>
              <a:rPr lang="en-US" dirty="0"/>
              <a:t>Imagine a traffic police control room:</a:t>
            </a:r>
          </a:p>
          <a:p>
            <a:pPr lvl="1"/>
            <a:r>
              <a:rPr lang="en-US" b="1" dirty="0"/>
              <a:t>Control room = SDN Controller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Roads = Network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Traffic signals = Switches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Vehicles = Data packets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The control room decides how traffic should flow, while the signals and roads handle the actual movement.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89837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0E2C-559E-484F-A5E6-5B4C0E28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 SAN Components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F200F-0FB2-4956-9BD9-2176B1594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221"/>
            <a:ext cx="10515600" cy="4674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major components of an FC SAN are:</a:t>
            </a:r>
          </a:p>
          <a:p>
            <a:pPr marL="0" indent="0">
              <a:buNone/>
            </a:pPr>
            <a:r>
              <a:rPr lang="en-US" b="1" dirty="0"/>
              <a:t>1. Host / Server</a:t>
            </a:r>
          </a:p>
          <a:p>
            <a:pPr marL="0" indent="0">
              <a:buNone/>
            </a:pPr>
            <a:r>
              <a:rPr lang="en-US" dirty="0"/>
              <a:t>The server that needs access to storage.</a:t>
            </a:r>
          </a:p>
          <a:p>
            <a:pPr marL="0" indent="0">
              <a:buNone/>
            </a:pPr>
            <a:r>
              <a:rPr lang="en-IN" b="1" dirty="0"/>
              <a:t>Examples:</a:t>
            </a:r>
          </a:p>
          <a:p>
            <a:pPr marL="0" indent="0">
              <a:buNone/>
            </a:pPr>
            <a:r>
              <a:rPr lang="en-IN" dirty="0"/>
              <a:t>Database servers , Application servers , Web servers , Virtualization servers, Backup servers</a:t>
            </a:r>
          </a:p>
          <a:p>
            <a:pPr marL="0" indent="0">
              <a:buNone/>
            </a:pPr>
            <a:r>
              <a:rPr lang="en-US" b="1" dirty="0"/>
              <a:t>The host runs an operating system such as:</a:t>
            </a:r>
          </a:p>
          <a:p>
            <a:pPr marL="0" indent="0">
              <a:buNone/>
            </a:pPr>
            <a:r>
              <a:rPr lang="en-US" dirty="0"/>
              <a:t>Windows Server, Linux , VMware </a:t>
            </a:r>
            <a:r>
              <a:rPr lang="en-US" dirty="0" err="1"/>
              <a:t>ESXi</a:t>
            </a:r>
            <a:r>
              <a:rPr lang="en-US" dirty="0"/>
              <a:t>, Unix</a:t>
            </a:r>
          </a:p>
          <a:p>
            <a:pPr marL="0" indent="0">
              <a:buNone/>
            </a:pPr>
            <a:r>
              <a:rPr lang="en-US" dirty="0"/>
              <a:t>The host does not normally connect directly to the FC cable. It requires an </a:t>
            </a:r>
            <a:r>
              <a:rPr lang="en-US" b="1" dirty="0"/>
              <a:t>HBA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0055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48542-4D79-464D-90C2-475EE23F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HBA – Host Bus Adapter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E3588-78BC-4730-8A98-3812F29D4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78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Host Bus Adapter (HBA)</a:t>
            </a:r>
            <a:r>
              <a:rPr lang="en-US" dirty="0"/>
              <a:t> is a hardware interface installed in a server that provides connectivity between the server and the Fibre Channel SAN.</a:t>
            </a:r>
          </a:p>
          <a:p>
            <a:pPr marL="0" indent="0">
              <a:buNone/>
            </a:pPr>
            <a:r>
              <a:rPr lang="en-US" dirty="0"/>
              <a:t>It is similar in concept to a network interface card (NIC), but it is designed specifically for storage connectivity.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CBFFC5-B534-4228-BAB5-D1466E9A6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519972"/>
              </p:ext>
            </p:extLst>
          </p:nvPr>
        </p:nvGraphicFramePr>
        <p:xfrm>
          <a:off x="838200" y="4001294"/>
          <a:ext cx="10515600" cy="2362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030044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87813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HBA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631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server to 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server to SAN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603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Carries network traffic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Carries storage traffic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648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Ethernet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Fibre Channel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414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identified by MAC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 devices have WWNs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692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606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CF57D-8155-48AD-A12C-0B3543E3B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HBA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85D68-C968-402A-A832-A1A6331E1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The HBA:</a:t>
            </a:r>
          </a:p>
          <a:p>
            <a:pPr lvl="1"/>
            <a:r>
              <a:rPr lang="en-US" dirty="0"/>
              <a:t>Connects the server to FC fabric. </a:t>
            </a:r>
          </a:p>
          <a:p>
            <a:pPr lvl="1"/>
            <a:r>
              <a:rPr lang="en-US" dirty="0"/>
              <a:t>Converts server I/O requests into Fibre Channel frames. </a:t>
            </a:r>
          </a:p>
          <a:p>
            <a:pPr lvl="1"/>
            <a:r>
              <a:rPr lang="en-US" dirty="0"/>
              <a:t>Receives Fibre Channel frames from the SAN. </a:t>
            </a:r>
          </a:p>
          <a:p>
            <a:pPr lvl="1"/>
            <a:r>
              <a:rPr lang="en-US" dirty="0"/>
              <a:t>Provides FC port identification. </a:t>
            </a:r>
          </a:p>
          <a:p>
            <a:pPr lvl="1"/>
            <a:r>
              <a:rPr lang="en-US" dirty="0"/>
              <a:t>Supports high-speed data transfer. </a:t>
            </a:r>
          </a:p>
          <a:p>
            <a:pPr lvl="1"/>
            <a:r>
              <a:rPr lang="en-US" dirty="0"/>
              <a:t>Offloads some storage processing from the CPU.</a:t>
            </a:r>
          </a:p>
          <a:p>
            <a:r>
              <a:rPr lang="en-US" b="1" dirty="0"/>
              <a:t>Dual-port HBA</a:t>
            </a:r>
          </a:p>
          <a:p>
            <a:pPr lvl="1"/>
            <a:r>
              <a:rPr lang="en-US" dirty="0"/>
              <a:t>Servers commonly use </a:t>
            </a:r>
            <a:r>
              <a:rPr lang="en-US" b="1" dirty="0"/>
              <a:t>dual-port HBAs</a:t>
            </a:r>
            <a:r>
              <a:rPr lang="en-US" dirty="0"/>
              <a:t> for redundancy.</a:t>
            </a:r>
          </a:p>
          <a:p>
            <a:pPr lvl="1"/>
            <a:r>
              <a:rPr lang="en-US" dirty="0"/>
              <a:t>If one path fails, the other path can continue carrying storage traffic.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C74CC7-D7C3-4191-B6FA-1FF1A7533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620" y="2802277"/>
            <a:ext cx="1422745" cy="255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337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963C-CA24-4708-BE41-CDB585409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307"/>
            <a:ext cx="10515600" cy="1325563"/>
          </a:xfrm>
        </p:spPr>
        <p:txBody>
          <a:bodyPr/>
          <a:lstStyle/>
          <a:p>
            <a:r>
              <a:rPr lang="en-US" dirty="0"/>
              <a:t>3. FC Switch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3DB2B-C964-4F7C-84F4-1E46B4EA1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6867"/>
            <a:ext cx="10515600" cy="558914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FC switch</a:t>
            </a:r>
            <a:r>
              <a:rPr lang="en-US" dirty="0"/>
              <a:t> is one of the most important components of an FC SAN.</a:t>
            </a:r>
          </a:p>
          <a:p>
            <a:pPr marL="0" indent="0">
              <a:buNone/>
            </a:pPr>
            <a:r>
              <a:rPr lang="en-US" dirty="0"/>
              <a:t>It connects:</a:t>
            </a:r>
          </a:p>
          <a:p>
            <a:pPr lvl="1"/>
            <a:r>
              <a:rPr lang="en-US" dirty="0"/>
              <a:t>Servers </a:t>
            </a:r>
          </a:p>
          <a:p>
            <a:pPr lvl="1"/>
            <a:r>
              <a:rPr lang="en-US" dirty="0"/>
              <a:t>Storage arrays </a:t>
            </a:r>
          </a:p>
          <a:p>
            <a:pPr lvl="1"/>
            <a:r>
              <a:rPr lang="en-US" dirty="0"/>
              <a:t>Other FC switches </a:t>
            </a:r>
          </a:p>
          <a:p>
            <a:pPr lvl="1"/>
            <a:r>
              <a:rPr lang="en-US" dirty="0"/>
              <a:t>and creates the </a:t>
            </a:r>
            <a:r>
              <a:rPr lang="en-US" b="1" dirty="0"/>
              <a:t>Fibre Channel fabric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Functions of an FC switch</a:t>
            </a:r>
          </a:p>
          <a:p>
            <a:pPr marL="0" indent="0">
              <a:buNone/>
            </a:pPr>
            <a:r>
              <a:rPr lang="en-US" dirty="0"/>
              <a:t>The switch:</a:t>
            </a:r>
          </a:p>
          <a:p>
            <a:pPr marL="457200" lvl="1" indent="0">
              <a:buNone/>
            </a:pPr>
            <a:r>
              <a:rPr lang="en-US" dirty="0"/>
              <a:t>Connects FC devices. </a:t>
            </a:r>
          </a:p>
          <a:p>
            <a:pPr marL="457200" lvl="1" indent="0">
              <a:buNone/>
            </a:pPr>
            <a:r>
              <a:rPr lang="en-US" dirty="0"/>
              <a:t>Creates communication paths. </a:t>
            </a:r>
          </a:p>
          <a:p>
            <a:pPr marL="457200" lvl="1" indent="0">
              <a:buNone/>
            </a:pPr>
            <a:r>
              <a:rPr lang="en-US" dirty="0"/>
              <a:t>Forwards FC frames. </a:t>
            </a:r>
          </a:p>
          <a:p>
            <a:pPr marL="457200" lvl="1" indent="0">
              <a:buNone/>
            </a:pPr>
            <a:r>
              <a:rPr lang="en-US" dirty="0"/>
              <a:t>Maintains fabric information. </a:t>
            </a:r>
          </a:p>
          <a:p>
            <a:pPr marL="457200" lvl="1" indent="0">
              <a:buNone/>
            </a:pPr>
            <a:r>
              <a:rPr lang="en-US" dirty="0"/>
              <a:t>Supports zoning. </a:t>
            </a:r>
          </a:p>
          <a:p>
            <a:pPr marL="457200" lvl="1" indent="0">
              <a:buNone/>
            </a:pPr>
            <a:r>
              <a:rPr lang="en-US" dirty="0"/>
              <a:t>Provides high-speed switching. </a:t>
            </a:r>
          </a:p>
          <a:p>
            <a:pPr marL="457200" lvl="1" indent="0">
              <a:buNone/>
            </a:pPr>
            <a:r>
              <a:rPr lang="en-US" dirty="0"/>
              <a:t>Supports multiple simultaneous connections. </a:t>
            </a:r>
          </a:p>
          <a:p>
            <a:pPr marL="457200" lvl="1" indent="0">
              <a:buNone/>
            </a:pPr>
            <a:r>
              <a:rPr lang="en-US" dirty="0"/>
              <a:t>Provides redundancy when multiple switches are deployed.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C079E6-09A7-40A5-BCF6-513BD2763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683" y="3038247"/>
            <a:ext cx="3517001" cy="148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502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9EE0-071C-49B7-A9A5-507AAE3C5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Storage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76E0A-3845-4141-95A0-599EBC6D4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011"/>
            <a:ext cx="10515600" cy="5105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A </a:t>
            </a:r>
            <a:r>
              <a:rPr lang="en-US" b="1" dirty="0"/>
              <a:t>storage array</a:t>
            </a:r>
            <a:r>
              <a:rPr lang="en-US" dirty="0"/>
              <a:t> is a centralized storage system that provides storage capacity to multiple servers.</a:t>
            </a:r>
          </a:p>
          <a:p>
            <a:pPr marL="0" indent="0">
              <a:buNone/>
            </a:pPr>
            <a:r>
              <a:rPr lang="en-US" dirty="0"/>
              <a:t>Examples of storage resources include:</a:t>
            </a:r>
          </a:p>
          <a:p>
            <a:pPr lvl="1"/>
            <a:r>
              <a:rPr lang="en-US" dirty="0"/>
              <a:t>HDDs </a:t>
            </a:r>
          </a:p>
          <a:p>
            <a:pPr lvl="1"/>
            <a:r>
              <a:rPr lang="en-US" dirty="0"/>
              <a:t>SSDs </a:t>
            </a:r>
          </a:p>
          <a:p>
            <a:pPr lvl="1"/>
            <a:r>
              <a:rPr lang="en-US" dirty="0"/>
              <a:t>Flash drives </a:t>
            </a:r>
          </a:p>
          <a:p>
            <a:pPr lvl="1"/>
            <a:r>
              <a:rPr lang="en-US" dirty="0"/>
              <a:t>RAID groups </a:t>
            </a:r>
          </a:p>
          <a:p>
            <a:pPr lvl="1"/>
            <a:r>
              <a:rPr lang="en-US" dirty="0"/>
              <a:t>Storage pools </a:t>
            </a:r>
          </a:p>
          <a:p>
            <a:pPr marL="0" indent="0">
              <a:buNone/>
            </a:pPr>
            <a:r>
              <a:rPr lang="en-US" dirty="0"/>
              <a:t>A storage array generally contains: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BAD436-8CC9-4841-BC67-12F7800A0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795" y="4178808"/>
            <a:ext cx="2630184" cy="239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492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8639-B885-40B3-97F1-F17322D4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3754"/>
            <a:ext cx="10515600" cy="1325563"/>
          </a:xfrm>
        </p:spPr>
        <p:txBody>
          <a:bodyPr/>
          <a:lstStyle/>
          <a:p>
            <a:r>
              <a:rPr lang="en-US" dirty="0"/>
              <a:t>5. Fibre Channel Ports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5AE5C8-AF84-4FE5-AED4-79E1FFDF31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9694465"/>
              </p:ext>
            </p:extLst>
          </p:nvPr>
        </p:nvGraphicFramePr>
        <p:xfrm>
          <a:off x="424665" y="1027905"/>
          <a:ext cx="11342670" cy="5306598"/>
        </p:xfrm>
        <a:graphic>
          <a:graphicData uri="http://schemas.openxmlformats.org/drawingml/2006/table">
            <a:tbl>
              <a:tblPr/>
              <a:tblGrid>
                <a:gridCol w="2400728">
                  <a:extLst>
                    <a:ext uri="{9D8B030D-6E8A-4147-A177-3AD203B41FA5}">
                      <a16:colId xmlns:a16="http://schemas.microsoft.com/office/drawing/2014/main" val="178540928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634351680"/>
                    </a:ext>
                  </a:extLst>
                </a:gridCol>
                <a:gridCol w="5284342">
                  <a:extLst>
                    <a:ext uri="{9D8B030D-6E8A-4147-A177-3AD203B41FA5}">
                      <a16:colId xmlns:a16="http://schemas.microsoft.com/office/drawing/2014/main" val="3517608569"/>
                    </a:ext>
                  </a:extLst>
                </a:gridCol>
              </a:tblGrid>
              <a:tr h="436069">
                <a:tc>
                  <a:txBody>
                    <a:bodyPr/>
                    <a:lstStyle/>
                    <a:p>
                      <a:r>
                        <a:rPr lang="en-IN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Form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Purpose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88515"/>
                  </a:ext>
                </a:extLst>
              </a:tr>
              <a:tr h="638252">
                <a:tc>
                  <a:txBody>
                    <a:bodyPr/>
                    <a:lstStyle/>
                    <a:p>
                      <a:r>
                        <a:rPr lang="en-IN" sz="2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N_Port</a:t>
                      </a:r>
                      <a:endParaRPr lang="en-IN" sz="2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 Port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an end device to the FC fabric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26525"/>
                  </a:ext>
                </a:extLst>
              </a:tr>
              <a:tr h="638252">
                <a:tc>
                  <a:txBody>
                    <a:bodyPr/>
                    <a:lstStyle/>
                    <a:p>
                      <a:r>
                        <a:rPr lang="en-IN" sz="2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NL_Port</a:t>
                      </a:r>
                      <a:endParaRPr lang="en-IN" sz="2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 Loop Port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an end device to an FC-AL loop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116571"/>
                  </a:ext>
                </a:extLst>
              </a:tr>
              <a:tr h="436069">
                <a:tc>
                  <a:txBody>
                    <a:bodyPr/>
                    <a:lstStyle/>
                    <a:p>
                      <a:r>
                        <a:rPr lang="en-IN" sz="2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F_Port</a:t>
                      </a:r>
                      <a:endParaRPr lang="en-IN" sz="2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Fabric Port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an N_Port to an FC switch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01478"/>
                  </a:ext>
                </a:extLst>
              </a:tr>
              <a:tr h="638252">
                <a:tc>
                  <a:txBody>
                    <a:bodyPr/>
                    <a:lstStyle/>
                    <a:p>
                      <a:r>
                        <a:rPr lang="en-IN" sz="2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FL_Port</a:t>
                      </a:r>
                      <a:endParaRPr lang="en-IN" sz="2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Fabric Loop Port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an FC-AL loop to an FC switch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782787"/>
                  </a:ext>
                </a:extLst>
              </a:tr>
              <a:tr h="436069">
                <a:tc>
                  <a:txBody>
                    <a:bodyPr/>
                    <a:lstStyle/>
                    <a:p>
                      <a:r>
                        <a:rPr lang="en-IN" sz="2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E_Port</a:t>
                      </a:r>
                      <a:endParaRPr lang="en-IN" sz="2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Expansion Port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two FC switches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517420"/>
                  </a:ext>
                </a:extLst>
              </a:tr>
              <a:tr h="638252">
                <a:tc>
                  <a:txBody>
                    <a:bodyPr/>
                    <a:lstStyle/>
                    <a:p>
                      <a:r>
                        <a:rPr lang="en-IN" sz="2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EX_Port</a:t>
                      </a:r>
                      <a:endParaRPr lang="en-IN" sz="2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 Router Expansion Port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an FC switch to an FC router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14550"/>
                  </a:ext>
                </a:extLst>
              </a:tr>
              <a:tr h="638252">
                <a:tc>
                  <a:txBody>
                    <a:bodyPr/>
                    <a:lstStyle/>
                    <a:p>
                      <a:r>
                        <a:rPr lang="en-IN" sz="2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TE_Port</a:t>
                      </a:r>
                      <a:endParaRPr lang="en-IN" sz="2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Trunking E_Port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trunking between switches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23966"/>
                  </a:ext>
                </a:extLst>
              </a:tr>
              <a:tr h="780959">
                <a:tc>
                  <a:txBody>
                    <a:bodyPr/>
                    <a:lstStyle/>
                    <a:p>
                      <a:r>
                        <a:rPr lang="en-IN" sz="2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VE_Port</a:t>
                      </a:r>
                      <a:endParaRPr lang="en-IN" sz="2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</a:t>
                      </a:r>
                      <a:r>
                        <a:rPr lang="en-IN" sz="2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E_Port</a:t>
                      </a:r>
                      <a:endParaRPr lang="en-IN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virtual/FCIP-based inter-switch connectivity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860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1557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7E95-0DFA-4679-9B44-0CCD240D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Fibre Channel Cables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DB920-DBEE-4039-88ED-6EC0B7D99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609"/>
            <a:ext cx="10515600" cy="560969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FC SAN uses specialized physical media.</a:t>
            </a:r>
          </a:p>
          <a:p>
            <a:pPr marL="0" indent="0">
              <a:buNone/>
            </a:pPr>
            <a:r>
              <a:rPr lang="en-US" dirty="0"/>
              <a:t>The common media are:</a:t>
            </a:r>
          </a:p>
          <a:p>
            <a:pPr marL="0" indent="0">
              <a:buNone/>
            </a:pPr>
            <a:r>
              <a:rPr lang="en-US" b="1" dirty="0" err="1"/>
              <a:t>i</a:t>
            </a:r>
            <a:r>
              <a:rPr lang="en-US" b="1" dirty="0"/>
              <a:t>) Fibre Optic Cable</a:t>
            </a:r>
          </a:p>
          <a:p>
            <a:pPr marL="0" indent="0">
              <a:buNone/>
            </a:pPr>
            <a:r>
              <a:rPr lang="en-US" dirty="0"/>
              <a:t>Used extensively in data centers.</a:t>
            </a:r>
          </a:p>
          <a:p>
            <a:pPr marL="0" indent="0">
              <a:buNone/>
            </a:pPr>
            <a:r>
              <a:rPr lang="en-US" dirty="0"/>
              <a:t>Advantages:</a:t>
            </a:r>
          </a:p>
          <a:p>
            <a:pPr marL="0" indent="0">
              <a:buNone/>
            </a:pPr>
            <a:r>
              <a:rPr lang="en-US" dirty="0"/>
              <a:t>High bandwidth, Long-distance transmission,</a:t>
            </a:r>
          </a:p>
          <a:p>
            <a:pPr marL="0" indent="0">
              <a:buNone/>
            </a:pPr>
            <a:r>
              <a:rPr lang="en-US" dirty="0"/>
              <a:t>Low electromagnetic interference, High reliability </a:t>
            </a:r>
          </a:p>
          <a:p>
            <a:pPr marL="0" indent="0">
              <a:buNone/>
            </a:pPr>
            <a:r>
              <a:rPr lang="en-US" dirty="0"/>
              <a:t>Two common types are:</a:t>
            </a:r>
          </a:p>
          <a:p>
            <a:pPr marL="457200" lvl="1" indent="0">
              <a:buNone/>
            </a:pPr>
            <a:r>
              <a:rPr lang="en-US" b="1" dirty="0"/>
              <a:t>Multimode fiber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b="1" dirty="0"/>
              <a:t>Single-mode fiber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ii) Copper Cable</a:t>
            </a:r>
          </a:p>
          <a:p>
            <a:pPr marL="0" indent="0">
              <a:buNone/>
            </a:pPr>
            <a:r>
              <a:rPr lang="en-US" dirty="0"/>
              <a:t>Copper-based FC connections may be used for shorter distances, although optical fiber is common in modern SAN environments.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492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D6F2B-B198-4B50-AB7B-F591F9A4F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FC SAN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89E79-2705-4125-853E-88C1A46FB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Point-to-point Architecture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FC-Arbitrated Loop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FC-Switch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63485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960C-B076-453A-B6DD-7259FB049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Point-to-point Architecture: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2777B-A00F-4D2F-9DA9-BCCC7B6DA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910" y="1342739"/>
            <a:ext cx="10515600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In this configuration, two nodes are connected directly to each other. This configuration provides a dedicated connection for data transmission between nodes. However, the point-to-point configuration offers limited connectivity and scalability and is used in a DAS environment.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F2FEF-B460-4DD7-A21F-6454B3B6CF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879" y="3205537"/>
            <a:ext cx="7543371" cy="320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0652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F806-F14E-4496-BD40-69BE8F791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FC-Arbitrated Loop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E2452-5464-43E5-947D-75354DF97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207"/>
            <a:ext cx="10515600" cy="5057668"/>
          </a:xfrm>
        </p:spPr>
        <p:txBody>
          <a:bodyPr/>
          <a:lstStyle/>
          <a:p>
            <a:pPr algn="just"/>
            <a:r>
              <a:rPr lang="en-US" dirty="0"/>
              <a:t>In this configuration, the devices are attached to a shared loop. Each device contends with other devices to perform I/O operations. The devices on the loop must “arbitrate” to gain control of the loop. At any given time, only one device can perform I/O operations on the loop. Because each device in a loop must wait for its turn to process an I/O request, the overall performance in FC-AL environments is low. 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7D4F7-AF4C-438C-B740-670B235F4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950" y="3550149"/>
            <a:ext cx="74041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9091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5F00-EA1B-4A8E-B736-209150D9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FC-Arbitrated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2B1BF-C147-4AD1-9AF7-B90ECEEB9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Further, adding or removing a device results in loop re-initialization, which can cause a momentary pause in loop traffic. As a loop configuration, FC-AL can be implemented without any interconnecting devices by directly connecting one device to another two devices in a ring through cables. However, FC-AL implementations may also use FC hubs through which the arbitrated loop is physically connected in a star topology.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74688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38AE3-1A3D-4F1B-ADDF-7EBB0FEF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3754"/>
            <a:ext cx="10515600" cy="1325563"/>
          </a:xfrm>
        </p:spPr>
        <p:txBody>
          <a:bodyPr/>
          <a:lstStyle/>
          <a:p>
            <a:r>
              <a:rPr lang="en-US" u="sng" dirty="0"/>
              <a:t>FC-Switch: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78E61-A010-4824-8397-FA981010C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119" y="1466030"/>
            <a:ext cx="10515600" cy="4351338"/>
          </a:xfrm>
        </p:spPr>
        <p:txBody>
          <a:bodyPr/>
          <a:lstStyle/>
          <a:p>
            <a:pPr algn="just"/>
            <a:r>
              <a:rPr lang="en-US" dirty="0"/>
              <a:t>It involves a single FC switch or a network of FC switches (including FC directors) to interconnect the nodes. It is also referred to as fabric connect. A fabric is a logical space in which all nodes communicate with one another in a network. In a fabric, the link between any two switches is called an Interswitch link (ISL). ISLs enable switches to be connected together to form a single, larger fabric. 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56EC1C-D299-4F13-A436-786CC1F62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357" y="4001294"/>
            <a:ext cx="71628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6448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7B0F-FAFE-4BAB-ADCE-0EFDA459C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FC-Switch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68AAB1-4BA5-464E-BE5B-1A8BF122BF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357884" cy="432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Direct Communication: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an FC-SW (Fibre Channel Switched Fabric), each node communicates through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dedicated path using switches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Nodes do not share a common loop.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Scalability: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 nodes can be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easily added or removed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from the fabric without disturbing the communication between other nodes.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Fabric Services: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FC switches operate up to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FC-2 layer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provide important services such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Name Server, </a:t>
            </a:r>
            <a:r>
              <a:rPr lang="en-IN" b="1" dirty="0"/>
              <a:t>Zoning, and Time Synchronization</a:t>
            </a:r>
            <a:r>
              <a:rPr lang="en-IN" dirty="0"/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99201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1A37C-BBFA-491E-B8AE-5AE2EB2DA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FC-Switch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D4A7C-BB8D-445E-939E-150706048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64" y="1602340"/>
            <a:ext cx="11419367" cy="4543277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/>
              <a:t>Inter-Switch Link (ISL):</a:t>
            </a:r>
            <a:br>
              <a:rPr lang="en-US" altLang="en-US" dirty="0"/>
            </a:br>
            <a:r>
              <a:rPr lang="en-US" altLang="en-US" dirty="0"/>
              <a:t>When multiple FC switches are connected, they use an </a:t>
            </a:r>
            <a:r>
              <a:rPr lang="en-US" altLang="en-US" b="1" dirty="0"/>
              <a:t>ISL</a:t>
            </a:r>
            <a:r>
              <a:rPr lang="en-US" altLang="en-US" dirty="0"/>
              <a:t>. ISLs allow multiple switches to join together and form a </a:t>
            </a:r>
            <a:r>
              <a:rPr lang="en-US" altLang="en-US" b="1" dirty="0"/>
              <a:t>single common fabric</a:t>
            </a:r>
            <a:r>
              <a:rPr lang="en-US" altLang="en-US" dirty="0"/>
              <a:t>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/>
              <a:t>ISL Bonding:</a:t>
            </a:r>
            <a:br>
              <a:rPr lang="en-US" altLang="en-US" dirty="0"/>
            </a:br>
            <a:r>
              <a:rPr lang="en-US" altLang="en-US" dirty="0"/>
              <a:t>Multiple ISLs can be combined into a </a:t>
            </a:r>
            <a:r>
              <a:rPr lang="en-US" altLang="en-US" b="1" dirty="0"/>
              <a:t>logical ISL</a:t>
            </a:r>
            <a:r>
              <a:rPr lang="en-US" altLang="en-US" dirty="0"/>
              <a:t>. This increases </a:t>
            </a:r>
            <a:r>
              <a:rPr lang="en-US" altLang="en-US" b="1" dirty="0"/>
              <a:t>bandwidth</a:t>
            </a:r>
            <a:r>
              <a:rPr lang="en-US" altLang="en-US" dirty="0"/>
              <a:t>, provides </a:t>
            </a:r>
            <a:r>
              <a:rPr lang="en-US" altLang="en-US" b="1" dirty="0"/>
              <a:t>load balancing</a:t>
            </a:r>
            <a:r>
              <a:rPr lang="en-US" altLang="en-US" dirty="0"/>
              <a:t>, and improves </a:t>
            </a:r>
            <a:r>
              <a:rPr lang="en-US" altLang="en-US" b="1" dirty="0"/>
              <a:t>availability/reliability</a:t>
            </a:r>
            <a:r>
              <a:rPr lang="en-US" altLang="en-US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5136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ED98-AF99-43BF-AC1A-B2A5F2AA4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in FC SAN Environment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676C7-D0E7-4B79-B4E5-244C7138E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30849"/>
            <a:ext cx="10751049" cy="516790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/>
              <a:t>1. Introduction</a:t>
            </a:r>
          </a:p>
          <a:p>
            <a:pPr marL="0" indent="0" algn="just">
              <a:buNone/>
            </a:pPr>
            <a:r>
              <a:rPr lang="en-US" sz="2600" b="1" dirty="0"/>
              <a:t>Virtualization in a Fibre Channel (FC) SAN environment</a:t>
            </a:r>
            <a:r>
              <a:rPr lang="en-US" sz="2600" dirty="0"/>
              <a:t> is the technique of abstracting physical storage resources, servers, and FC connectivity so that applications can use storage without needing to know the exact physical location of the storage device.</a:t>
            </a:r>
          </a:p>
          <a:p>
            <a:pPr marL="0" indent="0" algn="just">
              <a:buNone/>
            </a:pPr>
            <a:r>
              <a:rPr lang="en-US" sz="2600" dirty="0"/>
              <a:t>In a traditional FC SAN, a server is connected through an </a:t>
            </a:r>
            <a:r>
              <a:rPr lang="en-US" sz="2600" b="1" dirty="0"/>
              <a:t>HBA (Host Bus Adapter)</a:t>
            </a:r>
            <a:r>
              <a:rPr lang="en-US" sz="2600" dirty="0"/>
              <a:t> to an FC switch, which connects it to a storage array.</a:t>
            </a:r>
          </a:p>
          <a:p>
            <a:pPr marL="0" indent="0" algn="just">
              <a:buNone/>
            </a:pPr>
            <a:endParaRPr lang="en-US" sz="2600" dirty="0"/>
          </a:p>
          <a:p>
            <a:pPr marL="0" indent="0" algn="just">
              <a:buNone/>
            </a:pPr>
            <a:r>
              <a:rPr lang="en-US" sz="2600" dirty="0"/>
              <a:t>With virtualization, the physical storage infrastructure is abstracted into logical resources such as:</a:t>
            </a:r>
          </a:p>
          <a:p>
            <a:pPr marL="0" indent="0" algn="just">
              <a:buNone/>
            </a:pPr>
            <a:r>
              <a:rPr lang="en-US" sz="2600" dirty="0"/>
              <a:t>Virtual servers, Virtual HBAs, Virtual storage volumes, Virtual ports, Virtual switches, Virtual storage pools, Virtual SANs </a:t>
            </a:r>
          </a:p>
          <a:p>
            <a:pPr marL="0" indent="0" algn="just">
              <a:buNone/>
            </a:pPr>
            <a:r>
              <a:rPr lang="en-US" sz="2600" dirty="0"/>
              <a:t>This improves </a:t>
            </a:r>
            <a:r>
              <a:rPr lang="en-US" sz="2600" b="1" dirty="0"/>
              <a:t>resource utilization, flexibility, scalability, availability, and management</a:t>
            </a:r>
            <a:r>
              <a:rPr lang="en-US" sz="2600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8524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FEACA-535A-4BDD-8AD6-78B7D9571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Virtualization is Required in FC SAN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1589-E810-45AD-906F-17F35B3F4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Large data centers may contain:</a:t>
            </a:r>
          </a:p>
          <a:p>
            <a:pPr lvl="1"/>
            <a:r>
              <a:rPr lang="en-US" dirty="0"/>
              <a:t>Hundreds of physical servers </a:t>
            </a:r>
          </a:p>
          <a:p>
            <a:pPr lvl="1"/>
            <a:r>
              <a:rPr lang="en-US" dirty="0"/>
              <a:t>Multiple FC switches </a:t>
            </a:r>
          </a:p>
          <a:p>
            <a:pPr lvl="1"/>
            <a:r>
              <a:rPr lang="en-US" dirty="0"/>
              <a:t>Multiple storage arrays </a:t>
            </a:r>
          </a:p>
          <a:p>
            <a:pPr lvl="1"/>
            <a:r>
              <a:rPr lang="en-US" dirty="0"/>
              <a:t>Thousands of LUNs </a:t>
            </a:r>
          </a:p>
          <a:p>
            <a:pPr lvl="1"/>
            <a:r>
              <a:rPr lang="en-US" dirty="0"/>
              <a:t>Multiple applications </a:t>
            </a:r>
          </a:p>
          <a:p>
            <a:pPr lvl="1"/>
            <a:r>
              <a:rPr lang="en-US" dirty="0"/>
              <a:t>Virtual machines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Managing these resources individually becomes complex.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3925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F28BE-CEA3-4920-ADA2-01945F0A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Virtualization provides an abstraction layer between physical infrastructure and applications.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188ED-36D0-4E59-9451-E649E1453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Major 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Improve storage utilization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Reduce hardware dependency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Simplify management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Provide flexible resource allocation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Support server consolidation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Improve availability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Enable easier migration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Support disaster recovery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Provide isolation between environments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Reduce operational cost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5513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E3BF2-328A-4E3D-AC7F-AE515121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Virtualization in FC SAN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CC88C-5E97-4019-85CE-66313C4EC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Major types</a:t>
            </a:r>
          </a:p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Server virtualization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Storage virtualization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FC network virtualization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Virtual HBA virtualization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Virtual SAN (VSAN)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Virtual machine storage virtualization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6495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DEC2-39C1-45F4-B019-54B4AD5C5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Server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F45DF-6D5E-465C-A98C-DFCEF8239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0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Server virtualization allows multiple </a:t>
            </a:r>
            <a:r>
              <a:rPr lang="en-IN" b="1" dirty="0"/>
              <a:t>virtual machines (VMs)</a:t>
            </a:r>
            <a:r>
              <a:rPr lang="en-IN" dirty="0"/>
              <a:t> to run on a single physical server.</a:t>
            </a:r>
          </a:p>
          <a:p>
            <a:pPr marL="0" indent="0">
              <a:buNone/>
            </a:pPr>
            <a:r>
              <a:rPr lang="en-IN" dirty="0"/>
              <a:t>A software layer called a </a:t>
            </a:r>
            <a:r>
              <a:rPr lang="en-IN" b="1" dirty="0"/>
              <a:t>hypervisor</a:t>
            </a:r>
            <a:r>
              <a:rPr lang="en-IN" dirty="0"/>
              <a:t> manages the virtual machines.</a:t>
            </a:r>
          </a:p>
          <a:p>
            <a:pPr marL="0" indent="0">
              <a:buNone/>
            </a:pPr>
            <a:r>
              <a:rPr lang="en-IN" dirty="0"/>
              <a:t>Examples of hypervisors include:</a:t>
            </a:r>
          </a:p>
          <a:p>
            <a:r>
              <a:rPr lang="en-IN" dirty="0"/>
              <a:t>VMware </a:t>
            </a:r>
            <a:r>
              <a:rPr lang="en-IN" dirty="0" err="1"/>
              <a:t>ESXi</a:t>
            </a:r>
            <a:r>
              <a:rPr lang="en-IN" dirty="0"/>
              <a:t> (Elastic Sky X Integrated)</a:t>
            </a:r>
          </a:p>
          <a:p>
            <a:r>
              <a:rPr lang="en-IN" dirty="0"/>
              <a:t>Microsoft Hyper-V </a:t>
            </a:r>
          </a:p>
          <a:p>
            <a:r>
              <a:rPr lang="en-IN" dirty="0"/>
              <a:t>KVM (Kernel Based VM)</a:t>
            </a:r>
          </a:p>
          <a:p>
            <a:pPr marL="0" indent="0">
              <a:buNone/>
            </a:pPr>
            <a:r>
              <a:rPr lang="en-US" dirty="0"/>
              <a:t>Instead of having three physical servers, </a:t>
            </a:r>
          </a:p>
          <a:p>
            <a:pPr marL="0" indent="0">
              <a:buNone/>
            </a:pPr>
            <a:r>
              <a:rPr lang="en-US" dirty="0"/>
              <a:t>three virtual machines can run on one physical server.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9FDCE1-57F0-4C9C-941D-59BA067C4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420" y="2678577"/>
            <a:ext cx="2691830" cy="37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003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F4329-D15F-4F92-82CF-AB9842DB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3754"/>
            <a:ext cx="10515600" cy="1325563"/>
          </a:xfrm>
        </p:spPr>
        <p:txBody>
          <a:bodyPr/>
          <a:lstStyle/>
          <a:p>
            <a:r>
              <a:rPr lang="en-US" dirty="0"/>
              <a:t>2. Storage Virtualization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9210F-B337-49F6-BFF6-4541B4ADC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431"/>
            <a:ext cx="10515600" cy="50365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Storage virtualization</a:t>
            </a:r>
            <a:r>
              <a:rPr lang="en-US" dirty="0"/>
              <a:t> combines physical storage resources and presents them as logical storage resources.</a:t>
            </a:r>
          </a:p>
          <a:p>
            <a:pPr marL="0" indent="0">
              <a:buNone/>
            </a:pPr>
            <a:r>
              <a:rPr lang="en-US" dirty="0"/>
              <a:t>The physical storage may be distributed across:</a:t>
            </a:r>
          </a:p>
          <a:p>
            <a:r>
              <a:rPr lang="en-US" dirty="0"/>
              <a:t>Multiple storage arrays </a:t>
            </a:r>
          </a:p>
          <a:p>
            <a:r>
              <a:rPr lang="en-US" dirty="0"/>
              <a:t>Multiple disks </a:t>
            </a:r>
          </a:p>
          <a:p>
            <a:r>
              <a:rPr lang="en-US" dirty="0"/>
              <a:t>Different storage systems </a:t>
            </a:r>
          </a:p>
          <a:p>
            <a:r>
              <a:rPr lang="en-US" dirty="0"/>
              <a:t>Different locations </a:t>
            </a:r>
          </a:p>
          <a:p>
            <a:pPr marL="0" indent="0">
              <a:buNone/>
            </a:pPr>
            <a:r>
              <a:rPr lang="en-US" dirty="0"/>
              <a:t>The user sees a logical storage resource rather than </a:t>
            </a:r>
          </a:p>
          <a:p>
            <a:pPr marL="0" indent="0">
              <a:buNone/>
            </a:pPr>
            <a:r>
              <a:rPr lang="en-US" dirty="0"/>
              <a:t>the physical disks.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storage virtualization layer hides the physical storage details from the host.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E56EB-1EE2-4221-A20C-C906338F4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844" y="1639317"/>
            <a:ext cx="3038218" cy="387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947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234FB-8F3E-4084-B1CC-5CBE5ECA0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FC Network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4315D-0AED-4D27-B1E8-A990264F6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network-based storage virtualization, a virtualization appliance or intelligent network device sits between the servers and storage systems.</a:t>
            </a:r>
          </a:p>
          <a:p>
            <a:r>
              <a:rPr lang="en-US" dirty="0"/>
              <a:t>The virtualization device presents virtual storage resources to hosts while managing the underlying physical storage.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593750-A014-42EE-A95E-814A6BFEC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955" y="3428999"/>
            <a:ext cx="2321960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863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D918-4D03-4CF1-97B4-0FB5FDA9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Virtual HBA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FE6FD-18FE-42F4-B3ED-28A856390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706"/>
            <a:ext cx="10515600" cy="5026257"/>
          </a:xfrm>
        </p:spPr>
        <p:txBody>
          <a:bodyPr/>
          <a:lstStyle/>
          <a:p>
            <a:r>
              <a:rPr lang="en-US" dirty="0"/>
              <a:t>A physical server normally uses an </a:t>
            </a:r>
            <a:r>
              <a:rPr lang="en-US" b="1" dirty="0"/>
              <a:t>HBA (Host Bus Adapter)</a:t>
            </a:r>
            <a:r>
              <a:rPr lang="en-US" dirty="0"/>
              <a:t> to connect to the FC SAN.</a:t>
            </a:r>
          </a:p>
          <a:p>
            <a:r>
              <a:rPr lang="en-US" dirty="0"/>
              <a:t>In a virtualized server environment, a physical HBA can support multiple </a:t>
            </a:r>
            <a:r>
              <a:rPr lang="en-US" b="1" dirty="0"/>
              <a:t>virtual HBAs</a:t>
            </a:r>
            <a:r>
              <a:rPr lang="en-US" dirty="0"/>
              <a:t>.</a:t>
            </a:r>
          </a:p>
          <a:p>
            <a:r>
              <a:rPr lang="en-US" dirty="0"/>
              <a:t>A virtual HBA provides each VM with an identity that allows it to access FC storage.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D108CC-7FE3-483F-8C95-73360FFCF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665" y="3125760"/>
            <a:ext cx="2772975" cy="32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7931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A4B7B-42BF-4C33-A8A9-574391E1C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</a:t>
            </a:r>
            <a:r>
              <a:rPr lang="en-US" dirty="0"/>
              <a:t>Virtual SAN (VSAN)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5A5B8-017E-4DA3-9752-29F4C7E17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737"/>
            <a:ext cx="10515600" cy="4800226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VSAN (Virtual Storage Area Network)</a:t>
            </a:r>
            <a:r>
              <a:rPr lang="en-US" dirty="0"/>
              <a:t> divides a physical FC switch or physical FC fabric into multiple logical SANs.</a:t>
            </a:r>
          </a:p>
          <a:p>
            <a:r>
              <a:rPr lang="en-US" dirty="0"/>
              <a:t>Each VSAN operates as an independent logical fabric.</a:t>
            </a:r>
          </a:p>
          <a:p>
            <a:r>
              <a:rPr lang="en-US" dirty="0"/>
              <a:t>Although VSANs share the same physical switch hardware, their traffic is logically separated.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B6FF4F-ED2B-4E64-8CFF-2C53EEF4D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218" y="3199827"/>
            <a:ext cx="2935365" cy="351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748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DDF6B-DAE5-4D5A-98FD-9AD7F24C6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Operation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491D9-BB9B-439A-B963-FE99D449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334"/>
            <a:ext cx="10515600" cy="555831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Consider a virtual machine </a:t>
            </a:r>
            <a:r>
              <a:rPr lang="en-US" b="1" dirty="0"/>
              <a:t>VM1</a:t>
            </a:r>
            <a:r>
              <a:rPr lang="en-US" dirty="0"/>
              <a:t> that needs to access a database LUN.</a:t>
            </a:r>
          </a:p>
          <a:p>
            <a:pPr marL="0" indent="0">
              <a:buNone/>
            </a:pPr>
            <a:r>
              <a:rPr lang="en-US" b="1" dirty="0"/>
              <a:t>Step 1 – VM requests storage</a:t>
            </a:r>
          </a:p>
          <a:p>
            <a:pPr marL="0" indent="0">
              <a:buNone/>
            </a:pPr>
            <a:r>
              <a:rPr lang="en-US" dirty="0"/>
              <a:t>VM1 sends an I/O request to its virtual disk.</a:t>
            </a:r>
          </a:p>
          <a:p>
            <a:pPr marL="0" indent="0">
              <a:buNone/>
            </a:pPr>
            <a:r>
              <a:rPr lang="en-US" b="1" dirty="0"/>
              <a:t>Step 2 – Hypervisor processes the request</a:t>
            </a:r>
          </a:p>
          <a:p>
            <a:pPr marL="0" indent="0">
              <a:buNone/>
            </a:pPr>
            <a:r>
              <a:rPr lang="en-US" dirty="0"/>
              <a:t>The hypervisor maps the VM's virtual disk to an FC-accessible storage resource.</a:t>
            </a:r>
          </a:p>
          <a:p>
            <a:pPr marL="0" indent="0">
              <a:buNone/>
            </a:pPr>
            <a:r>
              <a:rPr lang="en-US" b="1" dirty="0"/>
              <a:t>Step 3 – Virtual HBA identifies VM</a:t>
            </a:r>
          </a:p>
          <a:p>
            <a:pPr marL="0" indent="0">
              <a:buNone/>
            </a:pPr>
            <a:r>
              <a:rPr lang="en-US" dirty="0"/>
              <a:t>The virtual HBA provides a virtual FC identity, generally represented using a virtual WWPN.</a:t>
            </a:r>
          </a:p>
          <a:p>
            <a:pPr marL="0" indent="0">
              <a:buNone/>
            </a:pPr>
            <a:r>
              <a:rPr lang="en-US" b="1" dirty="0"/>
              <a:t>Step 4 – FC switch receives request</a:t>
            </a:r>
          </a:p>
          <a:p>
            <a:pPr marL="0" indent="0">
              <a:buNone/>
            </a:pPr>
            <a:r>
              <a:rPr lang="en-US" dirty="0"/>
              <a:t>The FC switch identifies the source and destination.</a:t>
            </a:r>
          </a:p>
          <a:p>
            <a:pPr marL="0" indent="0">
              <a:buNone/>
            </a:pPr>
            <a:r>
              <a:rPr lang="en-US" b="1" dirty="0"/>
              <a:t>Step 5 – Zoning is checked</a:t>
            </a:r>
          </a:p>
          <a:p>
            <a:pPr marL="0" indent="0">
              <a:buNone/>
            </a:pPr>
            <a:r>
              <a:rPr lang="en-US" dirty="0"/>
              <a:t>The FC fabric verifies whether VM1 is permitted to access the destination storage port.</a:t>
            </a:r>
          </a:p>
          <a:p>
            <a:pPr marL="0" indent="0">
              <a:buNone/>
            </a:pPr>
            <a:r>
              <a:rPr lang="en-US" b="1" dirty="0"/>
              <a:t>Step 6 – Storage array receives request</a:t>
            </a:r>
          </a:p>
          <a:p>
            <a:pPr marL="0" indent="0">
              <a:buNone/>
            </a:pPr>
            <a:r>
              <a:rPr lang="en-US" dirty="0"/>
              <a:t>The storage array identifies the host through its WWPN.</a:t>
            </a:r>
          </a:p>
          <a:p>
            <a:pPr marL="0" indent="0">
              <a:buNone/>
            </a:pPr>
            <a:r>
              <a:rPr lang="en-US" b="1" dirty="0"/>
              <a:t>Step 7 – LUN masking is applied</a:t>
            </a:r>
          </a:p>
          <a:p>
            <a:pPr marL="0" indent="0">
              <a:buNone/>
            </a:pPr>
            <a:r>
              <a:rPr lang="en-US" dirty="0"/>
              <a:t>The storage system checks whether the host is authorized to access the requested LUN.</a:t>
            </a:r>
          </a:p>
          <a:p>
            <a:pPr marL="0" indent="0">
              <a:buNone/>
            </a:pPr>
            <a:r>
              <a:rPr lang="en-US" b="1" dirty="0"/>
              <a:t>Step 8 – Data is transferred</a:t>
            </a:r>
          </a:p>
          <a:p>
            <a:pPr marL="0" indent="0">
              <a:buNone/>
            </a:pPr>
            <a:r>
              <a:rPr lang="en-US" dirty="0"/>
              <a:t>The requested data travels back through the FC fabric to VM1.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714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3A1B-5B14-4A4F-A862-0A997063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Virtualization and Multipathing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74A17-5EC0-4DCF-B45A-8F4C84495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FC SANs normally use multiple paths for high availability.</a:t>
            </a:r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/>
              <a:t>If one path fails, the other path can continue carrying traffic.</a:t>
            </a:r>
          </a:p>
          <a:p>
            <a:pPr marL="0" indent="0">
              <a:buNone/>
            </a:pPr>
            <a:r>
              <a:rPr lang="en-US" dirty="0"/>
              <a:t>This technique is called </a:t>
            </a:r>
            <a:r>
              <a:rPr lang="en-US" b="1" dirty="0"/>
              <a:t>multipathing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 software component called </a:t>
            </a:r>
            <a:r>
              <a:rPr lang="en-US" b="1" dirty="0"/>
              <a:t>MPIO (Multipath I/O)</a:t>
            </a:r>
            <a:r>
              <a:rPr lang="en-US" dirty="0"/>
              <a:t> or an equivalent multipathing framework manages multiple paths.</a:t>
            </a:r>
          </a:p>
          <a:p>
            <a:pPr marL="0" indent="0">
              <a:buNone/>
            </a:pPr>
            <a:r>
              <a:rPr lang="en-US" b="1" dirty="0"/>
              <a:t>Benefits</a:t>
            </a:r>
          </a:p>
          <a:p>
            <a:pPr lvl="1"/>
            <a:r>
              <a:rPr lang="en-US" dirty="0"/>
              <a:t>High availability </a:t>
            </a:r>
          </a:p>
          <a:p>
            <a:pPr lvl="1"/>
            <a:r>
              <a:rPr lang="en-US" dirty="0"/>
              <a:t>Fault tolerance </a:t>
            </a:r>
          </a:p>
          <a:p>
            <a:pPr lvl="1"/>
            <a:r>
              <a:rPr lang="en-US" dirty="0"/>
              <a:t>Load balancing </a:t>
            </a:r>
          </a:p>
          <a:p>
            <a:pPr lvl="1"/>
            <a:r>
              <a:rPr lang="en-US" dirty="0"/>
              <a:t>Continuous access to storage</a:t>
            </a:r>
          </a:p>
          <a:p>
            <a:endParaRPr lang="en-US" dirty="0"/>
          </a:p>
          <a:p>
            <a:endParaRPr lang="en-US" dirty="0"/>
          </a:p>
          <a:p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D5BFD6-788A-4A5E-802C-030699351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559" y="3893180"/>
            <a:ext cx="2445046" cy="241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273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36AA-F26B-4AA4-B55E-B1E7A0066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64C26-9543-4091-B202-B1A997322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data center with:</a:t>
            </a:r>
          </a:p>
          <a:p>
            <a:r>
              <a:rPr lang="en-US" dirty="0"/>
              <a:t>10 physical servers </a:t>
            </a:r>
          </a:p>
          <a:p>
            <a:r>
              <a:rPr lang="en-US" dirty="0"/>
              <a:t>50 virtual machines </a:t>
            </a:r>
          </a:p>
          <a:p>
            <a:r>
              <a:rPr lang="en-US" dirty="0"/>
              <a:t>2 FC switches </a:t>
            </a:r>
          </a:p>
          <a:p>
            <a:r>
              <a:rPr lang="en-US" dirty="0"/>
              <a:t>3 storage arrays </a:t>
            </a:r>
          </a:p>
          <a:p>
            <a:r>
              <a:rPr lang="en-US" dirty="0"/>
              <a:t>Without virtualization, managing 50 workloads individually would be difficult.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9473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8D2CE-43CA-4E78-9660-7140A68B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With virtualization: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20B04B-F3B3-4E5E-A91A-8748A2BC9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3906" y="1602770"/>
            <a:ext cx="4869949" cy="42311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13394C-5741-445C-A750-1F4BC8DF6440}"/>
              </a:ext>
            </a:extLst>
          </p:cNvPr>
          <p:cNvSpPr/>
          <p:nvPr/>
        </p:nvSpPr>
        <p:spPr>
          <a:xfrm>
            <a:off x="400692" y="6054518"/>
            <a:ext cx="1135294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infrastructure can therefore be managed as logical resources while the physical infrastructure remains shared.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5519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82D36-5418-4971-9247-0C6B2904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Internet Protocol SAN: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DE483-E3D8-4B19-87D2-A5D4E994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/>
              <a:t>iSCSI protocol - network components - and connectivity - Link aggregation - switch aggregation - and VLAN - FCIP protocol - connectivity - and configuration. </a:t>
            </a:r>
          </a:p>
        </p:txBody>
      </p:sp>
    </p:spTree>
    <p:extLst>
      <p:ext uri="{BB962C8B-B14F-4D97-AF65-F5344CB8AC3E}">
        <p14:creationId xmlns:p14="http://schemas.microsoft.com/office/powerpoint/2010/main" val="29479824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300B-BC25-4268-A977-CC2619B10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iSCSI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C3E36-EBA0-4967-8E05-54D87B306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iSCSI (Internet Small Computer Systems Interface)</a:t>
            </a:r>
            <a:r>
              <a:rPr lang="en-US" dirty="0"/>
              <a:t> is a storage networking protocol that allows </a:t>
            </a:r>
            <a:r>
              <a:rPr lang="en-US" b="1" dirty="0"/>
              <a:t>SCSI commands to be transported over an IP network</a:t>
            </a:r>
            <a:r>
              <a:rPr lang="en-US" dirty="0"/>
              <a:t>.</a:t>
            </a:r>
          </a:p>
          <a:p>
            <a:r>
              <a:rPr lang="en-US" dirty="0"/>
              <a:t>In simple terms:</a:t>
            </a:r>
          </a:p>
          <a:p>
            <a:r>
              <a:rPr lang="en-US" dirty="0"/>
              <a:t>iSCSI enables a computer to access storage devices over a standard Ethernet/IP network as if the storage were directly attached to the computer.</a:t>
            </a:r>
          </a:p>
          <a:p>
            <a:r>
              <a:rPr lang="en-US" dirty="0"/>
              <a:t>Traditionally, SCSI devices were connected directly to servers using SCSI cables. iSCSI removes this physical limitation by encapsulating SCSI commands and data inside </a:t>
            </a:r>
            <a:r>
              <a:rPr lang="en-US" b="1" dirty="0"/>
              <a:t>TCP/IP packets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84220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9F73-A0AB-4A27-A646-D8E2413A4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The iSCSI's Internet Protocol System">
            <a:extLst>
              <a:ext uri="{FF2B5EF4-FFF2-40B4-BE49-F238E27FC236}">
                <a16:creationId xmlns:a16="http://schemas.microsoft.com/office/drawing/2014/main" id="{5DF7FDEA-2806-4A9F-BEC6-A1A6733C33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701" y="1825625"/>
            <a:ext cx="7058346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1811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5304-724B-435E-B69E-910C3BFF5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064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3074" name="Picture 2" descr="ISCSI Storage Area Network SCSI Initiator And Target Internet Storage Name Service Internet Protocol PNG">
            <a:extLst>
              <a:ext uri="{FF2B5EF4-FFF2-40B4-BE49-F238E27FC236}">
                <a16:creationId xmlns:a16="http://schemas.microsoft.com/office/drawing/2014/main" id="{29194D52-698B-4C8E-8DE6-D951F884E9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883" y="2070747"/>
            <a:ext cx="769893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9371892-FA33-4C51-8141-FA5342DFC053}"/>
              </a:ext>
            </a:extLst>
          </p:cNvPr>
          <p:cNvSpPr/>
          <p:nvPr/>
        </p:nvSpPr>
        <p:spPr>
          <a:xfrm>
            <a:off x="838201" y="1097439"/>
            <a:ext cx="10515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 sends SCSI commands through the IP network to the storage system. The storage system processes the commands and returns the requested data.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0432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EC09-334E-4757-9677-E3E86867B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79266-8305-42CF-9873-BBE98DD9C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iSCSI stands for Internet Small Computer Systems Interface.</a:t>
            </a:r>
            <a:endParaRPr lang="en-IN" dirty="0"/>
          </a:p>
          <a:p>
            <a:r>
              <a:rPr lang="en-IN" dirty="0"/>
              <a:t>It is an </a:t>
            </a:r>
            <a:r>
              <a:rPr lang="en-IN" b="1" dirty="0"/>
              <a:t>IP-based storage networking protocol</a:t>
            </a:r>
            <a:r>
              <a:rPr lang="en-IN" dirty="0"/>
              <a:t> that provides block-level access to storage devices over TCP/IP networks.</a:t>
            </a:r>
          </a:p>
          <a:p>
            <a:r>
              <a:rPr lang="en-IN" dirty="0"/>
              <a:t>The important idea behind iSCSI is:</a:t>
            </a:r>
          </a:p>
          <a:p>
            <a:r>
              <a:rPr lang="en-IN" b="1" dirty="0"/>
              <a:t>SCSI → encapsulated in iSCSI → transported using TCP → transmitted over IP/Ethernet</a:t>
            </a:r>
            <a:endParaRPr lang="en-IN" dirty="0"/>
          </a:p>
          <a:p>
            <a:r>
              <a:rPr lang="en-IN" dirty="0"/>
              <a:t>Thus, iSCSI combines:</a:t>
            </a:r>
          </a:p>
          <a:p>
            <a:r>
              <a:rPr lang="en-IN" b="1" dirty="0"/>
              <a:t>SCSI</a:t>
            </a:r>
            <a:r>
              <a:rPr lang="en-IN" dirty="0"/>
              <a:t> – storage command set </a:t>
            </a:r>
          </a:p>
          <a:p>
            <a:r>
              <a:rPr lang="en-IN" b="1" dirty="0"/>
              <a:t>iSCSI</a:t>
            </a:r>
            <a:r>
              <a:rPr lang="en-IN" dirty="0"/>
              <a:t> – encapsulation and communication protocol </a:t>
            </a:r>
          </a:p>
          <a:p>
            <a:r>
              <a:rPr lang="en-IN" b="1" dirty="0"/>
              <a:t>TCP</a:t>
            </a:r>
            <a:r>
              <a:rPr lang="en-IN" dirty="0"/>
              <a:t> – reliable transport </a:t>
            </a:r>
          </a:p>
          <a:p>
            <a:r>
              <a:rPr lang="en-IN" b="1" dirty="0"/>
              <a:t>IP</a:t>
            </a:r>
            <a:r>
              <a:rPr lang="en-IN" dirty="0"/>
              <a:t> – network addressing </a:t>
            </a:r>
          </a:p>
          <a:p>
            <a:r>
              <a:rPr lang="en-IN" b="1" dirty="0"/>
              <a:t>Ethernet</a:t>
            </a:r>
            <a:r>
              <a:rPr lang="en-IN" dirty="0"/>
              <a:t> – commonly used physical/network infrastructure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87906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6DAF3-7A6F-4352-82EC-A3FC4D9C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982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1137-4788-486C-A71E-C7F2B97F3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431"/>
            <a:ext cx="10515600" cy="50365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Suppose a server wants to read a block of data from a remote storage device.</a:t>
            </a:r>
          </a:p>
          <a:p>
            <a:pPr marL="0" indent="0">
              <a:buNone/>
            </a:pPr>
            <a:r>
              <a:rPr lang="en-US" dirty="0"/>
              <a:t>The process is approximately:</a:t>
            </a:r>
          </a:p>
          <a:p>
            <a:pPr marL="0" indent="0">
              <a:buNone/>
            </a:pPr>
            <a:r>
              <a:rPr lang="en-IN" dirty="0"/>
              <a:t>Application</a:t>
            </a:r>
          </a:p>
          <a:p>
            <a:pPr marL="0" indent="0">
              <a:buNone/>
            </a:pPr>
            <a:r>
              <a:rPr lang="en-IN" dirty="0"/>
              <a:t>Operating System </a:t>
            </a:r>
          </a:p>
          <a:p>
            <a:pPr marL="0" indent="0">
              <a:buNone/>
            </a:pPr>
            <a:r>
              <a:rPr lang="en-IN" dirty="0"/>
              <a:t>SCSI Command</a:t>
            </a:r>
          </a:p>
          <a:p>
            <a:pPr marL="0" indent="0">
              <a:buNone/>
            </a:pPr>
            <a:r>
              <a:rPr lang="en-IN" dirty="0"/>
              <a:t>iSCSI Encapsulation </a:t>
            </a:r>
          </a:p>
          <a:p>
            <a:pPr marL="0" indent="0">
              <a:buNone/>
            </a:pPr>
            <a:r>
              <a:rPr lang="en-IN" dirty="0"/>
              <a:t>TCP  </a:t>
            </a:r>
          </a:p>
          <a:p>
            <a:pPr marL="0" indent="0">
              <a:buNone/>
            </a:pPr>
            <a:r>
              <a:rPr lang="en-IN" dirty="0"/>
              <a:t>IP  </a:t>
            </a:r>
          </a:p>
          <a:p>
            <a:pPr marL="0" indent="0">
              <a:buNone/>
            </a:pPr>
            <a:r>
              <a:rPr lang="en-IN" dirty="0"/>
              <a:t>Ethernet  </a:t>
            </a:r>
          </a:p>
          <a:p>
            <a:pPr marL="0" indent="0">
              <a:buNone/>
            </a:pPr>
            <a:r>
              <a:rPr lang="en-IN" dirty="0"/>
              <a:t>Network </a:t>
            </a:r>
          </a:p>
          <a:p>
            <a:pPr marL="0" indent="0">
              <a:buNone/>
            </a:pPr>
            <a:r>
              <a:rPr lang="en-IN" dirty="0"/>
              <a:t>iSCSI Target </a:t>
            </a:r>
          </a:p>
          <a:p>
            <a:pPr marL="0" indent="0">
              <a:buNone/>
            </a:pPr>
            <a:r>
              <a:rPr lang="en-IN" dirty="0"/>
              <a:t>Storage Device</a:t>
            </a:r>
          </a:p>
        </p:txBody>
      </p:sp>
    </p:spTree>
    <p:extLst>
      <p:ext uri="{BB962C8B-B14F-4D97-AF65-F5344CB8AC3E}">
        <p14:creationId xmlns:p14="http://schemas.microsoft.com/office/powerpoint/2010/main" val="39949721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E55A-5EF1-42AF-A449-F385E8D03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Why was iSCSI Developed?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CB381-BB94-4D36-9E59-CFEFD6689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8787"/>
            <a:ext cx="10515600" cy="50981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Organizations traditionally used technologies such as </a:t>
            </a:r>
            <a:r>
              <a:rPr lang="en-US" b="1" dirty="0"/>
              <a:t>Fibre Channel (FC)</a:t>
            </a:r>
            <a:r>
              <a:rPr lang="en-US" dirty="0"/>
              <a:t> to build Storage Area Networks (SANs).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Although Fibre Channel provides high-performance storage networking, it generally requires:</a:t>
            </a:r>
          </a:p>
          <a:p>
            <a:pPr lvl="1"/>
            <a:r>
              <a:rPr lang="en-US" dirty="0"/>
              <a:t>Specialized Fibre Channel switches </a:t>
            </a:r>
          </a:p>
          <a:p>
            <a:pPr lvl="1"/>
            <a:r>
              <a:rPr lang="en-US" dirty="0"/>
              <a:t>Fibre Channel host bus adapters </a:t>
            </a:r>
          </a:p>
          <a:p>
            <a:pPr lvl="1"/>
            <a:r>
              <a:rPr lang="en-US" dirty="0"/>
              <a:t>Fibre Channel cables </a:t>
            </a:r>
          </a:p>
          <a:p>
            <a:pPr lvl="1"/>
            <a:r>
              <a:rPr lang="en-US" dirty="0"/>
              <a:t>Specialized knowledge </a:t>
            </a:r>
          </a:p>
          <a:p>
            <a:pPr lvl="1"/>
            <a:r>
              <a:rPr lang="en-US" dirty="0"/>
              <a:t>Additional infrastructure and management </a:t>
            </a:r>
          </a:p>
          <a:p>
            <a:pPr marL="0" indent="0">
              <a:buNone/>
            </a:pPr>
            <a:r>
              <a:rPr lang="en-US" dirty="0"/>
              <a:t>Many organizations already had </a:t>
            </a:r>
            <a:r>
              <a:rPr lang="en-US" b="1" dirty="0"/>
              <a:t>Ethernet and TCP/IP networks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iSCSI provides a way to use existing IP networking technologies for storage communication.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2287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86F99-5E0F-4E56-9C3D-F747BFBC7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6D369-031F-4E8C-AAA6-0B0B384B3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	Basic idea					With iSCSI: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Therefore, iSCSI can reduce the need for a separate specialized storage network.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2B7778-85E8-4EE5-813E-077B03F66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865" y="2401012"/>
            <a:ext cx="2342507" cy="2571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57BD4C-6FE7-4E8D-A179-0F294545C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315" y="2550244"/>
            <a:ext cx="2506894" cy="242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554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4317F-7350-4886-ADB3-8E0A29BEB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Main Characteristics of iSCSI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03C72-0783-4485-8BAF-2AEBEDE3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560"/>
            <a:ext cx="10515600" cy="5085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4.1 IP-Based</a:t>
            </a:r>
          </a:p>
          <a:p>
            <a:pPr marL="0" indent="0">
              <a:buNone/>
            </a:pPr>
            <a:r>
              <a:rPr lang="en-US" dirty="0"/>
              <a:t>iSCSI uses the </a:t>
            </a:r>
            <a:r>
              <a:rPr lang="en-US" b="1" dirty="0"/>
              <a:t>TCP/IP protocol suite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This means storage traffic can travel through standard IP networks.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4.2 Block-Level Storage</a:t>
            </a:r>
          </a:p>
          <a:p>
            <a:pPr marL="0" indent="0">
              <a:buNone/>
            </a:pPr>
            <a:r>
              <a:rPr lang="en-US" dirty="0"/>
              <a:t>iSCSI provides </a:t>
            </a:r>
            <a:r>
              <a:rPr lang="en-US" b="1" dirty="0"/>
              <a:t>block-level access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The server does not access individual files directly through iSCSI. Instead, it sees a logical block device.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operating system can format the LUN with a file system such as NTFS, ext4, XFS,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61737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B3C67-52D8-4F1E-8B91-FC75CC751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12176-9D93-4ED7-BE30-571F87425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54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4.3 Uses TCP</a:t>
            </a:r>
          </a:p>
          <a:p>
            <a:pPr marL="0" indent="0">
              <a:buNone/>
            </a:pPr>
            <a:r>
              <a:rPr lang="en-US" dirty="0"/>
              <a:t>iSCSI operates over </a:t>
            </a:r>
            <a:r>
              <a:rPr lang="en-US" b="1" dirty="0"/>
              <a:t>TCP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The standard iSCSI TCP port is:</a:t>
            </a:r>
          </a:p>
          <a:p>
            <a:pPr marL="0" indent="0">
              <a:buNone/>
            </a:pPr>
            <a:r>
              <a:rPr lang="en-US" b="1" dirty="0"/>
              <a:t>TCP port 3260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Therefore:</a:t>
            </a:r>
          </a:p>
          <a:p>
            <a:pPr marL="0" indent="0">
              <a:buNone/>
            </a:pPr>
            <a:r>
              <a:rPr lang="en-IN" dirty="0"/>
              <a:t>iSCSI </a:t>
            </a:r>
          </a:p>
          <a:p>
            <a:pPr marL="0" indent="0">
              <a:buNone/>
            </a:pPr>
            <a:r>
              <a:rPr lang="en-IN" dirty="0"/>
              <a:t>↓ </a:t>
            </a:r>
          </a:p>
          <a:p>
            <a:pPr marL="0" indent="0">
              <a:buNone/>
            </a:pPr>
            <a:r>
              <a:rPr lang="en-IN" dirty="0"/>
              <a:t>TCP </a:t>
            </a:r>
          </a:p>
          <a:p>
            <a:pPr marL="0" indent="0">
              <a:buNone/>
            </a:pPr>
            <a:r>
              <a:rPr lang="en-IN" dirty="0"/>
              <a:t>↓ </a:t>
            </a:r>
          </a:p>
          <a:p>
            <a:pPr marL="0" indent="0">
              <a:buNone/>
            </a:pPr>
            <a:r>
              <a:rPr lang="en-IN" dirty="0"/>
              <a:t>Port 3260</a:t>
            </a:r>
          </a:p>
        </p:txBody>
      </p:sp>
    </p:spTree>
    <p:extLst>
      <p:ext uri="{BB962C8B-B14F-4D97-AF65-F5344CB8AC3E}">
        <p14:creationId xmlns:p14="http://schemas.microsoft.com/office/powerpoint/2010/main" val="36173397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3E353-D42E-4B68-9499-DF91BC38C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8BCAE-52BF-48F6-A875-7CC7BEAB3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4.4 Uses Standard Ethernet</a:t>
            </a:r>
          </a:p>
          <a:p>
            <a:r>
              <a:rPr lang="en-IN" dirty="0"/>
              <a:t>iSCSI can use standard Ethernet infrastructure.</a:t>
            </a:r>
          </a:p>
          <a:p>
            <a:r>
              <a:rPr lang="en-IN" dirty="0"/>
              <a:t>For example:</a:t>
            </a:r>
          </a:p>
          <a:p>
            <a:r>
              <a:rPr lang="en-IN" dirty="0"/>
              <a:t>1 Gb Ethernet </a:t>
            </a:r>
          </a:p>
          <a:p>
            <a:r>
              <a:rPr lang="en-IN" dirty="0"/>
              <a:t>10 Gb Ethernet </a:t>
            </a:r>
          </a:p>
          <a:p>
            <a:r>
              <a:rPr lang="en-IN" dirty="0"/>
              <a:t>25 Gb Ethernet </a:t>
            </a:r>
          </a:p>
          <a:p>
            <a:r>
              <a:rPr lang="en-IN" dirty="0"/>
              <a:t>40 Gb Ethernet </a:t>
            </a:r>
          </a:p>
          <a:p>
            <a:r>
              <a:rPr lang="en-IN" dirty="0"/>
              <a:t>100 Gb Ethernet </a:t>
            </a:r>
          </a:p>
          <a:p>
            <a:r>
              <a:rPr lang="en-IN" dirty="0"/>
              <a:t>depending on the network and storage equipment.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0035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1B73B-358C-4D28-9475-3AFF36DBC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E6CCC-EEDE-4EB2-B812-C57F690D6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4.5 Remote Storage Access</a:t>
            </a:r>
          </a:p>
          <a:p>
            <a:pPr marL="0" indent="0">
              <a:buNone/>
            </a:pPr>
            <a:r>
              <a:rPr lang="en-US" dirty="0"/>
              <a:t>The storage device does not have to be physically located beside the server.</a:t>
            </a:r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/>
              <a:t>Server Room A </a:t>
            </a:r>
          </a:p>
          <a:p>
            <a:pPr marL="0" indent="0">
              <a:buNone/>
            </a:pPr>
            <a:r>
              <a:rPr lang="en-US" dirty="0"/>
              <a:t>| </a:t>
            </a:r>
          </a:p>
          <a:p>
            <a:pPr marL="0" indent="0">
              <a:buNone/>
            </a:pPr>
            <a:r>
              <a:rPr lang="en-US" dirty="0"/>
              <a:t>| IP Network </a:t>
            </a:r>
          </a:p>
          <a:p>
            <a:pPr marL="0" indent="0">
              <a:buNone/>
            </a:pPr>
            <a:r>
              <a:rPr lang="en-US" dirty="0"/>
              <a:t>| </a:t>
            </a:r>
          </a:p>
          <a:p>
            <a:pPr marL="0" indent="0">
              <a:buNone/>
            </a:pPr>
            <a:r>
              <a:rPr lang="en-US" dirty="0"/>
              <a:t>↓ </a:t>
            </a:r>
          </a:p>
          <a:p>
            <a:pPr marL="0" indent="0">
              <a:buNone/>
            </a:pPr>
            <a:r>
              <a:rPr lang="en-US" dirty="0"/>
              <a:t>Storage Room B</a:t>
            </a:r>
          </a:p>
          <a:p>
            <a:pPr marL="0" indent="0">
              <a:buNone/>
            </a:pPr>
            <a:r>
              <a:rPr lang="en-US" dirty="0"/>
              <a:t>The server can access storage located elsewhere in the data center or network.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8770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57315-4E21-48F8-9757-2D248C30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iSCSI Architecture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A8C3C-208E-40BE-83F0-111D52BC5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3173"/>
            <a:ext cx="10515599" cy="54761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basic iSCSI architecture contains two important endpoints:</a:t>
            </a:r>
          </a:p>
          <a:p>
            <a:pPr lvl="1"/>
            <a:r>
              <a:rPr lang="en-US" b="1" dirty="0"/>
              <a:t>iSCSI Initiator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iSCSI Target</a:t>
            </a:r>
            <a:endParaRPr lang="en-US" dirty="0"/>
          </a:p>
          <a:p>
            <a:endParaRPr lang="en-IN" dirty="0"/>
          </a:p>
        </p:txBody>
      </p:sp>
      <p:pic>
        <p:nvPicPr>
          <p:cNvPr id="4098" name="Picture 2" descr="iSCSI vs iSER vs NVMe-TCP vs NVMe-RDMA_iscsi rdma-CSDN博客">
            <a:extLst>
              <a:ext uri="{FF2B5EF4-FFF2-40B4-BE49-F238E27FC236}">
                <a16:creationId xmlns:a16="http://schemas.microsoft.com/office/drawing/2014/main" id="{E36D4C20-D10A-4544-9CB4-5F599E3A4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643" y="2397887"/>
            <a:ext cx="5560835" cy="432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79778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E48C9-4907-4F13-9004-D2DAF2A20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iSCSI Initiator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6A96E-851E-444D-BDD2-7F19FD354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682"/>
            <a:ext cx="10515600" cy="54449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iSCSI initiator</a:t>
            </a:r>
            <a:r>
              <a:rPr lang="en-US" dirty="0"/>
              <a:t> is the system or software component that starts an iSCSI communication session.</a:t>
            </a:r>
          </a:p>
          <a:p>
            <a:pPr marL="0" indent="0">
              <a:buNone/>
            </a:pPr>
            <a:r>
              <a:rPr lang="en-US" dirty="0"/>
              <a:t>Usually, the initiator is located on the </a:t>
            </a:r>
            <a:r>
              <a:rPr lang="en-US" b="1" dirty="0"/>
              <a:t>server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Responsibilities</a:t>
            </a:r>
          </a:p>
          <a:p>
            <a:pPr marL="0" indent="0">
              <a:buNone/>
            </a:pPr>
            <a:r>
              <a:rPr lang="en-US" dirty="0"/>
              <a:t>The initiator:</a:t>
            </a:r>
          </a:p>
          <a:p>
            <a:pPr lvl="1"/>
            <a:r>
              <a:rPr lang="en-US" dirty="0"/>
              <a:t>Initiates communication with the target. </a:t>
            </a:r>
          </a:p>
          <a:p>
            <a:pPr lvl="1"/>
            <a:r>
              <a:rPr lang="en-US" dirty="0"/>
              <a:t>Sends SCSI commands. </a:t>
            </a:r>
          </a:p>
          <a:p>
            <a:pPr lvl="1"/>
            <a:r>
              <a:rPr lang="en-US" dirty="0"/>
              <a:t>Encapsulates SCSI commands into iSCSI messages. </a:t>
            </a:r>
          </a:p>
          <a:p>
            <a:pPr lvl="1"/>
            <a:r>
              <a:rPr lang="en-US" dirty="0"/>
              <a:t>Sends the messages through TCP/IP. </a:t>
            </a:r>
          </a:p>
          <a:p>
            <a:pPr lvl="1"/>
            <a:r>
              <a:rPr lang="en-US" dirty="0"/>
              <a:t>Receives responses from the target. </a:t>
            </a:r>
          </a:p>
          <a:p>
            <a:pPr lvl="1"/>
            <a:r>
              <a:rPr lang="en-US" dirty="0"/>
              <a:t>Provides access to remote storage for the operating system. 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A Windows or Linux server can contain an iSCSI initiator.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E455E-B763-4E1D-AE5C-7845BBAF1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402" y="2757541"/>
            <a:ext cx="2178122" cy="280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898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E03FB-7D84-43F8-AA6E-8958B2C58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iSCSI Target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92458-4252-4A64-96E3-2070F4696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560"/>
            <a:ext cx="10515600" cy="4769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iSCSI target</a:t>
            </a:r>
            <a:r>
              <a:rPr lang="en-US" dirty="0"/>
              <a:t> is the storage-side endpoint that receives requests from the initiator.</a:t>
            </a:r>
          </a:p>
          <a:p>
            <a:pPr marL="0" indent="0">
              <a:buNone/>
            </a:pPr>
            <a:r>
              <a:rPr lang="en-US" dirty="0"/>
              <a:t>It is normally implemented in:</a:t>
            </a:r>
          </a:p>
          <a:p>
            <a:pPr lvl="1"/>
            <a:r>
              <a:rPr lang="en-US" dirty="0"/>
              <a:t>Storage arrays </a:t>
            </a:r>
          </a:p>
          <a:p>
            <a:pPr lvl="1"/>
            <a:r>
              <a:rPr lang="en-US" dirty="0"/>
              <a:t>NAS appliances with iSCSI support </a:t>
            </a:r>
          </a:p>
          <a:p>
            <a:pPr lvl="1"/>
            <a:r>
              <a:rPr lang="en-US" dirty="0"/>
              <a:t>Dedicated storage servers </a:t>
            </a:r>
          </a:p>
          <a:p>
            <a:pPr lvl="1"/>
            <a:r>
              <a:rPr lang="en-US" dirty="0"/>
              <a:t>Virtualization platforms </a:t>
            </a:r>
          </a:p>
          <a:p>
            <a:pPr lvl="1"/>
            <a:r>
              <a:rPr lang="en-US" dirty="0"/>
              <a:t>Linux/Windows storage servers </a:t>
            </a:r>
          </a:p>
          <a:p>
            <a:pPr marL="0" indent="0">
              <a:buNone/>
            </a:pPr>
            <a:r>
              <a:rPr lang="en-US" dirty="0"/>
              <a:t>The target provides storage resources to initiators.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76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87A1-A761-4AA6-B4BB-0126D9EE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LUN — Logical Unit Number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FAF7D-0562-4CBF-9849-8478CE26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3721"/>
            <a:ext cx="10515600" cy="52291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LUN (Logical Unit Number)</a:t>
            </a:r>
            <a:r>
              <a:rPr lang="en-US" dirty="0"/>
              <a:t> identifies a logical storage unit presented by an iSCSI target.</a:t>
            </a:r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server may connect to a target and discover one or more LUNs.</a:t>
            </a:r>
          </a:p>
          <a:p>
            <a:pPr marL="0" indent="0">
              <a:buNone/>
            </a:pPr>
            <a:r>
              <a:rPr lang="en-US" dirty="0"/>
              <a:t>The operating system can then recognize the LUN as a disk.</a:t>
            </a:r>
          </a:p>
          <a:p>
            <a:pPr marL="457200" lvl="1" indent="0">
              <a:buNone/>
            </a:pPr>
            <a:r>
              <a:rPr lang="en-US" b="1" dirty="0"/>
              <a:t>Important distinction</a:t>
            </a:r>
          </a:p>
          <a:p>
            <a:pPr marL="457200" lvl="1" indent="0">
              <a:buNone/>
            </a:pPr>
            <a:r>
              <a:rPr lang="en-US" b="1" dirty="0"/>
              <a:t>Target = storage endpoint</a:t>
            </a:r>
          </a:p>
          <a:p>
            <a:pPr marL="457200" lvl="1" indent="0">
              <a:buNone/>
            </a:pPr>
            <a:r>
              <a:rPr lang="en-US" b="1" dirty="0"/>
              <a:t>LUN = storage resource presented by the target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00BEB0-EDF0-4D2F-BFF1-B12592A1A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485" y="1993419"/>
            <a:ext cx="2130111" cy="188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845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4DF1-7747-4699-B8C5-215C149DA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iSCSI Network Components and Connectivity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510D2-E4FD-433A-888F-0561C3174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Introduction</a:t>
            </a:r>
          </a:p>
          <a:p>
            <a:pPr marL="0" indent="0">
              <a:buNone/>
            </a:pPr>
            <a:r>
              <a:rPr lang="en-US" b="1" dirty="0"/>
              <a:t>iSCSI (Internet Small Computer Systems Interface)</a:t>
            </a:r>
            <a:r>
              <a:rPr lang="en-US" dirty="0"/>
              <a:t> allows a server to access storage through a normal </a:t>
            </a:r>
            <a:r>
              <a:rPr lang="en-US" b="1" dirty="0"/>
              <a:t>IP/Ethernet network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In simple words:</a:t>
            </a:r>
          </a:p>
          <a:p>
            <a:pPr marL="0" indent="0">
              <a:buNone/>
            </a:pPr>
            <a:r>
              <a:rPr lang="en-US" dirty="0"/>
              <a:t>iSCSI connects a server to remote storage using an Ethernet network.</a:t>
            </a:r>
          </a:p>
          <a:p>
            <a:pPr marL="0" indent="0">
              <a:buNone/>
            </a:pPr>
            <a:r>
              <a:rPr lang="en-US" dirty="0"/>
              <a:t>A basic iSCSI connection looks like this: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9EAE2E-495E-4191-96C1-5E81B08EA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876" y="4602821"/>
            <a:ext cx="5424755" cy="189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7718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E424A-714F-4655-9501-EF0B3CF9C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Main Network Components of iSCSI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8D85B-640B-4CFC-8998-7212A5A5C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The important components are:</a:t>
            </a:r>
          </a:p>
          <a:p>
            <a:pPr marL="0" indent="0">
              <a:buNone/>
            </a:pPr>
            <a:endParaRPr lang="en-IN" dirty="0"/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iSCSI Initiator</a:t>
            </a:r>
            <a:r>
              <a:rPr lang="en-IN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iSCSI Target</a:t>
            </a:r>
            <a:r>
              <a:rPr lang="en-IN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Network Interface Card (NIC)</a:t>
            </a:r>
            <a:r>
              <a:rPr lang="en-IN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Ethernet Switch</a:t>
            </a:r>
            <a:r>
              <a:rPr lang="en-IN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IP Network</a:t>
            </a:r>
            <a:r>
              <a:rPr lang="en-IN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Storage System</a:t>
            </a:r>
            <a:r>
              <a:rPr lang="en-IN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LUN</a:t>
            </a:r>
            <a:r>
              <a:rPr lang="en-IN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b="1" dirty="0"/>
              <a:t>Cables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32541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2FF2-606B-4429-95AA-7F0DB6AA4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iSCSI Initiator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8C43F-7107-41FE-8826-33DA31D41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4767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initiator is the component that requests or accesses storage.</a:t>
            </a:r>
            <a:br>
              <a:rPr lang="en-US" dirty="0"/>
            </a:br>
            <a:r>
              <a:rPr lang="en-US" dirty="0"/>
              <a:t>It is normally present on the server.</a:t>
            </a:r>
          </a:p>
          <a:p>
            <a:pPr marL="0" indent="0">
              <a:buNone/>
            </a:pPr>
            <a:r>
              <a:rPr lang="en-US" dirty="0"/>
              <a:t>The initiator sends storage requests to the iSCSI target.</a:t>
            </a:r>
          </a:p>
          <a:p>
            <a:pPr marL="0" indent="0">
              <a:buNone/>
            </a:pPr>
            <a:r>
              <a:rPr lang="en-US" b="1" dirty="0"/>
              <a:t>Functions</a:t>
            </a:r>
          </a:p>
          <a:p>
            <a:pPr lvl="1"/>
            <a:r>
              <a:rPr lang="en-US" dirty="0"/>
              <a:t>Starts communication with the target. </a:t>
            </a:r>
          </a:p>
          <a:p>
            <a:pPr lvl="1"/>
            <a:r>
              <a:rPr lang="en-US" dirty="0"/>
              <a:t>Sends SCSI commands. </a:t>
            </a:r>
          </a:p>
          <a:p>
            <a:pPr lvl="1"/>
            <a:r>
              <a:rPr lang="en-US" dirty="0"/>
              <a:t>Receives data from storage. </a:t>
            </a:r>
          </a:p>
          <a:p>
            <a:pPr lvl="1"/>
            <a:r>
              <a:rPr lang="en-US" dirty="0"/>
              <a:t>Provides access to remote LUNs.</a:t>
            </a:r>
          </a:p>
          <a:p>
            <a:r>
              <a:rPr lang="en-IN" b="1" dirty="0"/>
              <a:t>Easy way to remember</a:t>
            </a:r>
          </a:p>
          <a:p>
            <a:r>
              <a:rPr lang="en-IN" dirty="0"/>
              <a:t>Initiator = Server side = Requests storage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26649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21487-8478-4461-A27A-FE6776EF1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iSCSI Target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50A5C-8467-4BCB-82D7-874C8EC61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target</a:t>
            </a:r>
            <a:r>
              <a:rPr lang="en-US" dirty="0"/>
              <a:t> is the storage-side component that </a:t>
            </a:r>
            <a:r>
              <a:rPr lang="en-US" b="1" dirty="0"/>
              <a:t>provides storage</a:t>
            </a:r>
            <a:r>
              <a:rPr lang="en-US" dirty="0"/>
              <a:t> to the initiator.</a:t>
            </a:r>
          </a:p>
          <a:p>
            <a:r>
              <a:rPr lang="en-US" dirty="0"/>
              <a:t>It is normally available on a storage array or storage server.</a:t>
            </a:r>
          </a:p>
          <a:p>
            <a:r>
              <a:rPr lang="en-US" b="1" dirty="0"/>
              <a:t>Functions</a:t>
            </a:r>
          </a:p>
          <a:p>
            <a:pPr lvl="1"/>
            <a:r>
              <a:rPr lang="en-US" dirty="0"/>
              <a:t>Receives requests from the initiator. </a:t>
            </a:r>
          </a:p>
          <a:p>
            <a:pPr lvl="1"/>
            <a:r>
              <a:rPr lang="en-US" dirty="0"/>
              <a:t>Processes SCSI commands. </a:t>
            </a:r>
          </a:p>
          <a:p>
            <a:pPr lvl="1"/>
            <a:r>
              <a:rPr lang="en-US" dirty="0"/>
              <a:t>Provides LUNs to the server. </a:t>
            </a:r>
          </a:p>
          <a:p>
            <a:pPr lvl="1"/>
            <a:r>
              <a:rPr lang="en-US" dirty="0"/>
              <a:t>Sends requested data back to the initiator. </a:t>
            </a:r>
          </a:p>
          <a:p>
            <a:r>
              <a:rPr lang="en-US" b="1" dirty="0"/>
              <a:t>Easy way to remember</a:t>
            </a:r>
          </a:p>
          <a:p>
            <a:r>
              <a:rPr lang="en-IN" dirty="0"/>
              <a:t>Target = Storage side = Provides storage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48825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1FBDD-78EF-40C6-91F8-ABA683CB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Network Interface Card (NIC)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B89BD-257E-45CF-942B-7DD3876A6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NIC (Network Interface Card)</a:t>
            </a:r>
            <a:r>
              <a:rPr lang="en-US" dirty="0"/>
              <a:t> allows the server or storage system to connect to the Ethernet network.</a:t>
            </a:r>
          </a:p>
          <a:p>
            <a:r>
              <a:rPr lang="en-US" dirty="0"/>
              <a:t>iSCSI commonly uses Ethernet NICs for communication.</a:t>
            </a:r>
          </a:p>
          <a:p>
            <a:r>
              <a:rPr lang="en-US" dirty="0"/>
              <a:t>Modern systems may use high-speed Ethernet such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10 </a:t>
            </a:r>
            <a:r>
              <a:rPr lang="en-US" dirty="0" err="1"/>
              <a:t>GbE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25 </a:t>
            </a:r>
            <a:r>
              <a:rPr lang="en-US" dirty="0" err="1"/>
              <a:t>GbE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40 </a:t>
            </a:r>
            <a:r>
              <a:rPr lang="en-US" dirty="0" err="1"/>
              <a:t>GbE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100 </a:t>
            </a:r>
            <a:r>
              <a:rPr lang="en-US" dirty="0" err="1"/>
              <a:t>GbE</a:t>
            </a:r>
            <a:r>
              <a:rPr lang="en-US" dirty="0"/>
              <a:t> </a:t>
            </a:r>
          </a:p>
          <a:p>
            <a:r>
              <a:rPr lang="en-US" dirty="0"/>
              <a:t>depending on the environment.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55278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F2A65-874C-44DE-98FA-661F4AA9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Ethernet Switch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9C923-16A0-44FF-AB2E-A746B5908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Ethernet switch</a:t>
            </a:r>
            <a:r>
              <a:rPr lang="en-US" dirty="0"/>
              <a:t> connects the server and storage system.</a:t>
            </a:r>
          </a:p>
          <a:p>
            <a:r>
              <a:rPr lang="en-US" dirty="0"/>
              <a:t>The switch forwards iSCSI traffic between the initiator and target.</a:t>
            </a:r>
          </a:p>
          <a:p>
            <a:r>
              <a:rPr lang="en-US" b="1" dirty="0"/>
              <a:t>Functions</a:t>
            </a:r>
          </a:p>
          <a:p>
            <a:pPr lvl="1"/>
            <a:r>
              <a:rPr lang="en-US" dirty="0"/>
              <a:t>Connects servers and storage. </a:t>
            </a:r>
          </a:p>
          <a:p>
            <a:pPr lvl="1"/>
            <a:r>
              <a:rPr lang="en-US" dirty="0"/>
              <a:t>Forwards Ethernet frames. </a:t>
            </a:r>
          </a:p>
          <a:p>
            <a:pPr lvl="1"/>
            <a:r>
              <a:rPr lang="en-US" dirty="0"/>
              <a:t>Provides network connectivity. </a:t>
            </a:r>
          </a:p>
          <a:p>
            <a:pPr lvl="1"/>
            <a:r>
              <a:rPr lang="en-US" dirty="0"/>
              <a:t>Can support VLANs and link aggregation.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01574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D05C4-5955-4E62-BD75-FC49C7268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IP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EF0CD-CADA-4C33-8B6E-6D929E307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iSCSI uses the </a:t>
            </a:r>
            <a:r>
              <a:rPr lang="en-US" b="1" dirty="0"/>
              <a:t>TCP/IP network</a:t>
            </a:r>
            <a:r>
              <a:rPr lang="en-US" dirty="0"/>
              <a:t> to transfer storage traffic.</a:t>
            </a:r>
          </a:p>
          <a:p>
            <a:r>
              <a:rPr lang="en-US" dirty="0"/>
              <a:t>The server communicates with the storage using IP addresses.</a:t>
            </a:r>
          </a:p>
          <a:p>
            <a:endParaRPr lang="en-US" dirty="0"/>
          </a:p>
          <a:p>
            <a:r>
              <a:rPr lang="en-IN" b="1" dirty="0"/>
              <a:t>8. TCP</a:t>
            </a:r>
          </a:p>
          <a:p>
            <a:r>
              <a:rPr lang="en-IN" dirty="0"/>
              <a:t>iSCSI uses </a:t>
            </a:r>
            <a:r>
              <a:rPr lang="en-IN" b="1" dirty="0"/>
              <a:t>TCP (Transmission Control Protocol)</a:t>
            </a:r>
            <a:r>
              <a:rPr lang="en-IN" dirty="0"/>
              <a:t> for reliable communication.</a:t>
            </a:r>
          </a:p>
          <a:p>
            <a:r>
              <a:rPr lang="en-IN" dirty="0"/>
              <a:t>The standard iSCSI TCP port is:</a:t>
            </a:r>
          </a:p>
          <a:p>
            <a:r>
              <a:rPr lang="en-IN" dirty="0"/>
              <a:t>TCP Port 3260</a:t>
            </a:r>
          </a:p>
          <a:p>
            <a:r>
              <a:rPr lang="en-US" dirty="0"/>
              <a:t>TCP ensures reliable delivery of data between the initiator and target.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97133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F7682-4441-4DB3-8BAE-2265C0B55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Storage System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6ABE1-4878-4014-8F85-7D6A05DBC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storage system</a:t>
            </a:r>
            <a:r>
              <a:rPr lang="en-US" dirty="0"/>
              <a:t> contains the actual physical storage resources.</a:t>
            </a:r>
          </a:p>
          <a:p>
            <a:r>
              <a:rPr lang="en-US" dirty="0"/>
              <a:t>It may contain:</a:t>
            </a:r>
          </a:p>
          <a:p>
            <a:pPr lvl="1"/>
            <a:r>
              <a:rPr lang="en-US" dirty="0"/>
              <a:t>HDDs </a:t>
            </a:r>
          </a:p>
          <a:p>
            <a:pPr lvl="1"/>
            <a:r>
              <a:rPr lang="en-US" dirty="0"/>
              <a:t>SSDs </a:t>
            </a:r>
          </a:p>
          <a:p>
            <a:pPr lvl="1"/>
            <a:r>
              <a:rPr lang="en-US" dirty="0"/>
              <a:t>RAID groups </a:t>
            </a:r>
          </a:p>
          <a:p>
            <a:pPr lvl="1"/>
            <a:r>
              <a:rPr lang="en-US" dirty="0"/>
              <a:t>Storage pools </a:t>
            </a:r>
          </a:p>
          <a:p>
            <a:pPr lvl="1"/>
            <a:r>
              <a:rPr lang="en-US" dirty="0"/>
              <a:t>Cache </a:t>
            </a:r>
          </a:p>
          <a:p>
            <a:pPr lvl="1"/>
            <a:r>
              <a:rPr lang="en-US" dirty="0"/>
              <a:t>Controllers </a:t>
            </a:r>
          </a:p>
          <a:p>
            <a:r>
              <a:rPr lang="en-US" dirty="0"/>
              <a:t>The storage system presents logical storage to servers through iSCSI.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12356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0E48-6413-40F7-96FC-9E86B3D9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</a:t>
            </a:r>
            <a:r>
              <a:rPr lang="en-US" dirty="0"/>
              <a:t>0. LUN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B4328-1711-48FC-8008-56A3AEBFB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5076"/>
            <a:ext cx="10515600" cy="459572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LUN = Logical Unit Number</a:t>
            </a:r>
            <a:endParaRPr lang="en-US" dirty="0"/>
          </a:p>
          <a:p>
            <a:r>
              <a:rPr lang="en-US" dirty="0"/>
              <a:t>A LUN is a </a:t>
            </a:r>
            <a:r>
              <a:rPr lang="en-US" b="1" dirty="0"/>
              <a:t>logical storage unit</a:t>
            </a:r>
            <a:r>
              <a:rPr lang="en-US" dirty="0"/>
              <a:t> provided by the iSCSI target.</a:t>
            </a:r>
          </a:p>
          <a:p>
            <a:r>
              <a:rPr lang="en-US" dirty="0"/>
              <a:t>For 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server sees the LUN as a disk.</a:t>
            </a:r>
          </a:p>
          <a:p>
            <a:r>
              <a:rPr lang="en-US" b="1" dirty="0"/>
              <a:t>LUN = Storage space given to the server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6FFD7D-3021-4CBB-8AE4-912162662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234" y="3336532"/>
            <a:ext cx="1571946" cy="199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32522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B181-A7F4-4FD1-B1AD-85ECE66A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F9065-70F8-46A7-AE42-0A549A8A1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11078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92E7-A830-4A5F-92C0-8CE00998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ECE2D-546C-4E59-8870-4E044E431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12751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ECF6E-B735-4596-B3C0-B05ABF20D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39225-BD5B-4316-874C-7E76F940C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455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4289</Words>
  <Application>Microsoft Office PowerPoint</Application>
  <PresentationFormat>Widescreen</PresentationFormat>
  <Paragraphs>685</Paragraphs>
  <Slides>84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9" baseType="lpstr">
      <vt:lpstr>Arial</vt:lpstr>
      <vt:lpstr>Calibri</vt:lpstr>
      <vt:lpstr>Calibri Light</vt:lpstr>
      <vt:lpstr>Times New Roman</vt:lpstr>
      <vt:lpstr>Office Theme</vt:lpstr>
      <vt:lpstr>UNIT III</vt:lpstr>
      <vt:lpstr>Syllabus</vt:lpstr>
      <vt:lpstr>STORAGE NETWORKING</vt:lpstr>
      <vt:lpstr>TYPES OF STORAGE SYSTEMS </vt:lpstr>
      <vt:lpstr>BLOCK-BASED STORAGE SYSTEM</vt:lpstr>
      <vt:lpstr>BLOCK-BASED STORAGE SYSTEM</vt:lpstr>
      <vt:lpstr>BLOCK-BASED STORAGE SYSTEM</vt:lpstr>
      <vt:lpstr>BLOCK-BASED STORAGE SYSTEM</vt:lpstr>
      <vt:lpstr>3. FILE-BASED STORAGE SYSTEM</vt:lpstr>
      <vt:lpstr>3. FILE-BASED STORAGE SYSTEM</vt:lpstr>
      <vt:lpstr>3. FILE-BASED STORAGE SYSTEM</vt:lpstr>
      <vt:lpstr>3. FILE-BASED STORAGE SYSTEM</vt:lpstr>
      <vt:lpstr>4. OBJECT-BASED STORAGE</vt:lpstr>
      <vt:lpstr>4. OBJECT-BASED STORAGE</vt:lpstr>
      <vt:lpstr>4. OBJECT-BASED STORAGE</vt:lpstr>
      <vt:lpstr>4. OBJECT-BASED STORAGE</vt:lpstr>
      <vt:lpstr>5. UNIFIED STORAGE</vt:lpstr>
      <vt:lpstr>Block Storage Vs Object Storage Vs File Storage </vt:lpstr>
      <vt:lpstr>Comparison of Storage Systems</vt:lpstr>
      <vt:lpstr>Comparison of Storage Systems</vt:lpstr>
      <vt:lpstr>PowerPoint Presentation</vt:lpstr>
      <vt:lpstr>Fibre Channel SAN</vt:lpstr>
      <vt:lpstr>FC Switch</vt:lpstr>
      <vt:lpstr>2. What is Fibre Channel? </vt:lpstr>
      <vt:lpstr>2. What is Fibre Channel? </vt:lpstr>
      <vt:lpstr>3. Why Fibre Channel is Used in SAN? </vt:lpstr>
      <vt:lpstr>2. Software-Defined Networking (SDN) </vt:lpstr>
      <vt:lpstr>SDN</vt:lpstr>
      <vt:lpstr>Software-Defined Networking (SDN)</vt:lpstr>
      <vt:lpstr>FC SAN Components </vt:lpstr>
      <vt:lpstr>2. HBA – Host Bus Adapter </vt:lpstr>
      <vt:lpstr>Functions of HBA </vt:lpstr>
      <vt:lpstr>3. FC Switch </vt:lpstr>
      <vt:lpstr>4. Storage Array</vt:lpstr>
      <vt:lpstr>5. Fibre Channel Ports </vt:lpstr>
      <vt:lpstr>6. Fibre Channel Cables </vt:lpstr>
      <vt:lpstr>FC SAN Architecture</vt:lpstr>
      <vt:lpstr>Point-to-point Architecture:</vt:lpstr>
      <vt:lpstr>FC-Arbitrated Loop:</vt:lpstr>
      <vt:lpstr>FC-Arbitrated Loop</vt:lpstr>
      <vt:lpstr>FC-Switch:</vt:lpstr>
      <vt:lpstr>FC-Switch</vt:lpstr>
      <vt:lpstr>FC-Switch</vt:lpstr>
      <vt:lpstr>Virtualization in FC SAN Environment</vt:lpstr>
      <vt:lpstr>Why Virtualization is Required in FC SAN </vt:lpstr>
      <vt:lpstr>Virtualization provides an abstraction layer between physical infrastructure and applications. </vt:lpstr>
      <vt:lpstr>Types of Virtualization in FC SAN </vt:lpstr>
      <vt:lpstr>1. Server Virtualization</vt:lpstr>
      <vt:lpstr>2. Storage Virtualization </vt:lpstr>
      <vt:lpstr>3. FC Network Virtualization</vt:lpstr>
      <vt:lpstr>4. Virtual HBA </vt:lpstr>
      <vt:lpstr>5. Virtual SAN (VSAN)</vt:lpstr>
      <vt:lpstr>End-to-End Operation </vt:lpstr>
      <vt:lpstr>Virtualization and Multipathing</vt:lpstr>
      <vt:lpstr>Example Scenario</vt:lpstr>
      <vt:lpstr>With virtualization:</vt:lpstr>
      <vt:lpstr>Internet Protocol SAN:</vt:lpstr>
      <vt:lpstr>Introduction to iSCSI Protocol</vt:lpstr>
      <vt:lpstr>PowerPoint Presentation</vt:lpstr>
      <vt:lpstr>PowerPoint Presentation</vt:lpstr>
      <vt:lpstr>PowerPoint Presentation</vt:lpstr>
      <vt:lpstr>PowerPoint Presentation</vt:lpstr>
      <vt:lpstr>3. Why was iSCSI Developed? </vt:lpstr>
      <vt:lpstr>PowerPoint Presentation</vt:lpstr>
      <vt:lpstr>4. Main Characteristics of iSCSI</vt:lpstr>
      <vt:lpstr>PowerPoint Presentation</vt:lpstr>
      <vt:lpstr>PowerPoint Presentation</vt:lpstr>
      <vt:lpstr>PowerPoint Presentation</vt:lpstr>
      <vt:lpstr>iSCSI Architecture </vt:lpstr>
      <vt:lpstr>iSCSI Initiator </vt:lpstr>
      <vt:lpstr>iSCSI Target </vt:lpstr>
      <vt:lpstr>LUN — Logical Unit Number </vt:lpstr>
      <vt:lpstr>iSCSI Network Components and Connectivity</vt:lpstr>
      <vt:lpstr>2. Main Network Components of iSCSI </vt:lpstr>
      <vt:lpstr>3. iSCSI Initiator  </vt:lpstr>
      <vt:lpstr>4. iSCSI Target </vt:lpstr>
      <vt:lpstr>5. Network Interface Card (NIC)</vt:lpstr>
      <vt:lpstr>6. Ethernet Switch </vt:lpstr>
      <vt:lpstr>7. IP Network</vt:lpstr>
      <vt:lpstr>9. Storage System </vt:lpstr>
      <vt:lpstr>10. LUN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III</dc:title>
  <dc:creator>USER</dc:creator>
  <cp:lastModifiedBy>USER</cp:lastModifiedBy>
  <cp:revision>43</cp:revision>
  <cp:lastPrinted>2026-08-10T05:09:57Z</cp:lastPrinted>
  <dcterms:created xsi:type="dcterms:W3CDTF">2026-08-06T05:17:05Z</dcterms:created>
  <dcterms:modified xsi:type="dcterms:W3CDTF">2026-09-01T10:03:20Z</dcterms:modified>
</cp:coreProperties>
</file>
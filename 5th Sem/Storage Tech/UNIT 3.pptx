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7" r:id="rId11"/>
    <p:sldId id="265" r:id="rId12"/>
    <p:sldId id="266" r:id="rId13"/>
    <p:sldId id="268" r:id="rId14"/>
    <p:sldId id="271" r:id="rId15"/>
    <p:sldId id="269" r:id="rId16"/>
    <p:sldId id="270" r:id="rId17"/>
    <p:sldId id="272" r:id="rId18"/>
    <p:sldId id="274" r:id="rId19"/>
    <p:sldId id="273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9" r:id="rId32"/>
    <p:sldId id="290" r:id="rId33"/>
    <p:sldId id="288" r:id="rId34"/>
    <p:sldId id="286" r:id="rId35"/>
    <p:sldId id="291" r:id="rId36"/>
    <p:sldId id="292" r:id="rId37"/>
    <p:sldId id="293" r:id="rId38"/>
  </p:sldIdLst>
  <p:sldSz cx="12192000" cy="6858000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4F54-674A-4C74-8233-6B15909B8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30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C2387-9261-43BD-813D-F9DD71475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720DC-7B78-4391-B881-CCF54AD8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B6625-23B9-4CEB-AD9C-7ED5F6E94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14420-6DBC-4C78-9632-23756057C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7318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AD0B-AA98-44D2-B401-2750BA498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0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79232-2C7E-46C1-B27B-E46D971F0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F055-2B8B-4745-A60C-AAC3F3B30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73BED-2910-4978-9731-566517301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08101F-96B6-4B6E-A4BC-17316F313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421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27BA-A9EF-4F5B-A0F4-227220B6F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94FF3-73C5-4B62-860A-F91E9424C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407BA-DA61-458D-88C8-BF3FA1B60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B4F48-3E9D-434F-BE29-41F845BD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D9DC0-BC39-4AED-BF6A-5056CC38F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7971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43FB0-9F28-4324-895B-7A6D8270C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18A58-993A-42E1-9033-DC7CFE695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4B7FA-175B-4A1C-8480-FCFFD6CA8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F7F76-C2DC-4B6B-BF14-5E9774ED0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2EC1C3-F9E7-48C5-9F7D-46FE36BEB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38BF4A-0981-4479-AB6C-FDB507234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822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A696-6DFB-4DC0-AE23-591F13A4A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75B50-431F-44FE-A0F7-FE61C28EF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BA0D3-E229-4F87-A052-C3D998783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C447C7-F7A7-4A9D-AD5B-11DFDC8190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CBA15D-6B00-44AD-9E7F-435C922E19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9857E1-EBBE-4FCC-960A-D7C96E906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CBBBE-1E23-4537-B4E6-07A1B4CD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97356B-9BD6-43AC-BF06-6531269C9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410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50467-D6B6-415C-8C33-88D02781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17AF69-C2C7-446C-BCE4-BB0E0DA4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AD3ECB-AD93-4BAC-8425-6D1EE8A5E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5AFA58-1B80-41E4-8299-566D04420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4080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B0F1A6-20AF-4DA3-A5F8-4504EBA44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2745D4-4771-4E39-B170-81389C7E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23164-FD7D-4B63-BA55-314DFAEF2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77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3961-BD47-45EC-AE5D-25DD86B0E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BD204-D720-4041-88C5-251B3E8D5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7C40C-54C7-40DB-9D7A-8FCFDD14E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B52B9-EE76-42DC-83AD-E80D4FF14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73512-E41A-452F-A96B-3D996127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A0ECA-EF73-4A63-B99D-6E8982D4A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849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51A49-F577-4BC0-AF9D-3F3CF8D4C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3F0196-94D9-4AB8-8182-F529C84555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596C3-BF08-465E-9E60-747A2BA99B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D572C-8B2A-432B-B57A-339B17397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15F27-D145-4BC8-BCC8-46F4D54D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48141-C4D2-47D5-B035-49C38EDEF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0222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7836E-B46E-4B91-9E01-5A484A687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F3A90C-CB1B-4709-95F3-A1CE550A24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FB26-EA61-4A36-ACFB-3344566E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8FCEC-CF3F-4425-ADCB-F67DBE55D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10244-9BEF-4EB1-A8CC-92A5FBB19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731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C11848-DCC8-4F96-9CEA-3052174CD0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E2C9B5-0EAF-4F41-A2B5-E6C08BB6D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C749F-C098-47E1-9256-E41352A9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F14AE-C29D-442A-9AB2-5F6E91F04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81348-632A-45B4-969D-A7809D0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0460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C2C827-ABDA-4390-AB66-4A71FCD3C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7A01E5-B5B4-4FB9-BC49-AD2FCD4B8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B730D-34BB-4020-889E-B35560C9D9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27699-A2F1-46FD-837A-4B563CFD01C4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23C77-FE37-4BEE-AD01-036B46696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06E9E-4E96-4CC6-B8E2-AF9E36BA3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DC663-291F-4A0E-A36A-5A27E83462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6868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EB010-32A9-4951-A623-966CDCB152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/>
              <a:t>UNIT III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7ED61-43C1-46C5-9A9D-0F14629FFD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b="1" dirty="0"/>
          </a:p>
          <a:p>
            <a:r>
              <a:rPr lang="en-IN" b="1" dirty="0"/>
              <a:t>STORAGE NETWORKING TECHNOLOGIES AND VIRTUALIZATION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4368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7F071-7DFA-4A8E-8D7B-263D3E149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BEDE-43F7-42B9-8596-3315CD207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769"/>
            <a:ext cx="10515600" cy="4574194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IN" dirty="0"/>
              <a:t>Block-Based Storage System - File-Based Storage System - Object-Based and Unified Storage. </a:t>
            </a:r>
          </a:p>
          <a:p>
            <a:pPr algn="just"/>
            <a:endParaRPr lang="en-IN" dirty="0"/>
          </a:p>
          <a:p>
            <a:pPr algn="just"/>
            <a:r>
              <a:rPr lang="en-IN" b="1" dirty="0"/>
              <a:t>Fibre Channel SAN</a:t>
            </a:r>
            <a:r>
              <a:rPr lang="en-IN" dirty="0"/>
              <a:t>: Software-defined networking - FC SAN components and architecture - FC SAN topologies - link aggregation - and zoning - Virtualization in FC SAN </a:t>
            </a:r>
            <a:r>
              <a:rPr lang="en-IN"/>
              <a:t>environment.</a:t>
            </a:r>
          </a:p>
          <a:p>
            <a:pPr marL="0" indent="0" algn="just">
              <a:buNone/>
            </a:pPr>
            <a:r>
              <a:rPr lang="en-IN"/>
              <a:t> </a:t>
            </a:r>
            <a:endParaRPr lang="en-IN" dirty="0"/>
          </a:p>
          <a:p>
            <a:pPr algn="just"/>
            <a:r>
              <a:rPr lang="en-IN" b="1" dirty="0"/>
              <a:t>Internet Protocol SAN</a:t>
            </a:r>
            <a:r>
              <a:rPr lang="en-IN" dirty="0"/>
              <a:t>: iSCSI protocol - network components - and connectivity - Link aggregation - switch aggregation - and VLAN - FCIP protocol - connectivity - and configuration. </a:t>
            </a:r>
          </a:p>
          <a:p>
            <a:pPr algn="just"/>
            <a:endParaRPr lang="en-IN" dirty="0"/>
          </a:p>
          <a:p>
            <a:pPr algn="just"/>
            <a:r>
              <a:rPr lang="en-IN" b="1" dirty="0"/>
              <a:t>Fibre Channel over Ethernet SAN</a:t>
            </a:r>
            <a:r>
              <a:rPr lang="en-IN" dirty="0"/>
              <a:t>: Components of </a:t>
            </a:r>
            <a:r>
              <a:rPr lang="en-IN" dirty="0" err="1"/>
              <a:t>FCoE</a:t>
            </a:r>
            <a:r>
              <a:rPr lang="en-IN" dirty="0"/>
              <a:t> SAN - </a:t>
            </a:r>
            <a:r>
              <a:rPr lang="en-IN" dirty="0" err="1"/>
              <a:t>FCoE</a:t>
            </a:r>
            <a:r>
              <a:rPr lang="en-IN" dirty="0"/>
              <a:t> SAN connectivity - Converged Enhanced Ethernet - </a:t>
            </a:r>
            <a:r>
              <a:rPr lang="en-IN" dirty="0" err="1"/>
              <a:t>FCoE</a:t>
            </a:r>
            <a:r>
              <a:rPr lang="en-IN" dirty="0"/>
              <a:t> architecture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846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B4364-7505-42DF-9715-6F816D01B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STORAGE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3FC9D-2336-487C-97AE-A5D386090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849"/>
            <a:ext cx="10515600" cy="4646114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/>
              <a:t>Storage networking is a dedicated high-speed network that connects servers to storage devices.</a:t>
            </a:r>
          </a:p>
          <a:p>
            <a:pPr algn="just"/>
            <a:r>
              <a:rPr lang="en-US" dirty="0"/>
              <a:t>Unlike traditional storage attached directly to servers, storage networking allows multiple servers to access centralized storage.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Advantages</a:t>
            </a:r>
          </a:p>
          <a:p>
            <a:pPr marL="457200" lvl="1" indent="0">
              <a:buNone/>
            </a:pPr>
            <a:r>
              <a:rPr lang="en-US" dirty="0"/>
              <a:t>Centralized storage management </a:t>
            </a:r>
          </a:p>
          <a:p>
            <a:pPr marL="457200" lvl="1" indent="0">
              <a:buNone/>
            </a:pPr>
            <a:r>
              <a:rPr lang="en-US" dirty="0"/>
              <a:t>High availability </a:t>
            </a:r>
          </a:p>
          <a:p>
            <a:pPr marL="457200" lvl="1" indent="0">
              <a:buNone/>
            </a:pPr>
            <a:r>
              <a:rPr lang="en-US" dirty="0"/>
              <a:t>Faster data access </a:t>
            </a:r>
          </a:p>
          <a:p>
            <a:pPr marL="457200" lvl="1" indent="0">
              <a:buNone/>
            </a:pPr>
            <a:r>
              <a:rPr lang="en-US" dirty="0"/>
              <a:t>Better scalability </a:t>
            </a:r>
          </a:p>
          <a:p>
            <a:pPr marL="457200" lvl="1" indent="0">
              <a:buNone/>
            </a:pPr>
            <a:r>
              <a:rPr lang="en-US" dirty="0"/>
              <a:t>Easy backup and disaster recovery </a:t>
            </a:r>
          </a:p>
          <a:p>
            <a:pPr marL="457200" lvl="1" indent="0">
              <a:buNone/>
            </a:pPr>
            <a:r>
              <a:rPr lang="en-US" dirty="0"/>
              <a:t>Efficient utilization of storage resources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3452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EB9E9-AD28-4131-AD81-6CB758E80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STORAGE SYSTEMS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5588-54E5-4403-BDA8-549A1DF26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three major storage access methods:</a:t>
            </a:r>
          </a:p>
          <a:p>
            <a:pPr lvl="1"/>
            <a:r>
              <a:rPr lang="en-US" dirty="0"/>
              <a:t>Block-Based Storage </a:t>
            </a:r>
          </a:p>
          <a:p>
            <a:pPr lvl="1"/>
            <a:r>
              <a:rPr lang="en-US" dirty="0"/>
              <a:t>File-Based Storage </a:t>
            </a:r>
          </a:p>
          <a:p>
            <a:pPr lvl="1"/>
            <a:r>
              <a:rPr lang="en-US" dirty="0"/>
              <a:t>Object-Based Storage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Modern systems combine these into</a:t>
            </a:r>
          </a:p>
          <a:p>
            <a:pPr lvl="1"/>
            <a:r>
              <a:rPr lang="en-US" dirty="0"/>
              <a:t>Unified Storage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3707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F82DE-8FA7-4516-B725-AB3F01724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2D712-36AF-414F-A645-A4F18B03F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8656"/>
            <a:ext cx="10515600" cy="4859677"/>
          </a:xfrm>
        </p:spPr>
        <p:txBody>
          <a:bodyPr>
            <a:normAutofit/>
          </a:bodyPr>
          <a:lstStyle/>
          <a:p>
            <a:r>
              <a:rPr lang="en-US" dirty="0"/>
              <a:t>Block storage stores data as fixed-sized blocks.</a:t>
            </a:r>
          </a:p>
          <a:p>
            <a:r>
              <a:rPr lang="en-US" dirty="0"/>
              <a:t>Each block has a unique address but does not contain file information.</a:t>
            </a:r>
          </a:p>
          <a:p>
            <a:r>
              <a:rPr lang="en-US" dirty="0"/>
              <a:t>The operating system combines these blocks to create files.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Characteristics</a:t>
            </a:r>
          </a:p>
          <a:p>
            <a:pPr lvl="1"/>
            <a:r>
              <a:rPr lang="en-US" dirty="0"/>
              <a:t>No file hierarchy </a:t>
            </a:r>
          </a:p>
          <a:p>
            <a:pPr lvl="1"/>
            <a:r>
              <a:rPr lang="en-US" dirty="0"/>
              <a:t>Storage appears as raw disk </a:t>
            </a:r>
          </a:p>
          <a:p>
            <a:pPr lvl="1"/>
            <a:r>
              <a:rPr lang="en-US" dirty="0"/>
              <a:t>High performance </a:t>
            </a:r>
          </a:p>
          <a:p>
            <a:pPr lvl="1"/>
            <a:r>
              <a:rPr lang="en-US" dirty="0"/>
              <a:t>Low latency </a:t>
            </a:r>
          </a:p>
          <a:p>
            <a:pPr lvl="1"/>
            <a:r>
              <a:rPr lang="en-US" dirty="0"/>
              <a:t>Used in databases </a:t>
            </a:r>
          </a:p>
          <a:p>
            <a:pPr lvl="1"/>
            <a:r>
              <a:rPr lang="en-US" dirty="0"/>
              <a:t>Used in virtualization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947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B834E-4E6C-49B5-8D5B-E33F99D8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BLOCK-BASED STORAGE SYSTEM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660793C-2918-4E27-957E-322EFF293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4701" y="2397836"/>
            <a:ext cx="6855987" cy="374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22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5047C-0D98-4570-9A42-CA961E74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63118-A7A6-47FA-95C9-30197950D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220"/>
            <a:ext cx="10515600" cy="50240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pPr marL="457200" lvl="1" indent="0">
              <a:buNone/>
            </a:pPr>
            <a:r>
              <a:rPr lang="en-US" dirty="0"/>
              <a:t>Very fast</a:t>
            </a:r>
          </a:p>
          <a:p>
            <a:pPr marL="457200" lvl="1" indent="0">
              <a:buNone/>
            </a:pPr>
            <a:r>
              <a:rPr lang="en-US" dirty="0"/>
              <a:t>High I/O performance</a:t>
            </a:r>
          </a:p>
          <a:p>
            <a:pPr marL="457200" lvl="1" indent="0">
              <a:buNone/>
            </a:pPr>
            <a:r>
              <a:rPr lang="en-US" dirty="0"/>
              <a:t>Reliable</a:t>
            </a:r>
          </a:p>
          <a:p>
            <a:pPr marL="457200" lvl="1" indent="0">
              <a:buNone/>
            </a:pPr>
            <a:r>
              <a:rPr lang="en-US" dirty="0"/>
              <a:t>Supports clustering</a:t>
            </a:r>
          </a:p>
          <a:p>
            <a:pPr marL="457200" lvl="1" indent="0">
              <a:buNone/>
            </a:pPr>
            <a:r>
              <a:rPr lang="en-US" dirty="0"/>
              <a:t>Suitable for mission-critical applications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pPr marL="457200" lvl="1" indent="0">
              <a:buNone/>
            </a:pPr>
            <a:r>
              <a:rPr lang="en-US" dirty="0"/>
              <a:t>Requires file system management </a:t>
            </a:r>
          </a:p>
          <a:p>
            <a:pPr marL="457200" lvl="1" indent="0">
              <a:buNone/>
            </a:pPr>
            <a:r>
              <a:rPr lang="en-US" dirty="0"/>
              <a:t>Difficult to share directly </a:t>
            </a:r>
          </a:p>
          <a:p>
            <a:pPr marL="457200" lvl="1" indent="0">
              <a:buNone/>
            </a:pPr>
            <a:r>
              <a:rPr lang="en-US" dirty="0"/>
              <a:t>Costlier</a:t>
            </a:r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2884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68D17-AC73-4C98-AF10-7E271996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C326-B144-42F2-8F63-21A05B5FE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Applications</a:t>
            </a:r>
          </a:p>
          <a:p>
            <a:pPr marL="457200" lvl="1" indent="0">
              <a:buNone/>
            </a:pPr>
            <a:r>
              <a:rPr lang="en-IN" dirty="0"/>
              <a:t>Oracle Database </a:t>
            </a:r>
          </a:p>
          <a:p>
            <a:pPr marL="457200" lvl="1" indent="0">
              <a:buNone/>
            </a:pPr>
            <a:r>
              <a:rPr lang="en-IN" dirty="0"/>
              <a:t>SQL Server </a:t>
            </a:r>
          </a:p>
          <a:p>
            <a:pPr marL="457200" lvl="1" indent="0">
              <a:buNone/>
            </a:pPr>
            <a:r>
              <a:rPr lang="en-IN" dirty="0"/>
              <a:t>VMware Datastores </a:t>
            </a:r>
          </a:p>
          <a:p>
            <a:pPr marL="457200" lvl="1" indent="0">
              <a:buNone/>
            </a:pPr>
            <a:r>
              <a:rPr lang="en-IN" dirty="0"/>
              <a:t>Hyper-V </a:t>
            </a:r>
          </a:p>
          <a:p>
            <a:pPr marL="457200" lvl="1" indent="0">
              <a:buNone/>
            </a:pPr>
            <a:r>
              <a:rPr lang="en-IN" dirty="0"/>
              <a:t>Banking applications</a:t>
            </a:r>
          </a:p>
          <a:p>
            <a:pPr marL="0" indent="0">
              <a:buNone/>
            </a:pPr>
            <a:r>
              <a:rPr lang="en-US" b="1" dirty="0"/>
              <a:t>Example</a:t>
            </a:r>
          </a:p>
          <a:p>
            <a:pPr marL="457200" lvl="1" indent="0">
              <a:buNone/>
            </a:pPr>
            <a:r>
              <a:rPr lang="en-US" dirty="0"/>
              <a:t>A bank database stores customer records.</a:t>
            </a:r>
          </a:p>
          <a:p>
            <a:pPr marL="457200" lvl="1" indent="0">
              <a:buNone/>
            </a:pPr>
            <a:r>
              <a:rPr lang="en-US" dirty="0"/>
              <a:t>Every transaction accesses disk blocks directly.</a:t>
            </a:r>
          </a:p>
          <a:p>
            <a:pPr marL="457200" lvl="1" indent="0">
              <a:buNone/>
            </a:pPr>
            <a:r>
              <a:rPr lang="en-US" dirty="0"/>
              <a:t>This provides extremely fast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2335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1C02-FC81-45B0-8C1A-D5E7521E2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3. FILE-BASED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EC7CB-E32D-4E63-99DC-E04EED5DE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File storage stores information in files organized into folders.</a:t>
            </a:r>
          </a:p>
          <a:p>
            <a:pPr marL="0" indent="0">
              <a:buNone/>
            </a:pPr>
            <a:r>
              <a:rPr lang="en-US" dirty="0"/>
              <a:t>Users access files through file names instead of block addresses.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File Sharing Protocols</a:t>
            </a:r>
          </a:p>
          <a:p>
            <a:pPr marL="0" indent="0">
              <a:buNone/>
            </a:pPr>
            <a:r>
              <a:rPr lang="en-US" b="1" dirty="0"/>
              <a:t>NFS</a:t>
            </a:r>
          </a:p>
          <a:p>
            <a:pPr marL="457200" lvl="1" indent="0">
              <a:buNone/>
            </a:pPr>
            <a:r>
              <a:rPr lang="en-US" dirty="0"/>
              <a:t>Network File System</a:t>
            </a:r>
          </a:p>
          <a:p>
            <a:pPr marL="457200" lvl="1" indent="0">
              <a:buNone/>
            </a:pPr>
            <a:r>
              <a:rPr lang="en-US" dirty="0"/>
              <a:t>Used mainly in Linux and UNIX.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SMB/CIFS</a:t>
            </a:r>
          </a:p>
          <a:p>
            <a:pPr marL="457200" lvl="1" indent="0">
              <a:buNone/>
            </a:pPr>
            <a:r>
              <a:rPr lang="en-US" dirty="0"/>
              <a:t>Server Message Block</a:t>
            </a:r>
          </a:p>
          <a:p>
            <a:pPr marL="457200" lvl="1" indent="0">
              <a:buNone/>
            </a:pPr>
            <a:r>
              <a:rPr lang="en-US" dirty="0"/>
              <a:t>Used mainly in Windows.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618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1D903-B788-426E-9D8F-F7E14B9BD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3. FILE-BASED STORAGE SYSTEM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12A3C1-DC4F-48D0-94A6-0F6982FC91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8670" y="2416887"/>
            <a:ext cx="7072493" cy="370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64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FD9D3-42B7-470F-97D6-B17149F64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3. FILE-BASED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0DFF1-E901-4FE2-A92B-B3C0358CE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pPr marL="457200" lvl="1" indent="0">
              <a:buNone/>
            </a:pPr>
            <a:r>
              <a:rPr lang="en-US" dirty="0"/>
              <a:t>Easy to manage </a:t>
            </a:r>
          </a:p>
          <a:p>
            <a:pPr marL="457200" lvl="1" indent="0">
              <a:buNone/>
            </a:pPr>
            <a:r>
              <a:rPr lang="en-US" dirty="0"/>
              <a:t>Easy file sharing </a:t>
            </a:r>
          </a:p>
          <a:p>
            <a:pPr marL="457200" lvl="1" indent="0">
              <a:buNone/>
            </a:pPr>
            <a:r>
              <a:rPr lang="en-US" dirty="0"/>
              <a:t>Supports permissions </a:t>
            </a:r>
          </a:p>
          <a:p>
            <a:pPr marL="457200" lvl="1" indent="0">
              <a:buNone/>
            </a:pPr>
            <a:r>
              <a:rPr lang="en-US" dirty="0"/>
              <a:t>Human-readable hierarchy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pPr marL="457200" lvl="1" indent="0">
              <a:buNone/>
            </a:pPr>
            <a:r>
              <a:rPr lang="en-US" dirty="0"/>
              <a:t>Slower than block storage </a:t>
            </a:r>
          </a:p>
          <a:p>
            <a:pPr marL="457200" lvl="1" indent="0">
              <a:buNone/>
            </a:pPr>
            <a:r>
              <a:rPr lang="en-US" dirty="0"/>
              <a:t>Metadata overhead </a:t>
            </a:r>
          </a:p>
          <a:p>
            <a:pPr marL="457200" lvl="1" indent="0">
              <a:buNone/>
            </a:pPr>
            <a:r>
              <a:rPr lang="en-US" dirty="0"/>
              <a:t>Less suitable for databases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6544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66F1C-AE55-4D95-8C40-E0989B447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3. FILE-BASED STORAGE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E5811-66B1-415C-BB8C-428A6391A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Applications</a:t>
            </a:r>
          </a:p>
          <a:p>
            <a:pPr marL="457200" lvl="1" indent="0">
              <a:buNone/>
            </a:pPr>
            <a:r>
              <a:rPr lang="en-US" dirty="0"/>
              <a:t>File servers </a:t>
            </a:r>
          </a:p>
          <a:p>
            <a:pPr marL="457200" lvl="1" indent="0">
              <a:buNone/>
            </a:pPr>
            <a:r>
              <a:rPr lang="en-US" dirty="0"/>
              <a:t>Home directories </a:t>
            </a:r>
          </a:p>
          <a:p>
            <a:pPr marL="457200" lvl="1" indent="0">
              <a:buNone/>
            </a:pPr>
            <a:r>
              <a:rPr lang="en-US" dirty="0"/>
              <a:t>Office documents </a:t>
            </a:r>
          </a:p>
          <a:p>
            <a:pPr marL="457200" lvl="1" indent="0">
              <a:buNone/>
            </a:pPr>
            <a:r>
              <a:rPr lang="en-US" dirty="0"/>
              <a:t>Shared folders </a:t>
            </a:r>
          </a:p>
          <a:p>
            <a:pPr marL="457200" lvl="1" indent="0">
              <a:buNone/>
            </a:pPr>
            <a:r>
              <a:rPr lang="en-US" dirty="0"/>
              <a:t>Multimedia storage</a:t>
            </a:r>
          </a:p>
          <a:p>
            <a:pPr marL="0" indent="0">
              <a:buNone/>
            </a:pPr>
            <a:r>
              <a:rPr lang="en-US" b="1" dirty="0"/>
              <a:t>Example</a:t>
            </a:r>
          </a:p>
          <a:p>
            <a:pPr marL="457200" lvl="1" indent="0">
              <a:buNone/>
            </a:pPr>
            <a:r>
              <a:rPr lang="en-US" dirty="0"/>
              <a:t>College staff share question papers using a common network folder.</a:t>
            </a:r>
          </a:p>
          <a:p>
            <a:pPr marL="457200" lvl="1" indent="0">
              <a:buNone/>
            </a:pPr>
            <a:r>
              <a:rPr lang="en-US" dirty="0"/>
              <a:t>Everyone accesses files using filenames.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9659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65BF4-E952-45B7-8356-99539EBC4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OBJECT-BASED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89453-B7A1-459C-9A6A-3110D4CB8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Definition</a:t>
            </a:r>
          </a:p>
          <a:p>
            <a:pPr marL="457200" lvl="1" indent="0">
              <a:buNone/>
            </a:pPr>
            <a:r>
              <a:rPr lang="en-US" dirty="0"/>
              <a:t>Object storage stores information as independent objects.</a:t>
            </a:r>
          </a:p>
          <a:p>
            <a:pPr marL="457200" lvl="1" indent="0">
              <a:buNone/>
            </a:pPr>
            <a:r>
              <a:rPr lang="en-US" dirty="0"/>
              <a:t>Each object contains</a:t>
            </a:r>
          </a:p>
          <a:p>
            <a:pPr marL="457200" lvl="1" indent="0">
              <a:buNone/>
            </a:pPr>
            <a:r>
              <a:rPr lang="en-US" dirty="0"/>
              <a:t>Data </a:t>
            </a:r>
          </a:p>
          <a:p>
            <a:pPr marL="457200" lvl="1" indent="0">
              <a:buNone/>
            </a:pPr>
            <a:r>
              <a:rPr lang="en-US" dirty="0"/>
              <a:t>Metadata </a:t>
            </a:r>
          </a:p>
          <a:p>
            <a:pPr marL="457200" lvl="1" indent="0">
              <a:buNone/>
            </a:pPr>
            <a:r>
              <a:rPr lang="en-US" dirty="0"/>
              <a:t>Unique Object ID</a:t>
            </a:r>
          </a:p>
          <a:p>
            <a:pPr marL="0" indent="0">
              <a:buNone/>
            </a:pPr>
            <a:r>
              <a:rPr lang="en-US" b="1" dirty="0"/>
              <a:t>Characteristics</a:t>
            </a:r>
          </a:p>
          <a:p>
            <a:pPr marL="457200" lvl="1" indent="0">
              <a:buNone/>
            </a:pPr>
            <a:r>
              <a:rPr lang="en-US" dirty="0"/>
              <a:t>No folders required </a:t>
            </a:r>
          </a:p>
          <a:p>
            <a:pPr marL="457200" lvl="1" indent="0">
              <a:buNone/>
            </a:pPr>
            <a:r>
              <a:rPr lang="en-US" dirty="0"/>
              <a:t>Flat namespace </a:t>
            </a:r>
          </a:p>
          <a:p>
            <a:pPr marL="457200" lvl="1" indent="0">
              <a:buNone/>
            </a:pPr>
            <a:r>
              <a:rPr lang="en-US" dirty="0"/>
              <a:t>Massive scalability </a:t>
            </a:r>
          </a:p>
          <a:p>
            <a:pPr marL="457200" lvl="1" indent="0">
              <a:buNone/>
            </a:pPr>
            <a:r>
              <a:rPr lang="en-US" dirty="0"/>
              <a:t>Rich metadata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7147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3557-B714-468A-8EF2-CF562FA31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OBJECT-BASED STORAGE</a:t>
            </a:r>
            <a:endParaRPr lang="en-IN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416BF5E-DC16-47B6-8289-5B85FA0B50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9161" y="2162874"/>
            <a:ext cx="7353678" cy="36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740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3A387-B1B5-4DD5-B2A0-3D493F8BF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OBJECT-BASED STORAGE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B9BE8-7F16-46C7-8C8A-B74C0090C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pPr marL="457200" lvl="1" indent="0">
              <a:buNone/>
            </a:pPr>
            <a:r>
              <a:rPr lang="en-US" dirty="0"/>
              <a:t>Unlimited scalability </a:t>
            </a:r>
          </a:p>
          <a:p>
            <a:pPr marL="457200" lvl="1" indent="0">
              <a:buNone/>
            </a:pPr>
            <a:r>
              <a:rPr lang="en-US" dirty="0"/>
              <a:t>Cost-effective </a:t>
            </a:r>
          </a:p>
          <a:p>
            <a:pPr marL="457200" lvl="1" indent="0">
              <a:buNone/>
            </a:pPr>
            <a:r>
              <a:rPr lang="en-US" dirty="0"/>
              <a:t>Cloud ready </a:t>
            </a:r>
          </a:p>
          <a:p>
            <a:pPr marL="457200" lvl="1" indent="0">
              <a:buNone/>
            </a:pPr>
            <a:r>
              <a:rPr lang="en-US" dirty="0"/>
              <a:t>Highly durable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pPr marL="457200" lvl="1" indent="0">
              <a:buNone/>
            </a:pPr>
            <a:r>
              <a:rPr lang="en-US" dirty="0"/>
              <a:t>Higher latency </a:t>
            </a:r>
          </a:p>
          <a:p>
            <a:pPr marL="457200" lvl="1" indent="0">
              <a:buNone/>
            </a:pPr>
            <a:r>
              <a:rPr lang="en-US" dirty="0"/>
              <a:t>Not suitable for databases </a:t>
            </a:r>
          </a:p>
          <a:p>
            <a:pPr marL="457200" lvl="1" indent="0">
              <a:buNone/>
            </a:pPr>
            <a:r>
              <a:rPr lang="en-US" dirty="0"/>
              <a:t>Cannot be mounted as normal disk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678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C4EA5-EA22-4EE8-826A-9F91F6AA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OBJECT-BASED STORAGE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DE402-1DD9-422D-BCD3-F0222FE28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Applications</a:t>
            </a:r>
          </a:p>
          <a:p>
            <a:pPr marL="457200" lvl="1" indent="0">
              <a:buNone/>
            </a:pPr>
            <a:r>
              <a:rPr lang="en-US" dirty="0"/>
              <a:t>Cloud storage </a:t>
            </a:r>
          </a:p>
          <a:p>
            <a:pPr marL="457200" lvl="1" indent="0">
              <a:buNone/>
            </a:pPr>
            <a:r>
              <a:rPr lang="en-US" dirty="0"/>
              <a:t>Backup archives </a:t>
            </a:r>
          </a:p>
          <a:p>
            <a:pPr marL="457200" lvl="1" indent="0">
              <a:buNone/>
            </a:pPr>
            <a:r>
              <a:rPr lang="en-US" dirty="0"/>
              <a:t>Video streaming </a:t>
            </a:r>
          </a:p>
          <a:p>
            <a:pPr marL="457200" lvl="1" indent="0">
              <a:buNone/>
            </a:pPr>
            <a:r>
              <a:rPr lang="en-US" dirty="0"/>
              <a:t>AI datasets </a:t>
            </a:r>
          </a:p>
          <a:p>
            <a:pPr marL="457200" lvl="1" indent="0">
              <a:buNone/>
            </a:pPr>
            <a:r>
              <a:rPr lang="en-US" dirty="0"/>
              <a:t>IoT data</a:t>
            </a:r>
          </a:p>
          <a:p>
            <a:pPr marL="0" indent="0">
              <a:buNone/>
            </a:pPr>
            <a:r>
              <a:rPr lang="en-US" b="1" dirty="0"/>
              <a:t>Examples</a:t>
            </a:r>
          </a:p>
          <a:p>
            <a:pPr marL="457200" lvl="1" indent="0">
              <a:buNone/>
            </a:pPr>
            <a:r>
              <a:rPr lang="en-US" dirty="0"/>
              <a:t>Amazon S3 </a:t>
            </a:r>
          </a:p>
          <a:p>
            <a:pPr marL="457200" lvl="1" indent="0">
              <a:buNone/>
            </a:pPr>
            <a:r>
              <a:rPr lang="en-US" dirty="0"/>
              <a:t>OpenStack Swift </a:t>
            </a:r>
          </a:p>
          <a:p>
            <a:pPr marL="457200" lvl="1" indent="0">
              <a:buNone/>
            </a:pPr>
            <a:r>
              <a:rPr lang="en-US" dirty="0" err="1"/>
              <a:t>MinIO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59421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E5B9A-16E3-429C-9DFE-23F847CC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5. UNIFIED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6D813-A9FD-4C94-82C2-DD364413F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Unified Storage supports both</a:t>
            </a:r>
          </a:p>
          <a:p>
            <a:pPr lvl="1"/>
            <a:r>
              <a:rPr lang="en-US" dirty="0"/>
              <a:t>Block Storage </a:t>
            </a:r>
          </a:p>
          <a:p>
            <a:pPr lvl="1"/>
            <a:r>
              <a:rPr lang="en-US" dirty="0"/>
              <a:t>File Storage </a:t>
            </a:r>
          </a:p>
          <a:p>
            <a:pPr marL="0" indent="0">
              <a:buNone/>
            </a:pPr>
            <a:r>
              <a:rPr lang="en-US" dirty="0"/>
              <a:t>using a single storage array.</a:t>
            </a:r>
          </a:p>
          <a:p>
            <a:pPr marL="0" indent="0">
              <a:buNone/>
            </a:pPr>
            <a:r>
              <a:rPr lang="en-US" b="1" dirty="0"/>
              <a:t>Benefits</a:t>
            </a:r>
          </a:p>
          <a:p>
            <a:pPr lvl="1"/>
            <a:r>
              <a:rPr lang="en-US" dirty="0"/>
              <a:t>Single management interface, Reduced hardware cost </a:t>
            </a:r>
          </a:p>
          <a:p>
            <a:pPr lvl="1"/>
            <a:r>
              <a:rPr lang="en-US" dirty="0"/>
              <a:t>Better storage utilization and Easy scalability</a:t>
            </a:r>
          </a:p>
          <a:p>
            <a:pPr marL="0" indent="0">
              <a:buNone/>
            </a:pPr>
            <a:r>
              <a:rPr lang="fr-FR" b="1" dirty="0"/>
              <a:t>Applications</a:t>
            </a:r>
          </a:p>
          <a:p>
            <a:pPr lvl="1"/>
            <a:r>
              <a:rPr lang="fr-FR" dirty="0" err="1"/>
              <a:t>Universities</a:t>
            </a:r>
            <a:r>
              <a:rPr lang="fr-FR" dirty="0"/>
              <a:t>, </a:t>
            </a:r>
            <a:r>
              <a:rPr lang="fr-FR" dirty="0" err="1"/>
              <a:t>Hospitals</a:t>
            </a:r>
            <a:r>
              <a:rPr lang="fr-FR" dirty="0"/>
              <a:t>, </a:t>
            </a:r>
            <a:r>
              <a:rPr lang="fr-FR" dirty="0" err="1"/>
              <a:t>Enterprises</a:t>
            </a:r>
            <a:r>
              <a:rPr lang="fr-FR" dirty="0"/>
              <a:t>, Cloud </a:t>
            </a:r>
            <a:r>
              <a:rPr lang="fr-FR" dirty="0" err="1"/>
              <a:t>environments</a:t>
            </a:r>
            <a:endParaRPr lang="fr-FR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9848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77DC9-7408-4F15-82E2-C3FA137FA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 Storage Vs Object Storage Vs File Storage</a:t>
            </a:r>
            <a:br>
              <a:rPr lang="en-IN" dirty="0"/>
            </a:br>
            <a:endParaRPr lang="en-IN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21E5E5F-E604-4F88-9835-FF4586E137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189" y="1345915"/>
            <a:ext cx="8517276" cy="505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75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4B5F4-BCF2-446D-B649-FFBE47E55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Comparison of Storage Systems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F9E686-5D6D-4FE3-A2F1-04F030C318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5249" y="1690688"/>
            <a:ext cx="7058347" cy="408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12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CCCA6-021B-41C0-821A-4F3CB847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Comparison of Storage Systems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4806844-CAC0-4E99-A170-564FD34E46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0137245"/>
              </p:ext>
            </p:extLst>
          </p:nvPr>
        </p:nvGraphicFramePr>
        <p:xfrm>
          <a:off x="838200" y="1690688"/>
          <a:ext cx="10515600" cy="493688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3088752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85563732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65797061"/>
                    </a:ext>
                  </a:extLst>
                </a:gridCol>
              </a:tblGrid>
              <a:tr h="717987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Block Storage</a:t>
                      </a:r>
                      <a:endParaRPr lang="en-IN" sz="20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95250" marB="9525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 Storage</a:t>
                      </a:r>
                      <a:endParaRPr lang="en-IN" sz="20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File Storage</a:t>
                      </a:r>
                      <a:endParaRPr lang="en-IN" sz="20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552478"/>
                  </a:ext>
                </a:extLst>
              </a:tr>
              <a:tr h="1292012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Divides data into fixed-size blocks, each with a unique identifier.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Stores data as objects with metadata and a unique ID in a flat structure.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Organizes data in a hierarchical structure of files and folders.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2943490806"/>
                  </a:ext>
                </a:extLst>
              </a:tr>
              <a:tr h="1634875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Ideal for databases, virtual machines, and transactional workloads requiring high performance.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Best for storing large amounts of unstructured data, like multimedia files or backups.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Suitable for structured file storage and shared file access, such as documents and spreadsheets.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1657311006"/>
                  </a:ext>
                </a:extLst>
              </a:tr>
              <a:tr h="1292012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High performance and low latency, especially for read/write operations.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Optimised for scalability and durability, not real-time performance.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Moderate performance; dependent on file system and storage device.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481732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40227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28678-A819-47CC-AAFF-716CB98BF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E4317FC-F6D6-481A-8CDD-006A46DE74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8647871"/>
              </p:ext>
            </p:extLst>
          </p:nvPr>
        </p:nvGraphicFramePr>
        <p:xfrm>
          <a:off x="838200" y="1183022"/>
          <a:ext cx="10515600" cy="36869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71973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9475522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47433277"/>
                    </a:ext>
                  </a:extLst>
                </a:gridCol>
              </a:tblGrid>
              <a:tr h="12050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Scales well but may require  manual configuration for capacity expansion.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Highly scalable; can handle massive amounts of data across distributed systems.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Limited scalability compared to object storage; suitable for smaller systems.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257201465"/>
                  </a:ext>
                </a:extLst>
              </a:tr>
              <a:tr h="12050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Minimal metadata, often handled by the application layer.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Extensive metadata stored with each object, enabling advanced search and analytics.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>
                          <a:effectLst/>
                        </a:rPr>
                        <a:t>Basic metadata, such as file name, type, and permissions.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1669493659"/>
                  </a:ext>
                </a:extLst>
              </a:tr>
              <a:tr h="12050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Requires manual backup or snapshot configurations for data durability.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Highly durable with built-in redundancy across multiple locations.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</a:rPr>
                        <a:t>Data durability depends on the underlying file system and backup strategies.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192832788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8EA553-D91B-4087-83BE-69798530B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5848378"/>
              </p:ext>
            </p:extLst>
          </p:nvPr>
        </p:nvGraphicFramePr>
        <p:xfrm>
          <a:off x="838200" y="365125"/>
          <a:ext cx="10515600" cy="8178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9313118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6948448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8694190"/>
                    </a:ext>
                  </a:extLst>
                </a:gridCol>
              </a:tblGrid>
              <a:tr h="817896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Block Storage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95250" marB="95250" anchor="b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 Storage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b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File Storage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b"/>
                </a:tc>
                <a:extLst>
                  <a:ext uri="{0D108BD9-81ED-4DB2-BD59-A6C34878D82A}">
                    <a16:rowId xmlns:a16="http://schemas.microsoft.com/office/drawing/2014/main" val="293482498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B82819C-3E27-4E30-B373-59460AB66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3261"/>
              </p:ext>
            </p:extLst>
          </p:nvPr>
        </p:nvGraphicFramePr>
        <p:xfrm>
          <a:off x="838200" y="4869958"/>
          <a:ext cx="10515600" cy="122307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4815491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221431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702598602"/>
                    </a:ext>
                  </a:extLst>
                </a:gridCol>
              </a:tblGrid>
              <a:tr h="121234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AWS EBS, Google Persistent Disks, SAN (Storage Area Network).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AWS S3, Azure Blob Storage, Google Cloud Storage.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7000"/>
                        </a:lnSpc>
                        <a:spcAft>
                          <a:spcPts val="750"/>
                        </a:spcAft>
                      </a:pPr>
                      <a:r>
                        <a:rPr lang="en-IN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Network Attached Storage (NAS), Shared Drives, Local File Systems.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133350" marB="133350" anchor="ctr"/>
                </a:tc>
                <a:extLst>
                  <a:ext uri="{0D108BD9-81ED-4DB2-BD59-A6C34878D82A}">
                    <a16:rowId xmlns:a16="http://schemas.microsoft.com/office/drawing/2014/main" val="600365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3219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33A8D-E8A5-4061-86DB-1045D3831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Fibre Channel SAN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4B317-2148-4C4B-805E-3B28357EB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011"/>
            <a:ext cx="10515600" cy="47899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u="sng" dirty="0"/>
              <a:t>Introduction to Fibre Channel SAN</a:t>
            </a:r>
          </a:p>
          <a:p>
            <a:r>
              <a:rPr lang="en-US" dirty="0"/>
              <a:t>A </a:t>
            </a:r>
            <a:r>
              <a:rPr lang="en-US" b="1" dirty="0"/>
              <a:t>Storage Area Network (SAN)</a:t>
            </a:r>
            <a:r>
              <a:rPr lang="en-US" dirty="0"/>
              <a:t> is a dedicated high-speed network that provides </a:t>
            </a:r>
            <a:r>
              <a:rPr lang="en-US" b="1" dirty="0"/>
              <a:t>block-level access to storage devices</a:t>
            </a:r>
            <a:r>
              <a:rPr lang="en-US" dirty="0"/>
              <a:t> such as disk arrays, SSDs, and tape libraries.</a:t>
            </a:r>
          </a:p>
          <a:p>
            <a:endParaRPr lang="en-US" dirty="0"/>
          </a:p>
          <a:p>
            <a:r>
              <a:rPr lang="en-US" dirty="0"/>
              <a:t>Unlike a traditional LAN, which mainly connects users and applications to servers, a SAN connects:</a:t>
            </a:r>
          </a:p>
          <a:p>
            <a:pPr marL="457200" lvl="1" indent="0">
              <a:buNone/>
            </a:pPr>
            <a:r>
              <a:rPr lang="en-US" b="1" dirty="0"/>
              <a:t>Servers → SAN switches → Storage systems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The server sees SAN storage as if it were a locally attached disk.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u="sng" dirty="0"/>
              <a:t>Example</a:t>
            </a:r>
          </a:p>
          <a:p>
            <a:pPr marL="0" indent="0">
              <a:buNone/>
            </a:pPr>
            <a:r>
              <a:rPr lang="en-US" dirty="0"/>
              <a:t>Consider a company with 100 application servers and a large storage array.</a:t>
            </a:r>
          </a:p>
          <a:p>
            <a:pPr marL="0" indent="0">
              <a:buNone/>
            </a:pPr>
            <a:r>
              <a:rPr lang="en-US" dirty="0"/>
              <a:t>Instead of connecting every server directly to the storage system: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8440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774B3-5FDE-4F10-AEC3-DDF1DB05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FC Switch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A6D03C-B959-4BBA-8D18-A7166B92EE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233" y="1825625"/>
            <a:ext cx="7729533" cy="4351338"/>
          </a:xfrm>
        </p:spPr>
      </p:pic>
    </p:spTree>
    <p:extLst>
      <p:ext uri="{BB962C8B-B14F-4D97-AF65-F5344CB8AC3E}">
        <p14:creationId xmlns:p14="http://schemas.microsoft.com/office/powerpoint/2010/main" val="31227425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99849-9744-44E5-BA07-F92E2D2B6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What is Fibre Channel?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5B95-3403-4753-8EFF-811EAAF15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Fibre Channel (FC)</a:t>
            </a:r>
            <a:r>
              <a:rPr lang="en-US" dirty="0"/>
              <a:t> is a high-speed networking technology designed primarily for transporting </a:t>
            </a:r>
            <a:r>
              <a:rPr lang="en-US" b="1" dirty="0"/>
              <a:t>storage traffic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It is widely used to implement SANs because it provides:</a:t>
            </a:r>
          </a:p>
          <a:p>
            <a:pPr marL="457200" lvl="1" indent="0">
              <a:buNone/>
            </a:pPr>
            <a:r>
              <a:rPr lang="en-US" dirty="0"/>
              <a:t>High bandwidth </a:t>
            </a:r>
          </a:p>
          <a:p>
            <a:pPr marL="457200" lvl="1" indent="0">
              <a:buNone/>
            </a:pPr>
            <a:r>
              <a:rPr lang="en-US" dirty="0"/>
              <a:t>Low latency </a:t>
            </a:r>
          </a:p>
          <a:p>
            <a:pPr marL="457200" lvl="1" indent="0">
              <a:buNone/>
            </a:pPr>
            <a:r>
              <a:rPr lang="en-US" dirty="0"/>
              <a:t>High reliability </a:t>
            </a:r>
          </a:p>
          <a:p>
            <a:pPr marL="457200" lvl="1" indent="0">
              <a:buNone/>
            </a:pPr>
            <a:r>
              <a:rPr lang="en-US" dirty="0"/>
              <a:t>Deterministic performance </a:t>
            </a:r>
          </a:p>
          <a:p>
            <a:pPr marL="457200" lvl="1" indent="0">
              <a:buNone/>
            </a:pPr>
            <a:r>
              <a:rPr lang="en-US" dirty="0"/>
              <a:t>Low error rates </a:t>
            </a:r>
          </a:p>
          <a:p>
            <a:pPr marL="457200" lvl="1" indent="0">
              <a:buNone/>
            </a:pPr>
            <a:r>
              <a:rPr lang="en-US" dirty="0"/>
              <a:t>Support for long-distance connectivity </a:t>
            </a:r>
          </a:p>
          <a:p>
            <a:pPr marL="457200" lvl="1" indent="0">
              <a:buNone/>
            </a:pPr>
            <a:r>
              <a:rPr lang="en-US" dirty="0"/>
              <a:t>Dedicated storage networking </a:t>
            </a:r>
          </a:p>
          <a:p>
            <a:pPr marL="457200" lvl="1" indent="0">
              <a:buNone/>
            </a:pPr>
            <a:r>
              <a:rPr lang="en-US" dirty="0"/>
              <a:t>Multiple communication protocols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4594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AC45E-A68E-4FE1-8E65-315731B1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What is Fibre Channel?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B513-A1F4-4A46-8C1F-162541A9D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the name contains "Fibre", Fibre Channel can operate over:</a:t>
            </a:r>
          </a:p>
          <a:p>
            <a:pPr lvl="1"/>
            <a:r>
              <a:rPr lang="en-US" dirty="0"/>
              <a:t>Optical </a:t>
            </a:r>
            <a:r>
              <a:rPr lang="en-US" dirty="0" err="1"/>
              <a:t>fibre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Copper cables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Important Point</a:t>
            </a:r>
          </a:p>
          <a:p>
            <a:pPr lvl="1"/>
            <a:r>
              <a:rPr lang="en-US" b="1" dirty="0"/>
              <a:t>Fibre Channel is not the same as Fibre Optic.</a:t>
            </a:r>
            <a:endParaRPr lang="en-US" dirty="0"/>
          </a:p>
          <a:p>
            <a:pPr lvl="1"/>
            <a:r>
              <a:rPr lang="en-US" dirty="0"/>
              <a:t>Fibre Channel is a </a:t>
            </a:r>
            <a:r>
              <a:rPr lang="en-US" b="1" dirty="0"/>
              <a:t>networking protocol and technology</a:t>
            </a:r>
            <a:r>
              <a:rPr lang="en-US" dirty="0"/>
              <a:t>, whereas </a:t>
            </a:r>
            <a:r>
              <a:rPr lang="en-US" dirty="0" err="1"/>
              <a:t>fibre</a:t>
            </a:r>
            <a:r>
              <a:rPr lang="en-US" dirty="0"/>
              <a:t> optic is a </a:t>
            </a:r>
            <a:r>
              <a:rPr lang="en-US" b="1" dirty="0"/>
              <a:t>physical transmission medium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3648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450B-4B04-4F92-BD80-C359418A7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Why Fibre Channel is Used in SAN?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01CFB-B756-4BE8-BAAE-43018BF10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5915"/>
            <a:ext cx="10515600" cy="51469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Traditional storage connectivity has limitations.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For example:</a:t>
            </a:r>
          </a:p>
          <a:p>
            <a:pPr marL="0" indent="0">
              <a:buNone/>
            </a:pPr>
            <a:r>
              <a:rPr lang="en-US" b="1" dirty="0"/>
              <a:t>Direct-Attached Storage (DAS)</a:t>
            </a:r>
          </a:p>
          <a:p>
            <a:pPr marL="0" indent="0">
              <a:buNone/>
            </a:pPr>
            <a:r>
              <a:rPr lang="en-IN" dirty="0"/>
              <a:t>Server ───── Storage</a:t>
            </a:r>
          </a:p>
          <a:p>
            <a:pPr marL="0" indent="0">
              <a:buNone/>
            </a:pPr>
            <a:r>
              <a:rPr lang="en-US" dirty="0"/>
              <a:t>Only a limited number of servers can directly access the storage.</a:t>
            </a:r>
          </a:p>
          <a:p>
            <a:pPr marL="0" indent="0">
              <a:buNone/>
            </a:pPr>
            <a:r>
              <a:rPr lang="en-US" dirty="0"/>
              <a:t>With FC SAN:</a:t>
            </a:r>
          </a:p>
          <a:p>
            <a:pPr marL="0" indent="0">
              <a:buNone/>
            </a:pPr>
            <a:r>
              <a:rPr lang="en-US" dirty="0"/>
              <a:t>Multiple servers can access centralized storage.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B27A56-0C94-4CF3-AAB5-6E216A21C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6922" y="4856095"/>
            <a:ext cx="2189689" cy="1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962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EF1A0-FC37-4A25-85C8-791262175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Software-Defined Networking (SDN)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7FAF1-A090-4D96-A394-B33484A0B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447"/>
            <a:ext cx="10515600" cy="52394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Software-Defined Networking (SDN)</a:t>
            </a:r>
            <a:r>
              <a:rPr lang="en-US" dirty="0"/>
              <a:t> is a networking approach where the </a:t>
            </a:r>
            <a:r>
              <a:rPr lang="en-US" b="1" dirty="0"/>
              <a:t>control of the network is separated from the hardware that forwards data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Normally, a network switch decides where packets should go.</a:t>
            </a:r>
          </a:p>
          <a:p>
            <a:pPr marL="0" indent="0">
              <a:buNone/>
            </a:pPr>
            <a:r>
              <a:rPr lang="en-US" dirty="0"/>
              <a:t>In SDN:</a:t>
            </a:r>
          </a:p>
          <a:p>
            <a:pPr marL="0" indent="0">
              <a:buNone/>
            </a:pPr>
            <a:r>
              <a:rPr lang="en-US" b="1" dirty="0"/>
              <a:t>SDN Controller → controls → Network Switches</a:t>
            </a:r>
          </a:p>
          <a:p>
            <a:pPr marL="0" indent="0">
              <a:buNone/>
            </a:pPr>
            <a:r>
              <a:rPr lang="en-US" b="1" dirty="0"/>
              <a:t>Two important planes</a:t>
            </a:r>
          </a:p>
          <a:p>
            <a:pPr marL="0" indent="0">
              <a:buNone/>
            </a:pPr>
            <a:r>
              <a:rPr lang="en-US" b="1" dirty="0"/>
              <a:t>1. Control Plane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Decides </a:t>
            </a:r>
            <a:r>
              <a:rPr lang="en-US" b="1" dirty="0"/>
              <a:t>where the data should go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Managed centrally by the </a:t>
            </a:r>
            <a:r>
              <a:rPr lang="en-US" b="1" dirty="0"/>
              <a:t>SDN controller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b="1" dirty="0"/>
              <a:t>2. Data Plane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Actually </a:t>
            </a:r>
            <a:r>
              <a:rPr lang="en-US" b="1" dirty="0"/>
              <a:t>forwards the data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Implemented by switches/routers.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650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140D-CD27-48E8-9579-B04447F44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SDN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68AD00D-0E5B-41D9-9F94-06A2733C7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944" y="1825625"/>
            <a:ext cx="65061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9030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AB338-5AFC-4FCD-8740-85A30D965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Software-Defined Networking (SDN)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4712A-76B0-4CDE-AA02-C4DCF8598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Simple example</a:t>
            </a:r>
          </a:p>
          <a:p>
            <a:pPr marL="0" indent="0">
              <a:buNone/>
            </a:pPr>
            <a:r>
              <a:rPr lang="en-US" dirty="0"/>
              <a:t>Imagine a traffic police control room:</a:t>
            </a:r>
          </a:p>
          <a:p>
            <a:pPr lvl="1"/>
            <a:r>
              <a:rPr lang="en-US" b="1" dirty="0"/>
              <a:t>Control room = SDN Controller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Roads = Network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Traffic signals = Switches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Vehicles = Data packets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The control room decides how traffic should flow, while the signals and roads handle the actual movement.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8983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00E2C-559E-484F-A5E6-5B4C0E289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FC SAN Components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F200F-0FB2-4956-9BD9-2176B1594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221"/>
            <a:ext cx="10515600" cy="46747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major components of an FC SAN are:</a:t>
            </a:r>
          </a:p>
          <a:p>
            <a:pPr marL="0" indent="0">
              <a:buNone/>
            </a:pPr>
            <a:r>
              <a:rPr lang="en-US" b="1" dirty="0"/>
              <a:t>1. Host / Server</a:t>
            </a:r>
          </a:p>
          <a:p>
            <a:pPr marL="0" indent="0">
              <a:buNone/>
            </a:pPr>
            <a:r>
              <a:rPr lang="en-US" dirty="0"/>
              <a:t>The server that needs access to storage.</a:t>
            </a:r>
          </a:p>
          <a:p>
            <a:pPr marL="0" indent="0">
              <a:buNone/>
            </a:pPr>
            <a:r>
              <a:rPr lang="en-IN" b="1" dirty="0"/>
              <a:t>Examples:</a:t>
            </a:r>
          </a:p>
          <a:p>
            <a:pPr marL="0" indent="0">
              <a:buNone/>
            </a:pPr>
            <a:r>
              <a:rPr lang="en-IN" dirty="0"/>
              <a:t>Database servers , Application servers , Web servers , Virtualization servers, Backup servers</a:t>
            </a:r>
          </a:p>
          <a:p>
            <a:pPr marL="0" indent="0">
              <a:buNone/>
            </a:pPr>
            <a:r>
              <a:rPr lang="en-US" b="1" dirty="0"/>
              <a:t>The host runs an operating system such as:</a:t>
            </a:r>
          </a:p>
          <a:p>
            <a:pPr marL="0" indent="0">
              <a:buNone/>
            </a:pPr>
            <a:r>
              <a:rPr lang="en-US" dirty="0"/>
              <a:t>Windows Server, Linux , VMware </a:t>
            </a:r>
            <a:r>
              <a:rPr lang="en-US" dirty="0" err="1"/>
              <a:t>ESXi</a:t>
            </a:r>
            <a:r>
              <a:rPr lang="en-US" dirty="0"/>
              <a:t>, Unix</a:t>
            </a:r>
          </a:p>
          <a:p>
            <a:pPr marL="0" indent="0">
              <a:buNone/>
            </a:pPr>
            <a:r>
              <a:rPr lang="en-US" dirty="0"/>
              <a:t>The host does not normally connect directly to the FC cable. It requires an </a:t>
            </a:r>
            <a:r>
              <a:rPr lang="en-US" b="1" dirty="0"/>
              <a:t>HBA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00550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48542-4D79-464D-90C2-475EE23F3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HBA – Host Bus Adapter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3588-78BC-4730-8A98-3812F29D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786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Host Bus Adapter (HBA)</a:t>
            </a:r>
            <a:r>
              <a:rPr lang="en-US" dirty="0"/>
              <a:t> is a hardware interface installed in a server that provides connectivity between the server and the Fibre Channel SAN.</a:t>
            </a:r>
          </a:p>
          <a:p>
            <a:pPr marL="0" indent="0">
              <a:buNone/>
            </a:pPr>
            <a:r>
              <a:rPr lang="en-US" dirty="0"/>
              <a:t>It is similar in concept to a network interface card (NIC), but it is designed specifically for storage connectivity.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BCBFFC5-B534-4228-BAB5-D1466E9A6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519972"/>
              </p:ext>
            </p:extLst>
          </p:nvPr>
        </p:nvGraphicFramePr>
        <p:xfrm>
          <a:off x="838200" y="4001294"/>
          <a:ext cx="10515600" cy="23622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0300447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87813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25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HBA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7631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server to LAN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server to SAN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5603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Carries network traffic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Carries storage traffic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0648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Ethernet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Fibre Channel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8414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Usually identified by MAC address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 devices have WWNs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692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6066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CF57D-8155-48AD-A12C-0B3543E3B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of HBA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85D68-C968-402A-A832-A1A6331E1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The HBA:</a:t>
            </a:r>
          </a:p>
          <a:p>
            <a:pPr lvl="1"/>
            <a:r>
              <a:rPr lang="en-US" dirty="0"/>
              <a:t>Connects the server to FC fabric. </a:t>
            </a:r>
          </a:p>
          <a:p>
            <a:pPr lvl="1"/>
            <a:r>
              <a:rPr lang="en-US" dirty="0"/>
              <a:t>Converts server I/O requests into Fibre Channel frames. </a:t>
            </a:r>
          </a:p>
          <a:p>
            <a:pPr lvl="1"/>
            <a:r>
              <a:rPr lang="en-US" dirty="0"/>
              <a:t>Receives Fibre Channel frames from the SAN. </a:t>
            </a:r>
          </a:p>
          <a:p>
            <a:pPr lvl="1"/>
            <a:r>
              <a:rPr lang="en-US" dirty="0"/>
              <a:t>Provides FC port identification. </a:t>
            </a:r>
          </a:p>
          <a:p>
            <a:pPr lvl="1"/>
            <a:r>
              <a:rPr lang="en-US" dirty="0"/>
              <a:t>Supports high-speed data transfer. </a:t>
            </a:r>
          </a:p>
          <a:p>
            <a:pPr lvl="1"/>
            <a:r>
              <a:rPr lang="en-US" dirty="0"/>
              <a:t>Offloads some storage processing from the CPU.</a:t>
            </a:r>
          </a:p>
          <a:p>
            <a:r>
              <a:rPr lang="en-US" b="1" dirty="0"/>
              <a:t>Dual-port HBA</a:t>
            </a:r>
          </a:p>
          <a:p>
            <a:pPr lvl="1"/>
            <a:r>
              <a:rPr lang="en-US" dirty="0"/>
              <a:t>Servers commonly use </a:t>
            </a:r>
            <a:r>
              <a:rPr lang="en-US" b="1" dirty="0"/>
              <a:t>dual-port HBAs</a:t>
            </a:r>
            <a:r>
              <a:rPr lang="en-US" dirty="0"/>
              <a:t> for redundancy.</a:t>
            </a:r>
          </a:p>
          <a:p>
            <a:pPr lvl="1"/>
            <a:r>
              <a:rPr lang="en-US" dirty="0"/>
              <a:t>If one path fails, the other path can continue carrying storage traffic.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C74CC7-D7C3-4191-B6FA-1FF1A7533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3620" y="2802277"/>
            <a:ext cx="1422745" cy="255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337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D963C-CA24-4708-BE41-CDB585409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307"/>
            <a:ext cx="10515600" cy="1325563"/>
          </a:xfrm>
        </p:spPr>
        <p:txBody>
          <a:bodyPr/>
          <a:lstStyle/>
          <a:p>
            <a:r>
              <a:rPr lang="en-US" dirty="0"/>
              <a:t>3. FC Switch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3DB2B-C964-4F7C-84F4-1E46B4EA1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6867"/>
            <a:ext cx="10515600" cy="558914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FC switch</a:t>
            </a:r>
            <a:r>
              <a:rPr lang="en-US" dirty="0"/>
              <a:t> is one of the most important components of an FC SAN.</a:t>
            </a:r>
          </a:p>
          <a:p>
            <a:pPr marL="0" indent="0">
              <a:buNone/>
            </a:pPr>
            <a:r>
              <a:rPr lang="en-US" dirty="0"/>
              <a:t>It connects:</a:t>
            </a:r>
          </a:p>
          <a:p>
            <a:pPr lvl="1"/>
            <a:r>
              <a:rPr lang="en-US" dirty="0"/>
              <a:t>Servers </a:t>
            </a:r>
          </a:p>
          <a:p>
            <a:pPr lvl="1"/>
            <a:r>
              <a:rPr lang="en-US" dirty="0"/>
              <a:t>Storage arrays </a:t>
            </a:r>
          </a:p>
          <a:p>
            <a:pPr lvl="1"/>
            <a:r>
              <a:rPr lang="en-US" dirty="0"/>
              <a:t>Other FC switches </a:t>
            </a:r>
          </a:p>
          <a:p>
            <a:pPr lvl="1"/>
            <a:r>
              <a:rPr lang="en-US" dirty="0"/>
              <a:t>and creates the </a:t>
            </a:r>
            <a:r>
              <a:rPr lang="en-US" b="1" dirty="0"/>
              <a:t>Fibre Channel fabric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Functions of an FC switch</a:t>
            </a:r>
          </a:p>
          <a:p>
            <a:pPr marL="0" indent="0">
              <a:buNone/>
            </a:pPr>
            <a:r>
              <a:rPr lang="en-US" dirty="0"/>
              <a:t>The switch:</a:t>
            </a:r>
          </a:p>
          <a:p>
            <a:pPr marL="457200" lvl="1" indent="0">
              <a:buNone/>
            </a:pPr>
            <a:r>
              <a:rPr lang="en-US" dirty="0"/>
              <a:t>Connects FC devices. </a:t>
            </a:r>
          </a:p>
          <a:p>
            <a:pPr marL="457200" lvl="1" indent="0">
              <a:buNone/>
            </a:pPr>
            <a:r>
              <a:rPr lang="en-US" dirty="0"/>
              <a:t>Creates communication paths. </a:t>
            </a:r>
          </a:p>
          <a:p>
            <a:pPr marL="457200" lvl="1" indent="0">
              <a:buNone/>
            </a:pPr>
            <a:r>
              <a:rPr lang="en-US" dirty="0"/>
              <a:t>Forwards FC frames. </a:t>
            </a:r>
          </a:p>
          <a:p>
            <a:pPr marL="457200" lvl="1" indent="0">
              <a:buNone/>
            </a:pPr>
            <a:r>
              <a:rPr lang="en-US" dirty="0"/>
              <a:t>Maintains fabric information. </a:t>
            </a:r>
          </a:p>
          <a:p>
            <a:pPr marL="457200" lvl="1" indent="0">
              <a:buNone/>
            </a:pPr>
            <a:r>
              <a:rPr lang="en-US" dirty="0"/>
              <a:t>Supports zoning. </a:t>
            </a:r>
          </a:p>
          <a:p>
            <a:pPr marL="457200" lvl="1" indent="0">
              <a:buNone/>
            </a:pPr>
            <a:r>
              <a:rPr lang="en-US" dirty="0"/>
              <a:t>Provides high-speed switching. </a:t>
            </a:r>
          </a:p>
          <a:p>
            <a:pPr marL="457200" lvl="1" indent="0">
              <a:buNone/>
            </a:pPr>
            <a:r>
              <a:rPr lang="en-US" dirty="0"/>
              <a:t>Supports multiple simultaneous connections. </a:t>
            </a:r>
          </a:p>
          <a:p>
            <a:pPr marL="457200" lvl="1" indent="0">
              <a:buNone/>
            </a:pPr>
            <a:r>
              <a:rPr lang="en-US" dirty="0"/>
              <a:t>Provides redundancy when multiple switches are deployed.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C079E6-09A7-40A5-BCF6-513BD2763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683" y="3038247"/>
            <a:ext cx="3517001" cy="148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50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9EE0-071C-49B7-A9A5-507AAE3C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Storage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6E0A-3845-4141-95A0-599EBC6D4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011"/>
            <a:ext cx="10515600" cy="5105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A </a:t>
            </a:r>
            <a:r>
              <a:rPr lang="en-US" b="1" dirty="0"/>
              <a:t>storage array</a:t>
            </a:r>
            <a:r>
              <a:rPr lang="en-US" dirty="0"/>
              <a:t> is a centralized storage system that provides storage capacity to multiple servers.</a:t>
            </a:r>
          </a:p>
          <a:p>
            <a:pPr marL="0" indent="0">
              <a:buNone/>
            </a:pPr>
            <a:r>
              <a:rPr lang="en-US" dirty="0"/>
              <a:t>Examples of storage resources include:</a:t>
            </a:r>
          </a:p>
          <a:p>
            <a:pPr lvl="1"/>
            <a:r>
              <a:rPr lang="en-US" dirty="0"/>
              <a:t>HDDs </a:t>
            </a:r>
          </a:p>
          <a:p>
            <a:pPr lvl="1"/>
            <a:r>
              <a:rPr lang="en-US" dirty="0"/>
              <a:t>SSDs </a:t>
            </a:r>
          </a:p>
          <a:p>
            <a:pPr lvl="1"/>
            <a:r>
              <a:rPr lang="en-US" dirty="0"/>
              <a:t>Flash drives </a:t>
            </a:r>
          </a:p>
          <a:p>
            <a:pPr lvl="1"/>
            <a:r>
              <a:rPr lang="en-US" dirty="0"/>
              <a:t>RAID groups </a:t>
            </a:r>
          </a:p>
          <a:p>
            <a:pPr lvl="1"/>
            <a:r>
              <a:rPr lang="en-US" dirty="0"/>
              <a:t>Storage pools </a:t>
            </a:r>
          </a:p>
          <a:p>
            <a:pPr marL="0" indent="0">
              <a:buNone/>
            </a:pPr>
            <a:r>
              <a:rPr lang="en-US" dirty="0"/>
              <a:t>A storage array generally contains: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AD436-8CC9-4841-BC67-12F7800A0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95" y="4178808"/>
            <a:ext cx="2630184" cy="239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492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08639-B885-40B3-97F1-F17322D47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3754"/>
            <a:ext cx="10515600" cy="1325563"/>
          </a:xfrm>
        </p:spPr>
        <p:txBody>
          <a:bodyPr/>
          <a:lstStyle/>
          <a:p>
            <a:r>
              <a:rPr lang="en-US" dirty="0"/>
              <a:t>5. Fibre Channel Ports</a:t>
            </a:r>
            <a:br>
              <a:rPr lang="en-US" dirty="0"/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5AE5C8-AF84-4FE5-AED4-79E1FFDF31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9694465"/>
              </p:ext>
            </p:extLst>
          </p:nvPr>
        </p:nvGraphicFramePr>
        <p:xfrm>
          <a:off x="424665" y="1027905"/>
          <a:ext cx="11342670" cy="5306598"/>
        </p:xfrm>
        <a:graphic>
          <a:graphicData uri="http://schemas.openxmlformats.org/drawingml/2006/table">
            <a:tbl>
              <a:tblPr/>
              <a:tblGrid>
                <a:gridCol w="2400728">
                  <a:extLst>
                    <a:ext uri="{9D8B030D-6E8A-4147-A177-3AD203B41FA5}">
                      <a16:colId xmlns:a16="http://schemas.microsoft.com/office/drawing/2014/main" val="1785409285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634351680"/>
                    </a:ext>
                  </a:extLst>
                </a:gridCol>
                <a:gridCol w="5284342">
                  <a:extLst>
                    <a:ext uri="{9D8B030D-6E8A-4147-A177-3AD203B41FA5}">
                      <a16:colId xmlns:a16="http://schemas.microsoft.com/office/drawing/2014/main" val="3517608569"/>
                    </a:ext>
                  </a:extLst>
                </a:gridCol>
              </a:tblGrid>
              <a:tr h="436069">
                <a:tc>
                  <a:txBody>
                    <a:bodyPr/>
                    <a:lstStyle/>
                    <a:p>
                      <a:r>
                        <a:rPr lang="en-IN" sz="25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Full Form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5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Purpose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688515"/>
                  </a:ext>
                </a:extLst>
              </a:tr>
              <a:tr h="638252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Node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an end device to the FC fabric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126525"/>
                  </a:ext>
                </a:extLst>
              </a:tr>
              <a:tr h="638252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NL_Port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Node Loop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an end device to an FC-AL loop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4116571"/>
                  </a:ext>
                </a:extLst>
              </a:tr>
              <a:tr h="436069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Fabric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an N_Port to an FC switch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01478"/>
                  </a:ext>
                </a:extLst>
              </a:tr>
              <a:tr h="638252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Fabric Loop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an FC-AL loop to an FC switch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782787"/>
                  </a:ext>
                </a:extLst>
              </a:tr>
              <a:tr h="436069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Expansion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two FC switches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4517420"/>
                  </a:ext>
                </a:extLst>
              </a:tr>
              <a:tr h="638252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 Router Expansion 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Connects an FC switch to an FC router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614550"/>
                  </a:ext>
                </a:extLst>
              </a:tr>
              <a:tr h="638252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Trunking E_Port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Provides trunking between switches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23966"/>
                  </a:ext>
                </a:extLst>
              </a:tr>
              <a:tr h="780959">
                <a:tc>
                  <a:txBody>
                    <a:bodyPr/>
                    <a:lstStyle/>
                    <a:p>
                      <a:r>
                        <a:rPr lang="en-IN" sz="23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VE_Port</a:t>
                      </a:r>
                      <a:endParaRPr lang="en-IN"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Virtual </a:t>
                      </a:r>
                      <a:r>
                        <a:rPr lang="en-IN" sz="23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E_Port</a:t>
                      </a:r>
                      <a:endParaRPr lang="en-IN" sz="23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for virtual/FCIP-based inter-switch connectivity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8608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1557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7E95-0DFA-4679-9B44-0CCD240DF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Fibre Channel Cables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DB920-DBEE-4039-88ED-6EC0B7D99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9609"/>
            <a:ext cx="10515600" cy="560969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FC SAN uses specialized physical media.</a:t>
            </a:r>
          </a:p>
          <a:p>
            <a:pPr marL="0" indent="0">
              <a:buNone/>
            </a:pPr>
            <a:r>
              <a:rPr lang="en-US" dirty="0"/>
              <a:t>The common media are:</a:t>
            </a:r>
          </a:p>
          <a:p>
            <a:pPr marL="0" indent="0">
              <a:buNone/>
            </a:pPr>
            <a:r>
              <a:rPr lang="en-US" b="1" dirty="0" err="1"/>
              <a:t>i</a:t>
            </a:r>
            <a:r>
              <a:rPr lang="en-US" b="1" dirty="0"/>
              <a:t>) Fibre Optic Cable</a:t>
            </a:r>
          </a:p>
          <a:p>
            <a:pPr marL="0" indent="0">
              <a:buNone/>
            </a:pPr>
            <a:r>
              <a:rPr lang="en-US" dirty="0"/>
              <a:t>Used extensively in data centers.</a:t>
            </a:r>
          </a:p>
          <a:p>
            <a:pPr marL="0" indent="0">
              <a:buNone/>
            </a:pPr>
            <a:r>
              <a:rPr lang="en-US" dirty="0"/>
              <a:t>Advantages:</a:t>
            </a:r>
          </a:p>
          <a:p>
            <a:pPr marL="0" indent="0">
              <a:buNone/>
            </a:pPr>
            <a:r>
              <a:rPr lang="en-US" dirty="0"/>
              <a:t>High bandwidth, Long-distance transmission,</a:t>
            </a:r>
          </a:p>
          <a:p>
            <a:pPr marL="0" indent="0">
              <a:buNone/>
            </a:pPr>
            <a:r>
              <a:rPr lang="en-US" dirty="0"/>
              <a:t>Low electromagnetic interference, High reliability </a:t>
            </a:r>
          </a:p>
          <a:p>
            <a:pPr marL="0" indent="0">
              <a:buNone/>
            </a:pPr>
            <a:r>
              <a:rPr lang="en-US" dirty="0"/>
              <a:t>Two common types are:</a:t>
            </a:r>
          </a:p>
          <a:p>
            <a:pPr marL="457200" lvl="1" indent="0">
              <a:buNone/>
            </a:pPr>
            <a:r>
              <a:rPr lang="en-US" b="1" dirty="0"/>
              <a:t>Multimode fiber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b="1" dirty="0"/>
              <a:t>Single-mode fiber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ii) Copper Cable</a:t>
            </a:r>
          </a:p>
          <a:p>
            <a:pPr marL="0" indent="0">
              <a:buNone/>
            </a:pPr>
            <a:r>
              <a:rPr lang="en-US" dirty="0"/>
              <a:t>Copper-based FC connections may be used for shorter distances, although optical fiber is common in modern SAN environments.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2492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6960C-B076-453A-B6DD-7259FB049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FC SAN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2777B-A00F-4D2F-9DA9-BCCC7B6DA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1065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1786</Words>
  <Application>Microsoft Office PowerPoint</Application>
  <PresentationFormat>Widescreen</PresentationFormat>
  <Paragraphs>337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Times New Roman</vt:lpstr>
      <vt:lpstr>Office Theme</vt:lpstr>
      <vt:lpstr>UNIT III</vt:lpstr>
      <vt:lpstr>Syllabus</vt:lpstr>
      <vt:lpstr>STORAGE NETWORKING</vt:lpstr>
      <vt:lpstr>TYPES OF STORAGE SYSTEMS </vt:lpstr>
      <vt:lpstr>BLOCK-BASED STORAGE SYSTEM</vt:lpstr>
      <vt:lpstr>BLOCK-BASED STORAGE SYSTEM</vt:lpstr>
      <vt:lpstr>BLOCK-BASED STORAGE SYSTEM</vt:lpstr>
      <vt:lpstr>BLOCK-BASED STORAGE SYSTEM</vt:lpstr>
      <vt:lpstr>3. FILE-BASED STORAGE SYSTEM</vt:lpstr>
      <vt:lpstr>3. FILE-BASED STORAGE SYSTEM</vt:lpstr>
      <vt:lpstr>3. FILE-BASED STORAGE SYSTEM</vt:lpstr>
      <vt:lpstr>3. FILE-BASED STORAGE SYSTEM</vt:lpstr>
      <vt:lpstr>4. OBJECT-BASED STORAGE</vt:lpstr>
      <vt:lpstr>4. OBJECT-BASED STORAGE</vt:lpstr>
      <vt:lpstr>4. OBJECT-BASED STORAGE</vt:lpstr>
      <vt:lpstr>4. OBJECT-BASED STORAGE</vt:lpstr>
      <vt:lpstr>5. UNIFIED STORAGE</vt:lpstr>
      <vt:lpstr>Block Storage Vs Object Storage Vs File Storage </vt:lpstr>
      <vt:lpstr>Comparison of Storage Systems</vt:lpstr>
      <vt:lpstr>Comparison of Storage Systems</vt:lpstr>
      <vt:lpstr>PowerPoint Presentation</vt:lpstr>
      <vt:lpstr>Fibre Channel SAN</vt:lpstr>
      <vt:lpstr>FC Switch</vt:lpstr>
      <vt:lpstr>2. What is Fibre Channel? </vt:lpstr>
      <vt:lpstr>2. What is Fibre Channel? </vt:lpstr>
      <vt:lpstr>3. Why Fibre Channel is Used in SAN? </vt:lpstr>
      <vt:lpstr>2. Software-Defined Networking (SDN) </vt:lpstr>
      <vt:lpstr>SDN</vt:lpstr>
      <vt:lpstr>Software-Defined Networking (SDN)</vt:lpstr>
      <vt:lpstr>FC SAN Components </vt:lpstr>
      <vt:lpstr>2. HBA – Host Bus Adapter </vt:lpstr>
      <vt:lpstr>Functions of HBA </vt:lpstr>
      <vt:lpstr>3. FC Switch </vt:lpstr>
      <vt:lpstr>4. Storage Array</vt:lpstr>
      <vt:lpstr>5. Fibre Channel Ports </vt:lpstr>
      <vt:lpstr>6. Fibre Channel Cables </vt:lpstr>
      <vt:lpstr>FC SAN Architecture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III</dc:title>
  <dc:creator>USER</dc:creator>
  <cp:lastModifiedBy>USER</cp:lastModifiedBy>
  <cp:revision>22</cp:revision>
  <cp:lastPrinted>2026-08-10T05:09:57Z</cp:lastPrinted>
  <dcterms:created xsi:type="dcterms:W3CDTF">2026-08-06T05:17:05Z</dcterms:created>
  <dcterms:modified xsi:type="dcterms:W3CDTF">2026-08-12T06:30:05Z</dcterms:modified>
</cp:coreProperties>
</file>
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1" r:id="rId10"/>
    <p:sldId id="265" r:id="rId11"/>
    <p:sldId id="264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8" r:id="rId42"/>
    <p:sldId id="299" r:id="rId43"/>
    <p:sldId id="300" r:id="rId44"/>
    <p:sldId id="296" r:id="rId45"/>
    <p:sldId id="297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8" d="100"/>
          <a:sy n="68" d="100"/>
        </p:scale>
        <p:origin x="592" y="-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C6A0C-2348-4687-A577-9A78062EAC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277BC4-85A8-4581-8F32-9CE4F70448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E05851-8F68-47CC-8F3B-59E7C007D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FF6D2-9648-4F03-BB67-A4D319F34112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5A88E-C9EB-4D8E-A123-0593C8F30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9C425-8210-408B-843F-B6B24E26E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67920-ABB9-423E-9490-E67BA4B152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6574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B8FA5-1C6C-4B3E-B799-2ABE942C7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A5F57-1397-40FD-87E9-FCCB59026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00D04-2514-43D6-A84E-A563A9F8A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FF6D2-9648-4F03-BB67-A4D319F34112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ECF81-53FB-4D4F-AF32-5AB3F9F3D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7D742-76E2-4218-9749-F15FF9745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67920-ABB9-423E-9490-E67BA4B152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659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DA866-CF4E-443E-9F2E-85E31BD68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D57666-94E4-42AC-8746-F59997CB98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9BDB4-EF4D-4F17-98E1-4E1A557AE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FF6D2-9648-4F03-BB67-A4D319F34112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23EFF-3703-4277-BD1D-7BE66890D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B3E88-A79B-45F8-8531-8796AFA98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67920-ABB9-423E-9490-E67BA4B152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2358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9ADC4-0143-4C07-9DF2-67575C8AF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E23D8-C587-45DA-B9ED-D94AE62DFA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675BE-A2E8-4142-B031-DD02FB73E7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0597B9-4986-4B62-A458-797005F02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FF6D2-9648-4F03-BB67-A4D319F34112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6CA56B-51D1-44FE-8F00-F7AEF017B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F9FAF-7EF9-4504-8DD9-0574BAA8E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67920-ABB9-423E-9490-E67BA4B152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5477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BDB48-CCC9-4A39-81F3-2C5B2AF0F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8E6A32-D5F6-4F08-99D8-D3FACD5C46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40036D-3276-410C-9292-00F024D273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CBC843-F04B-41C4-8219-99FA2B57F1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C2297D-D970-4F5E-9E7D-7F745EE04C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0C7483-EE45-4AF3-A265-FA53311E0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FF6D2-9648-4F03-BB67-A4D319F34112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4D38D3-0AEE-42B5-98FD-A9954584A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5C05CA-00BF-4EE3-9490-366C8BD96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67920-ABB9-423E-9490-E67BA4B152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4307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33FD4-1C3E-4E8A-BB4F-55AACE93F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442F15-0437-42AB-A0FD-73A0BDAC3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FF6D2-9648-4F03-BB67-A4D319F34112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93FC61-CB64-4BA7-9DF1-24A6D3F4B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F7726A-D39F-4472-88D7-130B21DEA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67920-ABB9-423E-9490-E67BA4B152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392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302FF8-5E86-4534-A59B-EF4703D91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FF6D2-9648-4F03-BB67-A4D319F34112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4066F2-7A04-4C6D-84A6-1C16886D3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293EDF-E674-4B49-B1DE-C0C428009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67920-ABB9-423E-9490-E67BA4B152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4726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6C831-8296-420E-968A-323AF963C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02441-CEBC-4073-859E-5BFA806E6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95F362-B0CB-464E-A953-4B2254EF9B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9C38E0-A752-4494-A948-5B69140F1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FF6D2-9648-4F03-BB67-A4D319F34112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C68BAC-F73E-40B5-ADCB-2C7C0AAE0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C76369-5304-4B54-8256-7AD9D395C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67920-ABB9-423E-9490-E67BA4B152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9952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982EF-D1CF-4D40-AAA9-89BCF95FD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993592-02F1-4C57-AB2E-0625742187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F00EE3-9FD4-4F74-A914-EA9B58F95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DA4EB-9EB4-45A4-80E4-C9E0A272D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FF6D2-9648-4F03-BB67-A4D319F34112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F385C8-BFF7-4830-8E1D-45E2BF993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DF73A2-C882-4B54-950A-E8C5E9DF5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67920-ABB9-423E-9490-E67BA4B152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037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580B1-1F8E-44FA-A974-A1A9A846F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D6FDBD-6A2B-4F27-B9A0-9D09CBD3F3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528CF-C88A-4EE4-B432-A84E08FC4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FF6D2-9648-4F03-BB67-A4D319F34112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F03EB5-1410-42DF-8EB7-760D8E026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6DC3B-7919-4720-BF74-709606AE6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67920-ABB9-423E-9490-E67BA4B152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5340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E6ACA7-F817-4AB0-BD80-F16085B9A9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884E75-34D2-4A26-B281-5CC0F6772F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86CB16-A158-4799-8EB5-75E5CB21B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FF6D2-9648-4F03-BB67-A4D319F34112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7705F-AE91-4AB4-B6DC-6F2EE26B4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653F6-9AF2-4CB5-858A-56C4DF98E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67920-ABB9-423E-9490-E67BA4B152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4386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93AA1F-57CC-4EAE-BE48-7B96D5555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80035-6EBA-4376-874F-05FCDA0EF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625FB-6C65-48D3-86EB-B09048AEC5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6FF6D2-9648-4F03-BB67-A4D319F34112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58E16-750B-457C-BF07-2F328E001E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A81DD9-F133-4218-9A2F-496C55B20D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C67920-ABB9-423E-9490-E67BA4B152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730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D6E1D-BF32-4EB1-911E-2436E91B0B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16879"/>
            <a:ext cx="9705654" cy="860549"/>
          </a:xfrm>
        </p:spPr>
        <p:txBody>
          <a:bodyPr>
            <a:noAutofit/>
          </a:bodyPr>
          <a:lstStyle/>
          <a:p>
            <a:pPr algn="l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IV 	BACKUP - ARCHIVE AND REPLICATION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5D9EE8-6109-48A2-86FD-51691A5144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39766"/>
            <a:ext cx="9144000" cy="3018034"/>
          </a:xfrm>
        </p:spPr>
        <p:txBody>
          <a:bodyPr/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Business Continuity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Backup architecture - Backup targets and methods </a:t>
            </a:r>
          </a:p>
          <a:p>
            <a:pPr algn="just"/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deduplication - Cloud-based and mobile device backup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archive - Uses of replication and its characteristics</a:t>
            </a:r>
          </a:p>
          <a:p>
            <a:pPr algn="just"/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 based - storage-based - and network-based replication</a:t>
            </a:r>
          </a:p>
          <a:p>
            <a:pPr algn="just"/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migration - Disaster Recovery as a Service (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DRaaS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6194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49631-2B9F-4CE4-92D7-637FCBFF2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Business Continuity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85B46-800D-45B2-93C1-2E95314D8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6737"/>
            <a:ext cx="10515600" cy="529119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 Meaning of Business Continuity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Continuity (BC)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refers to the ability of an organization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 its critical business operations during and after a disruption or disaster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disruption may occur because of: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failure , Software failure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failure, Network failures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disasters such as floods, earthquakes, or cyclones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Cyberattacks and ransomware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errors , Data corruption , Fire or physical damage to the data center 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 of business continuity is to ensure that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business services remain available with minimum interruption and data loss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3491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C6E67-4868-4860-BD23-E96906E4E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6B62F-106F-40B6-B102-4D61618BC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an online banking system. If its main data center becomes unavailable because of a power failure, customers should still be able to access their accounts and perform transactions.</a:t>
            </a:r>
          </a:p>
          <a:p>
            <a:r>
              <a:rPr lang="en-US" dirty="0"/>
              <a:t>To achieve this, the bank may use:</a:t>
            </a:r>
          </a:p>
          <a:p>
            <a:r>
              <a:rPr lang="en-US" b="1" dirty="0"/>
              <a:t>Primary Data Center → Backup/Replication → Secondary Data Center</a:t>
            </a:r>
            <a:endParaRPr lang="en-US" dirty="0"/>
          </a:p>
          <a:p>
            <a:r>
              <a:rPr lang="en-US" dirty="0"/>
              <a:t>If the primary data center fails, services can be transferred to the secondary site.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3022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974C6-9474-426D-9DD7-8C5348971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1.2 Need for Business Continuity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EF114-31F4-4F26-AD70-AD2414206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Organizations depend heavily on information systems and digital data. Any interruption can result in financial loss and damage to the organization's reputation.</a:t>
            </a:r>
          </a:p>
          <a:p>
            <a:r>
              <a:rPr lang="en-US" dirty="0"/>
              <a:t>Business continuity is required for the following reasons:</a:t>
            </a:r>
          </a:p>
          <a:p>
            <a:r>
              <a:rPr lang="en-US" b="1" dirty="0"/>
              <a:t>1. Prevents prolonged service interruption</a:t>
            </a:r>
          </a:p>
          <a:p>
            <a:r>
              <a:rPr lang="en-US" dirty="0"/>
              <a:t>It enables an organization to restore or continue critical services quickly after a failure.</a:t>
            </a:r>
          </a:p>
          <a:p>
            <a:r>
              <a:rPr lang="en-US" b="1" dirty="0"/>
              <a:t>2. Protects business data</a:t>
            </a:r>
          </a:p>
          <a:p>
            <a:r>
              <a:rPr lang="en-US" dirty="0"/>
              <a:t>Important business information such as customer records, financial information, employee records, and transaction data can be protected using backup and replication.</a:t>
            </a:r>
          </a:p>
          <a:p>
            <a:r>
              <a:rPr lang="en-US" b="1" dirty="0"/>
              <a:t>3. Reduces financial losses</a:t>
            </a:r>
          </a:p>
          <a:p>
            <a:r>
              <a:rPr lang="en-US" dirty="0"/>
              <a:t>Downtime can result in loss of sales, productivity, and customers. Business continuity minimizes the duration of downtime.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5279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0DD14-5ED0-41B1-8BF7-9B078FDD9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1.2 Need for Business Continuity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FA8A3-4D3E-451A-9019-5555A7D54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4. Maintains customer confidence</a:t>
            </a:r>
          </a:p>
          <a:p>
            <a:r>
              <a:rPr lang="en-US" dirty="0"/>
              <a:t>Customers expect services to be available continuously. Effective business continuity helps maintain customer trust.</a:t>
            </a:r>
          </a:p>
          <a:p>
            <a:r>
              <a:rPr lang="en-US" b="1" dirty="0"/>
              <a:t>5. Supports regulatory requirements</a:t>
            </a:r>
          </a:p>
          <a:p>
            <a:r>
              <a:rPr lang="en-US" dirty="0"/>
              <a:t>Many organizations are required to maintain data protection, availability, and disaster recovery procedures according to industry regulations.</a:t>
            </a:r>
          </a:p>
          <a:p>
            <a:r>
              <a:rPr lang="en-US" b="1" dirty="0"/>
              <a:t>6. Protects against disasters</a:t>
            </a:r>
          </a:p>
          <a:p>
            <a:r>
              <a:rPr lang="en-US" dirty="0"/>
              <a:t>Business continuity planning helps organizations prepare for both natural and man-made disasters.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8630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A1A3D-1362-4C31-A488-BE0F1BF20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1.3 Basic Business Continuity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078BD-DD9A-4B47-82F7-5ED3DF595A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ctr"/>
            <a:r>
              <a:rPr lang="en-US" dirty="0"/>
              <a:t>Risk Identification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Business Impact Analysis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Continuity Strategy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Backup and Recovery Planning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Implementation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Testing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Continuous Improvement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4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DEF9F-E7F5-4444-937B-23FEC390F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1.4 Important Business Continuity Terms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A2ED6-F770-447A-B79F-D54D09599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2898"/>
            <a:ext cx="10515600" cy="543502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Two important concepts used in business continuity and disaster recovery are:</a:t>
            </a:r>
          </a:p>
          <a:p>
            <a:r>
              <a:rPr lang="en-US" b="1" dirty="0"/>
              <a:t>Recovery Point Objective (RPO)</a:t>
            </a:r>
          </a:p>
          <a:p>
            <a:r>
              <a:rPr lang="en-US" b="1" dirty="0"/>
              <a:t>RPO defines the maximum acceptable amount of data loss measured in time.</a:t>
            </a:r>
            <a:endParaRPr lang="en-US" dirty="0"/>
          </a:p>
          <a:p>
            <a:r>
              <a:rPr lang="en-US" dirty="0"/>
              <a:t>In simple words:</a:t>
            </a:r>
          </a:p>
          <a:p>
            <a:pPr algn="ctr"/>
            <a:r>
              <a:rPr lang="en-US" dirty="0"/>
              <a:t>RPO answers: "How much data can we afford to lose?“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If an organization's RPO is </a:t>
            </a:r>
            <a:r>
              <a:rPr lang="en-US" b="1" dirty="0"/>
              <a:t>1 hour</a:t>
            </a:r>
            <a:r>
              <a:rPr lang="en-US" dirty="0"/>
              <a:t>, its backup/replication system should allow recovery with no more than approximately </a:t>
            </a:r>
            <a:r>
              <a:rPr lang="en-US" b="1" dirty="0"/>
              <a:t>1 hour of data loss</a:t>
            </a:r>
            <a:r>
              <a:rPr lang="en-US" dirty="0"/>
              <a:t>.</a:t>
            </a:r>
          </a:p>
          <a:p>
            <a:r>
              <a:rPr lang="en-US" dirty="0"/>
              <a:t>Suppose:</a:t>
            </a:r>
          </a:p>
          <a:p>
            <a:r>
              <a:rPr lang="en-US" dirty="0"/>
              <a:t>Last successful backup = 10:00 AM </a:t>
            </a:r>
          </a:p>
          <a:p>
            <a:r>
              <a:rPr lang="en-US" dirty="0"/>
              <a:t>Disaster occurs = 11:00 AM </a:t>
            </a:r>
          </a:p>
          <a:p>
            <a:r>
              <a:rPr lang="en-US" dirty="0"/>
              <a:t>With a 1-hour RPO, data generated after 10:00 AM may potentially be lost.</a:t>
            </a:r>
          </a:p>
          <a:p>
            <a:r>
              <a:rPr lang="en-US" b="1" dirty="0"/>
              <a:t>RPO values</a:t>
            </a:r>
          </a:p>
          <a:p>
            <a:r>
              <a:rPr lang="en-US" dirty="0"/>
              <a:t>High RPO → More data loss can be tolerated </a:t>
            </a:r>
          </a:p>
          <a:p>
            <a:r>
              <a:rPr lang="en-US" dirty="0"/>
              <a:t>Low RPO → Very little data loss can be tolerated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2317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430D8-110B-42E5-8458-20930B28D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Recovery Time Objective (RTO)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B8A70-080A-473B-B8BF-CC952FDCC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1528"/>
            <a:ext cx="10515600" cy="5496674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RTO defines the maximum acceptable time within which a service or application should be restored after a disruption.</a:t>
            </a:r>
            <a:endParaRPr lang="en-US" dirty="0"/>
          </a:p>
          <a:p>
            <a:r>
              <a:rPr lang="en-US" dirty="0"/>
              <a:t>In simple words:</a:t>
            </a:r>
          </a:p>
          <a:p>
            <a:pPr algn="ctr"/>
            <a:r>
              <a:rPr lang="en-US" dirty="0"/>
              <a:t>RTO answers: "How quickly must we recover?“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If an organization's RTO is </a:t>
            </a:r>
            <a:r>
              <a:rPr lang="en-US" b="1" dirty="0"/>
              <a:t>2 hours</a:t>
            </a:r>
            <a:r>
              <a:rPr lang="en-US" dirty="0"/>
              <a:t>, the affected application should be restored within 2 hours of the disruption.</a:t>
            </a:r>
          </a:p>
          <a:p>
            <a:r>
              <a:rPr lang="en-US" b="1" dirty="0"/>
              <a:t>Difference between RPO and RTO</a:t>
            </a:r>
          </a:p>
          <a:p>
            <a:r>
              <a:rPr lang="en-US" b="1" dirty="0"/>
              <a:t>RPO → Data loss tolerance</a:t>
            </a:r>
            <a:endParaRPr lang="en-US" dirty="0"/>
          </a:p>
          <a:p>
            <a:r>
              <a:rPr lang="en-US" b="1" dirty="0"/>
              <a:t>RTO → Downtime tolerance</a:t>
            </a:r>
          </a:p>
          <a:p>
            <a:r>
              <a:rPr lang="en-US" dirty="0"/>
              <a:t>For example:</a:t>
            </a:r>
          </a:p>
          <a:p>
            <a:pPr lvl="1"/>
            <a:r>
              <a:rPr lang="en-IN" dirty="0"/>
              <a:t>RPO = 30 minutes</a:t>
            </a:r>
            <a:br>
              <a:rPr lang="en-IN" dirty="0"/>
            </a:br>
            <a:r>
              <a:rPr lang="en-IN" dirty="0"/>
              <a:t>RTO = 2 hours</a:t>
            </a:r>
          </a:p>
          <a:p>
            <a:r>
              <a:rPr lang="en-US" dirty="0"/>
              <a:t>This means:</a:t>
            </a:r>
          </a:p>
          <a:p>
            <a:r>
              <a:rPr lang="en-US" dirty="0"/>
              <a:t>The organization can tolerate up to 30 minutes of data loss. </a:t>
            </a:r>
          </a:p>
          <a:p>
            <a:r>
              <a:rPr lang="en-US" dirty="0"/>
              <a:t>The service should be restored within 2 hours.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665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9315D-8A6B-40F7-A121-52FE81E46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990AE-7EA9-47DD-B051-F94F6A6C0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endParaRPr lang="en-IN" sz="3000" b="1" dirty="0"/>
          </a:p>
          <a:p>
            <a:pPr algn="ctr"/>
            <a:endParaRPr lang="en-IN" sz="3000" b="1" dirty="0"/>
          </a:p>
          <a:p>
            <a:pPr algn="ctr"/>
            <a:r>
              <a:rPr lang="en-IN" sz="3000" b="1" dirty="0"/>
              <a:t>Backup architecture - Backup targets and methods </a:t>
            </a:r>
          </a:p>
          <a:p>
            <a:endParaRPr lang="en-IN" sz="3000" b="1" dirty="0"/>
          </a:p>
        </p:txBody>
      </p:sp>
    </p:spTree>
    <p:extLst>
      <p:ext uri="{BB962C8B-B14F-4D97-AF65-F5344CB8AC3E}">
        <p14:creationId xmlns:p14="http://schemas.microsoft.com/office/powerpoint/2010/main" val="3174963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68356-60CA-40C0-BE69-71C61E83C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5674"/>
            <a:ext cx="10515600" cy="569824"/>
          </a:xfrm>
        </p:spPr>
        <p:txBody>
          <a:bodyPr/>
          <a:lstStyle/>
          <a:p>
            <a:r>
              <a:rPr lang="en-US" b="1" dirty="0"/>
              <a:t>Introduction to Backup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8207C-7009-404A-91CB-2EDF3A35B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7964"/>
            <a:ext cx="10515600" cy="5712432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Backup</a:t>
            </a:r>
            <a:r>
              <a:rPr lang="en-US" dirty="0"/>
              <a:t> is the process of creating a copy of data and storing it in a separate location so that the data can be </a:t>
            </a:r>
            <a:r>
              <a:rPr lang="en-US" b="1" dirty="0"/>
              <a:t>restored when the original data is lost, damaged, corrupted, or unavailable</a:t>
            </a:r>
            <a:r>
              <a:rPr lang="en-US" dirty="0"/>
              <a:t>.</a:t>
            </a:r>
          </a:p>
          <a:p>
            <a:r>
              <a:rPr lang="en-US" dirty="0"/>
              <a:t>Backup is one of the most important components of a </a:t>
            </a:r>
            <a:r>
              <a:rPr lang="en-US" b="1" dirty="0"/>
              <a:t>business continuity and disaster recovery strategy</a:t>
            </a:r>
            <a:r>
              <a:rPr lang="en-US" dirty="0"/>
              <a:t>.</a:t>
            </a:r>
          </a:p>
          <a:p>
            <a:r>
              <a:rPr lang="en-US" b="1" dirty="0"/>
              <a:t>Examples of situations requiring backup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Accidental deletion of files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Hard disk failure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Server failure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Database corruption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Virus or ransomware attack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Software failure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Human error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Fire, flood, or other disasters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5954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F0CED-D3B1-48F0-A6C6-D7A70291B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Backup Architecture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6F60A6B-5906-4DF0-A3D6-10AAC9CCDB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65106" y="1273996"/>
            <a:ext cx="7756988" cy="5218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82488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A9184-6C76-4EDD-B086-C2391E2F6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558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2.2 Backup Architecture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4C39C-6B13-42D1-92AE-9A7F7F298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0705"/>
            <a:ext cx="10515600" cy="5342169"/>
          </a:xfrm>
        </p:spPr>
        <p:txBody>
          <a:bodyPr>
            <a:normAutofit/>
          </a:bodyPr>
          <a:lstStyle/>
          <a:p>
            <a:r>
              <a:rPr lang="en-US" b="1" dirty="0"/>
              <a:t>Backup architecture</a:t>
            </a:r>
            <a:r>
              <a:rPr lang="en-US" dirty="0"/>
              <a:t> describes the arrangement of hardware, software, networks, storage devices, and backup processes used to create, manage, and restore backup copies.</a:t>
            </a:r>
          </a:p>
          <a:p>
            <a:endParaRPr lang="en-US" dirty="0"/>
          </a:p>
          <a:p>
            <a:r>
              <a:rPr lang="en-US" dirty="0"/>
              <a:t>A typical backup architecture consists of: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Production servers</a:t>
            </a:r>
            <a:r>
              <a:rPr lang="en-US" dirty="0"/>
              <a:t>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Backup clients/agents</a:t>
            </a:r>
            <a:r>
              <a:rPr lang="en-US" dirty="0"/>
              <a:t>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Backup server</a:t>
            </a:r>
            <a:r>
              <a:rPr lang="en-US" dirty="0"/>
              <a:t>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Backup network</a:t>
            </a:r>
            <a:r>
              <a:rPr lang="en-US" dirty="0"/>
              <a:t>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Backup storage/target</a:t>
            </a:r>
            <a:r>
              <a:rPr lang="en-US" dirty="0"/>
              <a:t>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Backup management software</a:t>
            </a:r>
            <a:r>
              <a:rPr lang="en-US" dirty="0"/>
              <a:t>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Off-site or secondary storage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9257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EEF76-DDF1-4798-A51D-2D86C68A2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Production Server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B7826-137A-4777-A521-104C25683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production server</a:t>
            </a:r>
            <a:r>
              <a:rPr lang="en-US" dirty="0"/>
              <a:t> contains the original business data and applications.</a:t>
            </a:r>
          </a:p>
          <a:p>
            <a:r>
              <a:rPr lang="en-US" dirty="0"/>
              <a:t>Examples:</a:t>
            </a:r>
          </a:p>
          <a:p>
            <a:r>
              <a:rPr lang="en-US" dirty="0"/>
              <a:t>File server </a:t>
            </a:r>
          </a:p>
          <a:p>
            <a:r>
              <a:rPr lang="en-US" dirty="0"/>
              <a:t>Database server </a:t>
            </a:r>
          </a:p>
          <a:p>
            <a:r>
              <a:rPr lang="en-US" dirty="0"/>
              <a:t>Application server </a:t>
            </a:r>
          </a:p>
          <a:p>
            <a:r>
              <a:rPr lang="en-US" dirty="0"/>
              <a:t>Virtual machines </a:t>
            </a:r>
          </a:p>
          <a:p>
            <a:r>
              <a:rPr lang="en-US" dirty="0"/>
              <a:t>Email server </a:t>
            </a:r>
          </a:p>
          <a:p>
            <a:r>
              <a:rPr lang="en-US" dirty="0"/>
              <a:t>The data stored on these systems is protected through backup.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0791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7FC68-7F65-454E-8AAC-FD351AA26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Backup Client or Agent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0637D-4E0C-431C-B3BA-1FCFF1AE7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/>
              <a:t>backup agent</a:t>
            </a:r>
            <a:r>
              <a:rPr lang="en-US" dirty="0"/>
              <a:t> is software installed on a production server or endpoint.</a:t>
            </a:r>
          </a:p>
          <a:p>
            <a:r>
              <a:rPr lang="en-US" dirty="0"/>
              <a:t>It helps the backup system:</a:t>
            </a:r>
          </a:p>
          <a:p>
            <a:r>
              <a:rPr lang="en-US" dirty="0"/>
              <a:t>Identify data to be backed up </a:t>
            </a:r>
          </a:p>
          <a:p>
            <a:r>
              <a:rPr lang="en-US" dirty="0"/>
              <a:t>Read the data </a:t>
            </a:r>
          </a:p>
          <a:p>
            <a:r>
              <a:rPr lang="en-US" dirty="0"/>
              <a:t>Send data to the backup system </a:t>
            </a:r>
          </a:p>
          <a:p>
            <a:r>
              <a:rPr lang="en-US" dirty="0"/>
              <a:t>Perform application-consistent backups </a:t>
            </a:r>
          </a:p>
          <a:p>
            <a:r>
              <a:rPr lang="en-US" dirty="0"/>
              <a:t>Support recovery </a:t>
            </a:r>
          </a:p>
          <a:p>
            <a:r>
              <a:rPr lang="en-US" dirty="0"/>
              <a:t>For example, an agent can be installed on a database server to coordinate the backup of database files.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3202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027EE-1E93-4525-AD86-6C8536951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Backup Server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BD6FC-7E41-4C84-954C-3E3138C34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b="1" dirty="0"/>
              <a:t>backup server</a:t>
            </a:r>
            <a:r>
              <a:rPr lang="en-US" dirty="0"/>
              <a:t> manages the backup operations.</a:t>
            </a:r>
          </a:p>
          <a:p>
            <a:r>
              <a:rPr lang="en-US" dirty="0"/>
              <a:t>Its functions include: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Scheduling backups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Selecting data to be backed up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Managing backup jobs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Maintaining backup catalogs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Managing backup devices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Monitoring backup status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Initiating restoration </a:t>
            </a:r>
          </a:p>
          <a:p>
            <a:r>
              <a:rPr lang="en-US" dirty="0"/>
              <a:t>The backup server acts as the </a:t>
            </a:r>
            <a:r>
              <a:rPr lang="en-US" b="1" dirty="0"/>
              <a:t>central control point</a:t>
            </a:r>
            <a:r>
              <a:rPr lang="en-US" dirty="0"/>
              <a:t> for the backup environment.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82496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83548-3720-4D68-917B-8AE706DA4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32160"/>
          </a:xfrm>
        </p:spPr>
        <p:txBody>
          <a:bodyPr/>
          <a:lstStyle/>
          <a:p>
            <a:r>
              <a:rPr lang="en-US" b="1" dirty="0"/>
              <a:t>4. Backup Network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25E03-6562-4E82-8A04-C595704DF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9479"/>
            <a:ext cx="10515600" cy="469748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</a:t>
            </a:r>
            <a:r>
              <a:rPr lang="en-US" b="1" dirty="0"/>
              <a:t>backup network</a:t>
            </a:r>
            <a:r>
              <a:rPr lang="en-US" dirty="0"/>
              <a:t> provides connectivity between production systems, backup servers, and backup targets.</a:t>
            </a:r>
          </a:p>
          <a:p>
            <a:r>
              <a:rPr lang="en-US" dirty="0"/>
              <a:t>A separate backup network can be used to prevent backup traffic from affecting normal application traffic.</a:t>
            </a:r>
          </a:p>
          <a:p>
            <a:r>
              <a:rPr lang="en-US" b="1" dirty="0"/>
              <a:t>Example</a:t>
            </a:r>
          </a:p>
          <a:p>
            <a:r>
              <a:rPr lang="en-IN" dirty="0"/>
              <a:t>Production Network</a:t>
            </a:r>
          </a:p>
          <a:p>
            <a:r>
              <a:rPr lang="en-IN" dirty="0"/>
              <a:t>       │</a:t>
            </a:r>
          </a:p>
          <a:p>
            <a:r>
              <a:rPr lang="en-IN" dirty="0"/>
              <a:t>       ├── Application Traffic</a:t>
            </a:r>
          </a:p>
          <a:p>
            <a:r>
              <a:rPr lang="en-IN" dirty="0"/>
              <a:t>       │</a:t>
            </a:r>
          </a:p>
          <a:p>
            <a:r>
              <a:rPr lang="en-IN" dirty="0"/>
              <a:t>       └── Backup Network</a:t>
            </a:r>
          </a:p>
          <a:p>
            <a:r>
              <a:rPr lang="en-IN" dirty="0"/>
              <a:t>                ↓</a:t>
            </a:r>
          </a:p>
          <a:p>
            <a:r>
              <a:rPr lang="en-IN" dirty="0"/>
              <a:t>          Backup Storage</a:t>
            </a:r>
          </a:p>
        </p:txBody>
      </p:sp>
    </p:spTree>
    <p:extLst>
      <p:ext uri="{BB962C8B-B14F-4D97-AF65-F5344CB8AC3E}">
        <p14:creationId xmlns:p14="http://schemas.microsoft.com/office/powerpoint/2010/main" val="34013391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40FA2-9B32-4CEC-A9E3-B985774B7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5. Backup Target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6FBC7-12BA-44D6-99A6-637031327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A </a:t>
            </a:r>
            <a:r>
              <a:rPr lang="en-IN" b="1" dirty="0"/>
              <a:t>backup target</a:t>
            </a:r>
            <a:r>
              <a:rPr lang="en-IN" dirty="0"/>
              <a:t> is the storage destination where backup data is stored.</a:t>
            </a:r>
          </a:p>
          <a:p>
            <a:r>
              <a:rPr lang="en-IN" dirty="0"/>
              <a:t>Common backup targets include: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Disk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Tape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Deduplicated storage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Network Attached Storage (NAS)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Cloud storage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Object storage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Backup targets are discussed in detail below.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95662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934CD-5AC3-4E0A-9B1E-1EC4820F9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6. Backup Management Software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551D6-9BF3-4331-B5D8-2E454D070E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Backup software controls and manages the complete backup process.</a:t>
            </a:r>
          </a:p>
          <a:p>
            <a:r>
              <a:rPr lang="en-US" dirty="0"/>
              <a:t>It provides features such as: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Backup scheduling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Backup policy creation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Data selection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Compression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Encryption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Deduplication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Backup monitoring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Recovery management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Reporting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31497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3D662-384D-4B29-8FFD-21DA26795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0920"/>
          </a:xfrm>
        </p:spPr>
        <p:txBody>
          <a:bodyPr/>
          <a:lstStyle/>
          <a:p>
            <a:r>
              <a:rPr lang="en-IN" b="1" dirty="0"/>
              <a:t>2.3 Backup Targets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09896-13D8-4C6D-AA93-C0B24E40E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446"/>
            <a:ext cx="10515600" cy="539393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 </a:t>
            </a:r>
            <a:r>
              <a:rPr lang="en-US" b="1" dirty="0"/>
              <a:t>backup target</a:t>
            </a:r>
            <a:r>
              <a:rPr lang="en-US" dirty="0"/>
              <a:t> is the destination where backup copies are stored.</a:t>
            </a:r>
          </a:p>
          <a:p>
            <a:r>
              <a:rPr lang="en-US" dirty="0"/>
              <a:t>The selection of a backup target depends on: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Backup capacity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Performance and Cost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Recovery requirements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Security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Retention period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Scalability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Distance from the production site</a:t>
            </a:r>
          </a:p>
          <a:p>
            <a:endParaRPr lang="en-US" dirty="0"/>
          </a:p>
          <a:p>
            <a:r>
              <a:rPr lang="en-US" dirty="0"/>
              <a:t>The major backup targets are: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Disk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Tape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Deduplication appliance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NAS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Cloud storage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Object storage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50189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2B8A7-BDB3-4D9D-9241-31F61C342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Disk-Based Backup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4C445-C3CF-4815-91A9-3D6F4946A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6463"/>
            <a:ext cx="10515600" cy="4810500"/>
          </a:xfrm>
        </p:spPr>
        <p:txBody>
          <a:bodyPr/>
          <a:lstStyle/>
          <a:p>
            <a:r>
              <a:rPr lang="en-US" dirty="0"/>
              <a:t>In </a:t>
            </a:r>
            <a:r>
              <a:rPr lang="en-US" b="1" dirty="0"/>
              <a:t>disk-based backup</a:t>
            </a:r>
            <a:r>
              <a:rPr lang="en-US" dirty="0"/>
              <a:t>, backup data is stored on hard disk drives or solid-state drives.</a:t>
            </a:r>
          </a:p>
          <a:p>
            <a:r>
              <a:rPr lang="en-IN" dirty="0"/>
              <a:t>Production Server</a:t>
            </a:r>
          </a:p>
          <a:p>
            <a:r>
              <a:rPr lang="en-IN" dirty="0"/>
              <a:t>       ↓</a:t>
            </a:r>
          </a:p>
          <a:p>
            <a:r>
              <a:rPr lang="en-IN" dirty="0"/>
              <a:t> Backup Server</a:t>
            </a:r>
          </a:p>
          <a:p>
            <a:r>
              <a:rPr lang="en-IN" dirty="0"/>
              <a:t>       ↓</a:t>
            </a:r>
          </a:p>
          <a:p>
            <a:r>
              <a:rPr lang="en-IN" dirty="0"/>
              <a:t>   Disk Storage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An organization may maintain a dedicated backup storage system containing several terabytes or petabytes of disk capacity.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41112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075C9-E74D-4CDC-961B-36FF9CFB6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Tape-Based Backup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55B16-3BF6-4B78-9029-2C648D24F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Magnetic tape</a:t>
            </a:r>
            <a:r>
              <a:rPr lang="en-US" dirty="0"/>
              <a:t> is a traditional backup medium used especially for long-term retention and archival purposes.</a:t>
            </a:r>
          </a:p>
          <a:p>
            <a:r>
              <a:rPr lang="en-US" dirty="0"/>
              <a:t>Production Server</a:t>
            </a:r>
          </a:p>
          <a:p>
            <a:r>
              <a:rPr lang="en-US" dirty="0"/>
              <a:t>       ↓</a:t>
            </a:r>
          </a:p>
          <a:p>
            <a:r>
              <a:rPr lang="en-US" dirty="0"/>
              <a:t> Backup Server</a:t>
            </a:r>
          </a:p>
          <a:p>
            <a:r>
              <a:rPr lang="en-US" dirty="0"/>
              <a:t>       ↓</a:t>
            </a:r>
          </a:p>
          <a:p>
            <a:r>
              <a:rPr lang="en-US" dirty="0"/>
              <a:t> Tape Library</a:t>
            </a:r>
          </a:p>
          <a:p>
            <a:r>
              <a:rPr lang="en-US" dirty="0"/>
              <a:t>       ↓</a:t>
            </a:r>
          </a:p>
          <a:p>
            <a:r>
              <a:rPr lang="en-US" dirty="0"/>
              <a:t> Magnetic Tapes</a:t>
            </a:r>
          </a:p>
          <a:p>
            <a:r>
              <a:rPr lang="en-US" dirty="0"/>
              <a:t>A </a:t>
            </a:r>
            <a:r>
              <a:rPr lang="en-US" b="1" dirty="0"/>
              <a:t>tape library</a:t>
            </a:r>
            <a:r>
              <a:rPr lang="en-US" dirty="0"/>
              <a:t> may contain multiple tape cartridges and automated tape drives.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22203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67894-1679-4AD3-86FC-1373ABFF9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Deduplication Storage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C6252-151F-421C-9ED5-5925CDCDA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5640"/>
            <a:ext cx="10515600" cy="5239821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Data deduplication</a:t>
            </a:r>
            <a:r>
              <a:rPr lang="en-US" dirty="0"/>
              <a:t> eliminates duplicate blocks or files before or during storage.</a:t>
            </a:r>
          </a:p>
          <a:p>
            <a:r>
              <a:rPr lang="en-US" dirty="0"/>
              <a:t>For example, suppose 10 backup copies contain the same large file. Instead of storing the same data repeatedly, the backup system can store one copy and maintain references to it.</a:t>
            </a:r>
          </a:p>
          <a:p>
            <a:r>
              <a:rPr lang="en-IN" dirty="0"/>
              <a:t>Backup 1 ──┐</a:t>
            </a:r>
          </a:p>
          <a:p>
            <a:r>
              <a:rPr lang="en-IN" dirty="0"/>
              <a:t>Backup 2 ──┤</a:t>
            </a:r>
          </a:p>
          <a:p>
            <a:r>
              <a:rPr lang="en-IN" dirty="0"/>
              <a:t>Backup 3 ──┼──→ Deduplication ──→ Unique Data</a:t>
            </a:r>
          </a:p>
          <a:p>
            <a:r>
              <a:rPr lang="en-IN" dirty="0"/>
              <a:t>Backup 4 ──┘</a:t>
            </a:r>
          </a:p>
          <a:p>
            <a:endParaRPr lang="en-US" b="1" dirty="0"/>
          </a:p>
          <a:p>
            <a:r>
              <a:rPr lang="en-US" b="1" dirty="0"/>
              <a:t>Benefits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Reduces storage requirements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Reduces backup storage cost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Can improve backup efficiency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Allows more backup versions to be retained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15668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A7AA1-E9A7-4C37-9FAD-2E5479FE0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0097"/>
          </a:xfrm>
        </p:spPr>
        <p:txBody>
          <a:bodyPr/>
          <a:lstStyle/>
          <a:p>
            <a:r>
              <a:rPr lang="en-US" b="1" dirty="0"/>
              <a:t>4. NAS as a Backup Target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C44E5-B236-42B2-BAF5-66D362368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5222"/>
            <a:ext cx="10515600" cy="5722706"/>
          </a:xfrm>
        </p:spPr>
        <p:txBody>
          <a:bodyPr>
            <a:normAutofit fontScale="85000" lnSpcReduction="20000"/>
          </a:bodyPr>
          <a:lstStyle/>
          <a:p>
            <a:r>
              <a:rPr lang="en-US" sz="2700" b="1" dirty="0"/>
              <a:t>Network Attached Storage (NAS)</a:t>
            </a:r>
            <a:r>
              <a:rPr lang="en-US" sz="2700" dirty="0"/>
              <a:t> is a storage system connected to the network and can be used as a backup destination.</a:t>
            </a:r>
          </a:p>
          <a:p>
            <a:r>
              <a:rPr lang="en-US" sz="2700" dirty="0"/>
              <a:t>Servers</a:t>
            </a:r>
          </a:p>
          <a:p>
            <a:r>
              <a:rPr lang="en-US" sz="2700" dirty="0"/>
              <a:t>   ↓</a:t>
            </a:r>
          </a:p>
          <a:p>
            <a:r>
              <a:rPr lang="en-US" sz="2700" dirty="0"/>
              <a:t>Network</a:t>
            </a:r>
          </a:p>
          <a:p>
            <a:r>
              <a:rPr lang="en-US" sz="2700" dirty="0"/>
              <a:t>   ↓</a:t>
            </a:r>
          </a:p>
          <a:p>
            <a:r>
              <a:rPr lang="en-US" sz="2700" dirty="0"/>
              <a:t> NAS</a:t>
            </a:r>
          </a:p>
          <a:p>
            <a:r>
              <a:rPr lang="en-US" sz="2700" dirty="0"/>
              <a:t>   ↓</a:t>
            </a:r>
          </a:p>
          <a:p>
            <a:r>
              <a:rPr lang="en-US" sz="2700" dirty="0"/>
              <a:t>Backup Data</a:t>
            </a:r>
          </a:p>
          <a:p>
            <a:r>
              <a:rPr lang="en-US" sz="2700" b="1" dirty="0"/>
              <a:t>Advantages</a:t>
            </a:r>
          </a:p>
          <a:p>
            <a:r>
              <a:rPr lang="en-US" sz="2700" dirty="0"/>
              <a:t>Easy to deploy , Centralized storage , Accessible over the network , Scalable depending on the NAS system </a:t>
            </a:r>
          </a:p>
          <a:p>
            <a:r>
              <a:rPr lang="en-US" sz="2700" b="1" dirty="0"/>
              <a:t>Disadvantages</a:t>
            </a:r>
          </a:p>
          <a:p>
            <a:r>
              <a:rPr lang="en-US" sz="2700" dirty="0"/>
              <a:t>Depends on network availability </a:t>
            </a:r>
          </a:p>
          <a:p>
            <a:r>
              <a:rPr lang="en-US" sz="2700" dirty="0"/>
              <a:t>May become a target for ransomware if not properly protected </a:t>
            </a:r>
          </a:p>
          <a:p>
            <a:r>
              <a:rPr lang="en-US" sz="2700" dirty="0"/>
              <a:t>Performance depends on network and storage capacity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95349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DFF46-187E-4CFF-BB36-BC859B43F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5. Cloud as a Backup Target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BAB64-2F39-4E01-932A-382F98412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9334"/>
            <a:ext cx="10515600" cy="558914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Cloud storage can be used as an off-site backup destination.</a:t>
            </a:r>
          </a:p>
          <a:p>
            <a:endParaRPr lang="en-US" dirty="0"/>
          </a:p>
          <a:p>
            <a:r>
              <a:rPr lang="en-IN" dirty="0"/>
              <a:t>Production Data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Backup Server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 Internet / WAN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Cloud Storage</a:t>
            </a:r>
          </a:p>
          <a:p>
            <a:r>
              <a:rPr lang="en-US" b="1" dirty="0"/>
              <a:t>Advantages</a:t>
            </a:r>
          </a:p>
          <a:p>
            <a:r>
              <a:rPr lang="en-US" dirty="0"/>
              <a:t>Off-site protection , Highly scalable , No need to maintain all physical storage locally, Useful for disaster recovery </a:t>
            </a:r>
          </a:p>
          <a:p>
            <a:r>
              <a:rPr lang="en-US" dirty="0"/>
              <a:t>Can support geographically distributed protection </a:t>
            </a:r>
          </a:p>
          <a:p>
            <a:r>
              <a:rPr lang="en-US" b="1" dirty="0"/>
              <a:t>Disadvantages</a:t>
            </a:r>
          </a:p>
          <a:p>
            <a:r>
              <a:rPr lang="en-US" dirty="0"/>
              <a:t>Depends on network connectivity, Data transfer can take time </a:t>
            </a:r>
          </a:p>
          <a:p>
            <a:r>
              <a:rPr lang="en-US" dirty="0"/>
              <a:t>Recurring storage and data-transfer costs may apply </a:t>
            </a:r>
          </a:p>
          <a:p>
            <a:r>
              <a:rPr lang="en-US" dirty="0"/>
              <a:t>Security and access controls must be properly configured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26461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C5789-7C71-44B1-9601-8AB5373AE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2.4 </a:t>
            </a:r>
            <a:r>
              <a:rPr lang="en-US" b="1" dirty="0"/>
              <a:t>Backup Methods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B33D6-8166-4F2E-961D-22EB487B0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Backup methods determine </a:t>
            </a:r>
            <a:r>
              <a:rPr lang="en-US" b="1" dirty="0"/>
              <a:t>how much data is copied during each backup operation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 three fundamental backup methods are: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Full backup</a:t>
            </a:r>
            <a:r>
              <a:rPr lang="en-US" dirty="0"/>
              <a:t>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Incremental backup</a:t>
            </a:r>
            <a:r>
              <a:rPr lang="en-US" dirty="0"/>
              <a:t>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Differential backup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44937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09465-65E3-49F3-919E-8CDD8D3DC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Full Backup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F9720-2755-45CB-999D-6928326C54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9214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</a:t>
            </a:r>
            <a:r>
              <a:rPr lang="en-US" b="1" dirty="0"/>
              <a:t>full backup</a:t>
            </a:r>
            <a:r>
              <a:rPr lang="en-US" dirty="0"/>
              <a:t> copies all selected data every time the backup is performed.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Suppose:</a:t>
            </a:r>
          </a:p>
          <a:p>
            <a:r>
              <a:rPr lang="en-US" dirty="0"/>
              <a:t>Monday → 100 GB </a:t>
            </a:r>
          </a:p>
          <a:p>
            <a:r>
              <a:rPr lang="en-US" dirty="0"/>
              <a:t>Tuesday → 10 GB new/changed data </a:t>
            </a:r>
          </a:p>
          <a:p>
            <a:r>
              <a:rPr lang="en-US" dirty="0"/>
              <a:t>Wednesday → 5 GB new/changed data </a:t>
            </a:r>
          </a:p>
          <a:p>
            <a:endParaRPr lang="en-US" dirty="0"/>
          </a:p>
          <a:p>
            <a:r>
              <a:rPr lang="en-US" dirty="0"/>
              <a:t>A full backup on each day copies the complete 100 GB or current dataset.</a:t>
            </a:r>
          </a:p>
          <a:p>
            <a:r>
              <a:rPr lang="en-US" dirty="0"/>
              <a:t>Monday      → Full Backup → 100 GB</a:t>
            </a:r>
          </a:p>
          <a:p>
            <a:r>
              <a:rPr lang="en-US" dirty="0"/>
              <a:t>Tuesday     → Full Backup → 100+ GB</a:t>
            </a:r>
          </a:p>
          <a:p>
            <a:r>
              <a:rPr lang="en-US" dirty="0"/>
              <a:t>Wednesday   → Full Backup → 100+ GB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66919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4BF1C-227C-41EE-B1A3-671F67103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Full Backup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B9983-F052-46F0-B441-855AE62D0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7560"/>
            <a:ext cx="10515600" cy="5270642"/>
          </a:xfrm>
        </p:spPr>
        <p:txBody>
          <a:bodyPr>
            <a:normAutofit/>
          </a:bodyPr>
          <a:lstStyle/>
          <a:p>
            <a:r>
              <a:rPr lang="en-US" b="1" dirty="0"/>
              <a:t>Advantages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Simple backup process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Fast and simple restoration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Each backup contains the complete dataset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Easy to manage </a:t>
            </a:r>
          </a:p>
          <a:p>
            <a:r>
              <a:rPr lang="en-US" b="1" dirty="0"/>
              <a:t>Disadvantages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Requires more storage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Takes longer to complete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Generates more backup traffic </a:t>
            </a:r>
          </a:p>
          <a:p>
            <a:r>
              <a:rPr lang="en-US" b="1" dirty="0"/>
              <a:t>Suitable for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Small datasets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Periodic complete protection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Situations where fast recovery is important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40309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7242B-0A06-4DAA-BB49-3C7E89CCD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872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2 Incremental Backup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A4087-5CE7-44A7-A585-D1DDBA32D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6723"/>
            <a:ext cx="10515600" cy="5938463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800" dirty="0"/>
              <a:t>An </a:t>
            </a:r>
            <a:r>
              <a:rPr lang="en-US" sz="1800" b="1" dirty="0"/>
              <a:t>incremental backup</a:t>
            </a:r>
            <a:r>
              <a:rPr lang="en-US" sz="1800" dirty="0"/>
              <a:t> copies only the data that has changed since the </a:t>
            </a:r>
            <a:r>
              <a:rPr lang="en-US" sz="1800" b="1" dirty="0"/>
              <a:t>most recent backup of any type</a:t>
            </a:r>
            <a:r>
              <a:rPr lang="en-US" sz="1800" dirty="0"/>
              <a:t>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800" b="1" dirty="0"/>
              <a:t>Example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800" dirty="0"/>
              <a:t>Assume the following: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800" dirty="0"/>
              <a:t>Monday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800" dirty="0"/>
              <a:t>Full Backup = 100 GB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8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800" dirty="0"/>
              <a:t>Tuesday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800" dirty="0"/>
              <a:t>Changed data = 10 GB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800" dirty="0"/>
              <a:t>Incremental Backup = 10 GB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8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800" dirty="0"/>
              <a:t>Wednesday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800" dirty="0"/>
              <a:t>Changed data = 5 GB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800" dirty="0"/>
              <a:t>Incremental Backup = 5 GB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8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800" dirty="0"/>
              <a:t>Thursday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800" dirty="0"/>
              <a:t>Changed data = 8 GB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800" dirty="0"/>
              <a:t>Incremental Backup = 8 GB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800" dirty="0"/>
              <a:t>Total backup storage: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800" b="1" dirty="0"/>
              <a:t>100 + 10 + 5 + 8 = 123 GB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8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800" b="1" dirty="0"/>
              <a:t>Restoration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800" dirty="0"/>
              <a:t>To restore Thursday's data, we generally need: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800" b="1" dirty="0"/>
              <a:t>Monday Full + Tuesday Incremental + Wednesday Incremental + Thursday Incremental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7723169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AB64F-BE20-4FBD-BA88-152DD2BCF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Incremental Backup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7923D-1514-4A6E-BA3E-84198EF6B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0581"/>
            <a:ext cx="10515600" cy="4706382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Advantages</a:t>
            </a:r>
          </a:p>
          <a:p>
            <a:r>
              <a:rPr lang="en-US" dirty="0"/>
              <a:t>Requires less storage </a:t>
            </a:r>
          </a:p>
          <a:p>
            <a:r>
              <a:rPr lang="en-US" dirty="0"/>
              <a:t>Faster backup </a:t>
            </a:r>
          </a:p>
          <a:p>
            <a:r>
              <a:rPr lang="en-US" dirty="0"/>
              <a:t>Reduces network traffic </a:t>
            </a:r>
          </a:p>
          <a:p>
            <a:r>
              <a:rPr lang="en-US" dirty="0"/>
              <a:t>Suitable for frequent backups </a:t>
            </a:r>
          </a:p>
          <a:p>
            <a:endParaRPr lang="en-US" dirty="0"/>
          </a:p>
          <a:p>
            <a:r>
              <a:rPr lang="en-US" b="1" dirty="0"/>
              <a:t>Disadvantages</a:t>
            </a:r>
          </a:p>
          <a:p>
            <a:r>
              <a:rPr lang="en-US" dirty="0"/>
              <a:t>Restoration can be slower </a:t>
            </a:r>
          </a:p>
          <a:p>
            <a:r>
              <a:rPr lang="en-US" dirty="0"/>
              <a:t>Multiple backup sets may be required </a:t>
            </a:r>
          </a:p>
          <a:p>
            <a:r>
              <a:rPr lang="en-US" dirty="0"/>
              <a:t>If one required incremental backup is damaged or unavailable, recovery may be affected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94767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AB3A3-496E-444B-8CE7-73AB33CFC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Differential Backup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760CA-1EC1-4A3C-80FA-630EE559F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3192"/>
            <a:ext cx="10515600" cy="5316717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 </a:t>
            </a:r>
            <a:r>
              <a:rPr lang="en-US" b="1" dirty="0"/>
              <a:t>differential backup</a:t>
            </a:r>
            <a:r>
              <a:rPr lang="en-US" dirty="0"/>
              <a:t> copies all data changed since the </a:t>
            </a:r>
            <a:r>
              <a:rPr lang="en-US" b="1" dirty="0"/>
              <a:t>last full backup</a:t>
            </a:r>
            <a:r>
              <a:rPr lang="en-US" dirty="0"/>
              <a:t>.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Monday</a:t>
            </a:r>
          </a:p>
          <a:p>
            <a:r>
              <a:rPr lang="en-US" dirty="0"/>
              <a:t>Full Backup = 100 GB</a:t>
            </a:r>
          </a:p>
          <a:p>
            <a:endParaRPr lang="en-US" dirty="0"/>
          </a:p>
          <a:p>
            <a:r>
              <a:rPr lang="en-US" dirty="0"/>
              <a:t>Tuesday</a:t>
            </a:r>
          </a:p>
          <a:p>
            <a:r>
              <a:rPr lang="en-US" dirty="0"/>
              <a:t>Changed since Monday = 10 GB</a:t>
            </a:r>
          </a:p>
          <a:p>
            <a:r>
              <a:rPr lang="en-US" dirty="0"/>
              <a:t>Differential = 10 GB</a:t>
            </a:r>
          </a:p>
          <a:p>
            <a:endParaRPr lang="en-US" dirty="0"/>
          </a:p>
          <a:p>
            <a:r>
              <a:rPr lang="en-US" dirty="0"/>
              <a:t>Wednesday</a:t>
            </a:r>
          </a:p>
          <a:p>
            <a:r>
              <a:rPr lang="en-US" dirty="0"/>
              <a:t>Changed since Monday = 15 GB</a:t>
            </a:r>
          </a:p>
          <a:p>
            <a:r>
              <a:rPr lang="en-US" dirty="0"/>
              <a:t>Differential = 15 GB</a:t>
            </a:r>
          </a:p>
          <a:p>
            <a:endParaRPr lang="en-US" dirty="0"/>
          </a:p>
          <a:p>
            <a:r>
              <a:rPr lang="en-US" dirty="0"/>
              <a:t>Thursday</a:t>
            </a:r>
          </a:p>
          <a:p>
            <a:r>
              <a:rPr lang="en-US" dirty="0"/>
              <a:t>Changed since Monday = 23 GB</a:t>
            </a:r>
          </a:p>
          <a:p>
            <a:r>
              <a:rPr lang="en-US" dirty="0"/>
              <a:t>Differential = 23 GB</a:t>
            </a:r>
          </a:p>
          <a:p>
            <a:r>
              <a:rPr lang="en-US" dirty="0"/>
              <a:t>Notice that the differential backup becomes larger over time until the next full backup.</a:t>
            </a:r>
            <a:endParaRPr lang="en-US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57817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2895D-D90A-45D0-ACAB-CBBAC6CA4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Differential Backup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AE123-7251-47A4-AD0D-1BA5F5D01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176" y="1410846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Restoration</a:t>
            </a:r>
          </a:p>
          <a:p>
            <a:r>
              <a:rPr lang="en-US" dirty="0"/>
              <a:t>To restore Thursday:</a:t>
            </a:r>
          </a:p>
          <a:p>
            <a:r>
              <a:rPr lang="en-US" b="1" dirty="0"/>
              <a:t>Monday Full + Thursday Differential</a:t>
            </a:r>
            <a:endParaRPr lang="en-US" dirty="0"/>
          </a:p>
          <a:p>
            <a:r>
              <a:rPr lang="en-US" dirty="0"/>
              <a:t>Only two backup sets are required.</a:t>
            </a:r>
          </a:p>
          <a:p>
            <a:endParaRPr lang="en-US" dirty="0"/>
          </a:p>
          <a:p>
            <a:r>
              <a:rPr lang="en-US" b="1" dirty="0"/>
              <a:t>Advantages</a:t>
            </a:r>
          </a:p>
          <a:p>
            <a:r>
              <a:rPr lang="en-US" dirty="0"/>
              <a:t>Faster restoration than incremental </a:t>
            </a:r>
          </a:p>
          <a:p>
            <a:r>
              <a:rPr lang="en-US" dirty="0"/>
              <a:t>Easier to manage </a:t>
            </a:r>
          </a:p>
          <a:p>
            <a:r>
              <a:rPr lang="en-US" dirty="0"/>
              <a:t>Only the latest differential and full backup are generally required </a:t>
            </a:r>
          </a:p>
          <a:p>
            <a:r>
              <a:rPr lang="en-US" b="1" dirty="0"/>
              <a:t>Disadvantages</a:t>
            </a:r>
          </a:p>
          <a:p>
            <a:r>
              <a:rPr lang="en-US" dirty="0"/>
              <a:t>Requires more storage than incremental backup </a:t>
            </a:r>
          </a:p>
          <a:p>
            <a:r>
              <a:rPr lang="en-US" dirty="0"/>
              <a:t>Backup size increases until the next full backup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91520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65EDF-305A-4F1B-A40B-A9D5F8426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F1D6B-CB4A-4B33-802C-DC2B21352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IN" b="1" dirty="0"/>
          </a:p>
          <a:p>
            <a:pPr algn="ctr"/>
            <a:endParaRPr lang="en-IN" b="1" dirty="0"/>
          </a:p>
          <a:p>
            <a:pPr algn="ctr"/>
            <a:endParaRPr lang="en-IN" b="1" dirty="0"/>
          </a:p>
          <a:p>
            <a:pPr algn="ctr"/>
            <a:r>
              <a:rPr lang="en-IN" sz="3000" b="1" dirty="0"/>
              <a:t>Data archive - Uses of replication and its characteristics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44101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89282-D4A8-482D-94BE-F078351F2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3. Data Archive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FC884-718E-491C-B5E3-5269435BA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3.1 Introduction</a:t>
            </a:r>
          </a:p>
          <a:p>
            <a:r>
              <a:rPr lang="en-US" b="1" dirty="0"/>
              <a:t>Data archiving</a:t>
            </a:r>
            <a:r>
              <a:rPr lang="en-US" dirty="0"/>
              <a:t> is the process of moving </a:t>
            </a:r>
            <a:r>
              <a:rPr lang="en-US" b="1" dirty="0"/>
              <a:t>inactive or less frequently accessed data</a:t>
            </a:r>
            <a:r>
              <a:rPr lang="en-US" dirty="0"/>
              <a:t> from primary storage to a separate storage system for </a:t>
            </a:r>
            <a:r>
              <a:rPr lang="en-US" b="1" dirty="0"/>
              <a:t>long-term retention and future reference</a:t>
            </a:r>
            <a:r>
              <a:rPr lang="en-US" dirty="0"/>
              <a:t>.</a:t>
            </a:r>
          </a:p>
          <a:p>
            <a:r>
              <a:rPr lang="en-US" dirty="0"/>
              <a:t>As organizations continuously generate large amounts of data, keeping all data on expensive primary storage is inefficient. Archiving helps organizations move older data to </a:t>
            </a:r>
            <a:r>
              <a:rPr lang="en-US" b="1" dirty="0"/>
              <a:t>lower-cost, high-capacity storage</a:t>
            </a:r>
            <a:r>
              <a:rPr lang="en-US" dirty="0"/>
              <a:t> while keeping it available when required.</a:t>
            </a:r>
          </a:p>
          <a:p>
            <a:r>
              <a:rPr lang="en-US" b="1" dirty="0"/>
              <a:t>Simple Example</a:t>
            </a:r>
          </a:p>
          <a:p>
            <a:r>
              <a:rPr lang="en-US" dirty="0"/>
              <a:t>A college may have student records from the last 15 years.</a:t>
            </a:r>
          </a:p>
          <a:p>
            <a:r>
              <a:rPr lang="en-US" dirty="0"/>
              <a:t>Current-year records → Primary storage </a:t>
            </a:r>
          </a:p>
          <a:p>
            <a:r>
              <a:rPr lang="en-US" dirty="0"/>
              <a:t>Older student records → Archive storage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33340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9E2B2-25B4-4198-B98E-CA85041CA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7570C-C893-463D-B6DA-2F85D9490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7906"/>
            <a:ext cx="10515600" cy="4351338"/>
          </a:xfrm>
        </p:spPr>
        <p:txBody>
          <a:bodyPr/>
          <a:lstStyle/>
          <a:p>
            <a:r>
              <a:rPr lang="en-US" dirty="0"/>
              <a:t> 			ORGANIZATIONAL DATA</a:t>
            </a:r>
          </a:p>
          <a:p>
            <a:r>
              <a:rPr lang="en-US" dirty="0"/>
              <a:t>                     			     |</a:t>
            </a:r>
          </a:p>
          <a:p>
            <a:r>
              <a:rPr lang="en-US" dirty="0"/>
              <a:t>            		    -------------------</a:t>
            </a:r>
          </a:p>
          <a:p>
            <a:r>
              <a:rPr lang="en-US" dirty="0"/>
              <a:t>                                            |                 |</a:t>
            </a:r>
          </a:p>
          <a:p>
            <a:r>
              <a:rPr lang="en-US" dirty="0"/>
              <a:t>       			Active Data    Inactive Data</a:t>
            </a:r>
          </a:p>
          <a:p>
            <a:r>
              <a:rPr lang="en-US" dirty="0"/>
              <a:t>            		        |                 |</a:t>
            </a:r>
          </a:p>
          <a:p>
            <a:r>
              <a:rPr lang="en-US" dirty="0"/>
              <a:t>      		Primary Storage    Archive Storage</a:t>
            </a:r>
          </a:p>
          <a:p>
            <a:r>
              <a:rPr lang="en-US" dirty="0"/>
              <a:t>                              				|</a:t>
            </a:r>
          </a:p>
          <a:p>
            <a:r>
              <a:rPr lang="en-US" dirty="0"/>
              <a:t>                      				 Long-term Retention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02096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80772-A2B9-4A1E-ADD7-02B4AC942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3.2 Objectives of Data Archiving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612F1-85DD-4358-ADCD-6335070A8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major objectives of data archiving are: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Long-term preservation</a:t>
            </a:r>
            <a:r>
              <a:rPr lang="en-US" dirty="0"/>
              <a:t> of important data.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Reduction of primary storage usage</a:t>
            </a:r>
            <a:r>
              <a:rPr lang="en-US" dirty="0"/>
              <a:t>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Improvement of storage performance</a:t>
            </a:r>
            <a:r>
              <a:rPr lang="en-US" dirty="0"/>
              <a:t> by removing inactive data.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Cost reduction</a:t>
            </a:r>
            <a:r>
              <a:rPr lang="en-US" dirty="0"/>
              <a:t> by moving data to economical storage.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Compliance with legal and regulatory requirements</a:t>
            </a:r>
            <a:r>
              <a:rPr lang="en-US" dirty="0"/>
              <a:t>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Easy retrieval of historical information</a:t>
            </a:r>
            <a:r>
              <a:rPr lang="en-US" dirty="0"/>
              <a:t>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Protection of valuable business records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61626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9B83E-40CA-4888-995B-477EFCFA9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3.3 Characteristics of Data Archive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17AF5-1EAC-42EF-9CCC-7A322E6B3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A good data archive generally has the following characteristics:</a:t>
            </a:r>
          </a:p>
          <a:p>
            <a:r>
              <a:rPr lang="en-US" b="1" dirty="0"/>
              <a:t>1. Long-term retention</a:t>
            </a:r>
          </a:p>
          <a:p>
            <a:r>
              <a:rPr lang="en-US" dirty="0"/>
              <a:t>Data is preserved for a long period, sometimes for several years or decades.</a:t>
            </a:r>
          </a:p>
          <a:p>
            <a:r>
              <a:rPr lang="en-US" b="1" dirty="0"/>
              <a:t>2. High capacity</a:t>
            </a:r>
          </a:p>
          <a:p>
            <a:r>
              <a:rPr lang="en-US" dirty="0"/>
              <a:t>Archive systems should be capable of storing large volumes of historical data.</a:t>
            </a:r>
          </a:p>
          <a:p>
            <a:r>
              <a:rPr lang="en-US" b="1" dirty="0"/>
              <a:t>3. Low cost</a:t>
            </a:r>
          </a:p>
          <a:p>
            <a:r>
              <a:rPr lang="en-US" dirty="0"/>
              <a:t>Archived data is generally stored on economical storage compared with high-performance primary storage.</a:t>
            </a:r>
          </a:p>
          <a:p>
            <a:r>
              <a:rPr lang="en-US" b="1" dirty="0"/>
              <a:t>4. Data integrity</a:t>
            </a:r>
          </a:p>
          <a:p>
            <a:r>
              <a:rPr lang="en-US" dirty="0"/>
              <a:t>Archived information must remain accurate and uncorrupted throughout its retention period.</a:t>
            </a:r>
          </a:p>
          <a:p>
            <a:r>
              <a:rPr lang="en-US" b="1" dirty="0"/>
              <a:t>5. Easy retrieval</a:t>
            </a:r>
          </a:p>
          <a:p>
            <a:r>
              <a:rPr lang="en-US" dirty="0"/>
              <a:t>Although archived data may not be accessed frequently, it should be retrievable when required.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95916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CF80F-EF95-4947-834C-019B63719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3.3 Characteristics of Data Archive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F9F41-E3DE-497F-AD10-8ADC1857A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6. Security</a:t>
            </a:r>
          </a:p>
          <a:p>
            <a:r>
              <a:rPr lang="en-US" dirty="0"/>
              <a:t>Archived information must be protected against:</a:t>
            </a:r>
          </a:p>
          <a:p>
            <a:pPr lvl="1"/>
            <a:r>
              <a:rPr lang="en-US" dirty="0"/>
              <a:t>Unauthorized access </a:t>
            </a:r>
          </a:p>
          <a:p>
            <a:pPr lvl="1"/>
            <a:r>
              <a:rPr lang="en-US" dirty="0"/>
              <a:t>Modification </a:t>
            </a:r>
          </a:p>
          <a:p>
            <a:pPr lvl="1"/>
            <a:r>
              <a:rPr lang="en-US" dirty="0"/>
              <a:t>Accidental deletion </a:t>
            </a:r>
          </a:p>
          <a:p>
            <a:pPr lvl="1"/>
            <a:r>
              <a:rPr lang="en-US" dirty="0"/>
              <a:t>Malware </a:t>
            </a:r>
          </a:p>
          <a:p>
            <a:pPr lvl="1"/>
            <a:r>
              <a:rPr lang="en-US" dirty="0"/>
              <a:t>Data corruption </a:t>
            </a:r>
          </a:p>
          <a:p>
            <a:r>
              <a:rPr lang="en-US" b="1" dirty="0"/>
              <a:t>7. Retention management</a:t>
            </a:r>
          </a:p>
          <a:p>
            <a:r>
              <a:rPr lang="en-US" dirty="0"/>
              <a:t>Organizations can define how long different types of data should be retained.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17421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A7D62-B6F6-451C-AE8F-8DEC6D522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3.5 Data Archiving Process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884FF-237D-4557-A5BF-27AB0C60F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6631"/>
            <a:ext cx="10515600" cy="497033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 typical archiving process is:</a:t>
            </a:r>
          </a:p>
          <a:p>
            <a:r>
              <a:rPr lang="en-IN" dirty="0"/>
              <a:t>   Active Data</a:t>
            </a:r>
          </a:p>
          <a:p>
            <a:r>
              <a:rPr lang="en-IN" dirty="0"/>
              <a:t>           ↓</a:t>
            </a:r>
          </a:p>
          <a:p>
            <a:r>
              <a:rPr lang="en-IN" dirty="0"/>
              <a:t>   Identify Inactive Data</a:t>
            </a:r>
          </a:p>
          <a:p>
            <a:r>
              <a:rPr lang="en-IN" dirty="0"/>
              <a:t>           ↓</a:t>
            </a:r>
          </a:p>
          <a:p>
            <a:r>
              <a:rPr lang="en-IN" dirty="0"/>
              <a:t>    Apply Archive Policy</a:t>
            </a:r>
          </a:p>
          <a:p>
            <a:r>
              <a:rPr lang="en-IN" dirty="0"/>
              <a:t>           ↓</a:t>
            </a:r>
          </a:p>
          <a:p>
            <a:r>
              <a:rPr lang="en-IN" dirty="0"/>
              <a:t>    Move Data to Archive</a:t>
            </a:r>
          </a:p>
          <a:p>
            <a:r>
              <a:rPr lang="en-IN" dirty="0"/>
              <a:t>           ↓</a:t>
            </a:r>
          </a:p>
          <a:p>
            <a:r>
              <a:rPr lang="en-IN" dirty="0"/>
              <a:t>   Index / </a:t>
            </a:r>
            <a:r>
              <a:rPr lang="en-IN" dirty="0" err="1"/>
              <a:t>Catalog</a:t>
            </a:r>
            <a:r>
              <a:rPr lang="en-IN" dirty="0"/>
              <a:t> Data</a:t>
            </a:r>
          </a:p>
          <a:p>
            <a:r>
              <a:rPr lang="en-IN" dirty="0"/>
              <a:t>           ↓</a:t>
            </a:r>
          </a:p>
          <a:p>
            <a:r>
              <a:rPr lang="en-IN" dirty="0"/>
              <a:t>    Long-Term Retention</a:t>
            </a:r>
          </a:p>
          <a:p>
            <a:r>
              <a:rPr lang="en-IN" dirty="0"/>
              <a:t>           ↓</a:t>
            </a:r>
          </a:p>
          <a:p>
            <a:r>
              <a:rPr lang="en-IN" dirty="0"/>
              <a:t>      Retrieve When Needed</a:t>
            </a:r>
          </a:p>
        </p:txBody>
      </p:sp>
    </p:spTree>
    <p:extLst>
      <p:ext uri="{BB962C8B-B14F-4D97-AF65-F5344CB8AC3E}">
        <p14:creationId xmlns:p14="http://schemas.microsoft.com/office/powerpoint/2010/main" val="26113647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76A24-BB20-40F7-8E6C-80D0BBEF2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3.5 Data Archiving Process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F1ECF-CE37-4712-BDB4-270E38972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Step 1 – Identify data</a:t>
            </a:r>
          </a:p>
          <a:p>
            <a:r>
              <a:rPr lang="en-US" dirty="0"/>
              <a:t>The organization identifies data that is no longer frequently accessed.</a:t>
            </a:r>
          </a:p>
          <a:p>
            <a:r>
              <a:rPr lang="en-US" b="1" dirty="0"/>
              <a:t>Step 2 – Apply archive policy</a:t>
            </a:r>
          </a:p>
          <a:p>
            <a:r>
              <a:rPr lang="en-US" dirty="0"/>
              <a:t>Rules are applied based on:</a:t>
            </a:r>
          </a:p>
          <a:p>
            <a:r>
              <a:rPr lang="en-US" dirty="0"/>
              <a:t>Age </a:t>
            </a:r>
          </a:p>
          <a:p>
            <a:r>
              <a:rPr lang="en-US" dirty="0"/>
              <a:t>Access frequency </a:t>
            </a:r>
          </a:p>
          <a:p>
            <a:r>
              <a:rPr lang="en-US" dirty="0"/>
              <a:t>Data type </a:t>
            </a:r>
          </a:p>
          <a:p>
            <a:r>
              <a:rPr lang="en-US" dirty="0"/>
              <a:t>Legal requirements </a:t>
            </a:r>
          </a:p>
          <a:p>
            <a:r>
              <a:rPr lang="en-US" dirty="0"/>
              <a:t>Business requirements </a:t>
            </a:r>
          </a:p>
          <a:p>
            <a:r>
              <a:rPr lang="en-US" b="1" dirty="0"/>
              <a:t>Step 3 – Move data</a:t>
            </a:r>
          </a:p>
          <a:p>
            <a:r>
              <a:rPr lang="en-US" dirty="0"/>
              <a:t>The selected data is moved from primary storage to archive storage.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44599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94D44-60DE-4ACD-BA0F-6F15EB16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3.5 Data Archiving Process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BCF34-4436-4646-BDD1-FCC332458C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4 – Catalog the data</a:t>
            </a:r>
          </a:p>
          <a:p>
            <a:r>
              <a:rPr lang="en-US" dirty="0"/>
              <a:t>Metadata and indexing information are maintained so that archived data can be located later.</a:t>
            </a:r>
          </a:p>
          <a:p>
            <a:r>
              <a:rPr lang="en-US" b="1" dirty="0"/>
              <a:t>Step 5 – Retain the data</a:t>
            </a:r>
          </a:p>
          <a:p>
            <a:r>
              <a:rPr lang="en-US" dirty="0"/>
              <a:t>The data is preserved according to the organization's retention policy.</a:t>
            </a:r>
          </a:p>
          <a:p>
            <a:r>
              <a:rPr lang="en-US" b="1" dirty="0"/>
              <a:t>Step 6 – Retrieve when required</a:t>
            </a:r>
          </a:p>
          <a:p>
            <a:r>
              <a:rPr lang="en-US" dirty="0"/>
              <a:t>Users can retrieve archived data whenever it is needed.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8A1B98-58D8-4F9A-977D-3A30B4A0D976}"/>
              </a:ext>
            </a:extLst>
          </p:cNvPr>
          <p:cNvSpPr/>
          <p:nvPr/>
        </p:nvSpPr>
        <p:spPr>
          <a:xfrm>
            <a:off x="3205113" y="5222449"/>
            <a:ext cx="6759019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Backup = Recover lost data</a:t>
            </a:r>
          </a:p>
          <a:p>
            <a:pPr algn="ctr"/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Archive = Preserve old data</a:t>
            </a:r>
          </a:p>
        </p:txBody>
      </p:sp>
    </p:spTree>
    <p:extLst>
      <p:ext uri="{BB962C8B-B14F-4D97-AF65-F5344CB8AC3E}">
        <p14:creationId xmlns:p14="http://schemas.microsoft.com/office/powerpoint/2010/main" val="19682330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2E1A0-813B-4C24-A3DF-572512C0D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Replication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A5432-BAAB-4479-9914-008367998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3509"/>
            <a:ext cx="10515600" cy="566551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4.1 Introduction to Replication</a:t>
            </a:r>
          </a:p>
          <a:p>
            <a:r>
              <a:rPr lang="en-US" b="1" dirty="0"/>
              <a:t>Replication</a:t>
            </a:r>
            <a:r>
              <a:rPr lang="en-US" dirty="0"/>
              <a:t> is the process of creating and maintaining a </a:t>
            </a:r>
            <a:r>
              <a:rPr lang="en-US" b="1" dirty="0"/>
              <a:t>copy of data on another storage system or location</a:t>
            </a:r>
            <a:r>
              <a:rPr lang="en-US" dirty="0"/>
              <a:t>.</a:t>
            </a:r>
          </a:p>
          <a:p>
            <a:r>
              <a:rPr lang="en-US" dirty="0"/>
              <a:t>The replicated copy can be used when the primary data becomes unavailable.</a:t>
            </a:r>
          </a:p>
          <a:p>
            <a:endParaRPr lang="en-US" b="1" dirty="0"/>
          </a:p>
          <a:p>
            <a:r>
              <a:rPr lang="en-US" b="1" dirty="0"/>
              <a:t>Basic concept</a:t>
            </a:r>
          </a:p>
          <a:p>
            <a:r>
              <a:rPr lang="en-US" b="1" dirty="0"/>
              <a:t>        Primary Storage</a:t>
            </a:r>
          </a:p>
          <a:p>
            <a:r>
              <a:rPr lang="en-US" b="1" dirty="0"/>
              <a:t>                   |</a:t>
            </a:r>
          </a:p>
          <a:p>
            <a:r>
              <a:rPr lang="en-US" b="1" dirty="0"/>
              <a:t>                   | Replication</a:t>
            </a:r>
          </a:p>
          <a:p>
            <a:r>
              <a:rPr lang="en-US" b="1" dirty="0"/>
              <a:t>                   ↓</a:t>
            </a:r>
          </a:p>
          <a:p>
            <a:r>
              <a:rPr lang="en-US" b="1" dirty="0"/>
              <a:t>             Secondary Storage</a:t>
            </a:r>
          </a:p>
          <a:p>
            <a:r>
              <a:rPr lang="en-US" b="1" dirty="0"/>
              <a:t>                   |</a:t>
            </a:r>
          </a:p>
          <a:p>
            <a:r>
              <a:rPr lang="en-US" b="1" dirty="0"/>
              <a:t>             Recovery / Access</a:t>
            </a:r>
          </a:p>
          <a:p>
            <a:r>
              <a:rPr lang="en-US" dirty="0"/>
              <a:t>Replication is an important technology used in </a:t>
            </a:r>
            <a:r>
              <a:rPr lang="en-US" b="1" dirty="0"/>
              <a:t>business continuity, disaster recovery, and high-availability environments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16449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7F23B-32DF-42A6-A3E9-33E2CFCD3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4.3 Uses of Replication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59C02-CA4C-4F5B-B02B-3314A6C6A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4082"/>
            <a:ext cx="10515600" cy="5408793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1. Disaster Recovery</a:t>
            </a:r>
          </a:p>
          <a:p>
            <a:r>
              <a:rPr lang="en-US" dirty="0"/>
              <a:t>Replication maintains a copy of data at a different location.</a:t>
            </a:r>
          </a:p>
          <a:p>
            <a:r>
              <a:rPr lang="en-US" dirty="0"/>
              <a:t>If the primary site is affected by a disaster, the replicated data can be used for recovery.</a:t>
            </a:r>
          </a:p>
          <a:p>
            <a:r>
              <a:rPr lang="en-US" b="1" dirty="0"/>
              <a:t>2. Business Continuity</a:t>
            </a:r>
          </a:p>
          <a:p>
            <a:r>
              <a:rPr lang="en-US" dirty="0"/>
              <a:t>Replication helps organizations continue critical operations when the primary system fails.</a:t>
            </a:r>
          </a:p>
          <a:p>
            <a:r>
              <a:rPr lang="en-US" b="1" dirty="0"/>
              <a:t>3. High Availability</a:t>
            </a:r>
          </a:p>
          <a:p>
            <a:r>
              <a:rPr lang="en-US" dirty="0"/>
              <a:t>A replicated system can provide access to data even when one storage system becomes unavailable.</a:t>
            </a:r>
          </a:p>
          <a:p>
            <a:r>
              <a:rPr lang="en-US" dirty="0"/>
              <a:t> 	Application</a:t>
            </a:r>
          </a:p>
          <a:p>
            <a:r>
              <a:rPr lang="en-US" dirty="0"/>
              <a:t>            	       |</a:t>
            </a:r>
          </a:p>
          <a:p>
            <a:r>
              <a:rPr lang="en-US" dirty="0"/>
              <a:t>                -------------</a:t>
            </a:r>
          </a:p>
          <a:p>
            <a:r>
              <a:rPr lang="en-US" dirty="0"/>
              <a:t>       	 |           |</a:t>
            </a:r>
          </a:p>
          <a:p>
            <a:r>
              <a:rPr lang="en-US" dirty="0"/>
              <a:t>    Storage A   Storage B</a:t>
            </a:r>
          </a:p>
          <a:p>
            <a:r>
              <a:rPr lang="en-US" dirty="0"/>
              <a:t>        	|           |</a:t>
            </a:r>
          </a:p>
          <a:p>
            <a:r>
              <a:rPr lang="en-US" dirty="0"/>
              <a:t>        ----Replication----</a:t>
            </a:r>
          </a:p>
          <a:p>
            <a:endParaRPr lang="en-US" dirty="0"/>
          </a:p>
          <a:p>
            <a:r>
              <a:rPr lang="en-US" dirty="0"/>
              <a:t>If Storage A fails, Storage B can potentially provide access to the required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6678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5A64A-34BB-4CAF-BE0F-7D13A4981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7494"/>
          </a:xfrm>
        </p:spPr>
        <p:txBody>
          <a:bodyPr/>
          <a:lstStyle/>
          <a:p>
            <a:r>
              <a:rPr lang="en-US" b="1" dirty="0"/>
              <a:t>4.3 Uses of Replication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AA6C1-C1DF-42D2-ACB3-A5D416F8C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2620"/>
            <a:ext cx="10515600" cy="4904343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4. Minimize Data Loss</a:t>
            </a:r>
          </a:p>
          <a:p>
            <a:r>
              <a:rPr lang="en-US" dirty="0"/>
              <a:t>Frequent replication can reduce the amount of data lost during a failure.</a:t>
            </a:r>
          </a:p>
          <a:p>
            <a:r>
              <a:rPr lang="en-US" dirty="0"/>
              <a:t>This is especially important for systems with a low </a:t>
            </a:r>
            <a:r>
              <a:rPr lang="en-US" b="1" dirty="0"/>
              <a:t>Recovery Point Objective (RPO)</a:t>
            </a:r>
            <a:r>
              <a:rPr lang="en-US" dirty="0"/>
              <a:t>.</a:t>
            </a:r>
          </a:p>
          <a:p>
            <a:r>
              <a:rPr lang="en-US" b="1" dirty="0"/>
              <a:t>5. Load Distribution</a:t>
            </a:r>
          </a:p>
          <a:p>
            <a:r>
              <a:rPr lang="en-US" dirty="0"/>
              <a:t>In some environments, replicated copies can be used to distribute workloads.</a:t>
            </a:r>
          </a:p>
          <a:p>
            <a:r>
              <a:rPr lang="en-US" dirty="0"/>
              <a:t>For example, one copy may serve production operations while another is used for reporting or analytics.</a:t>
            </a:r>
          </a:p>
          <a:p>
            <a:r>
              <a:rPr lang="en-US" b="1" dirty="0"/>
              <a:t>6. Data Migration</a:t>
            </a:r>
          </a:p>
          <a:p>
            <a:r>
              <a:rPr lang="en-US" dirty="0"/>
              <a:t>Replication can help move data from one storage system to another with reduced disruption.</a:t>
            </a:r>
          </a:p>
          <a:p>
            <a:r>
              <a:rPr lang="en-US" b="1" dirty="0"/>
              <a:t>7. Testing and Development</a:t>
            </a:r>
          </a:p>
          <a:p>
            <a:r>
              <a:rPr lang="en-US" dirty="0"/>
              <a:t>A replicated copy can sometimes be used to create test or development environments without directly affecting production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31789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91BD3-93DB-427C-94C5-251928BC6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4.7 Characteristics of Replication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2C0A0-7FEC-4032-9082-BE1C42AB3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5167"/>
            <a:ext cx="10515600" cy="478179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important characteristics of replication are:</a:t>
            </a:r>
          </a:p>
          <a:p>
            <a:r>
              <a:rPr lang="en-US" b="1" dirty="0"/>
              <a:t>1. Data synchronization</a:t>
            </a:r>
          </a:p>
          <a:p>
            <a:r>
              <a:rPr lang="en-US" dirty="0"/>
              <a:t>Replication maintains a copy of data between primary and secondary systems.</a:t>
            </a:r>
          </a:p>
          <a:p>
            <a:r>
              <a:rPr lang="en-US" b="1" dirty="0"/>
              <a:t>2. High availability</a:t>
            </a:r>
          </a:p>
          <a:p>
            <a:r>
              <a:rPr lang="en-US" dirty="0"/>
              <a:t>A replicated copy can help maintain data availability when the primary system fails.</a:t>
            </a:r>
          </a:p>
          <a:p>
            <a:r>
              <a:rPr lang="en-US" b="1" dirty="0"/>
              <a:t>3. Reduced downtime</a:t>
            </a:r>
          </a:p>
          <a:p>
            <a:r>
              <a:rPr lang="en-US" dirty="0"/>
              <a:t>Replication can reduce the time required to recover critical services.</a:t>
            </a:r>
          </a:p>
          <a:p>
            <a:r>
              <a:rPr lang="en-US" b="1" dirty="0"/>
              <a:t>4. Disaster protection</a:t>
            </a:r>
          </a:p>
          <a:p>
            <a:r>
              <a:rPr lang="en-US" dirty="0"/>
              <a:t>Remote replication protects against site-level disasters.</a:t>
            </a:r>
          </a:p>
          <a:p>
            <a:r>
              <a:rPr lang="en-US" b="1" dirty="0"/>
              <a:t>5. Low RPO</a:t>
            </a:r>
          </a:p>
          <a:p>
            <a:r>
              <a:rPr lang="en-US" dirty="0"/>
              <a:t>Frequent replication can provide a low Recovery Point Objective.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27683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F57D2-354D-4DA2-AF66-1B663F5CD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4.7 Characteristics of Replication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D1983-A3C6-45F6-8F51-A5A82E002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8351"/>
            <a:ext cx="10515600" cy="5420412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6. Scalability</a:t>
            </a:r>
          </a:p>
          <a:p>
            <a:r>
              <a:rPr lang="en-US" dirty="0"/>
              <a:t>Replication can be implemented across multiple systems depending on business requirements.</a:t>
            </a:r>
          </a:p>
          <a:p>
            <a:r>
              <a:rPr lang="en-US" b="1" dirty="0"/>
              <a:t>7. Automation</a:t>
            </a:r>
          </a:p>
          <a:p>
            <a:r>
              <a:rPr lang="en-US" dirty="0"/>
              <a:t>Modern replication systems can automatically replicate changes without manual copying.</a:t>
            </a:r>
          </a:p>
          <a:p>
            <a:r>
              <a:rPr lang="en-US" b="1" dirty="0"/>
              <a:t>8. Geographic separation</a:t>
            </a:r>
          </a:p>
          <a:p>
            <a:r>
              <a:rPr lang="en-US" dirty="0"/>
              <a:t>Remote replication allows copies to be maintained at different physical locations.</a:t>
            </a:r>
          </a:p>
          <a:p>
            <a:r>
              <a:rPr lang="en-US" b="1" dirty="0"/>
              <a:t>9. Consistency</a:t>
            </a:r>
          </a:p>
          <a:p>
            <a:r>
              <a:rPr lang="en-US" dirty="0"/>
              <a:t>Replication mechanisms should maintain consistency between source and destination data according to the selected replication mode.</a:t>
            </a:r>
          </a:p>
          <a:p>
            <a:r>
              <a:rPr lang="en-US" b="1" dirty="0"/>
              <a:t>10. Performance consideration</a:t>
            </a:r>
          </a:p>
          <a:p>
            <a:pPr lvl="1"/>
            <a:r>
              <a:rPr lang="en-US" dirty="0"/>
              <a:t>Replication consumes:</a:t>
            </a:r>
          </a:p>
          <a:p>
            <a:pPr lvl="1"/>
            <a:r>
              <a:rPr lang="en-US" dirty="0"/>
              <a:t>Network bandwidth </a:t>
            </a:r>
          </a:p>
          <a:p>
            <a:pPr lvl="1"/>
            <a:r>
              <a:rPr lang="en-US" dirty="0"/>
              <a:t>Storage resources </a:t>
            </a:r>
          </a:p>
          <a:p>
            <a:pPr lvl="1"/>
            <a:r>
              <a:rPr lang="en-US" dirty="0"/>
              <a:t>Processing resources </a:t>
            </a:r>
          </a:p>
          <a:p>
            <a:r>
              <a:rPr lang="en-US" dirty="0"/>
              <a:t>Therefore, replication must be properly designed.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6320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3017</Words>
  <Application>Microsoft Office PowerPoint</Application>
  <PresentationFormat>Widescreen</PresentationFormat>
  <Paragraphs>502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Arial</vt:lpstr>
      <vt:lpstr>Calibri</vt:lpstr>
      <vt:lpstr>Calibri Light</vt:lpstr>
      <vt:lpstr>Times New Roman</vt:lpstr>
      <vt:lpstr>Office Theme</vt:lpstr>
      <vt:lpstr>UNIT IV  BACKUP - ARCHIVE AND REPLICATION</vt:lpstr>
      <vt:lpstr>Introduction to Business Continuity</vt:lpstr>
      <vt:lpstr>Example</vt:lpstr>
      <vt:lpstr>1.2 Need for Business Continuity</vt:lpstr>
      <vt:lpstr>1.2 Need for Business Continuity</vt:lpstr>
      <vt:lpstr>1.3 Basic Business Continuity Process</vt:lpstr>
      <vt:lpstr>1.4 Important Business Continuity Terms </vt:lpstr>
      <vt:lpstr>Recovery Time Objective (RTO) </vt:lpstr>
      <vt:lpstr> </vt:lpstr>
      <vt:lpstr>Introduction to Backup</vt:lpstr>
      <vt:lpstr>Backup Architecture</vt:lpstr>
      <vt:lpstr>2.2 Backup Architecture </vt:lpstr>
      <vt:lpstr>1. Production Server</vt:lpstr>
      <vt:lpstr>2. Backup Client or Agent </vt:lpstr>
      <vt:lpstr>3. Backup Server</vt:lpstr>
      <vt:lpstr>4. Backup Network</vt:lpstr>
      <vt:lpstr>5. Backup Target</vt:lpstr>
      <vt:lpstr>6. Backup Management Software</vt:lpstr>
      <vt:lpstr>2.3 Backup Targets</vt:lpstr>
      <vt:lpstr>1. Disk-Based Backup </vt:lpstr>
      <vt:lpstr>2. Tape-Based Backup </vt:lpstr>
      <vt:lpstr>3. Deduplication Storage </vt:lpstr>
      <vt:lpstr>4. NAS as a Backup Target</vt:lpstr>
      <vt:lpstr>5. Cloud as a Backup Target </vt:lpstr>
      <vt:lpstr>2.4 Backup Methods </vt:lpstr>
      <vt:lpstr>1. Full Backup </vt:lpstr>
      <vt:lpstr>1. Full Backup</vt:lpstr>
      <vt:lpstr>2 Incremental Backup </vt:lpstr>
      <vt:lpstr>2. Incremental Backup</vt:lpstr>
      <vt:lpstr>3. Differential Backup </vt:lpstr>
      <vt:lpstr>3. Differential Backup</vt:lpstr>
      <vt:lpstr> </vt:lpstr>
      <vt:lpstr>3. Data Archive</vt:lpstr>
      <vt:lpstr>  </vt:lpstr>
      <vt:lpstr>3.2 Objectives of Data Archiving</vt:lpstr>
      <vt:lpstr>3.3 Characteristics of Data Archive</vt:lpstr>
      <vt:lpstr>3.3 Characteristics of Data Archive</vt:lpstr>
      <vt:lpstr>3.5 Data Archiving Process </vt:lpstr>
      <vt:lpstr>3.5 Data Archiving Process</vt:lpstr>
      <vt:lpstr>3.5 Data Archiving Process</vt:lpstr>
      <vt:lpstr>4. Replication </vt:lpstr>
      <vt:lpstr>4.3 Uses of Replication </vt:lpstr>
      <vt:lpstr>4.3 Uses of Replication</vt:lpstr>
      <vt:lpstr>4.7 Characteristics of Replication </vt:lpstr>
      <vt:lpstr>4.7 Characteristics of Replication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IV  BACKUP - ARCHIVE AND REPLICATION</dc:title>
  <dc:creator>USER</dc:creator>
  <cp:lastModifiedBy>USER</cp:lastModifiedBy>
  <cp:revision>15</cp:revision>
  <dcterms:created xsi:type="dcterms:W3CDTF">2026-09-07T07:55:22Z</dcterms:created>
  <dcterms:modified xsi:type="dcterms:W3CDTF">2026-09-08T10:11:13Z</dcterms:modified>
</cp:coreProperties>
</file>
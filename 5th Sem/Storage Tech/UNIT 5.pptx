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9CAC4-FD1C-4006-856B-F25E98BC10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70E51-34A5-4B1A-BD0F-FF6DBA6ADC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AD700-6C7B-4802-94A1-5D87615EA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A74A-0496-4368-BFA6-F8E45F66086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910D4-0C5A-477C-8DFB-93FD75FEF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46A5C-7053-4B1B-94F0-6DCFD224E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457B8-6878-4C62-BF6B-90B577834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165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1E11F-8D77-4F7D-A586-7E83907A5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E101E-BC56-4D99-8416-D294F673D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5ADDC-40E9-4A1B-8B32-01EA35C41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A74A-0496-4368-BFA6-F8E45F66086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9A88F-F5A9-4779-B8FD-A7A308497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ED5E1-AACC-4F32-8590-EC9593109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457B8-6878-4C62-BF6B-90B577834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828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74ED2-7747-4349-8BE9-A43588415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3E04E-9C7D-47AC-8029-533C707F1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26AED-587A-494F-84B3-39A731804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A74A-0496-4368-BFA6-F8E45F66086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4FDB2-87F2-4088-8BB4-2E4859A22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54CF9-A647-4F0F-BFE5-8AF93476E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457B8-6878-4C62-BF6B-90B577834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48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D351E-6154-499A-B77A-371C0668C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3420F-94A4-42EB-B6E4-AF1FD691C9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AC6C0-190E-41C5-AE8F-C90F10DE8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2F96A-6721-4E17-A386-81D873B5D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A74A-0496-4368-BFA6-F8E45F66086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55580-DA4E-423A-9E55-F015FCA66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87971-0974-439E-9D3A-4A66B8B99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457B8-6878-4C62-BF6B-90B577834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61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7C98A-28EA-494F-BD50-49D90E25B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76483-F3C1-45F1-B234-D9BDE0D61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5F446-087C-443C-81E6-F10A19967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3DA6E8-0B62-46A6-B9A0-22FD6AFFB9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8AE663-EA3E-4071-9FE0-2DCA84FE39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A7837A-B1EC-47C1-A421-7BCF4B4DA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A74A-0496-4368-BFA6-F8E45F66086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C8C32F-7721-4F9E-8925-17F1C6AF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925266-76F7-4856-9998-EB98C547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457B8-6878-4C62-BF6B-90B577834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075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9FE3C-6677-4291-822C-E6A4E36AD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A31D81-FF67-491E-AA62-F5905BEC9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A74A-0496-4368-BFA6-F8E45F66086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E26041-AA98-434A-ACF4-176C22817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6E5526-D038-4225-AC7A-0442F026D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457B8-6878-4C62-BF6B-90B577834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804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81E05F-7EA0-46F9-8F50-23FE28680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A74A-0496-4368-BFA6-F8E45F66086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0E31F-20FB-4814-A261-BB0F68C8E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17016-D42F-4A65-B055-05AFE204A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457B8-6878-4C62-BF6B-90B577834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506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7B55-2C84-495C-B08B-863892745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10713-077A-4423-8803-40659D7FC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5906E2-A37A-4744-BD13-4FDD6138A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0B7D9-5FBA-4301-AF59-1D03A9D3B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A74A-0496-4368-BFA6-F8E45F66086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AB216-2F05-43BA-B6CE-0FA0C9AB2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BB46D-F79A-4723-AEBE-0BBA04007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457B8-6878-4C62-BF6B-90B577834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849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81B0E-01BE-454A-A050-EC90143EA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1976B5-0FBD-4EEA-935F-4FFB70C04A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DB80D-9995-4C71-BC05-56548D40DB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B2170-C0BE-41D0-B814-5DEBD345D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A74A-0496-4368-BFA6-F8E45F66086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D6D92-1B9A-414D-A7CA-8D176E619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3DC42-F4EA-49CD-9C71-E98545906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457B8-6878-4C62-BF6B-90B577834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66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6D4BE-B4FA-4FC0-BA9E-BBF8CF61E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35F9B-9DA8-434C-BD5C-31CE19065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668E1-CEA6-40D6-9DD1-A316CC283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A74A-0496-4368-BFA6-F8E45F66086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59F6A-C091-4A38-B7AF-BAB07658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17BA0-CAEA-4DA9-92D4-7279CFCEF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457B8-6878-4C62-BF6B-90B577834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590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A6F9D0-4842-47FD-B7CA-9EBB7C9FCC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8ECAA9-1779-4421-B407-84572A552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FD1A4-2DE6-437A-B6D6-7C243417B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A74A-0496-4368-BFA6-F8E45F66086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C79C9-66E5-4E5D-B016-FFEBFAD6C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AF76E-0234-4A0C-8E97-21179D7C7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457B8-6878-4C62-BF6B-90B577834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077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183472-3EAB-467E-BA0B-FBF427765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708FD-C47C-40BF-9A8E-9CBD956FC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58B94-1993-4344-A616-4C67BDA01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9A74A-0496-4368-BFA6-F8E45F66086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15436-D0AD-48D0-9C92-BC0C65CA7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5B5EA-15D5-4462-8075-13411C049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457B8-6878-4C62-BF6B-90B577834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622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DDFE4-EFA2-4DC5-A560-087E5A218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6045" y="1122363"/>
            <a:ext cx="10592656" cy="1836594"/>
          </a:xfrm>
        </p:spPr>
        <p:txBody>
          <a:bodyPr>
            <a:normAutofit/>
          </a:bodyPr>
          <a:lstStyle/>
          <a:p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V 	SECURING STORAGE INFRASTRUCTURE 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EEC82-36DC-49FD-B944-74F5F1181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1527" y="2496619"/>
            <a:ext cx="10034427" cy="3154167"/>
          </a:xfrm>
        </p:spPr>
        <p:txBody>
          <a:bodyPr>
            <a:normAutofit lnSpcReduction="10000"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 goals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security domains </a:t>
            </a:r>
          </a:p>
          <a:p>
            <a:pPr algn="l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Threats to a storage infrastructure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controls to protect a storage infrastructure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 - risk - and compliance 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infrastructure management functions</a:t>
            </a:r>
          </a:p>
          <a:p>
            <a:pPr algn="l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 infrastructure management processes.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3498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09530-F071-4A14-8D08-BAB8960AA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8178"/>
          </a:xfrm>
        </p:spPr>
        <p:txBody>
          <a:bodyPr/>
          <a:lstStyle/>
          <a:p>
            <a:r>
              <a:rPr lang="en-IN" dirty="0"/>
              <a:t>Information security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500FE-6872-4907-8FA8-977A903F1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5497"/>
            <a:ext cx="10515600" cy="5640512"/>
          </a:xfrm>
        </p:spPr>
        <p:txBody>
          <a:bodyPr>
            <a:normAutofit/>
          </a:bodyPr>
          <a:lstStyle/>
          <a:p>
            <a:endParaRPr lang="en-US" sz="2000" b="1" dirty="0"/>
          </a:p>
          <a:p>
            <a:r>
              <a:rPr lang="en-US" sz="2000" b="1" dirty="0"/>
              <a:t>1. Introduction</a:t>
            </a:r>
          </a:p>
          <a:p>
            <a:r>
              <a:rPr lang="en-US" sz="2000" b="1" dirty="0"/>
              <a:t>Information security</a:t>
            </a:r>
            <a:r>
              <a:rPr lang="en-US" sz="2000" dirty="0"/>
              <a:t> is the process of protecting information and storage resources from </a:t>
            </a:r>
            <a:r>
              <a:rPr lang="en-US" sz="2000" b="1" dirty="0"/>
              <a:t>unauthorized access, modification, disclosure, destruction, or disruption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In a storage infrastructure, large amounts of important organizational data are stored in </a:t>
            </a:r>
            <a:r>
              <a:rPr lang="en-US" sz="2000" b="1" dirty="0"/>
              <a:t>servers, storage arrays, SAN/NAS systems, backup devices, cloud storage, and databases</a:t>
            </a:r>
            <a:r>
              <a:rPr lang="en-US" sz="2000" dirty="0"/>
              <a:t>. Therefore, protecting stored data is an essential part of storage management.</a:t>
            </a:r>
          </a:p>
          <a:p>
            <a:endParaRPr lang="en-US" sz="2000" dirty="0"/>
          </a:p>
          <a:p>
            <a:r>
              <a:rPr lang="en-US" sz="2000" dirty="0"/>
              <a:t>The main goals of information security are commonly represented by the </a:t>
            </a:r>
            <a:r>
              <a:rPr lang="en-US" sz="2000" b="1" dirty="0"/>
              <a:t>CIA Triad</a:t>
            </a:r>
            <a:r>
              <a:rPr lang="en-US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Confidentiality</a:t>
            </a:r>
            <a:r>
              <a:rPr lang="en-US" sz="2000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Integrity</a:t>
            </a:r>
            <a:r>
              <a:rPr lang="en-US" sz="2000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Availability</a:t>
            </a:r>
            <a:r>
              <a:rPr lang="en-US" sz="2000" dirty="0"/>
              <a:t> </a:t>
            </a:r>
          </a:p>
          <a:p>
            <a:r>
              <a:rPr lang="en-US" sz="2000" dirty="0"/>
              <a:t>These three goals ensure that data is accessed only by authorized users, remains accurate, and is available whenever required.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63404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18654-2A0C-4A20-85BF-D0FE341F8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0241"/>
          </a:xfrm>
        </p:spPr>
        <p:txBody>
          <a:bodyPr/>
          <a:lstStyle/>
          <a:p>
            <a:r>
              <a:rPr lang="en-US" dirty="0"/>
              <a:t>                                          CIA Triad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FCD9F8-9959-4B99-B3B7-0958F65E83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846" y="1312523"/>
            <a:ext cx="5975877" cy="4613097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30B38B4-72AE-4778-9551-A09221E8BFC4}"/>
              </a:ext>
            </a:extLst>
          </p:cNvPr>
          <p:cNvSpPr/>
          <p:nvPr/>
        </p:nvSpPr>
        <p:spPr>
          <a:xfrm>
            <a:off x="1356189" y="6123542"/>
            <a:ext cx="94933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Confidentiality + Integrity + Availability = Information Security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87309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7B76E-8ACB-470F-8060-29A802424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6403"/>
          </a:xfrm>
        </p:spPr>
        <p:txBody>
          <a:bodyPr/>
          <a:lstStyle/>
          <a:p>
            <a:r>
              <a:rPr lang="en-IN" dirty="0"/>
              <a:t>2.1 Confidentiality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7C530-433E-4E17-97FA-5F932D41A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463"/>
            <a:ext cx="10515600" cy="4810500"/>
          </a:xfrm>
        </p:spPr>
        <p:txBody>
          <a:bodyPr>
            <a:normAutofit/>
          </a:bodyPr>
          <a:lstStyle/>
          <a:p>
            <a:r>
              <a:rPr lang="en-US" sz="2000" b="1" dirty="0"/>
              <a:t>Definition</a:t>
            </a:r>
          </a:p>
          <a:p>
            <a:r>
              <a:rPr lang="en-US" sz="2000" b="1" dirty="0"/>
              <a:t>Confidentiality</a:t>
            </a:r>
            <a:r>
              <a:rPr lang="en-US" sz="2000" dirty="0"/>
              <a:t> ensures that information is accessible </a:t>
            </a:r>
            <a:r>
              <a:rPr lang="en-US" sz="2000" b="1" dirty="0"/>
              <a:t>only to authorized users, applications, and systems</a:t>
            </a:r>
            <a:r>
              <a:rPr lang="en-US" sz="2000" dirty="0"/>
              <a:t>.</a:t>
            </a:r>
          </a:p>
          <a:p>
            <a:r>
              <a:rPr lang="en-US" sz="2000" dirty="0"/>
              <a:t>The objective is to prevent unauthorized people from viewing or obtaining sensitive information.</a:t>
            </a:r>
          </a:p>
          <a:p>
            <a:endParaRPr lang="en-US" sz="2000" b="1" dirty="0"/>
          </a:p>
          <a:p>
            <a:r>
              <a:rPr lang="en-US" sz="2000" b="1" dirty="0"/>
              <a:t>Examples</a:t>
            </a:r>
          </a:p>
          <a:p>
            <a:r>
              <a:rPr lang="en-US" sz="2000" dirty="0"/>
              <a:t>A student database should be accessible only to authorized staff. </a:t>
            </a:r>
          </a:p>
          <a:p>
            <a:r>
              <a:rPr lang="en-US" sz="2000" dirty="0"/>
              <a:t>Confidential employee records should not be visible to ordinary users. </a:t>
            </a:r>
          </a:p>
          <a:p>
            <a:r>
              <a:rPr lang="en-US" sz="2000" dirty="0"/>
              <a:t>Customer information stored in a storage array should be protected from unauthorized access. </a:t>
            </a:r>
          </a:p>
          <a:p>
            <a:r>
              <a:rPr lang="en-US" sz="2000" dirty="0"/>
              <a:t>Backup data should also be protected because it may contain complete copies of organizational information.</a:t>
            </a:r>
          </a:p>
          <a:p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9142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2E692-09D3-4769-B356-8431322AF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7630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Methods used to achieve confidentiality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A9A4F-5E4C-4643-8343-705FDD3DC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9190"/>
            <a:ext cx="10515600" cy="6138810"/>
          </a:xfrm>
        </p:spPr>
        <p:txBody>
          <a:bodyPr>
            <a:noAutofit/>
          </a:bodyPr>
          <a:lstStyle/>
          <a:p>
            <a:r>
              <a:rPr lang="en-US" sz="2000" b="1" dirty="0"/>
              <a:t>1. Authentication</a:t>
            </a:r>
            <a:r>
              <a:rPr lang="en-US" sz="2000" dirty="0"/>
              <a:t> </a:t>
            </a:r>
          </a:p>
          <a:p>
            <a:pPr lvl="1"/>
            <a:r>
              <a:rPr lang="en-US" sz="2000" dirty="0"/>
              <a:t>Verifies the identity of a user. </a:t>
            </a:r>
          </a:p>
          <a:p>
            <a:pPr lvl="1"/>
            <a:r>
              <a:rPr lang="en-US" sz="2000" dirty="0"/>
              <a:t>Example: Username and password. </a:t>
            </a:r>
          </a:p>
          <a:p>
            <a:r>
              <a:rPr lang="en-US" sz="2000" b="1" dirty="0"/>
              <a:t>2. Authorization</a:t>
            </a:r>
            <a:r>
              <a:rPr lang="en-US" sz="2000" dirty="0"/>
              <a:t> </a:t>
            </a:r>
          </a:p>
          <a:p>
            <a:pPr lvl="1"/>
            <a:r>
              <a:rPr lang="en-US" sz="2000" dirty="0"/>
              <a:t>Determines what an authenticated user is allowed to access. </a:t>
            </a:r>
          </a:p>
          <a:p>
            <a:pPr lvl="1"/>
            <a:r>
              <a:rPr lang="en-US" sz="2000" dirty="0"/>
              <a:t>Example: Only the Placement Head can modify placement records. </a:t>
            </a:r>
          </a:p>
          <a:p>
            <a:r>
              <a:rPr lang="en-US" sz="2000" b="1" dirty="0"/>
              <a:t>3. Access control</a:t>
            </a:r>
            <a:r>
              <a:rPr lang="en-US" sz="2000" dirty="0"/>
              <a:t> </a:t>
            </a:r>
          </a:p>
          <a:p>
            <a:pPr lvl="1"/>
            <a:r>
              <a:rPr lang="en-US" sz="2000" dirty="0"/>
              <a:t>Restricts access to files, folders, databases, and storage devices. </a:t>
            </a:r>
          </a:p>
          <a:p>
            <a:r>
              <a:rPr lang="en-US" sz="2000" b="1" dirty="0"/>
              <a:t>4. Encryption</a:t>
            </a:r>
            <a:r>
              <a:rPr lang="en-US" sz="2000" dirty="0"/>
              <a:t> </a:t>
            </a:r>
          </a:p>
          <a:p>
            <a:pPr lvl="1"/>
            <a:r>
              <a:rPr lang="en-US" sz="2000" dirty="0"/>
              <a:t>Converts readable data into an unreadable format. </a:t>
            </a:r>
          </a:p>
          <a:p>
            <a:pPr lvl="1"/>
            <a:r>
              <a:rPr lang="en-US" sz="2000" dirty="0"/>
              <a:t>Data can be decrypted only by an authorized user with the appropriate key. </a:t>
            </a:r>
          </a:p>
          <a:p>
            <a:r>
              <a:rPr lang="en-US" sz="2000" b="1" dirty="0"/>
              <a:t>5. Network security</a:t>
            </a:r>
            <a:r>
              <a:rPr lang="en-US" sz="2000" dirty="0"/>
              <a:t> </a:t>
            </a:r>
          </a:p>
          <a:p>
            <a:pPr lvl="1"/>
            <a:r>
              <a:rPr lang="en-US" sz="2000" dirty="0"/>
              <a:t>Firewalls, VPNs, and secure communication protocols help prevent unauthorized access.</a:t>
            </a:r>
          </a:p>
          <a:p>
            <a:endParaRPr lang="en-US" sz="2000" b="1" dirty="0"/>
          </a:p>
          <a:p>
            <a:r>
              <a:rPr lang="en-US" sz="2000" b="1" dirty="0"/>
              <a:t>Simple example</a:t>
            </a:r>
          </a:p>
          <a:p>
            <a:r>
              <a:rPr lang="en-US" sz="2000" dirty="0"/>
              <a:t>If a company's salary database can be viewed only by authorized HR employees, </a:t>
            </a:r>
            <a:r>
              <a:rPr lang="en-US" sz="2000" b="1" dirty="0"/>
              <a:t>confidentiality is maintained</a:t>
            </a:r>
            <a:r>
              <a:rPr lang="en-US" sz="2000" dirty="0"/>
              <a:t>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074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69D5F-2C5E-4148-AEF2-C0EC0CF34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3662"/>
          </a:xfrm>
        </p:spPr>
        <p:txBody>
          <a:bodyPr/>
          <a:lstStyle/>
          <a:p>
            <a:r>
              <a:rPr lang="en-US" dirty="0"/>
              <a:t>2.2 Integrity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8A1BA-0F60-4176-9A55-E7B72F4A1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528"/>
            <a:ext cx="10515600" cy="4995435"/>
          </a:xfrm>
        </p:spPr>
        <p:txBody>
          <a:bodyPr>
            <a:normAutofit/>
          </a:bodyPr>
          <a:lstStyle/>
          <a:p>
            <a:endParaRPr lang="en-US" sz="2000" b="1" dirty="0"/>
          </a:p>
          <a:p>
            <a:r>
              <a:rPr lang="en-US" sz="2000" b="1" dirty="0"/>
              <a:t>Definition</a:t>
            </a:r>
          </a:p>
          <a:p>
            <a:r>
              <a:rPr lang="en-US" sz="2000" b="1" dirty="0"/>
              <a:t>Integrity</a:t>
            </a:r>
            <a:r>
              <a:rPr lang="en-US" sz="2000" dirty="0"/>
              <a:t> ensures that information remains </a:t>
            </a:r>
            <a:r>
              <a:rPr lang="en-US" sz="2000" b="1" dirty="0"/>
              <a:t>accurate, complete, consistent, and unaltered</a:t>
            </a:r>
            <a:r>
              <a:rPr lang="en-US" sz="2000" dirty="0"/>
              <a:t> by unauthorized users or processes.</a:t>
            </a:r>
          </a:p>
          <a:p>
            <a:r>
              <a:rPr lang="en-US" sz="2000" dirty="0"/>
              <a:t>The data should not be modified, deleted, or corrupted without proper authorization.</a:t>
            </a:r>
          </a:p>
          <a:p>
            <a:endParaRPr lang="en-US" sz="2000" b="1" dirty="0"/>
          </a:p>
          <a:p>
            <a:r>
              <a:rPr lang="en-US" sz="2000" b="1" dirty="0"/>
              <a:t>Examples</a:t>
            </a:r>
          </a:p>
          <a:p>
            <a:r>
              <a:rPr lang="en-US" sz="2000" dirty="0"/>
              <a:t>A student's placement status should not be changed by an unauthorized person. </a:t>
            </a:r>
          </a:p>
          <a:p>
            <a:r>
              <a:rPr lang="en-US" sz="2000" dirty="0"/>
              <a:t>Backup files should not be modified or corrupted. </a:t>
            </a:r>
          </a:p>
          <a:p>
            <a:r>
              <a:rPr lang="en-US" sz="2000" dirty="0"/>
              <a:t>Database records should remain accurate. </a:t>
            </a:r>
          </a:p>
          <a:p>
            <a:r>
              <a:rPr lang="en-US" sz="2000" dirty="0"/>
              <a:t>An attacker should not be able to modify transaction records.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93339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DB48A-EAB5-4D28-9488-2AE147BAB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415711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Methods used to achieve integrity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9EDAF-16E0-4D5F-8B3E-7DCD99342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6748"/>
            <a:ext cx="10515600" cy="5396127"/>
          </a:xfrm>
        </p:spPr>
        <p:txBody>
          <a:bodyPr>
            <a:normAutofit/>
          </a:bodyPr>
          <a:lstStyle/>
          <a:p>
            <a:r>
              <a:rPr lang="en-US" b="1" dirty="0"/>
              <a:t>1. Access controls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Prevent unauthorized modification. </a:t>
            </a:r>
          </a:p>
          <a:p>
            <a:r>
              <a:rPr lang="en-US" b="1" dirty="0"/>
              <a:t>2. Hashing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Generates a unique value representing the contents of a file. </a:t>
            </a:r>
          </a:p>
          <a:p>
            <a:pPr lvl="1"/>
            <a:r>
              <a:rPr lang="en-US" dirty="0"/>
              <a:t>Any modification to the file can result in a different hash value. </a:t>
            </a:r>
          </a:p>
          <a:p>
            <a:r>
              <a:rPr lang="en-US" b="1" dirty="0"/>
              <a:t>3. Digital signatures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Help verify the authenticity and integrity of information. </a:t>
            </a:r>
          </a:p>
          <a:p>
            <a:r>
              <a:rPr lang="en-US" b="1" dirty="0"/>
              <a:t>4. Checksums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Used to detect accidental data corruption. </a:t>
            </a:r>
          </a:p>
          <a:p>
            <a:r>
              <a:rPr lang="en-US" b="1" dirty="0"/>
              <a:t>5. Audit logs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Record who accessed or modified information. </a:t>
            </a:r>
          </a:p>
          <a:p>
            <a:r>
              <a:rPr lang="en-US" b="1" dirty="0"/>
              <a:t>6. Backup and recovery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Helps restore correct information if data becomes corrupted or is maliciously modified.</a:t>
            </a:r>
          </a:p>
          <a:p>
            <a:pPr lvl="1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4812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8066C-AF56-47C9-8C4F-27A2F4167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B60F5-EFFE-4253-9D8A-178E0B5AF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852"/>
            <a:ext cx="10515600" cy="4351338"/>
          </a:xfrm>
        </p:spPr>
        <p:txBody>
          <a:bodyPr/>
          <a:lstStyle/>
          <a:p>
            <a:endParaRPr lang="en-IN" dirty="0"/>
          </a:p>
          <a:p>
            <a:r>
              <a:rPr lang="en-IN" dirty="0"/>
              <a:t>Suppose a database contains:</a:t>
            </a:r>
          </a:p>
          <a:p>
            <a:r>
              <a:rPr lang="en-IN" dirty="0"/>
              <a:t>	Student Marks = 85</a:t>
            </a:r>
          </a:p>
          <a:p>
            <a:r>
              <a:rPr lang="en-US" dirty="0"/>
              <a:t>An unauthorized person changes it to:</a:t>
            </a:r>
          </a:p>
          <a:p>
            <a:r>
              <a:rPr lang="en-IN" dirty="0"/>
              <a:t>	Student Marks = 95</a:t>
            </a:r>
          </a:p>
          <a:p>
            <a:r>
              <a:rPr lang="en-US" dirty="0"/>
              <a:t>The </a:t>
            </a:r>
            <a:r>
              <a:rPr lang="en-US" b="1" dirty="0"/>
              <a:t>integrity of the data has been violated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8833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DBEA4-ECAF-47C7-BECA-6C51CA56E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3936"/>
          </a:xfrm>
        </p:spPr>
        <p:txBody>
          <a:bodyPr/>
          <a:lstStyle/>
          <a:p>
            <a:r>
              <a:rPr lang="en-US" dirty="0"/>
              <a:t>2.3 Availability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F4542-0211-426C-BFC2-3A2CB8D70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528"/>
            <a:ext cx="10515600" cy="5311346"/>
          </a:xfrm>
        </p:spPr>
        <p:txBody>
          <a:bodyPr>
            <a:normAutofit fontScale="92500" lnSpcReduction="10000"/>
          </a:bodyPr>
          <a:lstStyle/>
          <a:p>
            <a:r>
              <a:rPr lang="en-US" sz="2200" b="1" dirty="0"/>
              <a:t>Definition</a:t>
            </a:r>
          </a:p>
          <a:p>
            <a:r>
              <a:rPr lang="en-US" sz="2200" b="1" dirty="0"/>
              <a:t>Availability</a:t>
            </a:r>
            <a:r>
              <a:rPr lang="en-US" sz="2200" dirty="0"/>
              <a:t> ensures that information, applications, and storage resources are </a:t>
            </a:r>
            <a:r>
              <a:rPr lang="en-US" sz="2200" b="1" dirty="0"/>
              <a:t>accessible to authorized users whenever required</a:t>
            </a:r>
            <a:r>
              <a:rPr lang="en-US" sz="2200" dirty="0"/>
              <a:t>.</a:t>
            </a:r>
          </a:p>
          <a:p>
            <a:r>
              <a:rPr lang="en-US" sz="2200" dirty="0"/>
              <a:t>Data may be confidential and accurate, but it is not useful if authorized users cannot access it when needed.</a:t>
            </a:r>
          </a:p>
          <a:p>
            <a:r>
              <a:rPr lang="en-US" sz="2200" b="1" dirty="0"/>
              <a:t>Causes of availability problems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Hardware failure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Disk failure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Network failure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Power failure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Natural disasters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Cyberattacks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Ransomware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Denial-of-Service attacks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Software failures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199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F3C47-CF80-486A-98B7-C8D391AFB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0097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Methods used to achieve availability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CD872-CA77-41A3-865E-11A353EFB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2754"/>
            <a:ext cx="10515600" cy="582544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1. RAID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Provides protection against disk failures. </a:t>
            </a:r>
          </a:p>
          <a:p>
            <a:r>
              <a:rPr lang="en-US" b="1" dirty="0"/>
              <a:t>2. Redundant components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Multiple power supplies, network connections, controllers, etc. </a:t>
            </a:r>
          </a:p>
          <a:p>
            <a:r>
              <a:rPr lang="en-US" b="1" dirty="0"/>
              <a:t>3. Backup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Provides a copy of data for recovery. </a:t>
            </a:r>
          </a:p>
          <a:p>
            <a:r>
              <a:rPr lang="en-US" b="1" dirty="0"/>
              <a:t>4. Replication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Maintains copies of data at another storage system or location. </a:t>
            </a:r>
          </a:p>
          <a:p>
            <a:r>
              <a:rPr lang="en-US" b="1" dirty="0"/>
              <a:t>5. Disaster recovery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Helps restore IT services after a major failure. </a:t>
            </a:r>
          </a:p>
          <a:p>
            <a:r>
              <a:rPr lang="en-US" b="1" dirty="0"/>
              <a:t>6. High-availability systems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Reduce service interruption by using redundant systems. </a:t>
            </a:r>
          </a:p>
          <a:p>
            <a:r>
              <a:rPr lang="en-US" b="1" dirty="0"/>
              <a:t>7. Failover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Automatically transfers operations to a standby system when the primary system fails.</a:t>
            </a:r>
          </a:p>
          <a:p>
            <a:r>
              <a:rPr lang="en-US" b="1" dirty="0"/>
              <a:t>Simple example</a:t>
            </a:r>
          </a:p>
          <a:p>
            <a:r>
              <a:rPr lang="en-US" dirty="0"/>
              <a:t>If a college's student database server fails but a standby server immediately takes over, students and staff can continue using the application. This provides </a:t>
            </a:r>
            <a:r>
              <a:rPr lang="en-US" b="1" dirty="0"/>
              <a:t>availability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7639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B5A4B-4BFD-4D08-937B-2BE99863C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9967"/>
          </a:xfrm>
        </p:spPr>
        <p:txBody>
          <a:bodyPr/>
          <a:lstStyle/>
          <a:p>
            <a:r>
              <a:rPr lang="en-US" dirty="0"/>
              <a:t>Storage Security Domains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32C72-7649-40EC-8041-3B203B263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5092"/>
            <a:ext cx="10515600" cy="4861871"/>
          </a:xfrm>
        </p:spPr>
        <p:txBody>
          <a:bodyPr>
            <a:normAutofit/>
          </a:bodyPr>
          <a:lstStyle/>
          <a:p>
            <a:r>
              <a:rPr lang="en-US" dirty="0"/>
              <a:t>Storage security is not limited to protecting disks. A storage infrastructure contains multiple components, and each component can introduce security risks.</a:t>
            </a:r>
          </a:p>
          <a:p>
            <a:r>
              <a:rPr lang="en-US" b="1" dirty="0"/>
              <a:t>Storage security domains</a:t>
            </a:r>
            <a:r>
              <a:rPr lang="en-US" dirty="0"/>
              <a:t> are different areas of a storage environment that must be protected to ensure overall security.</a:t>
            </a:r>
          </a:p>
          <a:p>
            <a:r>
              <a:rPr lang="en-US" dirty="0"/>
              <a:t>The major storage security domains include: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Application domain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Host domain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Network domain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Storage system domain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Management domain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Physical domain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FB4162-AC2F-40B3-A39F-DC8918ADB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535" y="3368504"/>
            <a:ext cx="6491967" cy="296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495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A1C6E-D9EE-4039-AEF9-B199D8787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8453"/>
          </a:xfrm>
        </p:spPr>
        <p:txBody>
          <a:bodyPr/>
          <a:lstStyle/>
          <a:p>
            <a:r>
              <a:rPr lang="en-IN" dirty="0"/>
              <a:t>Application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919C0-A87F-42BE-8F8A-3E4D06230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2553"/>
            <a:ext cx="10515600" cy="582544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application domain</a:t>
            </a:r>
            <a:r>
              <a:rPr lang="en-US" dirty="0"/>
              <a:t> consists of applications and databases that create, process, and access stored information.</a:t>
            </a:r>
          </a:p>
          <a:p>
            <a:r>
              <a:rPr lang="en-US" b="1" dirty="0"/>
              <a:t>Examples:</a:t>
            </a:r>
          </a:p>
          <a:p>
            <a:pPr lvl="1"/>
            <a:r>
              <a:rPr lang="en-US" dirty="0"/>
              <a:t>Banking applications, ERP applications, Hospital applications, Student information systems, Web applications DBMS</a:t>
            </a:r>
          </a:p>
          <a:p>
            <a:r>
              <a:rPr lang="en-US" b="1" dirty="0"/>
              <a:t>Security threats</a:t>
            </a:r>
          </a:p>
          <a:p>
            <a:pPr lvl="1"/>
            <a:r>
              <a:rPr lang="en-US" dirty="0"/>
              <a:t>Application vulnerabilities, SQL injection </a:t>
            </a:r>
          </a:p>
          <a:p>
            <a:pPr lvl="1"/>
            <a:r>
              <a:rPr lang="en-US" dirty="0"/>
              <a:t>Unauthorized application access, Malware </a:t>
            </a:r>
          </a:p>
          <a:p>
            <a:pPr lvl="1"/>
            <a:r>
              <a:rPr lang="en-US" dirty="0"/>
              <a:t>Poor password management, Improper access permissions </a:t>
            </a:r>
          </a:p>
          <a:p>
            <a:r>
              <a:rPr lang="en-US" b="1" dirty="0"/>
              <a:t>Security measures</a:t>
            </a:r>
          </a:p>
          <a:p>
            <a:pPr lvl="1"/>
            <a:r>
              <a:rPr lang="en-US" dirty="0"/>
              <a:t>Application authentication, Role-based access control </a:t>
            </a:r>
          </a:p>
          <a:p>
            <a:pPr lvl="1"/>
            <a:r>
              <a:rPr lang="en-US" dirty="0"/>
              <a:t>Secure coding, Database access controls </a:t>
            </a:r>
          </a:p>
          <a:p>
            <a:pPr lvl="1"/>
            <a:r>
              <a:rPr lang="en-US" dirty="0"/>
              <a:t>Encryption, Regular security updates 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A college ERP application accesses student records.</a:t>
            </a:r>
          </a:p>
          <a:p>
            <a:r>
              <a:rPr lang="en-US" dirty="0"/>
              <a:t>If an unauthorized person gains access to the ERP application, sensitive student data may be exposed.</a:t>
            </a:r>
          </a:p>
          <a:p>
            <a:r>
              <a:rPr lang="en-US" dirty="0"/>
              <a:t>Therefore, the application layer must be secured.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8706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CA2C0-5E4B-4A2E-AE3D-D6F51BC14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6533"/>
          </a:xfrm>
        </p:spPr>
        <p:txBody>
          <a:bodyPr>
            <a:normAutofit fontScale="90000"/>
          </a:bodyPr>
          <a:lstStyle/>
          <a:p>
            <a:r>
              <a:rPr lang="en-US" dirty="0"/>
              <a:t>Host Domain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9FFB3-0630-42DD-8491-F15D6830A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9738"/>
            <a:ext cx="10515600" cy="590764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The </a:t>
            </a:r>
            <a:r>
              <a:rPr lang="en-US" b="1" dirty="0"/>
              <a:t>host domain</a:t>
            </a:r>
            <a:r>
              <a:rPr lang="en-US" dirty="0"/>
              <a:t> includes servers, computers, and other systems that access storage resources.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1" dirty="0"/>
              <a:t>Examples: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Application servers , Database servers, File servers , Virtual machines , Backup servers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b="1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1" dirty="0"/>
              <a:t>Security threats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Malware, Viruses, Unauthorized login 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Compromised operating systems, Improper configuration, Unpatched software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b="1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1" dirty="0"/>
              <a:t>Security measures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Operating system hardening, Antivirus/endpoint protection, Host-based intrusion detection 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Firewalls, User authentication, Patch management, Access control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b="1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1" dirty="0"/>
              <a:t>Example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A database server connects to a SAN.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If the database server is compromised, an attacker may attempt to access the SAN storage.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Therefore, securing only the SAN is not sufficient; the </a:t>
            </a:r>
            <a:r>
              <a:rPr lang="en-US" b="1" dirty="0"/>
              <a:t>host must also be protected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0203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B5B76-8C32-4704-9D04-DA32CDE9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Domain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94A81-0C6C-4365-973F-E1B7F6938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459" y="1353014"/>
            <a:ext cx="10515600" cy="4351338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network domain</a:t>
            </a:r>
            <a:r>
              <a:rPr lang="en-US" dirty="0"/>
              <a:t> consists of the communication infrastructure used to transfer data between hosts and storage systems.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Ethernet switches, Fibre Channel switches, Routers, Network interfaces, SAN fabric, iSCSI networks</a:t>
            </a:r>
          </a:p>
          <a:p>
            <a:r>
              <a:rPr lang="en-US" b="1" dirty="0"/>
              <a:t>Security threats</a:t>
            </a:r>
          </a:p>
          <a:p>
            <a:pPr lvl="1"/>
            <a:r>
              <a:rPr lang="en-US" dirty="0"/>
              <a:t>Network sniffing </a:t>
            </a:r>
          </a:p>
          <a:p>
            <a:pPr lvl="1"/>
            <a:r>
              <a:rPr lang="en-US" dirty="0"/>
              <a:t>Unauthorized access </a:t>
            </a:r>
          </a:p>
          <a:p>
            <a:pPr lvl="1"/>
            <a:r>
              <a:rPr lang="en-US" dirty="0"/>
              <a:t>Spoofing </a:t>
            </a:r>
          </a:p>
          <a:p>
            <a:pPr lvl="1"/>
            <a:r>
              <a:rPr lang="en-US" dirty="0"/>
              <a:t>Man-in-the-middle attacks </a:t>
            </a:r>
          </a:p>
          <a:p>
            <a:pPr lvl="1"/>
            <a:r>
              <a:rPr lang="en-US" dirty="0"/>
              <a:t>Denial-of-Service attacks </a:t>
            </a:r>
          </a:p>
          <a:p>
            <a:pPr lvl="1"/>
            <a:r>
              <a:rPr lang="en-US" dirty="0"/>
              <a:t>Unauthorized network connections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5018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F70E6-6E34-44BE-8DD3-E828CFF96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1156"/>
            <a:ext cx="10515600" cy="1325563"/>
          </a:xfrm>
        </p:spPr>
        <p:txBody>
          <a:bodyPr/>
          <a:lstStyle/>
          <a:p>
            <a:r>
              <a:rPr lang="en-IN" dirty="0"/>
              <a:t>Security measures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04888-B445-45EB-A15D-713098B03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320"/>
            <a:ext cx="10515600" cy="4351338"/>
          </a:xfrm>
        </p:spPr>
        <p:txBody>
          <a:bodyPr>
            <a:normAutofit/>
          </a:bodyPr>
          <a:lstStyle/>
          <a:p>
            <a:r>
              <a:rPr lang="en-IN" b="1" dirty="0"/>
              <a:t>1. Network segmentation</a:t>
            </a:r>
            <a:endParaRPr lang="en-IN" dirty="0"/>
          </a:p>
          <a:p>
            <a:r>
              <a:rPr lang="en-IN" dirty="0"/>
              <a:t>Storage traffic can be separated from normal user traffic.</a:t>
            </a:r>
          </a:p>
          <a:p>
            <a:r>
              <a:rPr lang="en-IN" b="1" dirty="0"/>
              <a:t>2. VLANs</a:t>
            </a:r>
            <a:endParaRPr lang="en-IN" dirty="0"/>
          </a:p>
          <a:p>
            <a:r>
              <a:rPr lang="en-IN" dirty="0"/>
              <a:t>VLANs can logically separate network traffic.</a:t>
            </a:r>
          </a:p>
          <a:p>
            <a:r>
              <a:rPr lang="en-IN" b="1" dirty="0"/>
              <a:t>3. Zoning</a:t>
            </a:r>
            <a:endParaRPr lang="en-IN" dirty="0"/>
          </a:p>
          <a:p>
            <a:r>
              <a:rPr lang="en-IN" dirty="0"/>
              <a:t>In Fibre Channel SANs, zoning controls which devices can communicate with each other.</a:t>
            </a:r>
          </a:p>
          <a:p>
            <a:r>
              <a:rPr lang="en-IN" b="1" dirty="0"/>
              <a:t>4. Encryption</a:t>
            </a:r>
            <a:endParaRPr lang="en-IN" dirty="0"/>
          </a:p>
          <a:p>
            <a:r>
              <a:rPr lang="en-IN" dirty="0"/>
              <a:t>Encryption protects data while it travels through the network.</a:t>
            </a:r>
          </a:p>
          <a:p>
            <a:r>
              <a:rPr lang="en-IN" b="1" dirty="0"/>
              <a:t>5. Firewalls</a:t>
            </a:r>
            <a:endParaRPr lang="en-IN" dirty="0"/>
          </a:p>
          <a:p>
            <a:r>
              <a:rPr lang="en-IN" dirty="0"/>
              <a:t>Firewalls control permitted network connections.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5098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4AD98-CDF6-43E8-9815-277953B19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0646"/>
          </a:xfrm>
        </p:spPr>
        <p:txBody>
          <a:bodyPr/>
          <a:lstStyle/>
          <a:p>
            <a:r>
              <a:rPr lang="en-IN" dirty="0"/>
              <a:t>Storage System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3F597-E92C-4BB0-8EE8-0260E2E33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5772"/>
            <a:ext cx="10515600" cy="5211191"/>
          </a:xfrm>
        </p:spPr>
        <p:txBody>
          <a:bodyPr>
            <a:normAutofit/>
          </a:bodyPr>
          <a:lstStyle/>
          <a:p>
            <a:endParaRPr lang="en-IN" b="1" dirty="0"/>
          </a:p>
          <a:p>
            <a:r>
              <a:rPr lang="en-IN" dirty="0"/>
              <a:t>The </a:t>
            </a:r>
            <a:r>
              <a:rPr lang="en-IN" b="1" dirty="0"/>
              <a:t>storage system domain</a:t>
            </a:r>
            <a:r>
              <a:rPr lang="en-IN" dirty="0"/>
              <a:t> contains the actual storage infrastructure where data is stored.</a:t>
            </a:r>
          </a:p>
          <a:p>
            <a:endParaRPr lang="en-IN" dirty="0"/>
          </a:p>
          <a:p>
            <a:r>
              <a:rPr lang="en-IN" b="1" dirty="0"/>
              <a:t>Examples:</a:t>
            </a:r>
          </a:p>
          <a:p>
            <a:r>
              <a:rPr lang="en-IN" dirty="0"/>
              <a:t>HDDs, SSDs, Storage arrays, SAN, NAS, RAID systems, Storage controllers </a:t>
            </a:r>
          </a:p>
          <a:p>
            <a:endParaRPr lang="en-IN" b="1" dirty="0"/>
          </a:p>
          <a:p>
            <a:r>
              <a:rPr lang="en-IN" b="1" dirty="0"/>
              <a:t>Security threats</a:t>
            </a:r>
          </a:p>
          <a:p>
            <a:pPr lvl="1"/>
            <a:r>
              <a:rPr lang="en-IN" dirty="0"/>
              <a:t>Unauthorized storage access </a:t>
            </a:r>
          </a:p>
          <a:p>
            <a:pPr lvl="1"/>
            <a:r>
              <a:rPr lang="en-IN" dirty="0"/>
              <a:t>Disk theft </a:t>
            </a:r>
          </a:p>
          <a:p>
            <a:pPr lvl="1"/>
            <a:r>
              <a:rPr lang="en-IN" dirty="0"/>
              <a:t>Data deletion </a:t>
            </a:r>
          </a:p>
          <a:p>
            <a:pPr lvl="1"/>
            <a:r>
              <a:rPr lang="en-IN" dirty="0"/>
              <a:t>Data corruption </a:t>
            </a:r>
          </a:p>
          <a:p>
            <a:pPr lvl="1"/>
            <a:r>
              <a:rPr lang="en-IN" dirty="0"/>
              <a:t>Controller compromise </a:t>
            </a:r>
          </a:p>
          <a:p>
            <a:pPr lvl="1"/>
            <a:r>
              <a:rPr lang="en-IN" dirty="0"/>
              <a:t>Unauthorized configuration changes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2036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35BCD-A9C5-4A06-ABE1-1D977F48C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9823"/>
          </a:xfrm>
        </p:spPr>
        <p:txBody>
          <a:bodyPr>
            <a:normAutofit fontScale="90000"/>
          </a:bodyPr>
          <a:lstStyle/>
          <a:p>
            <a:r>
              <a:rPr lang="en-US" dirty="0"/>
              <a:t>Security measures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51CAD-35BC-4CBE-A3DE-6FD7A8B22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4948"/>
            <a:ext cx="10515600" cy="5557927"/>
          </a:xfrm>
        </p:spPr>
        <p:txBody>
          <a:bodyPr>
            <a:normAutofit/>
          </a:bodyPr>
          <a:lstStyle/>
          <a:p>
            <a:r>
              <a:rPr lang="en-US" b="1" dirty="0"/>
              <a:t>8.1 Access control</a:t>
            </a:r>
          </a:p>
          <a:p>
            <a:r>
              <a:rPr lang="en-US" dirty="0"/>
              <a:t>Only authorized hosts and users should access storage resources.</a:t>
            </a:r>
          </a:p>
          <a:p>
            <a:r>
              <a:rPr lang="en-US" b="1" dirty="0"/>
              <a:t>8.2 Encryption</a:t>
            </a:r>
          </a:p>
          <a:p>
            <a:r>
              <a:rPr lang="en-US" dirty="0"/>
              <a:t>Data can be encrypted before or while it is stored.</a:t>
            </a:r>
          </a:p>
          <a:p>
            <a:r>
              <a:rPr lang="en-US" b="1" dirty="0"/>
              <a:t>8.3 RAID</a:t>
            </a:r>
          </a:p>
          <a:p>
            <a:r>
              <a:rPr lang="en-US" dirty="0"/>
              <a:t>RAID provides redundancy and helps maintain availability during disk failures.</a:t>
            </a:r>
          </a:p>
          <a:p>
            <a:r>
              <a:rPr lang="en-US" b="1" dirty="0"/>
              <a:t>8.4 Secure deletion</a:t>
            </a:r>
          </a:p>
          <a:p>
            <a:r>
              <a:rPr lang="en-US" dirty="0"/>
              <a:t>When storage devices are retired, data should be securely erased so that it cannot be recovered easily.</a:t>
            </a:r>
          </a:p>
          <a:p>
            <a:r>
              <a:rPr lang="en-US" b="1" dirty="0"/>
              <a:t>8.5 Storage monitoring</a:t>
            </a:r>
          </a:p>
          <a:p>
            <a:pPr lvl="1"/>
            <a:r>
              <a:rPr lang="en-US" dirty="0"/>
              <a:t>Storage systems should be monitored for:</a:t>
            </a:r>
          </a:p>
          <a:p>
            <a:pPr lvl="1"/>
            <a:r>
              <a:rPr lang="en-US" dirty="0"/>
              <a:t>Unauthorized access </a:t>
            </a:r>
          </a:p>
          <a:p>
            <a:pPr lvl="1"/>
            <a:r>
              <a:rPr lang="en-US" dirty="0"/>
              <a:t>Configuration changes </a:t>
            </a:r>
          </a:p>
          <a:p>
            <a:pPr lvl="1"/>
            <a:r>
              <a:rPr lang="en-US" dirty="0"/>
              <a:t>Failed disks </a:t>
            </a:r>
          </a:p>
          <a:p>
            <a:pPr lvl="1"/>
            <a:r>
              <a:rPr lang="en-US" dirty="0"/>
              <a:t>Suspicious activity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55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F23F8-D95A-437D-96BC-6FB5C3439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5985"/>
          </a:xfrm>
        </p:spPr>
        <p:txBody>
          <a:bodyPr>
            <a:normAutofit fontScale="90000"/>
          </a:bodyPr>
          <a:lstStyle/>
          <a:p>
            <a:r>
              <a:rPr lang="en-US" dirty="0"/>
              <a:t>Management Domain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0CA52-FD23-4464-8B9A-BE07768B4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9191"/>
            <a:ext cx="10515600" cy="5876818"/>
          </a:xfrm>
        </p:spPr>
        <p:txBody>
          <a:bodyPr>
            <a:normAutofit fontScale="85000" lnSpcReduction="20000"/>
          </a:bodyPr>
          <a:lstStyle/>
          <a:p>
            <a:r>
              <a:rPr lang="en-US" sz="2200" dirty="0"/>
              <a:t>The </a:t>
            </a:r>
            <a:r>
              <a:rPr lang="en-US" sz="2200" b="1" dirty="0"/>
              <a:t>management domain</a:t>
            </a:r>
            <a:r>
              <a:rPr lang="en-US" sz="2200" dirty="0"/>
              <a:t> includes the tools and interfaces used to configure, monitor, and administer storage infrastructure.</a:t>
            </a:r>
          </a:p>
          <a:p>
            <a:r>
              <a:rPr lang="en-US" sz="2200" dirty="0"/>
              <a:t>Examples:</a:t>
            </a:r>
          </a:p>
          <a:p>
            <a:r>
              <a:rPr lang="en-US" sz="2200" dirty="0"/>
              <a:t>Storage management software, Management servers, Administrator consoles, Monitoring systems, Configuration interfaces </a:t>
            </a:r>
          </a:p>
          <a:p>
            <a:r>
              <a:rPr lang="en-US" sz="2200" b="1" dirty="0"/>
              <a:t>Why is it important?</a:t>
            </a:r>
          </a:p>
          <a:p>
            <a:r>
              <a:rPr lang="en-US" sz="2200" dirty="0"/>
              <a:t>A storage administrator may have extensive privileges.</a:t>
            </a:r>
          </a:p>
          <a:p>
            <a:r>
              <a:rPr lang="en-US" sz="2200" dirty="0"/>
              <a:t>If an attacker gains administrator-level access, the attacker could:</a:t>
            </a:r>
          </a:p>
          <a:p>
            <a:pPr lvl="1"/>
            <a:r>
              <a:rPr lang="en-US" sz="2200" dirty="0"/>
              <a:t>Delete data </a:t>
            </a:r>
          </a:p>
          <a:p>
            <a:pPr lvl="1"/>
            <a:r>
              <a:rPr lang="en-US" sz="2200" dirty="0"/>
              <a:t>Modify storage configurations </a:t>
            </a:r>
          </a:p>
          <a:p>
            <a:pPr lvl="1"/>
            <a:r>
              <a:rPr lang="en-US" sz="2200" dirty="0"/>
              <a:t>Create unauthorized users </a:t>
            </a:r>
          </a:p>
          <a:p>
            <a:pPr lvl="1"/>
            <a:r>
              <a:rPr lang="en-US" sz="2200" dirty="0"/>
              <a:t>Disable security controls </a:t>
            </a:r>
          </a:p>
          <a:p>
            <a:pPr lvl="1"/>
            <a:r>
              <a:rPr lang="en-US" sz="2200" dirty="0"/>
              <a:t>Destroy backups </a:t>
            </a:r>
          </a:p>
          <a:p>
            <a:r>
              <a:rPr lang="en-US" sz="2200" b="1" dirty="0"/>
              <a:t>Security measures</a:t>
            </a:r>
          </a:p>
          <a:p>
            <a:pPr lvl="1"/>
            <a:r>
              <a:rPr lang="en-US" sz="2200" dirty="0"/>
              <a:t>Strong administrator authentication </a:t>
            </a:r>
          </a:p>
          <a:p>
            <a:pPr lvl="1"/>
            <a:r>
              <a:rPr lang="en-US" sz="2200" dirty="0"/>
              <a:t>Multi-factor authentication </a:t>
            </a:r>
          </a:p>
          <a:p>
            <a:pPr lvl="1"/>
            <a:r>
              <a:rPr lang="en-US" sz="2200" dirty="0"/>
              <a:t>Role-based access control </a:t>
            </a:r>
          </a:p>
          <a:p>
            <a:pPr lvl="1"/>
            <a:r>
              <a:rPr lang="en-US" sz="2200" dirty="0"/>
              <a:t>Separate administrative accounts </a:t>
            </a:r>
          </a:p>
          <a:p>
            <a:pPr lvl="1"/>
            <a:r>
              <a:rPr lang="en-US" sz="2200" dirty="0"/>
              <a:t>Audit logging </a:t>
            </a:r>
          </a:p>
          <a:p>
            <a:pPr lvl="1"/>
            <a:r>
              <a:rPr lang="en-US" sz="2200" dirty="0"/>
              <a:t>Secure management protocols </a:t>
            </a:r>
          </a:p>
          <a:p>
            <a:pPr lvl="1"/>
            <a:r>
              <a:rPr lang="en-US" sz="2200" dirty="0"/>
              <a:t>Regular monitoring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4392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62971-4995-49BB-BA21-6F92F68CE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5711"/>
          </a:xfrm>
        </p:spPr>
        <p:txBody>
          <a:bodyPr>
            <a:normAutofit fontScale="90000"/>
          </a:bodyPr>
          <a:lstStyle/>
          <a:p>
            <a:r>
              <a:rPr lang="en-IN" dirty="0"/>
              <a:t>Physical Domain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7423E-037A-44F4-8317-222863F1E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8917"/>
            <a:ext cx="10515600" cy="5887091"/>
          </a:xfrm>
        </p:spPr>
        <p:txBody>
          <a:bodyPr>
            <a:normAutofit/>
          </a:bodyPr>
          <a:lstStyle/>
          <a:p>
            <a:r>
              <a:rPr lang="en-IN" dirty="0"/>
              <a:t>The </a:t>
            </a:r>
            <a:r>
              <a:rPr lang="en-IN" b="1" dirty="0"/>
              <a:t>physical domain</a:t>
            </a:r>
            <a:r>
              <a:rPr lang="en-IN" dirty="0"/>
              <a:t> protects the physical infrastructure containing storage systems.</a:t>
            </a:r>
          </a:p>
          <a:p>
            <a:r>
              <a:rPr lang="en-IN" b="1" dirty="0"/>
              <a:t>Examples:</a:t>
            </a:r>
          </a:p>
          <a:p>
            <a:r>
              <a:rPr lang="en-IN" dirty="0"/>
              <a:t>Data </a:t>
            </a:r>
            <a:r>
              <a:rPr lang="en-IN" dirty="0" err="1"/>
              <a:t>center</a:t>
            </a:r>
            <a:r>
              <a:rPr lang="en-IN" dirty="0"/>
              <a:t>, Server room, Storage racks, Disk drives, Power systems, Cooling </a:t>
            </a:r>
            <a:r>
              <a:rPr lang="en-IN" dirty="0" err="1"/>
              <a:t>systems,Backup</a:t>
            </a:r>
            <a:r>
              <a:rPr lang="en-IN" dirty="0"/>
              <a:t> media </a:t>
            </a:r>
          </a:p>
          <a:p>
            <a:endParaRPr lang="en-IN" b="1" dirty="0"/>
          </a:p>
          <a:p>
            <a:r>
              <a:rPr lang="en-IN" b="1" dirty="0"/>
              <a:t>Physical threats</a:t>
            </a:r>
          </a:p>
          <a:p>
            <a:r>
              <a:rPr lang="en-IN" dirty="0"/>
              <a:t>Theft, Fire, Flood, Unauthorized entry, Earthquake, Power failure, Overheating</a:t>
            </a:r>
          </a:p>
          <a:p>
            <a:r>
              <a:rPr lang="en-US" b="1" dirty="0"/>
              <a:t>Security measures</a:t>
            </a:r>
          </a:p>
          <a:p>
            <a:pPr lvl="1"/>
            <a:r>
              <a:rPr lang="en-US" dirty="0"/>
              <a:t>Physical access control </a:t>
            </a:r>
          </a:p>
          <a:p>
            <a:pPr lvl="1"/>
            <a:r>
              <a:rPr lang="en-US" dirty="0"/>
              <a:t>CCTV surveillance </a:t>
            </a:r>
          </a:p>
          <a:p>
            <a:pPr lvl="1"/>
            <a:r>
              <a:rPr lang="en-US" dirty="0"/>
              <a:t>Security guards </a:t>
            </a:r>
          </a:p>
          <a:p>
            <a:pPr lvl="1"/>
            <a:r>
              <a:rPr lang="en-US" dirty="0"/>
              <a:t>Biometric access </a:t>
            </a:r>
          </a:p>
          <a:p>
            <a:pPr lvl="1"/>
            <a:r>
              <a:rPr lang="en-US" dirty="0"/>
              <a:t>Fire detection and suppression </a:t>
            </a:r>
          </a:p>
          <a:p>
            <a:pPr lvl="1"/>
            <a:r>
              <a:rPr lang="en-US" dirty="0"/>
              <a:t>UPS </a:t>
            </a:r>
          </a:p>
          <a:p>
            <a:pPr lvl="1"/>
            <a:r>
              <a:rPr lang="en-US" dirty="0"/>
              <a:t>Backup power generators </a:t>
            </a:r>
          </a:p>
          <a:p>
            <a:pPr lvl="1"/>
            <a:r>
              <a:rPr lang="en-US" dirty="0"/>
              <a:t>Environmental monitoring </a:t>
            </a:r>
          </a:p>
          <a:p>
            <a:pPr lvl="1"/>
            <a:r>
              <a:rPr lang="en-US" dirty="0"/>
              <a:t>Secure storage of backup media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2509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20882-86BF-42D4-BEC5-EA1AF741B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Security Domains – Overall View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AEC852-73D0-40CB-A521-E5F547C42E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6229" y="1690688"/>
            <a:ext cx="4582274" cy="466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834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035C8-D0C1-40B8-BA01-8CBD51AC1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9145"/>
          </a:xfrm>
        </p:spPr>
        <p:txBody>
          <a:bodyPr/>
          <a:lstStyle/>
          <a:p>
            <a:r>
              <a:rPr lang="en-US" dirty="0"/>
              <a:t>Governance, Risk and Compliance (GRC) in Storage Security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265B3-6F9F-4DA6-964A-F9376452B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189"/>
            <a:ext cx="10515600" cy="4820774"/>
          </a:xfrm>
        </p:spPr>
        <p:txBody>
          <a:bodyPr/>
          <a:lstStyle/>
          <a:p>
            <a:r>
              <a:rPr lang="en-US" b="1" dirty="0"/>
              <a:t>Governance, Risk, and Compliance (GRC)</a:t>
            </a:r>
            <a:r>
              <a:rPr lang="en-US" dirty="0"/>
              <a:t> is an important part of </a:t>
            </a:r>
            <a:r>
              <a:rPr lang="en-US" b="1" dirty="0"/>
              <a:t>securing storage infrastructure</a:t>
            </a:r>
            <a:r>
              <a:rPr lang="en-US" dirty="0"/>
              <a:t>. It provides a systematic approach to managing organizational data, identifying security risks, and ensuring that the organization follows applicable laws, regulations, standards, and internal policies.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3F8B2B-6D77-4E65-A9EE-ECFFA1485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018" y="2536834"/>
            <a:ext cx="3863083" cy="351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65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EADE9-C43B-4594-B046-5C38ACF37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9001"/>
          </a:xfrm>
        </p:spPr>
        <p:txBody>
          <a:bodyPr>
            <a:normAutofit fontScale="90000"/>
          </a:bodyPr>
          <a:lstStyle/>
          <a:p>
            <a:r>
              <a:rPr lang="en-US" dirty="0"/>
              <a:t>1. Governance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D97A2-6198-4A11-B466-FD8509B34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126"/>
            <a:ext cx="10515600" cy="5272837"/>
          </a:xfrm>
        </p:spPr>
        <p:txBody>
          <a:bodyPr/>
          <a:lstStyle/>
          <a:p>
            <a:r>
              <a:rPr lang="en-US" b="1" dirty="0"/>
              <a:t>Governance</a:t>
            </a:r>
            <a:r>
              <a:rPr lang="en-US" dirty="0"/>
              <a:t> refers to the policies, procedures, responsibilities, and decision-making processes used to manage and protect an organization's information and storage infrastructure.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Governance answers: "How should we manage and protect our data?“</a:t>
            </a:r>
          </a:p>
          <a:p>
            <a:endParaRPr lang="en-US" b="1" dirty="0"/>
          </a:p>
          <a:p>
            <a:r>
              <a:rPr lang="en-US" b="1" dirty="0"/>
              <a:t>Objectives of Governance</a:t>
            </a:r>
          </a:p>
          <a:p>
            <a:r>
              <a:rPr lang="en-US" dirty="0"/>
              <a:t>Establish security policies. </a:t>
            </a:r>
          </a:p>
          <a:p>
            <a:r>
              <a:rPr lang="en-US" dirty="0"/>
              <a:t>Define responsibilities and ownership. </a:t>
            </a:r>
          </a:p>
          <a:p>
            <a:r>
              <a:rPr lang="en-US" dirty="0"/>
              <a:t>Ensure proper management of storage resources. </a:t>
            </a:r>
          </a:p>
          <a:p>
            <a:r>
              <a:rPr lang="en-US" dirty="0"/>
              <a:t>Establish security standards and procedures. </a:t>
            </a:r>
          </a:p>
          <a:p>
            <a:r>
              <a:rPr lang="en-US" dirty="0"/>
              <a:t>Monitor whether security policies are being followed. </a:t>
            </a:r>
          </a:p>
          <a:p>
            <a:r>
              <a:rPr lang="en-US" dirty="0"/>
              <a:t>Support business objectives and data protection requirements.</a:t>
            </a:r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0826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31758-AA2C-40E6-B977-48E451260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8178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Examples of Storage Governance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885A8-E2B7-447F-A0EC-925819B80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3304"/>
            <a:ext cx="10515600" cy="577407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 organization may create policies such as:</a:t>
            </a:r>
          </a:p>
          <a:p>
            <a:pPr lvl="1"/>
            <a:r>
              <a:rPr lang="en-US" dirty="0"/>
              <a:t>Only authorized employees can access sensitive data. </a:t>
            </a:r>
          </a:p>
          <a:p>
            <a:pPr lvl="1"/>
            <a:r>
              <a:rPr lang="en-US" dirty="0"/>
              <a:t>Backup must be performed every day. </a:t>
            </a:r>
          </a:p>
          <a:p>
            <a:pPr lvl="1"/>
            <a:r>
              <a:rPr lang="en-US" dirty="0"/>
              <a:t>Critical data must be replicated to a secondary site. </a:t>
            </a:r>
          </a:p>
          <a:p>
            <a:pPr lvl="1"/>
            <a:r>
              <a:rPr lang="en-US" dirty="0"/>
              <a:t>Old storage devices must be securely erased before disposal. </a:t>
            </a:r>
          </a:p>
          <a:p>
            <a:pPr lvl="1"/>
            <a:r>
              <a:rPr lang="en-US" dirty="0"/>
              <a:t>Storage administrators must use strong authentication. </a:t>
            </a:r>
          </a:p>
          <a:p>
            <a:pPr lvl="1"/>
            <a:r>
              <a:rPr lang="en-US" dirty="0"/>
              <a:t>Security logs must be reviewed regularly.</a:t>
            </a:r>
          </a:p>
          <a:p>
            <a:r>
              <a:rPr lang="en-US" b="1" dirty="0"/>
              <a:t>Important Components</a:t>
            </a:r>
          </a:p>
          <a:p>
            <a:r>
              <a:rPr lang="en-US" b="1" dirty="0"/>
              <a:t>1. Policies</a:t>
            </a:r>
            <a:endParaRPr lang="en-US" dirty="0"/>
          </a:p>
          <a:p>
            <a:r>
              <a:rPr lang="en-US" dirty="0"/>
              <a:t>Define what is permitted and what is prohibited.</a:t>
            </a:r>
          </a:p>
          <a:p>
            <a:r>
              <a:rPr lang="en-US" b="1" dirty="0"/>
              <a:t>2. Procedures</a:t>
            </a:r>
            <a:endParaRPr lang="en-US" dirty="0"/>
          </a:p>
          <a:p>
            <a:r>
              <a:rPr lang="en-US" dirty="0"/>
              <a:t>Describe how security policies should be implemented.</a:t>
            </a:r>
          </a:p>
          <a:p>
            <a:r>
              <a:rPr lang="en-US" b="1" dirty="0"/>
              <a:t>3. Roles and responsibilities</a:t>
            </a:r>
            <a:endParaRPr lang="en-US" dirty="0"/>
          </a:p>
          <a:p>
            <a:r>
              <a:rPr lang="en-US" dirty="0"/>
              <a:t>Clearly identify who is responsible for:</a:t>
            </a:r>
          </a:p>
          <a:p>
            <a:pPr lvl="1"/>
            <a:r>
              <a:rPr lang="en-US" dirty="0"/>
              <a:t>Data, Storage, Security, Backup, Disaster recovery </a:t>
            </a:r>
          </a:p>
          <a:p>
            <a:r>
              <a:rPr lang="en-US" b="1" dirty="0"/>
              <a:t>4. Monitoring</a:t>
            </a:r>
            <a:endParaRPr lang="en-US" dirty="0"/>
          </a:p>
          <a:p>
            <a:r>
              <a:rPr lang="en-US" dirty="0"/>
              <a:t>Regularly check whether policies are being followed.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23070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4B911-491D-45D5-A6B7-AFDFCFB93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5306"/>
          </a:xfrm>
        </p:spPr>
        <p:txBody>
          <a:bodyPr>
            <a:normAutofit fontScale="90000"/>
          </a:bodyPr>
          <a:lstStyle/>
          <a:p>
            <a:r>
              <a:rPr lang="en-US" dirty="0"/>
              <a:t>Risk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8BEC-CC29-4B02-ADCD-AEA6BAD0A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6593"/>
            <a:ext cx="10515600" cy="5036532"/>
          </a:xfrm>
        </p:spPr>
        <p:txBody>
          <a:bodyPr/>
          <a:lstStyle/>
          <a:p>
            <a:r>
              <a:rPr lang="en-US" b="1" dirty="0"/>
              <a:t>Risk</a:t>
            </a:r>
            <a:r>
              <a:rPr lang="en-US" dirty="0"/>
              <a:t> is the possibility that a threat may exploit a vulnerability and cause damage or loss to an organization.</a:t>
            </a:r>
          </a:p>
          <a:p>
            <a:pPr algn="ctr"/>
            <a:r>
              <a:rPr lang="en-US" b="1" dirty="0"/>
              <a:t>Risk answers: "What can go wrong, and how serious will it be?“</a:t>
            </a:r>
          </a:p>
          <a:p>
            <a:r>
              <a:rPr lang="en-IN" dirty="0"/>
              <a:t>Basic Risk Relationship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For example:</a:t>
            </a:r>
          </a:p>
          <a:p>
            <a:endParaRPr lang="en-IN" dirty="0"/>
          </a:p>
          <a:p>
            <a:endParaRPr lang="en-US" b="1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589598-B278-4089-8180-AD03D2647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886" y="2533603"/>
            <a:ext cx="1679004" cy="10960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17F63B-05A1-4EC8-8B4B-C6307A9ED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885" y="4470944"/>
            <a:ext cx="1884487" cy="199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7759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EB938-1ED5-4F28-956F-B5A771866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210"/>
          </a:xfrm>
        </p:spPr>
        <p:txBody>
          <a:bodyPr>
            <a:normAutofit fontScale="90000"/>
          </a:bodyPr>
          <a:lstStyle/>
          <a:p>
            <a:r>
              <a:rPr lang="en-IN" dirty="0"/>
              <a:t>Common Storage Security Risks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03EF5-B5E1-4057-A234-C5B6235B8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336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Unauthorized access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Data theft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Data corruption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Malware and ransomware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Hardware failure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Accidental deletion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Loss of backup media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Natural disasters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Insider threats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Poorly configured storage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9861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50A64-93BF-43E2-B03F-72E1C0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893"/>
            <a:ext cx="10515600" cy="1021886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Risk Assessment</a:t>
            </a:r>
            <a:br>
              <a:rPr lang="en-US" sz="2700" dirty="0"/>
            </a:br>
            <a:r>
              <a:rPr lang="en-US" sz="2700" b="0" dirty="0"/>
              <a:t>Risk assessment is the process of identifying, analyzing, and evaluating risks.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A2E50-331A-4AF0-9BD1-93820B7FB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3174"/>
            <a:ext cx="3887912" cy="5404206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STEPS:                                                              </a:t>
            </a:r>
          </a:p>
          <a:p>
            <a:r>
              <a:rPr lang="en-IN" dirty="0"/>
              <a:t>Identify Assets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Identify Threats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Identify Vulnerabilities</a:t>
            </a:r>
          </a:p>
          <a:p>
            <a:r>
              <a:rPr lang="en-IN" dirty="0"/>
              <a:t>      ↓</a:t>
            </a:r>
          </a:p>
          <a:p>
            <a:r>
              <a:rPr lang="en-IN" dirty="0" err="1"/>
              <a:t>Analyze</a:t>
            </a:r>
            <a:r>
              <a:rPr lang="en-IN" dirty="0"/>
              <a:t> Risk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Determine Impact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Prioritize Risks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Apply Security Controls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Monitor and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7A88B3-5E64-4C85-9D14-E6BD0F0CBF34}"/>
              </a:ext>
            </a:extLst>
          </p:cNvPr>
          <p:cNvSpPr txBox="1"/>
          <p:nvPr/>
        </p:nvSpPr>
        <p:spPr>
          <a:xfrm>
            <a:off x="4726112" y="2679122"/>
            <a:ext cx="7222731" cy="3877985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an organization stores customer information on a storage array.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database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Ransomware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isolated backup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Loss of customer data and business interruption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offline/isolated backup and regularly test recovery.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6134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C748-0D1B-4986-B186-2AFD79DE7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6808"/>
          </a:xfrm>
        </p:spPr>
        <p:txBody>
          <a:bodyPr>
            <a:normAutofit fontScale="90000"/>
          </a:bodyPr>
          <a:lstStyle/>
          <a:p>
            <a:r>
              <a:rPr lang="en-US" dirty="0"/>
              <a:t>Risk Management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7A29E-E54C-459F-BEB7-5131C4E56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8369"/>
            <a:ext cx="10515600" cy="5488594"/>
          </a:xfrm>
        </p:spPr>
        <p:txBody>
          <a:bodyPr>
            <a:normAutofit/>
          </a:bodyPr>
          <a:lstStyle/>
          <a:p>
            <a:r>
              <a:rPr lang="en-US" b="1" dirty="0"/>
              <a:t>Risk management</a:t>
            </a:r>
            <a:r>
              <a:rPr lang="en-US" dirty="0"/>
              <a:t> is the process of identifying, evaluating, treating, and continuously monitoring risks.</a:t>
            </a:r>
          </a:p>
          <a:p>
            <a:r>
              <a:rPr lang="en-US" dirty="0"/>
              <a:t>There are four common approaches to risk treatment.</a:t>
            </a:r>
          </a:p>
          <a:p>
            <a:r>
              <a:rPr lang="en-US" b="1" dirty="0"/>
              <a:t>1. Risk Avoidance</a:t>
            </a:r>
          </a:p>
          <a:p>
            <a:r>
              <a:rPr lang="en-US" dirty="0"/>
              <a:t>Eliminate the activity that creates the risk.</a:t>
            </a:r>
          </a:p>
          <a:p>
            <a:r>
              <a:rPr lang="en-US" b="1" dirty="0"/>
              <a:t>Example:</a:t>
            </a:r>
            <a:r>
              <a:rPr lang="en-US" dirty="0"/>
              <a:t> Stop using an insecure legacy storage protocol.</a:t>
            </a:r>
          </a:p>
          <a:p>
            <a:r>
              <a:rPr lang="en-US" b="1" dirty="0"/>
              <a:t>2. Risk Mitigation</a:t>
            </a:r>
          </a:p>
          <a:p>
            <a:r>
              <a:rPr lang="en-US" dirty="0"/>
              <a:t>Reduce the probability or impact of the risk.</a:t>
            </a:r>
          </a:p>
          <a:p>
            <a:r>
              <a:rPr lang="en-US" b="1" dirty="0"/>
              <a:t>Example:</a:t>
            </a:r>
            <a:r>
              <a:rPr lang="en-US" dirty="0"/>
              <a:t> Use encryption, access controls, MFA, and network segmentation.</a:t>
            </a:r>
          </a:p>
          <a:p>
            <a:r>
              <a:rPr lang="en-US" b="1" dirty="0"/>
              <a:t>3. Risk Transfer</a:t>
            </a:r>
          </a:p>
          <a:p>
            <a:r>
              <a:rPr lang="en-US" dirty="0"/>
              <a:t>Transfer some or all of the financial consequences of a risk to another party.</a:t>
            </a:r>
          </a:p>
          <a:p>
            <a:r>
              <a:rPr lang="en-US" b="1" dirty="0"/>
              <a:t>Example:</a:t>
            </a:r>
            <a:r>
              <a:rPr lang="en-US" dirty="0"/>
              <a:t> Cyber insurance or outsourcing certain services to a trusted provider.</a:t>
            </a:r>
          </a:p>
          <a:p>
            <a:r>
              <a:rPr lang="en-US" b="1" dirty="0"/>
              <a:t>4. Risk Acceptance</a:t>
            </a:r>
          </a:p>
          <a:p>
            <a:r>
              <a:rPr lang="en-US" dirty="0"/>
              <a:t>Accept the risk when its impact is low or the cost of reducing it is greater than the expected benefit.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717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DD1CF-6ABE-4671-B912-B91260C39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Compliance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584FF-75C3-4E17-BD2E-E80FF0824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625"/>
            <a:ext cx="10515600" cy="4954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1" dirty="0"/>
              <a:t>Compliance</a:t>
            </a:r>
            <a:r>
              <a:rPr lang="en-US" dirty="0"/>
              <a:t> means ensuring that an organization follows applicable </a:t>
            </a:r>
            <a:r>
              <a:rPr lang="en-US" b="1" dirty="0"/>
              <a:t>laws, regulations, standards, contractual requirements, and internal policies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dirty="0"/>
          </a:p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lang="en-US" b="1" dirty="0"/>
              <a:t>Compliance answers: "Are we following the required rules and standards?“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Compliance is particularly important when organizations store sensitive information such as: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dirty="0"/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Personal information 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Financial information 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Healthcare information 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Intellectual property 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Customer information 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Employee information</a:t>
            </a:r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26417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9DD9-62B3-42CC-B98C-70A3F64D7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3754"/>
            <a:ext cx="10515600" cy="1325563"/>
          </a:xfrm>
        </p:spPr>
        <p:txBody>
          <a:bodyPr/>
          <a:lstStyle/>
          <a:p>
            <a:r>
              <a:rPr lang="en-US" dirty="0"/>
              <a:t>Types of Compliance Requirements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1D7AA-9D81-4CF3-9AA6-FD4D424C3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4818"/>
            <a:ext cx="10515600" cy="4872145"/>
          </a:xfrm>
        </p:spPr>
        <p:txBody>
          <a:bodyPr/>
          <a:lstStyle/>
          <a:p>
            <a:r>
              <a:rPr lang="en-US" b="1" dirty="0"/>
              <a:t>A. Legal Requirements</a:t>
            </a:r>
          </a:p>
          <a:p>
            <a:r>
              <a:rPr lang="en-US" dirty="0"/>
              <a:t>Organizations must comply with applicable laws and regulations.</a:t>
            </a:r>
          </a:p>
          <a:p>
            <a:endParaRPr lang="en-US" dirty="0"/>
          </a:p>
          <a:p>
            <a:r>
              <a:rPr lang="en-US" b="1" dirty="0"/>
              <a:t>B. Regulatory Requirements</a:t>
            </a:r>
          </a:p>
          <a:p>
            <a:r>
              <a:rPr lang="en-US" dirty="0"/>
              <a:t>Specific industries may have additional requirements.</a:t>
            </a:r>
          </a:p>
          <a:p>
            <a:r>
              <a:rPr lang="en-US" dirty="0"/>
              <a:t>For 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Banking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Healthcare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Telecommunications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Government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03560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309BA-6478-4E53-8A75-73A10CF7A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Compliance Requirements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FD166-C750-4FEA-9088-9BFC178BF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125"/>
            <a:ext cx="10515600" cy="4698465"/>
          </a:xfrm>
        </p:spPr>
        <p:txBody>
          <a:bodyPr>
            <a:normAutofit/>
          </a:bodyPr>
          <a:lstStyle/>
          <a:p>
            <a:r>
              <a:rPr lang="en-US" b="1" dirty="0"/>
              <a:t>C. Industry Standards</a:t>
            </a:r>
          </a:p>
          <a:p>
            <a:r>
              <a:rPr lang="en-US" dirty="0"/>
              <a:t>Organizations may follow standards and frameworks such as:</a:t>
            </a:r>
          </a:p>
          <a:p>
            <a:r>
              <a:rPr lang="en-US" dirty="0"/>
              <a:t>ISO/IEC 27001 </a:t>
            </a:r>
          </a:p>
          <a:p>
            <a:r>
              <a:rPr lang="en-US" dirty="0"/>
              <a:t>NIST Cybersecurity Framework </a:t>
            </a:r>
          </a:p>
          <a:p>
            <a:r>
              <a:rPr lang="en-US" dirty="0"/>
              <a:t>COBIT </a:t>
            </a:r>
          </a:p>
          <a:p>
            <a:r>
              <a:rPr lang="en-US" dirty="0"/>
              <a:t>PCI DSS </a:t>
            </a:r>
          </a:p>
          <a:p>
            <a:endParaRPr lang="en-US" dirty="0"/>
          </a:p>
          <a:p>
            <a:r>
              <a:rPr lang="en-US" b="1" dirty="0"/>
              <a:t>D. Organizational Policies</a:t>
            </a:r>
          </a:p>
          <a:p>
            <a:r>
              <a:rPr lang="en-US" dirty="0"/>
              <a:t>An organization may establish its own security policies.</a:t>
            </a:r>
          </a:p>
          <a:p>
            <a:r>
              <a:rPr lang="en-IN" dirty="0"/>
              <a:t>Example:</a:t>
            </a:r>
          </a:p>
          <a:p>
            <a:r>
              <a:rPr lang="en-US" dirty="0"/>
              <a:t>"All critical data must be backed up daily and backup restoration must be tested periodically."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4727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2227</Words>
  <Application>Microsoft Office PowerPoint</Application>
  <PresentationFormat>Widescreen</PresentationFormat>
  <Paragraphs>371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Times New Roman</vt:lpstr>
      <vt:lpstr>Office Theme</vt:lpstr>
      <vt:lpstr>UNIT V  SECURING STORAGE INFRASTRUCTURE  </vt:lpstr>
      <vt:lpstr>Information security goals</vt:lpstr>
      <vt:lpstr>                                          CIA Triad</vt:lpstr>
      <vt:lpstr>2.1 Confidentiality</vt:lpstr>
      <vt:lpstr>Methods used to achieve confidentiality </vt:lpstr>
      <vt:lpstr>2.2 Integrity</vt:lpstr>
      <vt:lpstr>Methods used to achieve integrity </vt:lpstr>
      <vt:lpstr>Simple example</vt:lpstr>
      <vt:lpstr>2.3 Availability</vt:lpstr>
      <vt:lpstr>Methods used to achieve availability </vt:lpstr>
      <vt:lpstr>Storage Security Domains</vt:lpstr>
      <vt:lpstr>Application Domain</vt:lpstr>
      <vt:lpstr>Host Domain </vt:lpstr>
      <vt:lpstr>Network Domain </vt:lpstr>
      <vt:lpstr>Security measures </vt:lpstr>
      <vt:lpstr>Storage System Domain</vt:lpstr>
      <vt:lpstr>Security measures </vt:lpstr>
      <vt:lpstr>Management Domain </vt:lpstr>
      <vt:lpstr>Physical Domain </vt:lpstr>
      <vt:lpstr>Storage Security Domains – Overall View</vt:lpstr>
      <vt:lpstr>Governance, Risk and Compliance (GRC) in Storage Security</vt:lpstr>
      <vt:lpstr>1. Governance </vt:lpstr>
      <vt:lpstr>Examples of Storage Governance </vt:lpstr>
      <vt:lpstr>Risk </vt:lpstr>
      <vt:lpstr>Common Storage Security Risks </vt:lpstr>
      <vt:lpstr>Risk Assessment Risk assessment is the process of identifying, analyzing, and evaluating risks. </vt:lpstr>
      <vt:lpstr>Risk Management </vt:lpstr>
      <vt:lpstr>Compliance </vt:lpstr>
      <vt:lpstr>Types of Compliance Requirements </vt:lpstr>
      <vt:lpstr>Types of Compliance Requirements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V  SECURING STORAGE INFRASTRUCTURE  </dc:title>
  <dc:creator>USER</dc:creator>
  <cp:lastModifiedBy>USER</cp:lastModifiedBy>
  <cp:revision>21</cp:revision>
  <dcterms:created xsi:type="dcterms:W3CDTF">2026-09-09T07:53:55Z</dcterms:created>
  <dcterms:modified xsi:type="dcterms:W3CDTF">2026-09-16T07:17:12Z</dcterms:modified>
</cp:coreProperties>
</file>
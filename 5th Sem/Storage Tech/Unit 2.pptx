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85"/>
  </p:notesMasterIdLst>
  <p:sldIdLst>
    <p:sldId id="256" r:id="rId4"/>
    <p:sldId id="290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72" r:id="rId17"/>
    <p:sldId id="268" r:id="rId18"/>
    <p:sldId id="269" r:id="rId19"/>
    <p:sldId id="270" r:id="rId20"/>
    <p:sldId id="273" r:id="rId21"/>
    <p:sldId id="271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307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306" r:id="rId39"/>
    <p:sldId id="289" r:id="rId40"/>
    <p:sldId id="291" r:id="rId41"/>
    <p:sldId id="292" r:id="rId42"/>
    <p:sldId id="293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9" r:id="rId55"/>
    <p:sldId id="311" r:id="rId56"/>
    <p:sldId id="312" r:id="rId57"/>
    <p:sldId id="310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tableStyles" Target="tableStyles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5" Type="http://schemas.openxmlformats.org/officeDocument/2006/relationships/slide" Target="slides/slide2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slide" Target="slides/slide77.xml"/><Relationship Id="rId85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viewProps" Target="viewProps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AACF63-D1A7-4785-8F52-F24E3D9D04E7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EEBC15-B0D2-4ECF-87EE-DC85511253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026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EBC15-B0D2-4ECF-87EE-DC85511253D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013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F54C3-F841-410E-A400-77B7D335AB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E20950-1418-4404-894B-B2D23EEADD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06D70-1CBA-4E4B-9509-3555F1EB2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CE1C7-1B4D-4E5F-8FC3-1C445949E4B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773BB-BB18-4311-AECB-55405FD61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41BA2-EE6F-49AB-9DFE-D7B8E8899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DAC02-3E1E-42C0-BF7B-7A04DE2BA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826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A3AE4-8B4C-4E0B-8374-40FAE9398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B0F57-ACA5-4552-8764-062AAB806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5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5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5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5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5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66A8F-99BC-4250-A4EA-D44127A8E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CE1C7-1B4D-4E5F-8FC3-1C445949E4B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40185-C4DA-4F81-8599-0FAAA2F16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640DD-A041-4187-B9DB-6F6464203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DAC02-3E1E-42C0-BF7B-7A04DE2BA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1825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82F31-93DB-4051-85FC-B392AEE61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E8737-03CB-4A99-8E37-C6CCDA5B1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8CE6CB-4E0F-4EA1-A172-4A2530064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CE1C7-1B4D-4E5F-8FC3-1C445949E4B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61E05-9DC4-4CAF-8710-6766E5AFB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732EF-6C45-473D-820F-6BE4BFADA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DAC02-3E1E-42C0-BF7B-7A04DE2BA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011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83E89-2204-477E-A4A3-23D159003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E35E3-1E15-4DE5-B3D0-B9EEA17FF1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58F435-7219-4155-B40B-73BDA9A7E5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69E62-D540-4A79-9787-12D1C57C3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CE1C7-1B4D-4E5F-8FC3-1C445949E4B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E5B84-DE00-454A-B6F9-D76813CD1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2C3836-2801-49D6-9371-B407D410B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DAC02-3E1E-42C0-BF7B-7A04DE2BA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094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385A8-4C8C-4886-B3A4-637C4C594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3CAC9-14C8-4035-A940-0A3C19642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4B1725-8A69-46D9-8831-631A98B0EA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141C00-6F4D-410B-9467-2C9222C00F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9E440D-F2B6-4A08-9B2E-4330832D1B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19F108-4AA4-4758-8BC4-4584C49BD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CE1C7-1B4D-4E5F-8FC3-1C445949E4B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48DB1C-C313-4BB9-B0C4-7570FAD2A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70B25A-1C96-4258-A780-CE8CD0986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DAC02-3E1E-42C0-BF7B-7A04DE2BA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403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72D9F-C626-4397-A44E-6D8561B84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60D150-3A47-484B-A900-0D7F601F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CE1C7-1B4D-4E5F-8FC3-1C445949E4B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7AA1C1-1AA3-4D23-AB21-8056BD981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E4591E-0903-4D04-B5BA-AAD17EBBE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DAC02-3E1E-42C0-BF7B-7A04DE2BA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665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A79C45-4C0D-4A57-A762-333470923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CE1C7-1B4D-4E5F-8FC3-1C445949E4B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806F01-C3CC-49AF-9B3A-70DE7AC30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7EC68-4887-4744-BE80-036498944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DAC02-3E1E-42C0-BF7B-7A04DE2BA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79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E2048-7BF3-4EB0-B140-2680A8EDD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5A48A-F356-47F4-B557-3C5336B5C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B4EDE4-1F4E-4B5E-84AA-F314E88AC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EA8E93-9B8A-48DC-B041-0F412AFEF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CE1C7-1B4D-4E5F-8FC3-1C445949E4B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30C20-6E81-4B66-990D-8BECB7AFD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D3CDE8-C2AE-4E2D-AFD6-2469AE28D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DAC02-3E1E-42C0-BF7B-7A04DE2BA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644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1FE06-EB69-41E7-AE22-2B8BB2F2D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6FDD69-B5B3-46E0-BC9B-72D4B207D0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8238EA-E59E-48AC-B0B6-05BBE97FD6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6CD47-DAF8-4229-98F6-36AC18FAE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CE1C7-1B4D-4E5F-8FC3-1C445949E4B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FBDE62-AE56-4FF9-8FEC-4CFC4A163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EED79D-E2E6-4AFA-A768-36A6F14E8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DAC02-3E1E-42C0-BF7B-7A04DE2BA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092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D06B7-5E3E-4971-A20D-24273800C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8ABA13-20AE-4F5C-9DDD-ABB268600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AFEC2-1460-487F-B677-0CEF88A96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CE1C7-1B4D-4E5F-8FC3-1C445949E4B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39081-7607-4E52-A52C-ADA1225FE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0E470-9A11-452F-A2B9-5018447C8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DAC02-3E1E-42C0-BF7B-7A04DE2BA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840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BFFB8E-2740-4146-9C12-76B040468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8969B3-FE3B-471E-8D23-551A598070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39A57-F5BA-454A-9FE5-0E6FFD563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CE1C7-1B4D-4E5F-8FC3-1C445949E4B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1CFF1-45C6-4978-B282-757DC3629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848A4-66B4-4BB0-A0AB-E01A4CDB4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DAC02-3E1E-42C0-BF7B-7A04DE2BA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1684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F2DC2-AF42-4EB0-964D-BEA89738AB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9BF7A1-494A-4C97-90C1-4B88BD215D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18579-FFA7-4246-89C5-06868ECC9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6207C-4E54-444B-8ABB-438688CA2E25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37808-FAB3-4908-920B-5DCD419A0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DD296-64AD-4521-B136-38A8233B8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BB01-DBF7-46A0-AC00-02C16BA805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996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245FD-1FA7-4B42-B6B1-567C20B88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6CD2B-6DA9-4A15-A798-D8F1A664C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99D63-9551-458F-96E0-A25AC26B2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6207C-4E54-444B-8ABB-438688CA2E25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B1E28-B805-4023-8DEA-4AD84D47A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D71A0-671C-4072-A814-CCB2EFD7B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BB01-DBF7-46A0-AC00-02C16BA805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1529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03AC0-F645-4ED2-A74F-7217C33AA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D1885-2847-4265-8B64-88E29B81F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F3DAD-1FA1-4F0A-AC1E-7A738C1D1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6207C-4E54-444B-8ABB-438688CA2E25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BB143-74C1-4187-BAA5-B2B93E5A9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5DC4E-3CBF-48DB-AF89-63B941A17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BB01-DBF7-46A0-AC00-02C16BA805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4448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39FB2-7603-45EB-A7B5-922A4679A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81D5B-8A56-4E82-8D4A-A1F4CD30B8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7776A0-5315-47E4-8024-EC8C21937D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E49B4C-CD60-420F-9951-C3495114E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6207C-4E54-444B-8ABB-438688CA2E25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AF7F5-D101-42FC-BEF7-D6B852845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5D718A-E5F6-465D-AA75-7D40E24C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BB01-DBF7-46A0-AC00-02C16BA805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75838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ED4DC-142C-4EAD-92C0-BA9536AEE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92EFDD-18F0-4EA3-BD6D-EB59E1C31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704321-DF68-4F74-B82B-CDCCAB819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E6EB5A-F4FA-4E7C-BE51-E43FBD7CAC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1C37B8-AD9E-40EC-84D1-BAC76F8888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9F7CC7-2898-4E03-9D47-6845708B1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6207C-4E54-444B-8ABB-438688CA2E25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A84464-8909-4202-9BA2-9EC43B889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19DA6B-57C0-4155-B00C-0F872A1E6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BB01-DBF7-46A0-AC00-02C16BA805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3970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15899-CACF-4C7F-BF8D-9E81A2FEA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97F5B4-15CD-4C76-92C0-6FC47737B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6207C-4E54-444B-8ABB-438688CA2E25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09AE40-9D88-4201-B86B-40DD649AD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08054C-89B5-4FF1-93E6-8AF60C87F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BB01-DBF7-46A0-AC00-02C16BA805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1838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E55007-ADB4-4890-8AA6-A78F1FE59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6207C-4E54-444B-8ABB-438688CA2E25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FDBA66-4DB8-4B79-B0A4-E67133F52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43CED-5C74-4842-9280-DF199808A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BB01-DBF7-46A0-AC00-02C16BA805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14978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A0AE1-A6CB-4861-9ABE-04B4503EE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4CC27-012C-42AC-BDDE-E0B291CB8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12889A-84C4-44BD-932B-D501ACF6A4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408E47-EDD2-4992-A171-BB662A362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6207C-4E54-444B-8ABB-438688CA2E25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42C160-3F9C-4CB5-9F90-9F8E4CB1C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69AFDF-358F-4BAB-90E7-C4C7AA0A1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BB01-DBF7-46A0-AC00-02C16BA805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08074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C22B3-67A7-478E-AF33-5EEC6A011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6C1FC-A110-4252-B171-A0EF925CDD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34CAC9-3D7A-45FB-80D3-9A0BF89304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D16C08-95D7-4652-8813-E6A8F10F9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6207C-4E54-444B-8ABB-438688CA2E25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17EC4-49E8-4973-86AA-282279F6D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FBA499-AF5B-4828-86B0-E084E0239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BB01-DBF7-46A0-AC00-02C16BA805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7590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CE019-EF55-4339-9649-286C3ACBC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76BFC-40F6-459B-A822-365C27D3D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EE80E-257C-43BC-A186-38CA521D1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6207C-4E54-444B-8ABB-438688CA2E25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0E38E-84F5-44A4-9B4D-77C4F4B01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08E7A-D03E-49D2-85A0-A559373FA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BB01-DBF7-46A0-AC00-02C16BA805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1467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E305B0-D255-4FAA-8C04-06106F6EA0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27F413-4378-496C-A310-96909E4CCD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C0D4C-AA3C-4350-814F-DB750FFA7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6207C-4E54-444B-8ABB-438688CA2E25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CF5E4-BA09-44A6-B854-5ACC6AA5B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28AEF-3980-4E2F-93EF-FA8A98338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BB01-DBF7-46A0-AC00-02C16BA805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1002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3B7CA-CDF1-450B-8354-5480EFA29D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D6BDEC-FF29-45B6-862E-001B15BCA2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20201-D0C4-4473-B4C4-21A02842D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DF55C-E442-4CE7-ACD1-B1AAA8AED4E9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5E3BF-0E99-4E7D-B91D-E0734CA66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AC2BC-1EAC-42DE-82CD-3E2F7ED03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32E3A-0327-4BFA-B51D-3E9CDD06FD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39910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804CF-CBAB-4925-B702-B467DB98C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4C7F7-88D5-4F78-839C-8E7F065AA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4D821-77AF-42A3-B13E-40E2F3863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DF55C-E442-4CE7-ACD1-B1AAA8AED4E9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AEB89-01BE-4AAD-9840-BD5399B06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EA9C5-BFAE-40C4-BFEA-94E97A8F1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32E3A-0327-4BFA-B51D-3E9CDD06FD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90585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8CDD6-E1C8-4849-94DB-44167167E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3C51E1-5BAC-43EE-9BA4-AE8EF553D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437F3-288D-47E3-AEDD-D1FEDF97F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DF55C-E442-4CE7-ACD1-B1AAA8AED4E9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201C8-30C4-4143-9E3C-B054A63E1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63F65-21F8-446E-9803-E93DD14EA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32E3A-0327-4BFA-B51D-3E9CDD06FD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8451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D3472-DE04-4F15-8524-F58C0961C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E8AC0-91D1-4625-BC66-32B56C0CAA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EBF04-A3DE-426D-B726-40013C4A50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147750-5204-4D09-AAFD-EEC50A409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DF55C-E442-4CE7-ACD1-B1AAA8AED4E9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008C85-A0FD-4212-A7A2-6EDA0475A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249E61-4030-48CF-8AE4-9E68ED485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32E3A-0327-4BFA-B51D-3E9CDD06FD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5753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0B287-3634-4610-AB4E-75769B2D1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96B0E6-25C8-45B6-9A3E-BBE820260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52D7EB-A404-4C36-AEDF-5CDC5E6126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AE2DB2-2079-4107-BBAF-3B3E4337B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25424F-2446-4AC3-85B4-4AE285EF3E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31AF23-1CA9-42BC-AF0D-34981D9E3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DF55C-E442-4CE7-ACD1-B1AAA8AED4E9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3D43DC-26E3-4FD6-A167-8B08F51A3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6823C4-0B12-4F45-BCC9-CD55559A2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32E3A-0327-4BFA-B51D-3E9CDD06FD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1760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893F1-8605-4A6B-90C4-B3692C139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CB4CE8-A6EF-4A22-9978-FAEB4BD94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DF55C-E442-4CE7-ACD1-B1AAA8AED4E9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8A376D-182D-43B8-92C0-7FF3B73B6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766917-E771-461A-A6F7-57220D892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32E3A-0327-4BFA-B51D-3E9CDD06FD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09035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7AE7B6-97BA-431A-8F9C-83C14EAA7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DF55C-E442-4CE7-ACD1-B1AAA8AED4E9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20EE9-BD46-4BE8-AF51-4C7ACD8AA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65A05-A54D-4120-8DE2-98D881A0B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32E3A-0327-4BFA-B51D-3E9CDD06FD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6724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CF3EB-DAEE-43B3-8C65-83F7361D7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77D01-DDEE-4FCD-9957-013601CA5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1FE94-7F70-4D21-B0B4-EADEC0C634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C0C4AA-466E-4627-A027-6C2C9B752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DF55C-E442-4CE7-ACD1-B1AAA8AED4E9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DD5A4-EB52-4FCA-B56D-FAE78CECC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C0C205-A735-4331-BB0D-120FC17FB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32E3A-0327-4BFA-B51D-3E9CDD06FD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4792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C968A-1B29-4F4A-9CF7-811DD713B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7D6956-0C49-47D0-9EB2-94E9AE77A4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7D97F0-A367-4F8D-9327-752C800AE7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5FEA6-60D2-437A-A428-55DFA1756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DF55C-E442-4CE7-ACD1-B1AAA8AED4E9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BBC7D4-8A87-4B75-B6A3-9080F7E65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AE2CD9-61A1-4092-B2BA-68B90567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32E3A-0327-4BFA-B51D-3E9CDD06FD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6601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7D953-5183-400E-8024-DF5B56535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EA124F-2793-481C-9D35-DCB96A76C5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3DA48-9E4F-4ED7-8C93-AC84B7F9B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DF55C-E442-4CE7-ACD1-B1AAA8AED4E9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345D7-C2A2-449D-A8C9-BF24ACDD7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65593-BCD0-408E-BD76-41533898B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32E3A-0327-4BFA-B51D-3E9CDD06FD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6469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3E9DAF-5B44-46B8-9ABE-D67ABC38EE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53E7E4-357C-4936-A203-9E126792E8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292A4-C014-4651-B644-0B0FED7F8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DF55C-E442-4CE7-ACD1-B1AAA8AED4E9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BA416-EF35-458A-A910-22CE77F89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59901-D50E-4EBB-BF29-6CB32234A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32E3A-0327-4BFA-B51D-3E9CDD06FD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378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558554-4FD0-411C-8F77-EC4226DFA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171C9-AF52-4081-B091-A29BF4E8C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9919C-F28A-4675-82DA-EE4E645716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ECE1C7-1B4D-4E5F-8FC3-1C445949E4B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4EEA5-7C4F-4081-BC95-DEA1593AAB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C63D8-6E61-44F0-B18F-C1EC90FCCD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DAC02-3E1E-42C0-BF7B-7A04DE2BA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53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B70797-D606-439E-9DB4-5BB0BF4DD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33A6F6-0743-41A0-87EA-71F37CE94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A221A-534B-4120-96B1-CFBF6C48A2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6207C-4E54-444B-8ABB-438688CA2E25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17B80-D077-4DA5-BE54-ACB1B08C2F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6AE49-04D7-453F-80A8-06E9C9DF1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C5BB01-DBF7-46A0-AC00-02C16BA805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588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1274BE-311E-48B7-9DBA-A13D23E08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1BBA0-A005-4E2A-95BC-F0FE52763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3E058-1FA3-4C7E-840B-9017374D7C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3DF55C-E442-4CE7-ACD1-B1AAA8AED4E9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3136C-4880-48E6-A66B-14AB0746F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64667-9331-46FA-8646-F63ADD2F0D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A32E3A-0327-4BFA-B51D-3E9CDD06FD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848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5E8DD-D7CB-4BEE-96DC-F7C7A4A809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3870" y="3045619"/>
            <a:ext cx="9144000" cy="1506502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STORAGE SYSTEMS AND RAID 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E86FA-E38D-498B-928E-DE2CF612D0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125966"/>
            <a:ext cx="9144000" cy="1655762"/>
          </a:xfrm>
        </p:spPr>
        <p:txBody>
          <a:bodyPr>
            <a:normAutofit/>
          </a:bodyPr>
          <a:lstStyle/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II 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48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E519D-8E2D-4233-8A15-E555D4295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SYLLABUS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22643-18B4-414E-B82E-2C42EA21C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	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Components of an intelligent storage system - Components - addressing - and performance of hard disk drives and solid-state drives - RAID - Types of intelligent storage systems - Scale-up and scale out storage Architecture.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3305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F7EBD-CB59-491A-A239-C7AE381B2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5306"/>
          </a:xfrm>
        </p:spPr>
        <p:txBody>
          <a:bodyPr>
            <a:norm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Intelligent Storage System (ISS)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6B509-7A2D-4E22-9025-394E21426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0"/>
            <a:ext cx="10515600" cy="5239543"/>
          </a:xfrm>
        </p:spPr>
        <p:txBody>
          <a:bodyPr>
            <a:noAutofit/>
          </a:bodyPr>
          <a:lstStyle/>
          <a:p>
            <a:pPr algn="just"/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Storage System (ISS)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advanced storage solution designed to 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store, protect, manage, and optimize data efficiently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Unlike traditional storage devices, it contains built-in hardware and software that automatically perform tasks such as caching, RAID management, error detection, monitoring, and data recovery.</a:t>
            </a:r>
          </a:p>
          <a:p>
            <a:pPr marL="0" indent="0" algn="just">
              <a:buNone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modern data centers, Intelligent Storage Systems ensure that data is: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 available 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reliable 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Easily accessible 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Protected against hardware failures </a:t>
            </a:r>
          </a:p>
          <a:p>
            <a:pPr algn="just"/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3218247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1E59-47E3-44B6-8DEA-5566E6EDA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4484"/>
          </a:xfrm>
        </p:spPr>
        <p:txBody>
          <a:bodyPr/>
          <a:lstStyle/>
          <a:p>
            <a:r>
              <a:rPr lang="en-IN" b="1" dirty="0"/>
              <a:t>Why Do We Need Intelligent Storage Systems?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EF6AE-857D-4E04-ABCE-0365FD9A0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4974"/>
            <a:ext cx="10515600" cy="50673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500" dirty="0"/>
              <a:t>Organizations today generate huge volumes of data every second.</a:t>
            </a:r>
          </a:p>
          <a:p>
            <a:endParaRPr lang="en-IN" sz="2500" dirty="0"/>
          </a:p>
          <a:p>
            <a:pPr marL="0" indent="0">
              <a:buNone/>
            </a:pPr>
            <a:r>
              <a:rPr lang="en-IN" sz="2500" dirty="0"/>
              <a:t>Examples include:</a:t>
            </a:r>
          </a:p>
          <a:p>
            <a:pPr marL="0" indent="0">
              <a:buNone/>
            </a:pPr>
            <a:r>
              <a:rPr lang="en-IN" sz="2500" dirty="0"/>
              <a:t>	Banks storing customer transactions </a:t>
            </a:r>
          </a:p>
          <a:p>
            <a:pPr marL="0" indent="0">
              <a:buNone/>
            </a:pPr>
            <a:r>
              <a:rPr lang="en-IN" sz="2500" dirty="0"/>
              <a:t>	Hospitals maintaining patient records </a:t>
            </a:r>
          </a:p>
          <a:p>
            <a:pPr marL="0" indent="0">
              <a:buNone/>
            </a:pPr>
            <a:r>
              <a:rPr lang="en-IN" sz="2500" dirty="0"/>
              <a:t>	Universities managing student databases </a:t>
            </a:r>
          </a:p>
          <a:p>
            <a:pPr marL="0" indent="0">
              <a:buNone/>
            </a:pPr>
            <a:r>
              <a:rPr lang="en-IN" sz="2500" dirty="0"/>
              <a:t>	E-commerce websites storing product and customer information </a:t>
            </a:r>
          </a:p>
          <a:p>
            <a:pPr marL="0" indent="0">
              <a:buNone/>
            </a:pPr>
            <a:r>
              <a:rPr lang="en-IN" sz="2500" dirty="0"/>
              <a:t>	Cloud service providers hosting millions of users </a:t>
            </a:r>
          </a:p>
          <a:p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3706294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12A31-96FD-41E8-B80A-937A6521F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Do We Need Intelligent Storage Systems?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C8C4E-CF41-4CB1-A1D9-0DB68AFCC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500" dirty="0"/>
              <a:t>A simple hard disk is not sufficient because organizations require:</a:t>
            </a:r>
          </a:p>
          <a:p>
            <a:pPr marL="0" lvl="0" indent="0">
              <a:buNone/>
            </a:pPr>
            <a:r>
              <a:rPr lang="en-IN" sz="2500" dirty="0"/>
              <a:t>	High speed </a:t>
            </a:r>
          </a:p>
          <a:p>
            <a:pPr marL="0" lvl="0" indent="0">
              <a:buNone/>
            </a:pPr>
            <a:r>
              <a:rPr lang="en-IN" sz="2500" dirty="0"/>
              <a:t>	Large storage capacity </a:t>
            </a:r>
          </a:p>
          <a:p>
            <a:pPr marL="0" lvl="0" indent="0">
              <a:buNone/>
            </a:pPr>
            <a:r>
              <a:rPr lang="en-IN" sz="2500" dirty="0"/>
              <a:t>	Fault tolerance </a:t>
            </a:r>
          </a:p>
          <a:p>
            <a:pPr marL="0" lvl="0" indent="0">
              <a:buNone/>
            </a:pPr>
            <a:r>
              <a:rPr lang="en-IN" sz="2500" dirty="0"/>
              <a:t>	Continuous availability </a:t>
            </a:r>
          </a:p>
          <a:p>
            <a:pPr marL="0" lvl="0" indent="0">
              <a:buNone/>
            </a:pPr>
            <a:r>
              <a:rPr lang="en-IN" sz="2500" dirty="0"/>
              <a:t>	Backup and recovery </a:t>
            </a:r>
          </a:p>
          <a:p>
            <a:pPr marL="0" lvl="0" indent="0">
              <a:buNone/>
            </a:pPr>
            <a:r>
              <a:rPr lang="en-IN" sz="2500" dirty="0"/>
              <a:t>	Easy management </a:t>
            </a:r>
          </a:p>
          <a:p>
            <a:pPr marL="0" indent="0">
              <a:buNone/>
            </a:pPr>
            <a:endParaRPr lang="en-IN" sz="2500" dirty="0"/>
          </a:p>
          <a:p>
            <a:pPr marL="0" indent="0">
              <a:buNone/>
            </a:pPr>
            <a:r>
              <a:rPr lang="en-IN" sz="2500" dirty="0"/>
              <a:t>An Intelligent Storage System </a:t>
            </a:r>
            <a:r>
              <a:rPr lang="en-IN" sz="2500" dirty="0" err="1"/>
              <a:t>fulfills</a:t>
            </a:r>
            <a:r>
              <a:rPr lang="en-IN" sz="2500" dirty="0"/>
              <a:t> all these requirements.</a:t>
            </a:r>
          </a:p>
        </p:txBody>
      </p:sp>
    </p:spTree>
    <p:extLst>
      <p:ext uri="{BB962C8B-B14F-4D97-AF65-F5344CB8AC3E}">
        <p14:creationId xmlns:p14="http://schemas.microsoft.com/office/powerpoint/2010/main" val="1006936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8B837-B59D-486C-955F-97A8D39F3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CE7C4-3F34-499C-9206-BA5DF4C21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447"/>
            <a:ext cx="10515600" cy="52394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500" dirty="0"/>
              <a:t>Imagine a </a:t>
            </a:r>
            <a:r>
              <a:rPr lang="en-IN" sz="2500" b="1" dirty="0"/>
              <a:t>college library</a:t>
            </a:r>
            <a:r>
              <a:rPr lang="en-IN" sz="2500" dirty="0"/>
              <a:t>.</a:t>
            </a:r>
          </a:p>
          <a:p>
            <a:pPr marL="0" indent="0">
              <a:buNone/>
            </a:pPr>
            <a:endParaRPr lang="en-IN" sz="2500" dirty="0"/>
          </a:p>
          <a:p>
            <a:pPr marL="0" indent="0">
              <a:buNone/>
            </a:pPr>
            <a:r>
              <a:rPr lang="en-IN" sz="2500" dirty="0"/>
              <a:t>Instead of books being placed randomly, the library has:</a:t>
            </a:r>
          </a:p>
          <a:p>
            <a:pPr lvl="1"/>
            <a:r>
              <a:rPr lang="en-IN" sz="2500" dirty="0"/>
              <a:t>Shelves (Storage) </a:t>
            </a:r>
          </a:p>
          <a:p>
            <a:pPr lvl="1"/>
            <a:r>
              <a:rPr lang="en-IN" sz="2500" dirty="0"/>
              <a:t>Librarian (Controller) </a:t>
            </a:r>
          </a:p>
          <a:p>
            <a:pPr lvl="1"/>
            <a:r>
              <a:rPr lang="en-IN" sz="2500" dirty="0"/>
              <a:t>Index Cards (Addressing) </a:t>
            </a:r>
          </a:p>
          <a:p>
            <a:pPr lvl="1"/>
            <a:r>
              <a:rPr lang="en-IN" sz="2500" dirty="0"/>
              <a:t>Backup Register (RAID) </a:t>
            </a:r>
          </a:p>
          <a:p>
            <a:pPr lvl="1"/>
            <a:r>
              <a:rPr lang="en-IN" sz="2500" dirty="0"/>
              <a:t>Reading Desk (Cache) </a:t>
            </a:r>
          </a:p>
          <a:p>
            <a:pPr lvl="1"/>
            <a:r>
              <a:rPr lang="en-IN" sz="2500" dirty="0"/>
              <a:t>Security Guard (Protection) </a:t>
            </a:r>
          </a:p>
          <a:p>
            <a:pPr marL="0" indent="0">
              <a:buNone/>
            </a:pPr>
            <a:endParaRPr lang="en-IN" sz="2500" dirty="0"/>
          </a:p>
          <a:p>
            <a:pPr marL="0" indent="0">
              <a:buNone/>
            </a:pPr>
            <a:r>
              <a:rPr lang="en-IN" sz="2500" dirty="0"/>
              <a:t>Similarly, an Intelligent Storage System organizes, protects, and retrieves digital data efficiently.</a:t>
            </a:r>
          </a:p>
          <a:p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1556389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D4AE7-DF0B-49E2-BF07-4D2ED31C9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Architecture of an Intelligent Storage System</a:t>
            </a:r>
            <a:br>
              <a:rPr lang="en-IN" dirty="0"/>
            </a:b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A126419-75F7-4258-9EF2-1203759BA0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088" y="1423560"/>
            <a:ext cx="6575460" cy="4710112"/>
          </a:xfrm>
        </p:spPr>
      </p:pic>
    </p:spTree>
    <p:extLst>
      <p:ext uri="{BB962C8B-B14F-4D97-AF65-F5344CB8AC3E}">
        <p14:creationId xmlns:p14="http://schemas.microsoft.com/office/powerpoint/2010/main" val="1959309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1200F-1D2E-4C99-9366-A066D1F20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2.2 Components of an Intelligent Storage System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26D2A-D425-4E70-BD67-D00753C67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7399"/>
            <a:ext cx="10515600" cy="48320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500" dirty="0"/>
              <a:t>The major components are:</a:t>
            </a:r>
          </a:p>
          <a:p>
            <a:pPr marL="0" indent="0">
              <a:buNone/>
            </a:pPr>
            <a:endParaRPr lang="en-IN" sz="2500" dirty="0"/>
          </a:p>
          <a:p>
            <a:pPr marL="914400" lvl="1" indent="-457200">
              <a:buFont typeface="+mj-lt"/>
              <a:buAutoNum type="arabicPeriod"/>
            </a:pPr>
            <a:r>
              <a:rPr lang="en-IN" sz="2500" dirty="0"/>
              <a:t>Host Interface (Front-End Interface)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500" dirty="0"/>
              <a:t>Storage Controller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500" dirty="0"/>
              <a:t>Cache Memory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500" dirty="0"/>
              <a:t>RAID Controller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500" dirty="0"/>
              <a:t>Physical Storage Devices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500" dirty="0"/>
              <a:t>Back-End Interface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500" dirty="0"/>
              <a:t>Power Supply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500" dirty="0"/>
              <a:t>Cooling System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500" dirty="0"/>
              <a:t>Management Software</a:t>
            </a:r>
          </a:p>
        </p:txBody>
      </p:sp>
    </p:spTree>
    <p:extLst>
      <p:ext uri="{BB962C8B-B14F-4D97-AF65-F5344CB8AC3E}">
        <p14:creationId xmlns:p14="http://schemas.microsoft.com/office/powerpoint/2010/main" val="1162530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AA501-B9CD-49BD-81AD-C7C6A8265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1. Host Interface (Front-End Interface)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A8736-7664-42CD-90C9-B4D4AD000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Definition</a:t>
            </a:r>
            <a:endParaRPr lang="en-IN" dirty="0"/>
          </a:p>
          <a:p>
            <a:r>
              <a:rPr lang="en-IN" dirty="0"/>
              <a:t>The front-end interface connects the server to the storage system.</a:t>
            </a:r>
          </a:p>
          <a:p>
            <a:r>
              <a:rPr lang="en-IN" dirty="0"/>
              <a:t>It receives read and write requests from applications.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Examples include:</a:t>
            </a:r>
          </a:p>
          <a:p>
            <a:pPr lvl="0"/>
            <a:r>
              <a:rPr lang="en-IN" dirty="0"/>
              <a:t>Fibre Channel (FC) </a:t>
            </a:r>
          </a:p>
          <a:p>
            <a:pPr lvl="0"/>
            <a:r>
              <a:rPr lang="en-IN" dirty="0"/>
              <a:t>iSCSI </a:t>
            </a:r>
          </a:p>
          <a:p>
            <a:pPr lvl="0"/>
            <a:r>
              <a:rPr lang="en-IN" dirty="0" err="1"/>
              <a:t>NVMe</a:t>
            </a:r>
            <a:r>
              <a:rPr lang="en-IN" dirty="0"/>
              <a:t> over Fabrics </a:t>
            </a:r>
          </a:p>
          <a:p>
            <a:pPr lvl="0"/>
            <a:r>
              <a:rPr lang="en-IN" dirty="0"/>
              <a:t>SAS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480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F0806-C062-4315-8DD3-036B5974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1. Host Interface (Front-End Interface)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75697-69F7-4490-B37F-43EFE4ABB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Functions</a:t>
            </a:r>
            <a:endParaRPr lang="en-IN" dirty="0"/>
          </a:p>
          <a:p>
            <a:pPr lvl="0"/>
            <a:r>
              <a:rPr lang="en-IN" dirty="0"/>
              <a:t>Accepts I/O requests from the server </a:t>
            </a:r>
          </a:p>
          <a:p>
            <a:pPr lvl="0"/>
            <a:r>
              <a:rPr lang="en-IN" dirty="0"/>
              <a:t>Transfers commands to the storage controller </a:t>
            </a:r>
          </a:p>
          <a:p>
            <a:pPr lvl="0"/>
            <a:r>
              <a:rPr lang="en-IN" dirty="0"/>
              <a:t>Returns requested data to the server </a:t>
            </a:r>
          </a:p>
          <a:p>
            <a:pPr lvl="0"/>
            <a:r>
              <a:rPr lang="en-IN" dirty="0"/>
              <a:t>Supports high-speed communication </a:t>
            </a:r>
          </a:p>
          <a:p>
            <a:pPr marL="0" lvl="0" indent="0">
              <a:buNone/>
            </a:pPr>
            <a:endParaRPr lang="en-IN" dirty="0"/>
          </a:p>
          <a:p>
            <a:pPr marL="0" lvl="0" indent="0">
              <a:buNone/>
            </a:pPr>
            <a:r>
              <a:rPr lang="en-IN" dirty="0"/>
              <a:t>Example</a:t>
            </a:r>
          </a:p>
          <a:p>
            <a:pPr marL="0" indent="0">
              <a:buNone/>
            </a:pPr>
            <a:r>
              <a:rPr lang="en-IN" dirty="0"/>
              <a:t>When a student logs into the college ERP portal, the login request travels through the front-end interface to access the student database.</a:t>
            </a:r>
          </a:p>
          <a:p>
            <a:pPr marL="0" lv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9949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67251-015B-4803-8A85-7E377AA96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2. Storage Controller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D433F-C50C-4880-8F77-6C44AC315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834"/>
            <a:ext cx="10515600" cy="51679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Definition</a:t>
            </a:r>
            <a:endParaRPr lang="en-IN" dirty="0"/>
          </a:p>
          <a:p>
            <a:r>
              <a:rPr lang="en-IN" dirty="0"/>
              <a:t>The storage controller is the </a:t>
            </a:r>
            <a:r>
              <a:rPr lang="en-IN" b="1" dirty="0"/>
              <a:t>brain of the Intelligent Storage System</a:t>
            </a:r>
            <a:r>
              <a:rPr lang="en-IN" dirty="0"/>
              <a:t>.</a:t>
            </a:r>
          </a:p>
          <a:p>
            <a:r>
              <a:rPr lang="en-IN" dirty="0"/>
              <a:t>It manages all storage operations.</a:t>
            </a:r>
          </a:p>
          <a:p>
            <a:pPr marL="0" indent="0">
              <a:buNone/>
            </a:pPr>
            <a:r>
              <a:rPr lang="en-IN" b="1" dirty="0"/>
              <a:t>Functions</a:t>
            </a:r>
            <a:endParaRPr lang="en-IN" dirty="0"/>
          </a:p>
          <a:p>
            <a:pPr lvl="0"/>
            <a:r>
              <a:rPr lang="en-IN" dirty="0"/>
              <a:t>Controls data movement </a:t>
            </a:r>
          </a:p>
          <a:p>
            <a:pPr lvl="0"/>
            <a:r>
              <a:rPr lang="en-IN" dirty="0"/>
              <a:t>Manages read and write operations </a:t>
            </a:r>
          </a:p>
          <a:p>
            <a:pPr lvl="0"/>
            <a:r>
              <a:rPr lang="en-IN" dirty="0"/>
              <a:t>Performs RAID calculations </a:t>
            </a:r>
          </a:p>
          <a:p>
            <a:pPr lvl="0"/>
            <a:r>
              <a:rPr lang="en-IN" dirty="0"/>
              <a:t>Maintains storage mapping </a:t>
            </a:r>
          </a:p>
          <a:p>
            <a:pPr lvl="0"/>
            <a:r>
              <a:rPr lang="en-IN" dirty="0"/>
              <a:t>Detects hardware failures </a:t>
            </a:r>
          </a:p>
          <a:p>
            <a:pPr lvl="0"/>
            <a:r>
              <a:rPr lang="en-IN" dirty="0"/>
              <a:t>Performs load balancing </a:t>
            </a:r>
          </a:p>
          <a:p>
            <a:pPr lvl="0"/>
            <a:r>
              <a:rPr lang="en-IN" dirty="0"/>
              <a:t>Manages cache memory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8840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2C563-8AA6-4DF2-86AD-9D7859CD8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2. Storage Controller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2CB08-E474-434A-8FE3-C6B7F7F31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Importance</a:t>
            </a:r>
          </a:p>
          <a:p>
            <a:r>
              <a:rPr lang="en-IN" dirty="0"/>
              <a:t>Without the storage controller, the storage system cannot organize or retrieve data efficiently.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Example</a:t>
            </a:r>
          </a:p>
          <a:p>
            <a:r>
              <a:rPr lang="en-IN" dirty="0"/>
              <a:t>Just as the CPU controls all operations in a computer, the storage controller controls all operations inside the storage system.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4099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D320A-BDE5-4D60-9F71-34DE7A3D6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3. Cache Memory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7D16A-8605-46FC-B12A-8CA837802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4544"/>
            <a:ext cx="10515600" cy="48824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Definition</a:t>
            </a:r>
            <a:endParaRPr lang="en-IN" dirty="0"/>
          </a:p>
          <a:p>
            <a:r>
              <a:rPr lang="en-IN" dirty="0"/>
              <a:t>Cache memory is a high-speed temporary memory that stores frequently accessed data.</a:t>
            </a:r>
          </a:p>
          <a:p>
            <a:r>
              <a:rPr lang="en-IN" dirty="0"/>
              <a:t>It acts as a buffer between the server and the storage disks.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Why Cache is Needed</a:t>
            </a:r>
            <a:endParaRPr lang="en-IN" dirty="0"/>
          </a:p>
          <a:p>
            <a:r>
              <a:rPr lang="en-IN" dirty="0"/>
              <a:t>Hard disks are relatively slow.</a:t>
            </a:r>
          </a:p>
          <a:p>
            <a:r>
              <a:rPr lang="en-IN" dirty="0"/>
              <a:t>Instead of reading data from the disk every time, frequently used information is stored in cache.</a:t>
            </a:r>
          </a:p>
          <a:p>
            <a:r>
              <a:rPr lang="en-IN" dirty="0"/>
              <a:t>This reduces access time significantly.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5811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83002-0CE7-43E7-87D2-4A6D47DB6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898596"/>
          </a:xfrm>
        </p:spPr>
        <p:txBody>
          <a:bodyPr>
            <a:norm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Cache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042C2-F430-49E7-994F-A201AF6D6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275682"/>
            <a:ext cx="5157787" cy="823912"/>
          </a:xfrm>
        </p:spPr>
        <p:txBody>
          <a:bodyPr/>
          <a:lstStyle/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Cache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969421-959C-4A15-B40A-5965D1943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0412" y="1713536"/>
            <a:ext cx="5157787" cy="447914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frequently read data.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users request the same data again, the controller supplies it directly from cache without accessing the disk.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response 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disk operations 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latency 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0BC28C-0CD3-4DC7-BEAF-44B9484C83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1182224"/>
            <a:ext cx="5183188" cy="823912"/>
          </a:xfrm>
        </p:spPr>
        <p:txBody>
          <a:bodyPr/>
          <a:lstStyle/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Cache</a:t>
            </a: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766A26-2D7F-4B06-8A03-8392D8DCD9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1700587"/>
            <a:ext cx="5478694" cy="4587197"/>
          </a:xfrm>
        </p:spPr>
        <p:txBody>
          <a:bodyPr>
            <a:normAutofit lnSpcReduction="10000"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data temporarily before writing it to disks.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write operations 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throughput 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waiting time for applications 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prevent data loss during power failure, enterprise storage uses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battery-backed cache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flash-backed cache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565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11D3C-470C-41F7-99F6-55F43F9E2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4. RAID Controller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06F94-349A-4EBB-B7DB-458E7945D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Definition</a:t>
            </a:r>
            <a:endParaRPr lang="en-IN" dirty="0"/>
          </a:p>
          <a:p>
            <a:r>
              <a:rPr lang="en-IN" dirty="0"/>
              <a:t>The RAID controller manages multiple storage disks as one logical storage unit.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Functions</a:t>
            </a:r>
            <a:endParaRPr lang="en-IN" dirty="0"/>
          </a:p>
          <a:p>
            <a:pPr lvl="0"/>
            <a:r>
              <a:rPr lang="en-IN" dirty="0"/>
              <a:t>Performs data striping </a:t>
            </a:r>
          </a:p>
          <a:p>
            <a:pPr lvl="0"/>
            <a:r>
              <a:rPr lang="en-IN" dirty="0"/>
              <a:t>Creates mirrored copies </a:t>
            </a:r>
          </a:p>
          <a:p>
            <a:pPr lvl="0"/>
            <a:r>
              <a:rPr lang="en-IN" dirty="0"/>
              <a:t>Calculates parity </a:t>
            </a:r>
          </a:p>
          <a:p>
            <a:pPr lvl="0"/>
            <a:r>
              <a:rPr lang="en-IN" dirty="0"/>
              <a:t>Detects disk failures </a:t>
            </a:r>
          </a:p>
          <a:p>
            <a:pPr lvl="0"/>
            <a:r>
              <a:rPr lang="en-IN" dirty="0"/>
              <a:t>Rebuilds failed disks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95496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69715-6A0F-4B22-88EE-2D70E0494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4. RAID Controller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9B4EC-2CDC-4A3B-BE93-054B0A414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Example</a:t>
            </a:r>
            <a:endParaRPr lang="en-IN" dirty="0"/>
          </a:p>
          <a:p>
            <a:r>
              <a:rPr lang="en-IN" dirty="0"/>
              <a:t>Suppose four hard disks are installed.</a:t>
            </a:r>
          </a:p>
          <a:p>
            <a:r>
              <a:rPr lang="en-IN" dirty="0"/>
              <a:t>The RAID controller decides:</a:t>
            </a:r>
          </a:p>
          <a:p>
            <a:pPr lvl="0"/>
            <a:r>
              <a:rPr lang="en-IN" dirty="0"/>
              <a:t>Which disk stores the data </a:t>
            </a:r>
          </a:p>
          <a:p>
            <a:pPr lvl="0"/>
            <a:r>
              <a:rPr lang="en-IN" dirty="0"/>
              <a:t>Which disk stores parity </a:t>
            </a:r>
          </a:p>
          <a:p>
            <a:pPr lvl="0"/>
            <a:r>
              <a:rPr lang="en-IN" dirty="0"/>
              <a:t>How failed data can be recovered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51960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49F2F-8694-48D1-BA72-343AD7E63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5. Physical Storage Devices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8645C-ED04-4E96-AB6E-4CA61F4B4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4818"/>
            <a:ext cx="10515600" cy="52394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These are the actual devices where data is permanently stored.</a:t>
            </a:r>
          </a:p>
          <a:p>
            <a:pPr marL="0" indent="0">
              <a:buNone/>
            </a:pPr>
            <a:r>
              <a:rPr lang="en-IN" dirty="0"/>
              <a:t>Types include:</a:t>
            </a:r>
          </a:p>
          <a:p>
            <a:r>
              <a:rPr lang="en-IN" b="1" dirty="0"/>
              <a:t>Hard Disk Drives (HDD)</a:t>
            </a:r>
            <a:endParaRPr lang="en-IN" dirty="0"/>
          </a:p>
          <a:p>
            <a:pPr marL="457200" lvl="1" indent="0">
              <a:buNone/>
            </a:pPr>
            <a:r>
              <a:rPr lang="en-IN" dirty="0"/>
              <a:t>Store data magnetically.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Advantages</a:t>
            </a:r>
          </a:p>
          <a:p>
            <a:pPr lvl="0"/>
            <a:r>
              <a:rPr lang="en-IN" dirty="0"/>
              <a:t>Low cost </a:t>
            </a:r>
          </a:p>
          <a:p>
            <a:pPr lvl="0"/>
            <a:r>
              <a:rPr lang="en-IN" dirty="0"/>
              <a:t>High capacity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Disadvantages</a:t>
            </a:r>
          </a:p>
          <a:p>
            <a:pPr lvl="0"/>
            <a:r>
              <a:rPr lang="en-IN" dirty="0"/>
              <a:t>Slower </a:t>
            </a:r>
          </a:p>
          <a:p>
            <a:pPr lvl="0"/>
            <a:r>
              <a:rPr lang="en-IN" dirty="0"/>
              <a:t>Mechanical failures possible </a:t>
            </a:r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74B34A4-6F12-4B9D-AE96-BDDCD2D34D26}"/>
              </a:ext>
            </a:extLst>
          </p:cNvPr>
          <p:cNvSpPr txBox="1">
            <a:spLocks/>
          </p:cNvSpPr>
          <p:nvPr/>
        </p:nvSpPr>
        <p:spPr>
          <a:xfrm>
            <a:off x="838200" y="31375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3735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513E3-B4E2-439D-BD57-AB376ABF6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5. Physical Storage Devices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ABF54-9E0C-467A-876F-8163DF313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Solid State Drives (SSD)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Store data electronically using flash memory.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Advantages</a:t>
            </a:r>
          </a:p>
          <a:p>
            <a:pPr lvl="0"/>
            <a:r>
              <a:rPr lang="en-IN" dirty="0"/>
              <a:t>Very fast </a:t>
            </a:r>
          </a:p>
          <a:p>
            <a:pPr lvl="0"/>
            <a:r>
              <a:rPr lang="en-IN" dirty="0"/>
              <a:t>Low power consumption </a:t>
            </a:r>
          </a:p>
          <a:p>
            <a:pPr lvl="0"/>
            <a:r>
              <a:rPr lang="en-IN" dirty="0"/>
              <a:t>No moving parts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Disadvantages</a:t>
            </a:r>
          </a:p>
          <a:p>
            <a:pPr lvl="0"/>
            <a:r>
              <a:rPr lang="en-IN" dirty="0"/>
              <a:t>Higher cost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2607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B930B-7DA3-4A62-8A52-78325E4B5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6. Back-End Interface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5C851-D1B7-4662-A4E9-1D7D4E2D4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The back-end interface connects the storage controller with the physical disks.</a:t>
            </a:r>
          </a:p>
          <a:p>
            <a:pPr marL="0" indent="0">
              <a:buNone/>
            </a:pPr>
            <a:r>
              <a:rPr lang="en-IN" dirty="0"/>
              <a:t>Common technologies:</a:t>
            </a:r>
          </a:p>
          <a:p>
            <a:pPr lvl="1"/>
            <a:r>
              <a:rPr lang="en-IN" dirty="0"/>
              <a:t>SAS </a:t>
            </a:r>
          </a:p>
          <a:p>
            <a:pPr lvl="1"/>
            <a:r>
              <a:rPr lang="en-IN" dirty="0"/>
              <a:t>SATA </a:t>
            </a:r>
          </a:p>
          <a:p>
            <a:pPr lvl="1"/>
            <a:r>
              <a:rPr lang="en-IN" dirty="0" err="1"/>
              <a:t>NVMe</a:t>
            </a:r>
            <a:r>
              <a:rPr lang="en-IN" dirty="0"/>
              <a:t>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Functions:</a:t>
            </a:r>
          </a:p>
          <a:p>
            <a:pPr lvl="0"/>
            <a:r>
              <a:rPr lang="en-IN" dirty="0"/>
              <a:t>Transfers data between controller and disks </a:t>
            </a:r>
          </a:p>
          <a:p>
            <a:pPr lvl="0"/>
            <a:r>
              <a:rPr lang="en-IN" dirty="0"/>
              <a:t>Supports multiple disks simultaneously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61541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506BC-9F0F-4047-B249-825207BB1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7. Power Supply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52EF3-4E61-41AA-9F7D-F165006CB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Storage systems usually contain redundant power supplies.</a:t>
            </a:r>
          </a:p>
          <a:p>
            <a:pPr marL="0" indent="0">
              <a:buNone/>
            </a:pPr>
            <a:r>
              <a:rPr lang="en-IN" dirty="0"/>
              <a:t>If one power supply fails, another continues supplying power.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Benefits:</a:t>
            </a:r>
          </a:p>
          <a:p>
            <a:pPr marL="0" lvl="0" indent="0">
              <a:buNone/>
            </a:pPr>
            <a:r>
              <a:rPr lang="en-IN" dirty="0"/>
              <a:t>Continuous operation </a:t>
            </a:r>
          </a:p>
          <a:p>
            <a:pPr marL="0" lvl="0" indent="0">
              <a:buNone/>
            </a:pPr>
            <a:r>
              <a:rPr lang="en-IN" dirty="0"/>
              <a:t>Increased availability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28847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12612-BA32-40D4-B5B1-FE51543DB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8. Cooling System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092AD-47E6-46F1-B461-EA2BFAC13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Storage systems generate heat due to continuous operation.</a:t>
            </a:r>
          </a:p>
          <a:p>
            <a:pPr marL="0" indent="0">
              <a:buNone/>
            </a:pPr>
            <a:r>
              <a:rPr lang="en-IN" dirty="0"/>
              <a:t>Cooling fans maintain proper temperature.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Benefits:</a:t>
            </a:r>
          </a:p>
          <a:p>
            <a:pPr marL="0" lvl="0" indent="0">
              <a:buNone/>
            </a:pPr>
            <a:r>
              <a:rPr lang="en-IN" dirty="0"/>
              <a:t>Prevent overheating </a:t>
            </a:r>
          </a:p>
          <a:p>
            <a:pPr marL="0" lvl="0" indent="0">
              <a:buNone/>
            </a:pPr>
            <a:r>
              <a:rPr lang="en-IN" dirty="0"/>
              <a:t>Increase hardware lifespan </a:t>
            </a:r>
          </a:p>
          <a:p>
            <a:pPr marL="0" lvl="0" indent="0">
              <a:buNone/>
            </a:pPr>
            <a:r>
              <a:rPr lang="en-IN" dirty="0"/>
              <a:t>Maintain stable performance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4683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528E-41AB-4B43-8F89-BA22666B5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9. Storage Management Software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C5F51-DF51-4B8C-A45D-9B84924CD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625"/>
            <a:ext cx="10515600" cy="4954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dirty="0"/>
              <a:t>Management software helps administrators monitor and manage the storage system.</a:t>
            </a:r>
          </a:p>
          <a:p>
            <a:pPr marL="0" indent="0">
              <a:buNone/>
            </a:pPr>
            <a:r>
              <a:rPr lang="en-IN" dirty="0"/>
              <a:t>Functions include:</a:t>
            </a:r>
          </a:p>
          <a:p>
            <a:pPr lvl="1"/>
            <a:r>
              <a:rPr lang="en-IN" dirty="0"/>
              <a:t>Capacity monitoring </a:t>
            </a:r>
          </a:p>
          <a:p>
            <a:pPr lvl="1"/>
            <a:r>
              <a:rPr lang="en-IN" dirty="0"/>
              <a:t>Health monitoring </a:t>
            </a:r>
          </a:p>
          <a:p>
            <a:pPr lvl="1"/>
            <a:r>
              <a:rPr lang="en-IN" dirty="0"/>
              <a:t>RAID configuration </a:t>
            </a:r>
          </a:p>
          <a:p>
            <a:pPr lvl="1"/>
            <a:r>
              <a:rPr lang="en-IN" dirty="0"/>
              <a:t>Performance analysis </a:t>
            </a:r>
          </a:p>
          <a:p>
            <a:pPr lvl="1"/>
            <a:r>
              <a:rPr lang="en-IN" dirty="0"/>
              <a:t>Alert generation </a:t>
            </a:r>
          </a:p>
          <a:p>
            <a:pPr lvl="1"/>
            <a:r>
              <a:rPr lang="en-IN" dirty="0"/>
              <a:t>User management </a:t>
            </a:r>
          </a:p>
          <a:p>
            <a:pPr marL="0" indent="0">
              <a:buNone/>
            </a:pPr>
            <a:r>
              <a:rPr lang="en-IN" b="1" dirty="0"/>
              <a:t>Examples:</a:t>
            </a:r>
          </a:p>
          <a:p>
            <a:pPr marL="0" lvl="0" indent="0">
              <a:buNone/>
            </a:pPr>
            <a:r>
              <a:rPr lang="en-IN" dirty="0"/>
              <a:t>Dell EMC </a:t>
            </a:r>
            <a:r>
              <a:rPr lang="en-IN" dirty="0" err="1"/>
              <a:t>Unisphere</a:t>
            </a:r>
            <a:r>
              <a:rPr lang="en-IN" dirty="0"/>
              <a:t> </a:t>
            </a:r>
          </a:p>
          <a:p>
            <a:pPr marL="0" lvl="0" indent="0">
              <a:buNone/>
            </a:pPr>
            <a:r>
              <a:rPr lang="en-IN" dirty="0"/>
              <a:t>NetApp ONTAP </a:t>
            </a:r>
          </a:p>
          <a:p>
            <a:pPr marL="0" indent="0">
              <a:buNone/>
            </a:pPr>
            <a:r>
              <a:rPr lang="en-IN" dirty="0"/>
              <a:t>HPE Storage Management </a:t>
            </a:r>
          </a:p>
        </p:txBody>
      </p:sp>
    </p:spTree>
    <p:extLst>
      <p:ext uri="{BB962C8B-B14F-4D97-AF65-F5344CB8AC3E}">
        <p14:creationId xmlns:p14="http://schemas.microsoft.com/office/powerpoint/2010/main" val="7282048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6818D-7AA9-40B5-8E9A-AD86FDD50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Flow in an Intelligent Storage System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06FE1-C644-4BC2-811E-77F6426C1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625"/>
            <a:ext cx="10515600" cy="537338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Step 1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User requests a file.</a:t>
            </a:r>
          </a:p>
          <a:p>
            <a:pPr marL="0" indent="0">
              <a:buNone/>
            </a:pPr>
            <a:r>
              <a:rPr lang="en-IN" b="1" dirty="0"/>
              <a:t>Step 2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The request reaches the front-end interface.</a:t>
            </a:r>
          </a:p>
          <a:p>
            <a:pPr marL="0" indent="0">
              <a:buNone/>
            </a:pPr>
            <a:r>
              <a:rPr lang="en-IN" b="1" dirty="0"/>
              <a:t>Step 3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The storage controller checks the cache.</a:t>
            </a:r>
          </a:p>
          <a:p>
            <a:pPr marL="0" indent="0">
              <a:buNone/>
            </a:pPr>
            <a:r>
              <a:rPr lang="en-IN" b="1" dirty="0"/>
              <a:t>Step 4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If data exists in cache, it is returned immediately.</a:t>
            </a:r>
          </a:p>
          <a:p>
            <a:pPr marL="0" indent="0">
              <a:buNone/>
            </a:pPr>
            <a:r>
              <a:rPr lang="en-IN" dirty="0"/>
              <a:t>Otherwise,</a:t>
            </a:r>
          </a:p>
          <a:p>
            <a:pPr marL="0" indent="0">
              <a:buNone/>
            </a:pPr>
            <a:r>
              <a:rPr lang="en-IN" b="1" dirty="0"/>
              <a:t>Step 5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The controller retrieves data from HDD or SSD</a:t>
            </a:r>
          </a:p>
          <a:p>
            <a:pPr marL="0" indent="0">
              <a:buNone/>
            </a:pPr>
            <a:r>
              <a:rPr lang="en-IN" b="1" dirty="0"/>
              <a:t>Step 6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The data is sent back to the user.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62855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ADF14-2374-4BF5-853E-422BA1297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DEA40-7469-4D08-92F9-2C95F4636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IN" sz="3000" b="1" dirty="0"/>
          </a:p>
          <a:p>
            <a:pPr marL="0" indent="0" algn="ctr">
              <a:buNone/>
            </a:pPr>
            <a:endParaRPr lang="en-IN" sz="3000" b="1" dirty="0"/>
          </a:p>
          <a:p>
            <a:pPr marL="0" indent="0" algn="ctr">
              <a:buNone/>
            </a:pPr>
            <a:r>
              <a:rPr lang="en-IN" sz="3000" b="1" dirty="0"/>
              <a:t>2.3 Components, Addressing and Performance of Hard Disk Drives (HDDs) and Solid-State Drives (SSDs)</a:t>
            </a:r>
          </a:p>
          <a:p>
            <a:pPr algn="ctr"/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37579654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ABB1A-050E-46A4-8C4D-7418A9380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1. Introduction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C7A76-982C-4FBC-8FD0-7A4A3D63A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Storage devices are the backbone of every computer system. They permanently store operating systems, applications, databases, multimedia files, and user data.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There are two major storage technologies:</a:t>
            </a:r>
          </a:p>
          <a:p>
            <a:pPr lvl="0"/>
            <a:r>
              <a:rPr lang="en-IN" b="1" dirty="0"/>
              <a:t>Hard Disk Drive (HDD)</a:t>
            </a:r>
            <a:r>
              <a:rPr lang="en-IN" dirty="0"/>
              <a:t> – Magnetic Storage </a:t>
            </a:r>
          </a:p>
          <a:p>
            <a:pPr lvl="0"/>
            <a:r>
              <a:rPr lang="en-IN" b="1" dirty="0"/>
              <a:t>Solid State Drive (SSD)</a:t>
            </a:r>
            <a:r>
              <a:rPr lang="en-IN" dirty="0"/>
              <a:t> – Flash Memory Storage </a:t>
            </a:r>
          </a:p>
          <a:p>
            <a:r>
              <a:rPr lang="en-IN" dirty="0"/>
              <a:t>Both devices perform the same function but use different technologies.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46770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226E0-3AB9-4E36-8A52-9F72B15C1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a Hard Disk Drive?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CE4FA-90FB-480B-8BA8-C4CFC8E0B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1528"/>
            <a:ext cx="10515600" cy="5311347"/>
          </a:xfrm>
        </p:spPr>
        <p:txBody>
          <a:bodyPr>
            <a:normAutofit/>
          </a:bodyPr>
          <a:lstStyle/>
          <a:p>
            <a:r>
              <a:rPr lang="en-IN" dirty="0"/>
              <a:t>A Hard Disk Drive (HDD) is a non-volatile storage device that stores digital information using magnetic recording on rotating platters.</a:t>
            </a:r>
          </a:p>
          <a:p>
            <a:r>
              <a:rPr lang="en-IN" dirty="0"/>
              <a:t>Since the data remains even after power is turned off, it is called </a:t>
            </a:r>
            <a:r>
              <a:rPr lang="en-IN" b="1" dirty="0"/>
              <a:t>non-volatile memory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b="1" dirty="0"/>
              <a:t>Components of a Hard Disk Drive</a:t>
            </a:r>
          </a:p>
          <a:p>
            <a:pPr marL="457200" lvl="1" indent="0">
              <a:buNone/>
            </a:pPr>
            <a:r>
              <a:rPr lang="en-IN" dirty="0"/>
              <a:t>1. Platters</a:t>
            </a:r>
          </a:p>
          <a:p>
            <a:pPr marL="457200" lvl="1" indent="0">
              <a:buNone/>
            </a:pPr>
            <a:r>
              <a:rPr lang="en-IN" dirty="0"/>
              <a:t>2. Spindle</a:t>
            </a:r>
          </a:p>
          <a:p>
            <a:pPr marL="457200" lvl="1" indent="0">
              <a:buNone/>
            </a:pPr>
            <a:r>
              <a:rPr lang="en-IN" dirty="0"/>
              <a:t>3. Read/Write Head</a:t>
            </a:r>
          </a:p>
          <a:p>
            <a:pPr marL="457200" lvl="1" indent="0">
              <a:buNone/>
            </a:pPr>
            <a:r>
              <a:rPr lang="en-IN" dirty="0"/>
              <a:t>4. Actuator Arm</a:t>
            </a:r>
          </a:p>
          <a:p>
            <a:pPr marL="457200" lvl="1" indent="0">
              <a:buNone/>
            </a:pPr>
            <a:r>
              <a:rPr lang="en-IN" dirty="0"/>
              <a:t>5. Actuator</a:t>
            </a:r>
          </a:p>
          <a:p>
            <a:pPr marL="457200" lvl="1" indent="0">
              <a:buNone/>
            </a:pPr>
            <a:r>
              <a:rPr lang="en-IN" dirty="0"/>
              <a:t>6. Controller Board (PCB)</a:t>
            </a:r>
          </a:p>
          <a:p>
            <a:pPr marL="457200" lvl="1" indent="0">
              <a:buNone/>
            </a:pPr>
            <a:r>
              <a:rPr lang="en-IN" dirty="0"/>
              <a:t>7. Cache Memory (Buffer)</a:t>
            </a:r>
          </a:p>
          <a:p>
            <a:pPr marL="457200" lvl="1" indent="0">
              <a:buNone/>
            </a:pPr>
            <a:r>
              <a:rPr lang="en-IN" dirty="0"/>
              <a:t>8. SATA/SAS Interface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52761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2DEAF-7315-4352-B8E8-7B082835E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Components of a Hard Disk Drive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BFDAF1-43F0-49FD-BFFA-EFB61A3702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465" y="1825625"/>
            <a:ext cx="6119069" cy="4351338"/>
          </a:xfrm>
        </p:spPr>
      </p:pic>
    </p:spTree>
    <p:extLst>
      <p:ext uri="{BB962C8B-B14F-4D97-AF65-F5344CB8AC3E}">
        <p14:creationId xmlns:p14="http://schemas.microsoft.com/office/powerpoint/2010/main" val="27784432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724BD-CD0C-4E44-B236-E4EA04A78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1. Platters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16277-00FD-49F8-8A2F-2A7210B62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platter is the most important component of an HDD.</a:t>
            </a:r>
          </a:p>
          <a:p>
            <a:pPr lvl="0"/>
            <a:r>
              <a:rPr lang="en-IN" dirty="0"/>
              <a:t>Circular aluminium or glass disks </a:t>
            </a:r>
          </a:p>
          <a:p>
            <a:pPr lvl="0"/>
            <a:r>
              <a:rPr lang="en-IN" dirty="0"/>
              <a:t>Coated with magnetic material </a:t>
            </a:r>
          </a:p>
          <a:p>
            <a:pPr lvl="0"/>
            <a:r>
              <a:rPr lang="en-IN" dirty="0"/>
              <a:t>Rotates continuously </a:t>
            </a:r>
          </a:p>
          <a:p>
            <a:pPr lvl="0"/>
            <a:r>
              <a:rPr lang="en-IN" dirty="0"/>
              <a:t>Data is stored magnetically </a:t>
            </a:r>
          </a:p>
          <a:p>
            <a:r>
              <a:rPr lang="en-IN" dirty="0"/>
              <a:t>A hard disk may contain multiple platters.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Example</a:t>
            </a:r>
            <a:endParaRPr lang="en-IN" dirty="0"/>
          </a:p>
          <a:p>
            <a:r>
              <a:rPr lang="en-IN" dirty="0"/>
              <a:t>A 2 TB HDD may have four platters, each storing approximately 500 GB.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77901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9BF05-D51C-4E02-A8D0-D965EA2DD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2. Spindle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E9B2F-EA73-41EF-9DC2-0ABD1E902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7010"/>
            <a:ext cx="10515600" cy="5024063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The spindle holds all platters together.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Functions:</a:t>
            </a:r>
          </a:p>
          <a:p>
            <a:pPr lvl="0"/>
            <a:r>
              <a:rPr lang="en-IN" dirty="0"/>
              <a:t>Rotates platters </a:t>
            </a:r>
          </a:p>
          <a:p>
            <a:pPr lvl="0"/>
            <a:r>
              <a:rPr lang="en-IN" dirty="0"/>
              <a:t>Maintains constant rotational speed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Common spindle speeds:</a:t>
            </a:r>
          </a:p>
          <a:p>
            <a:pPr lvl="0"/>
            <a:r>
              <a:rPr lang="en-IN" dirty="0"/>
              <a:t>5400 RPM </a:t>
            </a:r>
          </a:p>
          <a:p>
            <a:pPr lvl="0"/>
            <a:r>
              <a:rPr lang="en-IN" dirty="0"/>
              <a:t>7200 RPM </a:t>
            </a:r>
          </a:p>
          <a:p>
            <a:pPr lvl="0"/>
            <a:r>
              <a:rPr lang="en-IN" dirty="0"/>
              <a:t>10000 RPM </a:t>
            </a:r>
          </a:p>
          <a:p>
            <a:pPr lvl="0"/>
            <a:r>
              <a:rPr lang="en-IN" dirty="0"/>
              <a:t>15000 RPM (Enterprise Drives) </a:t>
            </a:r>
          </a:p>
          <a:p>
            <a:r>
              <a:rPr lang="en-IN" dirty="0"/>
              <a:t>Higher RPM means faster data access.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16627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9E367-C2F1-4D9E-9D5E-EDB020537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Read/Write Head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8AF71-802A-4F54-B5BF-A1CD60F6F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platter surface has one read/write head.</a:t>
            </a:r>
            <a:endParaRPr lang="en-IN" dirty="0"/>
          </a:p>
          <a:p>
            <a:endParaRPr lang="en-US" dirty="0"/>
          </a:p>
          <a:p>
            <a:r>
              <a:rPr lang="en-IN" b="1" dirty="0"/>
              <a:t>Functions:</a:t>
            </a:r>
          </a:p>
          <a:p>
            <a:pPr lvl="1"/>
            <a:r>
              <a:rPr lang="en-IN" dirty="0"/>
              <a:t>Reads magnetic data </a:t>
            </a:r>
          </a:p>
          <a:p>
            <a:pPr lvl="1"/>
            <a:r>
              <a:rPr lang="en-IN" dirty="0"/>
              <a:t>Writes magnetic data </a:t>
            </a:r>
          </a:p>
          <a:p>
            <a:pPr lvl="1"/>
            <a:r>
              <a:rPr lang="en-IN" dirty="0"/>
              <a:t>The head never touches the platter.</a:t>
            </a:r>
          </a:p>
          <a:p>
            <a:pPr lvl="1"/>
            <a:r>
              <a:rPr lang="en-IN" dirty="0"/>
              <a:t>It floats approximately </a:t>
            </a:r>
            <a:r>
              <a:rPr lang="en-IN" b="1" dirty="0"/>
              <a:t>5–10 nanometres</a:t>
            </a:r>
            <a:r>
              <a:rPr lang="en-IN" dirty="0"/>
              <a:t> above the platter using an air cushion.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32863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CEB14-9A3A-4024-859F-F163FCCB4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4. Actuator Arm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B88E9-1017-43CF-B215-DCD665B62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actuator arm moves the read/write heads.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Purpose:</a:t>
            </a:r>
          </a:p>
          <a:p>
            <a:pPr lvl="0"/>
            <a:r>
              <a:rPr lang="en-IN" dirty="0"/>
              <a:t>Positions the head over the correct track </a:t>
            </a:r>
          </a:p>
          <a:p>
            <a:pPr lvl="0"/>
            <a:r>
              <a:rPr lang="en-IN" dirty="0"/>
              <a:t>Uses electromagnetic force </a:t>
            </a:r>
          </a:p>
          <a:p>
            <a:r>
              <a:rPr lang="en-IN" dirty="0"/>
              <a:t>Movement is extremely precise.</a:t>
            </a:r>
          </a:p>
        </p:txBody>
      </p:sp>
    </p:spTree>
    <p:extLst>
      <p:ext uri="{BB962C8B-B14F-4D97-AF65-F5344CB8AC3E}">
        <p14:creationId xmlns:p14="http://schemas.microsoft.com/office/powerpoint/2010/main" val="28017930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A4BB9-9379-4867-B3E5-2CDDBCC5E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5. Actuator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0D0CA-07FE-42F5-BBB7-5012C1070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Controls movement of the actuator arm.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Usually consists of:</a:t>
            </a:r>
          </a:p>
          <a:p>
            <a:pPr lvl="1"/>
            <a:r>
              <a:rPr lang="en-IN" dirty="0"/>
              <a:t>Voice Coil Motor (VCM) </a:t>
            </a:r>
          </a:p>
          <a:p>
            <a:pPr lvl="1"/>
            <a:r>
              <a:rPr lang="en-IN" dirty="0"/>
              <a:t>It moves the head from one track to another within milliseconds.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70459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A22B0-6B04-48DE-9F49-69EAF915A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6. Controller Board (PCB)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DC20F-128F-4B81-8AB5-950A2262D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Located underneath the drive.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Functions:</a:t>
            </a:r>
          </a:p>
          <a:p>
            <a:pPr lvl="1"/>
            <a:r>
              <a:rPr lang="en-IN" dirty="0"/>
              <a:t>Controls motor </a:t>
            </a:r>
          </a:p>
          <a:p>
            <a:pPr lvl="1"/>
            <a:r>
              <a:rPr lang="en-IN" dirty="0"/>
              <a:t>Manages read/write operations </a:t>
            </a:r>
          </a:p>
          <a:p>
            <a:pPr lvl="1"/>
            <a:r>
              <a:rPr lang="en-IN" dirty="0"/>
              <a:t>Error correction </a:t>
            </a:r>
          </a:p>
          <a:p>
            <a:pPr lvl="1"/>
            <a:r>
              <a:rPr lang="en-IN" dirty="0"/>
              <a:t>Communication with CPU </a:t>
            </a:r>
          </a:p>
          <a:p>
            <a:pPr lvl="1"/>
            <a:r>
              <a:rPr lang="en-IN" dirty="0"/>
              <a:t>Acts as the brain of the HDD.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43570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07DFA-DF1F-444D-9357-C3A41E4C4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7. Cache Memory (Buffer)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3004B-0CA3-4A51-BC33-0257381FA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9204"/>
            <a:ext cx="10515600" cy="4900773"/>
          </a:xfrm>
        </p:spPr>
        <p:txBody>
          <a:bodyPr>
            <a:normAutofit/>
          </a:bodyPr>
          <a:lstStyle/>
          <a:p>
            <a:r>
              <a:rPr lang="en-IN" dirty="0"/>
              <a:t>Small RAM inside HDD.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Typical sizes:</a:t>
            </a:r>
          </a:p>
          <a:p>
            <a:pPr lvl="1"/>
            <a:r>
              <a:rPr lang="en-IN" dirty="0"/>
              <a:t>32 MB </a:t>
            </a:r>
          </a:p>
          <a:p>
            <a:pPr lvl="1"/>
            <a:r>
              <a:rPr lang="en-IN" dirty="0"/>
              <a:t>64 MB </a:t>
            </a:r>
          </a:p>
          <a:p>
            <a:pPr lvl="1"/>
            <a:r>
              <a:rPr lang="en-IN" dirty="0"/>
              <a:t>128 MB </a:t>
            </a:r>
          </a:p>
          <a:p>
            <a:pPr lvl="1"/>
            <a:r>
              <a:rPr lang="en-IN" dirty="0"/>
              <a:t>256 MB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Purpose:</a:t>
            </a:r>
          </a:p>
          <a:p>
            <a:pPr lvl="0"/>
            <a:r>
              <a:rPr lang="en-IN" dirty="0"/>
              <a:t>Stores frequently accessed data </a:t>
            </a:r>
          </a:p>
          <a:p>
            <a:pPr lvl="0"/>
            <a:r>
              <a:rPr lang="en-IN" dirty="0"/>
              <a:t>Reduces waiting time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25380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B6A6E-E53A-42AF-B45B-A0C456DBB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8. SATA/SAS Interface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C58AD-47A9-470E-B2C7-F1A0E00BB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Used for communication with the computer.</a:t>
            </a:r>
          </a:p>
          <a:p>
            <a:pPr marL="0" indent="0">
              <a:buNone/>
            </a:pPr>
            <a:r>
              <a:rPr lang="en-IN" dirty="0"/>
              <a:t>Common interfaces:</a:t>
            </a:r>
          </a:p>
          <a:p>
            <a:pPr marL="0" indent="0">
              <a:buNone/>
            </a:pPr>
            <a:r>
              <a:rPr lang="en-IN" b="1" dirty="0"/>
              <a:t>SATA</a:t>
            </a:r>
          </a:p>
          <a:p>
            <a:pPr lvl="1"/>
            <a:r>
              <a:rPr lang="en-IN" dirty="0"/>
              <a:t>Personal computers </a:t>
            </a:r>
          </a:p>
          <a:p>
            <a:pPr lvl="1"/>
            <a:r>
              <a:rPr lang="en-IN" dirty="0"/>
              <a:t>6 Gbps </a:t>
            </a:r>
          </a:p>
          <a:p>
            <a:pPr marL="0" indent="0">
              <a:buNone/>
            </a:pPr>
            <a:r>
              <a:rPr lang="en-IN" b="1" dirty="0"/>
              <a:t>SAS</a:t>
            </a:r>
          </a:p>
          <a:p>
            <a:pPr lvl="1"/>
            <a:r>
              <a:rPr lang="en-IN" dirty="0"/>
              <a:t>Enterprise storage </a:t>
            </a:r>
          </a:p>
          <a:p>
            <a:pPr lvl="1"/>
            <a:r>
              <a:rPr lang="en-IN" dirty="0"/>
              <a:t>12 Gbps </a:t>
            </a:r>
          </a:p>
          <a:p>
            <a:pPr lvl="1"/>
            <a:r>
              <a:rPr lang="en-IN" dirty="0"/>
              <a:t>Higher reliability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69270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D55DC-09A2-4F9E-8A7C-8C8BB8B12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HDD Internal Organization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AF311C-ADA3-4282-A12C-6DB85D9C6F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991" y="1541124"/>
            <a:ext cx="6448901" cy="4635839"/>
          </a:xfrm>
        </p:spPr>
      </p:pic>
    </p:spTree>
    <p:extLst>
      <p:ext uri="{BB962C8B-B14F-4D97-AF65-F5344CB8AC3E}">
        <p14:creationId xmlns:p14="http://schemas.microsoft.com/office/powerpoint/2010/main" val="16851865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989E0-1200-4621-9B5E-68E33D572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HDD Internal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95AFE-6F61-4B57-9702-7316A435D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Data is stored in a structured manner.</a:t>
            </a:r>
          </a:p>
          <a:p>
            <a:pPr marL="0" indent="0">
              <a:buNone/>
            </a:pPr>
            <a:r>
              <a:rPr lang="en-IN" b="1" dirty="0"/>
              <a:t>Track</a:t>
            </a:r>
          </a:p>
          <a:p>
            <a:pPr lvl="1"/>
            <a:r>
              <a:rPr lang="en-IN" dirty="0"/>
              <a:t>A track is a circular path on the platter.</a:t>
            </a:r>
          </a:p>
          <a:p>
            <a:pPr lvl="1"/>
            <a:r>
              <a:rPr lang="en-IN" dirty="0"/>
              <a:t>Each platter contains thousands of tracks.</a:t>
            </a:r>
          </a:p>
          <a:p>
            <a:pPr marL="0" indent="0">
              <a:buNone/>
            </a:pPr>
            <a:r>
              <a:rPr lang="en-IN" b="1" dirty="0"/>
              <a:t>Sector</a:t>
            </a:r>
          </a:p>
          <a:p>
            <a:pPr lvl="1"/>
            <a:r>
              <a:rPr lang="en-IN" dirty="0"/>
              <a:t>Tracks are divided into sectors.</a:t>
            </a:r>
          </a:p>
          <a:p>
            <a:pPr lvl="1"/>
            <a:r>
              <a:rPr lang="en-IN" dirty="0"/>
              <a:t>Smallest storage unit.</a:t>
            </a:r>
          </a:p>
          <a:p>
            <a:pPr lvl="1"/>
            <a:r>
              <a:rPr lang="en-IN" dirty="0"/>
              <a:t>Traditional sector size: 512 Bytes </a:t>
            </a:r>
          </a:p>
          <a:p>
            <a:pPr lvl="1"/>
            <a:r>
              <a:rPr lang="en-IN" dirty="0"/>
              <a:t>Modern Advanced Format: 4096 Bytes (4 KB)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94812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0909E-977D-4123-BBDE-6FA1F9B96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HDD Internal Organization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EBDD8-070D-49F2-A6D9-95A1CEAB1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Cylinder</a:t>
            </a:r>
          </a:p>
          <a:p>
            <a:pPr lvl="1"/>
            <a:r>
              <a:rPr lang="en-IN" dirty="0"/>
              <a:t>A cylinder consists of tracks at the same position on all platters.</a:t>
            </a:r>
          </a:p>
          <a:p>
            <a:pPr lvl="1"/>
            <a:r>
              <a:rPr lang="en-IN" dirty="0"/>
              <a:t>Example</a:t>
            </a:r>
          </a:p>
          <a:p>
            <a:pPr lvl="1"/>
            <a:r>
              <a:rPr lang="en-IN" dirty="0"/>
              <a:t>If a hard disk has four platters,</a:t>
            </a:r>
          </a:p>
          <a:p>
            <a:pPr lvl="1"/>
            <a:r>
              <a:rPr lang="en-IN" dirty="0"/>
              <a:t>Track 100 on every platter together forms Cylinder 100.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Cluster (File System Level)</a:t>
            </a:r>
          </a:p>
          <a:p>
            <a:pPr lvl="1"/>
            <a:r>
              <a:rPr lang="en-IN" dirty="0"/>
              <a:t>Operating systems store files in clusters.</a:t>
            </a:r>
          </a:p>
          <a:p>
            <a:pPr lvl="1"/>
            <a:r>
              <a:rPr lang="en-IN" dirty="0"/>
              <a:t>Example</a:t>
            </a:r>
          </a:p>
          <a:p>
            <a:pPr lvl="1"/>
            <a:r>
              <a:rPr lang="en-IN" dirty="0"/>
              <a:t>NTFS cluster size:</a:t>
            </a:r>
          </a:p>
          <a:p>
            <a:pPr lvl="1"/>
            <a:r>
              <a:rPr lang="en-IN" dirty="0"/>
              <a:t>4 KB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92241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F5D8B-B4F2-465F-BD82-BD3F634A8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Addressing in HDD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549C9-EA87-4B24-9DC0-13A7A85F0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Why Addressing is Needed?</a:t>
            </a:r>
          </a:p>
          <a:p>
            <a:pPr lvl="1"/>
            <a:r>
              <a:rPr lang="en-IN" dirty="0"/>
              <a:t>When a file is requested,</a:t>
            </a:r>
          </a:p>
          <a:p>
            <a:pPr lvl="1"/>
            <a:r>
              <a:rPr lang="en-IN" dirty="0"/>
              <a:t>The operating system must identify the exact physical location.</a:t>
            </a:r>
          </a:p>
          <a:p>
            <a:pPr lvl="1"/>
            <a:r>
              <a:rPr lang="en-IN" dirty="0"/>
              <a:t>Addressing helps locate data quickly.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71263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0A8B3-C851-4B02-93B2-2E6503C00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1. CHS Addressing (Cylinder-Head-Sector)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BA10B-E035-4DB4-A945-2CA623920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447"/>
            <a:ext cx="10515600" cy="52394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Older addressing method.</a:t>
            </a:r>
          </a:p>
          <a:p>
            <a:pPr marL="0" indent="0">
              <a:buNone/>
            </a:pPr>
            <a:r>
              <a:rPr lang="en-IN" dirty="0"/>
              <a:t>Each sector is identified by:</a:t>
            </a:r>
          </a:p>
          <a:p>
            <a:pPr lvl="1"/>
            <a:r>
              <a:rPr lang="en-IN" dirty="0"/>
              <a:t>Cylinder Number </a:t>
            </a:r>
          </a:p>
          <a:p>
            <a:pPr lvl="1"/>
            <a:r>
              <a:rPr lang="en-IN" dirty="0"/>
              <a:t>Head Number </a:t>
            </a:r>
          </a:p>
          <a:p>
            <a:pPr lvl="1"/>
            <a:r>
              <a:rPr lang="en-IN" dirty="0"/>
              <a:t>Sector Number </a:t>
            </a:r>
          </a:p>
          <a:p>
            <a:r>
              <a:rPr lang="en-IN" dirty="0"/>
              <a:t>Example</a:t>
            </a:r>
          </a:p>
          <a:p>
            <a:pPr lvl="1"/>
            <a:r>
              <a:rPr lang="en-IN" dirty="0"/>
              <a:t>Cylinder = 250</a:t>
            </a:r>
          </a:p>
          <a:p>
            <a:pPr lvl="1"/>
            <a:r>
              <a:rPr lang="en-IN" dirty="0"/>
              <a:t>Head = 3</a:t>
            </a:r>
          </a:p>
          <a:p>
            <a:pPr lvl="1"/>
            <a:r>
              <a:rPr lang="en-IN" dirty="0"/>
              <a:t>Sector = 20</a:t>
            </a:r>
          </a:p>
          <a:p>
            <a:r>
              <a:rPr lang="en-IN" dirty="0"/>
              <a:t>The controller moves:</a:t>
            </a:r>
          </a:p>
          <a:p>
            <a:pPr lvl="1"/>
            <a:r>
              <a:rPr lang="en-IN" dirty="0"/>
              <a:t>Head to cylinder 250 </a:t>
            </a:r>
          </a:p>
          <a:p>
            <a:pPr lvl="1"/>
            <a:r>
              <a:rPr lang="en-IN" dirty="0"/>
              <a:t>Selects head 3 </a:t>
            </a:r>
          </a:p>
          <a:p>
            <a:pPr lvl="1"/>
            <a:r>
              <a:rPr lang="en-IN" dirty="0"/>
              <a:t>Reads sector 20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48B5F3-8D42-4E00-91CA-5247BA47DC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5330" y="1581150"/>
            <a:ext cx="4060433" cy="4192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2910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B0364-B36E-42B1-8003-93CCD81A2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2. LBA (Logical Block Addressing)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DE623-C710-4E13-A248-F567EBA0F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301"/>
            <a:ext cx="10515600" cy="4666662"/>
          </a:xfrm>
        </p:spPr>
        <p:txBody>
          <a:bodyPr>
            <a:normAutofit fontScale="92500"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ea typeface="Times New Roman" panose="02020603050405020304" pitchFamily="18" charset="0"/>
              </a:rPr>
              <a:t>Modern HDDs use LBA.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ea typeface="Times New Roman" panose="02020603050405020304" pitchFamily="18" charset="0"/>
              </a:rPr>
              <a:t>Instead of CHS,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ea typeface="Times New Roman" panose="02020603050405020304" pitchFamily="18" charset="0"/>
              </a:rPr>
              <a:t>Every sector receives a unique sequential number.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ea typeface="Times New Roman" panose="02020603050405020304" pitchFamily="18" charset="0"/>
              </a:rPr>
              <a:t>Example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ea typeface="Times New Roman" panose="02020603050405020304" pitchFamily="18" charset="0"/>
              </a:rPr>
              <a:t>Sector numbers: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ea typeface="Times New Roman" panose="02020603050405020304" pitchFamily="18" charset="0"/>
              </a:rPr>
              <a:t>0123456...</a:t>
            </a:r>
            <a:r>
              <a:rPr lang="en-US" altLang="en-US" dirty="0"/>
              <a:t> </a:t>
            </a:r>
            <a:endParaRPr lang="en-US" altLang="en-US" dirty="0"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ea typeface="Times New Roman" panose="02020603050405020304" pitchFamily="18" charset="0"/>
              </a:rPr>
              <a:t>When OS requests</a:t>
            </a:r>
          </a:p>
          <a:p>
            <a:r>
              <a:rPr lang="en-IN" dirty="0"/>
              <a:t>Block 1,250,000,</a:t>
            </a:r>
          </a:p>
          <a:p>
            <a:r>
              <a:rPr lang="en-IN" dirty="0"/>
              <a:t>The controller automatically converts it into</a:t>
            </a:r>
          </a:p>
          <a:p>
            <a:pPr lvl="0"/>
            <a:r>
              <a:rPr lang="en-IN" dirty="0"/>
              <a:t>Cylinder		Head		Sector </a:t>
            </a:r>
          </a:p>
          <a:p>
            <a:pPr marL="0" lvl="0" indent="0">
              <a:buNone/>
            </a:pPr>
            <a:r>
              <a:rPr lang="en-IN" b="1" dirty="0"/>
              <a:t>Advantages</a:t>
            </a:r>
          </a:p>
          <a:p>
            <a:pPr lvl="0"/>
            <a:r>
              <a:rPr lang="en-IN" dirty="0"/>
              <a:t>Simple, Faster, Supports huge capacities, Used in modern HDDs and SSDs </a:t>
            </a:r>
          </a:p>
          <a:p>
            <a:pPr lvl="0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A54680-9604-4093-A227-7996F0ED0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3956" y="1518007"/>
            <a:ext cx="3816546" cy="322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0499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76C9C-44DF-4AC7-9790-8BC112475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HDD Performance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19987-399F-4DA4-96A8-9962A6F62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Storage performance depends on several timing parameters.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1. Seek Time</a:t>
            </a:r>
          </a:p>
          <a:p>
            <a:pPr lvl="1"/>
            <a:r>
              <a:rPr lang="en-IN" dirty="0"/>
              <a:t>Time required for the head to move to the correct track.</a:t>
            </a:r>
          </a:p>
          <a:p>
            <a:pPr lvl="1"/>
            <a:r>
              <a:rPr lang="en-IN" dirty="0"/>
              <a:t>Average:</a:t>
            </a:r>
          </a:p>
          <a:p>
            <a:pPr lvl="1"/>
            <a:r>
              <a:rPr lang="en-IN" dirty="0"/>
              <a:t>8–12 </a:t>
            </a:r>
            <a:r>
              <a:rPr lang="en-IN" dirty="0" err="1"/>
              <a:t>ms</a:t>
            </a:r>
            <a:endParaRPr lang="en-IN" dirty="0"/>
          </a:p>
          <a:p>
            <a:pPr lvl="1"/>
            <a:r>
              <a:rPr lang="en-IN" dirty="0"/>
              <a:t>Lower seek time is better.</a:t>
            </a:r>
          </a:p>
        </p:txBody>
      </p:sp>
    </p:spTree>
    <p:extLst>
      <p:ext uri="{BB962C8B-B14F-4D97-AF65-F5344CB8AC3E}">
        <p14:creationId xmlns:p14="http://schemas.microsoft.com/office/powerpoint/2010/main" val="29626948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C0B05-92C0-4265-88C3-F4866A625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00CEE-8024-4DC7-9104-F187DBE61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3029"/>
            <a:ext cx="10515600" cy="531393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2. Rotational Latency</a:t>
            </a:r>
          </a:p>
          <a:p>
            <a:r>
              <a:rPr lang="en-IN" dirty="0"/>
              <a:t>After reaching the correct track,</a:t>
            </a:r>
          </a:p>
          <a:p>
            <a:r>
              <a:rPr lang="en-IN" dirty="0"/>
              <a:t>The platter must rotate until the desired sector arrives.</a:t>
            </a:r>
          </a:p>
          <a:p>
            <a:r>
              <a:rPr lang="en-IN" dirty="0"/>
              <a:t>Average Latency</a:t>
            </a:r>
          </a:p>
          <a:p>
            <a:pPr marL="0" indent="0">
              <a:buNone/>
            </a:pPr>
            <a:endParaRPr lang="en-IN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Formula: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Average Latency = 60 / (2 × RPM)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Example</a:t>
            </a:r>
          </a:p>
          <a:p>
            <a:pPr lvl="1"/>
            <a:r>
              <a:rPr lang="en-IN" dirty="0"/>
              <a:t>7200 RPM</a:t>
            </a:r>
          </a:p>
          <a:p>
            <a:pPr lvl="1"/>
            <a:r>
              <a:rPr lang="en-IN" dirty="0"/>
              <a:t>Average latency</a:t>
            </a:r>
          </a:p>
          <a:p>
            <a:pPr lvl="1"/>
            <a:r>
              <a:rPr lang="en-IN" dirty="0"/>
              <a:t>≈ 4.17 </a:t>
            </a:r>
            <a:r>
              <a:rPr lang="en-IN" dirty="0" err="1"/>
              <a:t>ms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3749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449B2-6715-42D2-81A5-0AB5C2F94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5A6F5-367B-42B2-802D-D6E0B3D54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835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3. Transfer Rate</a:t>
            </a:r>
          </a:p>
          <a:p>
            <a:pPr marL="0" indent="0">
              <a:buNone/>
            </a:pPr>
            <a:endParaRPr lang="en-IN" dirty="0"/>
          </a:p>
          <a:p>
            <a:pPr lvl="1"/>
            <a:r>
              <a:rPr lang="en-IN" sz="2800" dirty="0"/>
              <a:t>Speed at which data is transferred.</a:t>
            </a:r>
          </a:p>
          <a:p>
            <a:pPr lvl="1"/>
            <a:r>
              <a:rPr lang="en-IN" sz="2800" dirty="0"/>
              <a:t>Measured in MB/s</a:t>
            </a:r>
          </a:p>
          <a:p>
            <a:pPr lvl="1"/>
            <a:r>
              <a:rPr lang="en-IN" sz="2800" dirty="0"/>
              <a:t>Typical values of HDD is  150–250 MB/s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02224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0FAF0-DE88-4F2F-9877-F08C8B949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C020D-71F2-4F71-8305-3F61A5EF4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8353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4. Access Time</a:t>
            </a:r>
          </a:p>
          <a:p>
            <a:r>
              <a:rPr lang="en-IN" dirty="0"/>
              <a:t>Total time needed to access data.</a:t>
            </a:r>
          </a:p>
          <a:p>
            <a:r>
              <a:rPr lang="en-IN" dirty="0"/>
              <a:t>Access Time = Seek Time</a:t>
            </a:r>
          </a:p>
          <a:p>
            <a:pPr lvl="1"/>
            <a:r>
              <a:rPr lang="en-IN" dirty="0"/>
              <a:t>Rotational Latency </a:t>
            </a:r>
          </a:p>
          <a:p>
            <a:pPr lvl="1"/>
            <a:r>
              <a:rPr lang="en-IN" dirty="0"/>
              <a:t>Transfer Time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Example</a:t>
            </a:r>
          </a:p>
          <a:p>
            <a:pPr lvl="1"/>
            <a:r>
              <a:rPr lang="en-IN" dirty="0"/>
              <a:t>Seek Time = 8 </a:t>
            </a:r>
            <a:r>
              <a:rPr lang="en-IN" dirty="0" err="1"/>
              <a:t>ms</a:t>
            </a:r>
            <a:endParaRPr lang="en-IN" dirty="0"/>
          </a:p>
          <a:p>
            <a:pPr lvl="1"/>
            <a:r>
              <a:rPr lang="en-IN" dirty="0"/>
              <a:t>Latency = 4 </a:t>
            </a:r>
            <a:r>
              <a:rPr lang="en-IN" dirty="0" err="1"/>
              <a:t>ms</a:t>
            </a:r>
            <a:endParaRPr lang="en-IN" dirty="0"/>
          </a:p>
          <a:p>
            <a:pPr lvl="1"/>
            <a:r>
              <a:rPr lang="en-IN" dirty="0"/>
              <a:t>Transfer = 1 </a:t>
            </a:r>
            <a:r>
              <a:rPr lang="en-IN" dirty="0" err="1"/>
              <a:t>ms</a:t>
            </a:r>
            <a:endParaRPr lang="en-IN" dirty="0"/>
          </a:p>
          <a:p>
            <a:pPr lvl="1"/>
            <a:r>
              <a:rPr lang="en-IN" dirty="0"/>
              <a:t>Total Access Time = 13 </a:t>
            </a:r>
            <a:r>
              <a:rPr lang="en-IN" dirty="0" err="1"/>
              <a:t>ms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64290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9F06E-23B0-4F8A-A110-1BD0C2426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9C911-A77F-49C0-B51B-1B70FBF81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149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5. IOPS (Input Output Operations Per Second)</a:t>
            </a:r>
          </a:p>
          <a:p>
            <a:pPr marL="0" indent="0">
              <a:buNone/>
            </a:pPr>
            <a:endParaRPr lang="en-IN" b="1" dirty="0"/>
          </a:p>
          <a:p>
            <a:pPr lvl="1"/>
            <a:r>
              <a:rPr lang="en-IN" dirty="0"/>
              <a:t>Measures number of read/write operations.</a:t>
            </a:r>
          </a:p>
          <a:p>
            <a:pPr lvl="1"/>
            <a:r>
              <a:rPr lang="en-IN" dirty="0"/>
              <a:t>Typical HDD = 80–200 IOPS</a:t>
            </a:r>
          </a:p>
          <a:p>
            <a:pPr lvl="1"/>
            <a:r>
              <a:rPr lang="en-IN" dirty="0"/>
              <a:t>Enterprise HDD = 250–300 IOPS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0278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5D515-188E-446B-ABB7-339B0EC2C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37368-22C4-41AF-97EA-7FE3AEA9F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7934"/>
            <a:ext cx="10515600" cy="5510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Advantages of HDD</a:t>
            </a:r>
          </a:p>
          <a:p>
            <a:pPr lvl="1"/>
            <a:r>
              <a:rPr lang="en-IN" dirty="0"/>
              <a:t>Low cost </a:t>
            </a:r>
          </a:p>
          <a:p>
            <a:pPr lvl="1"/>
            <a:r>
              <a:rPr lang="en-IN" dirty="0"/>
              <a:t>High storage capacity </a:t>
            </a:r>
          </a:p>
          <a:p>
            <a:pPr lvl="1"/>
            <a:r>
              <a:rPr lang="en-IN" dirty="0"/>
              <a:t>Suitable for backups </a:t>
            </a:r>
          </a:p>
          <a:p>
            <a:pPr lvl="1"/>
            <a:r>
              <a:rPr lang="en-IN" dirty="0"/>
              <a:t>Long archival storage </a:t>
            </a:r>
          </a:p>
          <a:p>
            <a:pPr lvl="1"/>
            <a:r>
              <a:rPr lang="en-IN" dirty="0"/>
              <a:t>Widely available 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Disadvantages of HDD</a:t>
            </a:r>
          </a:p>
          <a:p>
            <a:pPr lvl="1"/>
            <a:r>
              <a:rPr lang="en-IN" dirty="0"/>
              <a:t>Mechanical parts </a:t>
            </a:r>
          </a:p>
          <a:p>
            <a:pPr lvl="1"/>
            <a:r>
              <a:rPr lang="en-IN" dirty="0"/>
              <a:t>Generates heat </a:t>
            </a:r>
          </a:p>
          <a:p>
            <a:pPr lvl="1"/>
            <a:r>
              <a:rPr lang="en-IN" dirty="0"/>
              <a:t>Noise </a:t>
            </a:r>
          </a:p>
          <a:p>
            <a:pPr lvl="1"/>
            <a:r>
              <a:rPr lang="en-IN" dirty="0"/>
              <a:t>Slow random access </a:t>
            </a:r>
          </a:p>
          <a:p>
            <a:pPr lvl="1"/>
            <a:r>
              <a:rPr lang="en-IN" dirty="0"/>
              <a:t>Sensitive to shock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01916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F6EF-0309-4EC1-9E78-21BAF3A9B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SOLID STATE DRIVE (SSD)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9C11E-EA25-41A4-A3F9-4358B5872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Solid State Drive (SSD)</a:t>
            </a:r>
            <a:r>
              <a:rPr lang="en-US" dirty="0"/>
              <a:t> is a storage device that stores information using </a:t>
            </a:r>
            <a:r>
              <a:rPr lang="en-US" b="1" dirty="0"/>
              <a:t>NAND Flash Memory</a:t>
            </a:r>
            <a:r>
              <a:rPr lang="en-US" dirty="0"/>
              <a:t> instead of rotating magnetic disks.</a:t>
            </a:r>
            <a:endParaRPr lang="en-IN" dirty="0"/>
          </a:p>
          <a:p>
            <a:r>
              <a:rPr lang="en-US" dirty="0"/>
              <a:t>Since SSDs contain </a:t>
            </a:r>
            <a:r>
              <a:rPr lang="en-US" b="1" dirty="0"/>
              <a:t>no moving mechanical parts</a:t>
            </a:r>
            <a:r>
              <a:rPr lang="en-US" dirty="0"/>
              <a:t>, they provide significantly higher speed, lower power consumption, and improved reliability.</a:t>
            </a:r>
            <a:endParaRPr lang="en-IN" dirty="0"/>
          </a:p>
          <a:p>
            <a:r>
              <a:rPr lang="en-US" dirty="0"/>
              <a:t>Modern enterprise storage arrays increasingly use SSDs for applications requiring high performance.</a:t>
            </a:r>
            <a:endParaRPr lang="en-I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Examples include:</a:t>
            </a:r>
            <a:endParaRPr lang="en-IN" dirty="0"/>
          </a:p>
          <a:p>
            <a:pPr lvl="0"/>
            <a:r>
              <a:rPr lang="en-US" dirty="0"/>
              <a:t>Cloud servers, Banking databases, Artificial Intelligence, Machine Learning </a:t>
            </a:r>
            <a:endParaRPr lang="en-IN" dirty="0"/>
          </a:p>
          <a:p>
            <a:pPr lvl="0"/>
            <a:r>
              <a:rPr lang="en-US" dirty="0"/>
              <a:t>Big Data Analytics, Virtual Machines 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83126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34FD8-C0CB-46B5-9B32-0C2B0E34E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Components of Solid State Disk (SSD)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BA978D-40B3-46FB-B6C4-5175202795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1577" y="1825625"/>
            <a:ext cx="5548845" cy="4351338"/>
          </a:xfrm>
        </p:spPr>
      </p:pic>
    </p:spTree>
    <p:extLst>
      <p:ext uri="{BB962C8B-B14F-4D97-AF65-F5344CB8AC3E}">
        <p14:creationId xmlns:p14="http://schemas.microsoft.com/office/powerpoint/2010/main" val="8251467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0DCDC-1A73-4C51-8D58-D5CC3AB5A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NAND Flash Memory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5CBD1-52A2-4518-A975-5A3EEEA20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Stores all user data.</a:t>
            </a:r>
            <a:endParaRPr lang="en-IN" dirty="0"/>
          </a:p>
          <a:p>
            <a:r>
              <a:rPr lang="en-US" dirty="0"/>
              <a:t>Types include:</a:t>
            </a:r>
            <a:endParaRPr lang="en-IN" dirty="0"/>
          </a:p>
          <a:p>
            <a:pPr lvl="1"/>
            <a:r>
              <a:rPr lang="en-US" dirty="0"/>
              <a:t>SLC (Single-Level Cell) </a:t>
            </a:r>
            <a:endParaRPr lang="en-IN" dirty="0"/>
          </a:p>
          <a:p>
            <a:pPr lvl="1"/>
            <a:r>
              <a:rPr lang="en-US" dirty="0"/>
              <a:t>MLC (Multi-Level Cell) </a:t>
            </a:r>
            <a:endParaRPr lang="en-IN" dirty="0"/>
          </a:p>
          <a:p>
            <a:pPr lvl="1"/>
            <a:r>
              <a:rPr lang="en-US" dirty="0"/>
              <a:t>TLC (Triple-Level Cell) </a:t>
            </a:r>
            <a:endParaRPr lang="en-IN" dirty="0"/>
          </a:p>
          <a:p>
            <a:pPr lvl="1"/>
            <a:r>
              <a:rPr lang="en-US" dirty="0"/>
              <a:t>QLC (Quad-Level Cell)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SLC offers the highest speed and reliability but is the most expensive</a:t>
            </a:r>
          </a:p>
        </p:txBody>
      </p:sp>
    </p:spTree>
    <p:extLst>
      <p:ext uri="{BB962C8B-B14F-4D97-AF65-F5344CB8AC3E}">
        <p14:creationId xmlns:p14="http://schemas.microsoft.com/office/powerpoint/2010/main" val="222277622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EAB8B-FA1B-4D22-BE56-D2F02E6B0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SSD Controller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015DA-4532-457E-AAF6-F54CA958E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Acts as the brain of the SSD.</a:t>
            </a:r>
            <a:endParaRPr lang="en-IN" dirty="0"/>
          </a:p>
          <a:p>
            <a:r>
              <a:rPr lang="en-US" dirty="0"/>
              <a:t>Functions include:</a:t>
            </a:r>
            <a:endParaRPr lang="en-IN" dirty="0"/>
          </a:p>
          <a:p>
            <a:pPr lvl="1"/>
            <a:r>
              <a:rPr lang="en-US" dirty="0"/>
              <a:t>Wear leveling </a:t>
            </a:r>
            <a:endParaRPr lang="en-IN" dirty="0"/>
          </a:p>
          <a:p>
            <a:pPr lvl="1"/>
            <a:r>
              <a:rPr lang="en-US" dirty="0"/>
              <a:t>Garbage collection </a:t>
            </a:r>
          </a:p>
          <a:p>
            <a:pPr lvl="1"/>
            <a:r>
              <a:rPr lang="en-US" dirty="0"/>
              <a:t>Error correction </a:t>
            </a:r>
            <a:endParaRPr lang="en-IN" dirty="0"/>
          </a:p>
          <a:p>
            <a:pPr lvl="1"/>
            <a:r>
              <a:rPr lang="en-US" dirty="0"/>
              <a:t>Data encryption </a:t>
            </a:r>
            <a:endParaRPr lang="en-IN" dirty="0"/>
          </a:p>
          <a:p>
            <a:pPr lvl="1"/>
            <a:r>
              <a:rPr lang="en-US" dirty="0"/>
              <a:t>Block management 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99776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91B48-6255-433D-8D25-D6EE4DDDC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Cache Memory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17825-D938-486E-9EC1-337E7BF16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DRAM Cache</a:t>
            </a:r>
          </a:p>
          <a:p>
            <a:r>
              <a:rPr lang="en-IN" dirty="0"/>
              <a:t>Temporary memory</a:t>
            </a:r>
          </a:p>
          <a:p>
            <a:pPr lvl="1"/>
            <a:r>
              <a:rPr lang="en-IN" dirty="0"/>
              <a:t>Stores</a:t>
            </a:r>
          </a:p>
          <a:p>
            <a:pPr lvl="1"/>
            <a:r>
              <a:rPr lang="en-IN" dirty="0"/>
              <a:t>Mapping tables </a:t>
            </a:r>
          </a:p>
          <a:p>
            <a:pPr lvl="1"/>
            <a:r>
              <a:rPr lang="en-IN" dirty="0"/>
              <a:t>Frequently accessed data </a:t>
            </a:r>
          </a:p>
          <a:p>
            <a:r>
              <a:rPr lang="en-IN" dirty="0"/>
              <a:t>Benefits</a:t>
            </a:r>
          </a:p>
          <a:p>
            <a:pPr lvl="1"/>
            <a:r>
              <a:rPr lang="en-IN" dirty="0"/>
              <a:t>Faster read </a:t>
            </a:r>
          </a:p>
          <a:p>
            <a:pPr lvl="1"/>
            <a:r>
              <a:rPr lang="en-IN" dirty="0"/>
              <a:t>Faster write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82414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A158B-F6BB-4622-B788-D61396956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4. Flash Translation Layer (FTL)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306B0-D50F-41E6-A582-6661FCDE5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Acts like a translator.</a:t>
            </a:r>
          </a:p>
          <a:p>
            <a:r>
              <a:rPr lang="en-IN" dirty="0"/>
              <a:t>Converts</a:t>
            </a:r>
          </a:p>
          <a:p>
            <a:r>
              <a:rPr lang="en-IN" dirty="0"/>
              <a:t>Logical Block Address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Physical Flash Memory Address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106599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9F14B-7D64-40AA-B97F-20ED2E3A6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5. Interface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769E2-764D-4A62-A2A0-5DFBAAFD4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834"/>
            <a:ext cx="10515600" cy="4759129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Common SSD interfaces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SATA SSD</a:t>
            </a:r>
          </a:p>
          <a:p>
            <a:r>
              <a:rPr lang="en-IN" dirty="0"/>
              <a:t>Maximum speed</a:t>
            </a:r>
          </a:p>
          <a:p>
            <a:r>
              <a:rPr lang="en-IN" dirty="0"/>
              <a:t>600 MB/s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 err="1"/>
              <a:t>NVMe</a:t>
            </a:r>
            <a:r>
              <a:rPr lang="en-IN" b="1" dirty="0"/>
              <a:t> SSD</a:t>
            </a:r>
          </a:p>
          <a:p>
            <a:r>
              <a:rPr lang="en-IN" dirty="0"/>
              <a:t>Uses PCI(Peripheral Component Interconnect) Express</a:t>
            </a:r>
          </a:p>
          <a:p>
            <a:r>
              <a:rPr lang="en-IN" dirty="0"/>
              <a:t>Speed</a:t>
            </a:r>
          </a:p>
          <a:p>
            <a:r>
              <a:rPr lang="en-IN" dirty="0"/>
              <a:t>3000 MB/s</a:t>
            </a:r>
          </a:p>
          <a:p>
            <a:r>
              <a:rPr lang="en-IN" dirty="0"/>
              <a:t>5000 MB/s</a:t>
            </a:r>
          </a:p>
          <a:p>
            <a:r>
              <a:rPr lang="en-IN" dirty="0"/>
              <a:t>7000 MB/s</a:t>
            </a:r>
          </a:p>
          <a:p>
            <a:r>
              <a:rPr lang="en-IN" dirty="0"/>
              <a:t>or higher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17199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48167-7F68-4981-BBA2-42036B6A0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Working Principle of SSD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97ED3-0203-4FB6-AA5F-9D16D8498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Host sends request. </a:t>
            </a:r>
            <a:endParaRPr lang="en-IN" dirty="0"/>
          </a:p>
          <a:p>
            <a:pPr lvl="0"/>
            <a:r>
              <a:rPr lang="en-US" dirty="0"/>
              <a:t>SSD controller identifies flash block. </a:t>
            </a:r>
            <a:endParaRPr lang="en-IN" dirty="0"/>
          </a:p>
          <a:p>
            <a:pPr lvl="0"/>
            <a:r>
              <a:rPr lang="en-US" dirty="0"/>
              <a:t>Data is read electronically. </a:t>
            </a:r>
            <a:endParaRPr lang="en-IN" dirty="0"/>
          </a:p>
          <a:p>
            <a:pPr lvl="0"/>
            <a:r>
              <a:rPr lang="en-US" dirty="0"/>
              <a:t>Controller performs error correction. </a:t>
            </a:r>
            <a:endParaRPr lang="en-IN" dirty="0"/>
          </a:p>
          <a:p>
            <a:pPr lvl="0"/>
            <a:r>
              <a:rPr lang="en-US" dirty="0"/>
              <a:t>Data is delivered to host. </a:t>
            </a:r>
            <a:endParaRPr lang="en-IN" dirty="0"/>
          </a:p>
          <a:p>
            <a:r>
              <a:rPr lang="en-US" dirty="0"/>
              <a:t>Since there are </a:t>
            </a:r>
            <a:r>
              <a:rPr lang="en-US" b="1" dirty="0"/>
              <a:t>no moving parts</a:t>
            </a:r>
            <a:r>
              <a:rPr lang="en-US" dirty="0"/>
              <a:t>, access time is extremely low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565995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48A29-2550-4AE9-9D0B-F866A4513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Addressing in SSD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E1673-CDE7-4F7D-9740-C60B86777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7011"/>
            <a:ext cx="10515600" cy="5105864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SSD does not use</a:t>
            </a:r>
          </a:p>
          <a:p>
            <a:pPr lvl="0"/>
            <a:r>
              <a:rPr lang="en-IN" dirty="0"/>
              <a:t>Tracks, Cylinders, Heads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Instead,</a:t>
            </a:r>
          </a:p>
          <a:p>
            <a:r>
              <a:rPr lang="en-IN" dirty="0"/>
              <a:t>Operating System sends</a:t>
            </a:r>
          </a:p>
          <a:p>
            <a:r>
              <a:rPr lang="en-IN" dirty="0"/>
              <a:t>Logical Block Address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Flash Translation Layer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Physical Flash Memory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Controller accesses NAND Cells</a:t>
            </a:r>
          </a:p>
          <a:p>
            <a:r>
              <a:rPr lang="en-IN" dirty="0"/>
              <a:t>This process is transparent to the operating system.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648213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4D93D-17E9-44B7-8F10-4C0439B96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SSD Performance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B8788-3B90-40AB-8A6C-F2ECA94DB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834"/>
            <a:ext cx="10515600" cy="475912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1. Read Speed</a:t>
            </a:r>
          </a:p>
          <a:p>
            <a:r>
              <a:rPr lang="en-IN" dirty="0"/>
              <a:t>SATA SSD</a:t>
            </a:r>
          </a:p>
          <a:p>
            <a:r>
              <a:rPr lang="en-IN" dirty="0"/>
              <a:t>500 MB/s</a:t>
            </a:r>
          </a:p>
          <a:p>
            <a:r>
              <a:rPr lang="en-IN" dirty="0" err="1"/>
              <a:t>NVMe</a:t>
            </a:r>
            <a:r>
              <a:rPr lang="en-IN" dirty="0"/>
              <a:t> SSD</a:t>
            </a:r>
          </a:p>
          <a:p>
            <a:r>
              <a:rPr lang="en-IN" dirty="0"/>
              <a:t>3000–7000 MB/s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2. Write Speed</a:t>
            </a:r>
          </a:p>
          <a:p>
            <a:r>
              <a:rPr lang="en-IN" dirty="0"/>
              <a:t>Usually slightly lower than read speed.</a:t>
            </a:r>
          </a:p>
          <a:p>
            <a:r>
              <a:rPr lang="en-IN" dirty="0"/>
              <a:t>Depends on</a:t>
            </a:r>
          </a:p>
          <a:p>
            <a:pPr lvl="0"/>
            <a:r>
              <a:rPr lang="en-IN" dirty="0"/>
              <a:t>Controller </a:t>
            </a:r>
          </a:p>
          <a:p>
            <a:pPr lvl="0"/>
            <a:r>
              <a:rPr lang="en-IN" dirty="0"/>
              <a:t>NAND type </a:t>
            </a:r>
          </a:p>
          <a:p>
            <a:pPr lvl="0"/>
            <a:r>
              <a:rPr lang="en-IN" dirty="0"/>
              <a:t>Cache 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66573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AF80A-AF60-4557-AAE8-356BDC695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SSD Performance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D0BD7-D7D7-47EC-BF9F-1176644C7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9753"/>
            <a:ext cx="10515600" cy="4839128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3. Access Time</a:t>
            </a:r>
          </a:p>
          <a:p>
            <a:r>
              <a:rPr lang="en-IN" dirty="0"/>
              <a:t>Very small.</a:t>
            </a:r>
          </a:p>
          <a:p>
            <a:r>
              <a:rPr lang="en-IN" dirty="0"/>
              <a:t>Approximately</a:t>
            </a:r>
          </a:p>
          <a:p>
            <a:r>
              <a:rPr lang="en-IN" dirty="0"/>
              <a:t>0.05–0.1 </a:t>
            </a:r>
            <a:r>
              <a:rPr lang="en-IN" dirty="0" err="1"/>
              <a:t>ms</a:t>
            </a:r>
            <a:endParaRPr lang="en-IN" dirty="0"/>
          </a:p>
          <a:p>
            <a:r>
              <a:rPr lang="en-IN" dirty="0"/>
              <a:t>Compared to HDD</a:t>
            </a:r>
          </a:p>
          <a:p>
            <a:r>
              <a:rPr lang="en-IN" dirty="0"/>
              <a:t>10–15 </a:t>
            </a:r>
            <a:r>
              <a:rPr lang="en-IN" dirty="0" err="1"/>
              <a:t>ms</a:t>
            </a:r>
            <a:endParaRPr lang="en-IN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4. IOPS</a:t>
            </a:r>
          </a:p>
          <a:p>
            <a:r>
              <a:rPr lang="en-IN" dirty="0"/>
              <a:t>Consumer SSD</a:t>
            </a:r>
          </a:p>
          <a:p>
            <a:r>
              <a:rPr lang="en-IN" dirty="0"/>
              <a:t>50,000–100,000 IOPS</a:t>
            </a:r>
          </a:p>
          <a:p>
            <a:r>
              <a:rPr lang="en-IN" dirty="0"/>
              <a:t>Enterprise SSD</a:t>
            </a:r>
          </a:p>
          <a:p>
            <a:r>
              <a:rPr lang="en-IN" dirty="0"/>
              <a:t>500,000+ IOPS</a:t>
            </a:r>
          </a:p>
          <a:p>
            <a:r>
              <a:rPr lang="en-IN" dirty="0"/>
              <a:t>Much higher than HDD.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001440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F5123-AC00-4923-A34D-9C2856E4F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SSD Performance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CDE3-1052-4063-BB84-C271A36B7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5. Endurance</a:t>
            </a:r>
          </a:p>
          <a:p>
            <a:r>
              <a:rPr lang="en-IN" dirty="0"/>
              <a:t>Measured using</a:t>
            </a:r>
          </a:p>
          <a:p>
            <a:pPr lvl="0"/>
            <a:r>
              <a:rPr lang="en-IN" dirty="0"/>
              <a:t>TBW (Terabytes Written) </a:t>
            </a:r>
          </a:p>
          <a:p>
            <a:pPr lvl="0"/>
            <a:r>
              <a:rPr lang="en-IN" dirty="0"/>
              <a:t>DWPD (Drive Writes Per Day) </a:t>
            </a:r>
          </a:p>
          <a:p>
            <a:r>
              <a:rPr lang="en-IN" dirty="0"/>
              <a:t>Wear </a:t>
            </a:r>
            <a:r>
              <a:rPr lang="en-IN" dirty="0" err="1"/>
              <a:t>leveling</a:t>
            </a:r>
            <a:r>
              <a:rPr lang="en-IN" dirty="0"/>
              <a:t> increases lifespan.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045703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CBD26-CD3C-4E1B-B7FA-27F340A32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Real-World Applications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42220-F849-493F-85F2-5B0C6267F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Hard Disk Drives (HDDs)</a:t>
            </a:r>
          </a:p>
          <a:p>
            <a:pPr lvl="0"/>
            <a:r>
              <a:rPr lang="en-IN" dirty="0"/>
              <a:t>Backup servers </a:t>
            </a:r>
          </a:p>
          <a:p>
            <a:pPr lvl="0"/>
            <a:r>
              <a:rPr lang="en-IN" dirty="0"/>
              <a:t>Surveillance video storage </a:t>
            </a:r>
          </a:p>
          <a:p>
            <a:pPr lvl="0"/>
            <a:r>
              <a:rPr lang="en-IN" dirty="0"/>
              <a:t>Media libraries </a:t>
            </a:r>
          </a:p>
          <a:p>
            <a:pPr lvl="0"/>
            <a:r>
              <a:rPr lang="en-IN" dirty="0"/>
              <a:t>Large-capacity archival systems </a:t>
            </a:r>
          </a:p>
          <a:p>
            <a:pPr lvl="0"/>
            <a:r>
              <a:rPr lang="en-IN" dirty="0"/>
              <a:t>Cost-sensitive storage solutions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90233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2014C-D1E8-4F55-9D1B-D646E8C1F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Real-World Applications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6EB34-05AC-4AF5-88C9-8CD4436ED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Solid-State Drives (SSDs)</a:t>
            </a:r>
          </a:p>
          <a:p>
            <a:pPr lvl="0"/>
            <a:r>
              <a:rPr lang="en-IN" dirty="0"/>
              <a:t>Laptops and desktops </a:t>
            </a:r>
          </a:p>
          <a:p>
            <a:pPr lvl="0"/>
            <a:r>
              <a:rPr lang="en-IN" dirty="0"/>
              <a:t>Cloud servers </a:t>
            </a:r>
          </a:p>
          <a:p>
            <a:pPr lvl="0"/>
            <a:r>
              <a:rPr lang="en-IN" dirty="0"/>
              <a:t>Database servers </a:t>
            </a:r>
          </a:p>
          <a:p>
            <a:pPr lvl="0"/>
            <a:r>
              <a:rPr lang="en-IN" dirty="0"/>
              <a:t>Virtual machines </a:t>
            </a:r>
          </a:p>
          <a:p>
            <a:pPr lvl="0"/>
            <a:r>
              <a:rPr lang="en-IN" dirty="0"/>
              <a:t>AI and machine learning workloads </a:t>
            </a:r>
          </a:p>
          <a:p>
            <a:pPr lvl="0"/>
            <a:r>
              <a:rPr lang="en-IN" dirty="0"/>
              <a:t>High-performance gaming systems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621058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D76C6-73AC-49EF-BEC4-0935ECC53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D0EC8-4339-4D44-97EE-D7586FD0C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 algn="ctr">
              <a:buNone/>
            </a:pPr>
            <a:r>
              <a:rPr lang="en-IN" b="1" dirty="0"/>
              <a:t>RAID – REDUNDANT ARRAY OF INDEPENDENT DISKS</a:t>
            </a:r>
          </a:p>
        </p:txBody>
      </p:sp>
    </p:spTree>
    <p:extLst>
      <p:ext uri="{BB962C8B-B14F-4D97-AF65-F5344CB8AC3E}">
        <p14:creationId xmlns:p14="http://schemas.microsoft.com/office/powerpoint/2010/main" val="86897320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A1CF3-ED36-4F75-9DDB-833C938DA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 to RAID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A6EAA-8F71-4A6C-A857-CCF4034B8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RAID (Redundant Array of Independent Disks)</a:t>
            </a:r>
            <a:r>
              <a:rPr lang="en-US" dirty="0"/>
              <a:t> is a storage technology that combines multiple physical hard disk drives (HDDs) or solid-state drives (SSDs) into a single logical storage unit to improve one or more of the following: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Performance </a:t>
            </a:r>
          </a:p>
          <a:p>
            <a:pPr lvl="1"/>
            <a:r>
              <a:rPr lang="en-US" dirty="0"/>
              <a:t>Reliability </a:t>
            </a:r>
          </a:p>
          <a:p>
            <a:pPr lvl="1"/>
            <a:r>
              <a:rPr lang="en-US" dirty="0"/>
              <a:t>Availability </a:t>
            </a:r>
          </a:p>
          <a:p>
            <a:pPr lvl="1"/>
            <a:r>
              <a:rPr lang="en-US" dirty="0"/>
              <a:t>Storage Capacity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793807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8F698-7B28-42BE-912E-AA03BAB33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RAID is Needed?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93CFC-7DEA-4E1F-A34B-D21BCB4D6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single disk has several limitations: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Limited storage capacity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Single point of failure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Lower read/write performance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Difficult recovery after failure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RAID solves these problems by distributing data across multiple disks.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917071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005DE-3B25-4FBA-AEC8-A0C90DE8D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1699D-B1A9-4B05-9033-F41B80EB9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a company stores customer banking records on a single hard disk.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that disk fails:</a:t>
            </a:r>
          </a:p>
          <a:p>
            <a:pPr lvl="1"/>
            <a:r>
              <a:rPr lang="en-US" dirty="0"/>
              <a:t>Entire database becomes unavailable </a:t>
            </a:r>
          </a:p>
          <a:p>
            <a:pPr lvl="1"/>
            <a:r>
              <a:rPr lang="en-US" dirty="0"/>
              <a:t>Business operations stop </a:t>
            </a:r>
          </a:p>
          <a:p>
            <a:pPr lvl="1"/>
            <a:r>
              <a:rPr lang="en-US" dirty="0"/>
              <a:t>Data recovery is difficult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Using RAID:</a:t>
            </a:r>
          </a:p>
          <a:p>
            <a:pPr lvl="1"/>
            <a:r>
              <a:rPr lang="en-US" dirty="0"/>
              <a:t>Data is copied or distributed across multiple disks. </a:t>
            </a:r>
          </a:p>
          <a:p>
            <a:pPr lvl="1"/>
            <a:r>
              <a:rPr lang="en-US" dirty="0"/>
              <a:t>If one disk fails, data can still be recovered.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054356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6A58B-DC9F-44EC-8F6C-6FDC47B10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Objectives of RAID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C0074-9616-407F-9BD0-E4427285F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RAID aims to achieve: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Increased Performance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Fault Tolerance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High Availability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Increased Storage Capacity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Data Protection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831727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98DC8-B108-4EE8-A1EB-51744FCCA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Basic RAID Terminology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B1E1D-6CD8-49BC-8ED7-7D79C6E6A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5915"/>
            <a:ext cx="10515600" cy="483104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 Disk Striping</a:t>
            </a:r>
          </a:p>
          <a:p>
            <a:pPr marL="0" indent="0">
              <a:buNone/>
            </a:pPr>
            <a:r>
              <a:rPr lang="en-US" dirty="0"/>
              <a:t>Striping means dividing data into small blocks and distributing them across multiple disks.</a:t>
            </a:r>
          </a:p>
          <a:p>
            <a:pPr marL="0" indent="0">
              <a:buNone/>
            </a:pPr>
            <a:r>
              <a:rPr lang="en-US" dirty="0"/>
              <a:t>Example</a:t>
            </a:r>
          </a:p>
          <a:p>
            <a:pPr marL="0" indent="0">
              <a:buNone/>
            </a:pPr>
            <a:r>
              <a:rPr lang="en-US" dirty="0"/>
              <a:t>Suppose a file contains:</a:t>
            </a:r>
          </a:p>
          <a:p>
            <a:pPr marL="0" indent="0">
              <a:buNone/>
            </a:pPr>
            <a:r>
              <a:rPr lang="pt-BR" dirty="0"/>
              <a:t>A B C D E F G H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Stored across four disks:</a:t>
            </a:r>
          </a:p>
          <a:p>
            <a:pPr marL="0" indent="0">
              <a:buNone/>
            </a:pPr>
            <a:r>
              <a:rPr lang="en-IN" dirty="0"/>
              <a:t>Disk1 		A 		E </a:t>
            </a:r>
          </a:p>
          <a:p>
            <a:pPr marL="0" indent="0">
              <a:buNone/>
            </a:pPr>
            <a:r>
              <a:rPr lang="en-IN" dirty="0"/>
              <a:t>Disk2 		B 		F </a:t>
            </a:r>
          </a:p>
          <a:p>
            <a:pPr marL="0" indent="0">
              <a:buNone/>
            </a:pPr>
            <a:r>
              <a:rPr lang="en-IN" dirty="0"/>
              <a:t>Disk3 		C		G </a:t>
            </a:r>
          </a:p>
          <a:p>
            <a:pPr marL="0" indent="0">
              <a:buNone/>
            </a:pPr>
            <a:r>
              <a:rPr lang="en-IN" dirty="0"/>
              <a:t>Disk4 		D 		H</a:t>
            </a:r>
          </a:p>
        </p:txBody>
      </p:sp>
    </p:spTree>
    <p:extLst>
      <p:ext uri="{BB962C8B-B14F-4D97-AF65-F5344CB8AC3E}">
        <p14:creationId xmlns:p14="http://schemas.microsoft.com/office/powerpoint/2010/main" val="357433606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FD1CD-8B4D-4026-B8E4-912A4C996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</a:t>
            </a:r>
            <a:r>
              <a:rPr lang="en-US" b="1" dirty="0"/>
              <a:t>Mirroring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8AD6D-3724-4146-B522-3E9F1E3DF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2899"/>
            <a:ext cx="10515600" cy="525997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Mirroring stores an exact copy of data on another disk.</a:t>
            </a:r>
          </a:p>
          <a:p>
            <a:endParaRPr lang="en-IN" dirty="0"/>
          </a:p>
          <a:p>
            <a:pPr marL="0" indent="0">
              <a:buNone/>
            </a:pPr>
            <a:r>
              <a:rPr lang="nn-NO" dirty="0"/>
              <a:t>Disk1 </a:t>
            </a:r>
          </a:p>
          <a:p>
            <a:pPr marL="0" indent="0">
              <a:buNone/>
            </a:pPr>
            <a:r>
              <a:rPr lang="nn-NO" dirty="0"/>
              <a:t>File A </a:t>
            </a:r>
          </a:p>
          <a:p>
            <a:pPr marL="0" indent="0">
              <a:buNone/>
            </a:pPr>
            <a:r>
              <a:rPr lang="nn-NO" dirty="0"/>
              <a:t>File B </a:t>
            </a:r>
          </a:p>
          <a:p>
            <a:pPr marL="0" indent="0">
              <a:buNone/>
            </a:pPr>
            <a:r>
              <a:rPr lang="nn-NO" dirty="0"/>
              <a:t>File C </a:t>
            </a:r>
          </a:p>
          <a:p>
            <a:pPr marL="0" indent="0">
              <a:buNone/>
            </a:pPr>
            <a:endParaRPr lang="nn-NO" dirty="0"/>
          </a:p>
          <a:p>
            <a:pPr marL="0" indent="0">
              <a:buNone/>
            </a:pPr>
            <a:r>
              <a:rPr lang="nn-NO" dirty="0"/>
              <a:t>Disk2 </a:t>
            </a:r>
          </a:p>
          <a:p>
            <a:pPr marL="0" indent="0">
              <a:buNone/>
            </a:pPr>
            <a:r>
              <a:rPr lang="nn-NO" dirty="0"/>
              <a:t>File A </a:t>
            </a:r>
          </a:p>
          <a:p>
            <a:pPr marL="0" indent="0">
              <a:buNone/>
            </a:pPr>
            <a:r>
              <a:rPr lang="nn-NO" dirty="0"/>
              <a:t>File B </a:t>
            </a:r>
          </a:p>
          <a:p>
            <a:pPr marL="0" indent="0">
              <a:buNone/>
            </a:pPr>
            <a:r>
              <a:rPr lang="nn-NO" dirty="0"/>
              <a:t>File C</a:t>
            </a:r>
          </a:p>
          <a:p>
            <a:pPr marL="0" indent="0">
              <a:buNone/>
            </a:pPr>
            <a:endParaRPr lang="nn-NO" dirty="0"/>
          </a:p>
          <a:p>
            <a:r>
              <a:rPr lang="en-US" dirty="0"/>
              <a:t>If Disk1 fails,</a:t>
            </a:r>
          </a:p>
          <a:p>
            <a:r>
              <a:rPr lang="en-US" dirty="0"/>
              <a:t>Disk2 contains identical information.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69152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6150C-6624-4B40-80A0-91B66A959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Parity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8BF5B-0793-4DCC-B6B0-365B8D478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8238"/>
            <a:ext cx="10515600" cy="561996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Parity is extra information used to reconstruct lost data.</a:t>
            </a:r>
          </a:p>
          <a:p>
            <a:pPr marL="0" indent="0">
              <a:buNone/>
            </a:pPr>
            <a:r>
              <a:rPr lang="en-US" dirty="0"/>
              <a:t>Instead of copying complete data (mirroring), RAID stores parity bits.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0" indent="0">
              <a:buNone/>
            </a:pPr>
            <a:r>
              <a:rPr lang="en-US" b="1" dirty="0"/>
              <a:t>Data Blocks</a:t>
            </a:r>
          </a:p>
          <a:p>
            <a:pPr marL="0" indent="0">
              <a:buNone/>
            </a:pPr>
            <a:r>
              <a:rPr lang="en-US" dirty="0"/>
              <a:t>A</a:t>
            </a:r>
          </a:p>
          <a:p>
            <a:pPr marL="0" indent="0">
              <a:buNone/>
            </a:pPr>
            <a:r>
              <a:rPr lang="en-US" dirty="0"/>
              <a:t>B</a:t>
            </a:r>
          </a:p>
          <a:p>
            <a:pPr marL="0" indent="0">
              <a:buNone/>
            </a:pPr>
            <a:r>
              <a:rPr lang="en-US" dirty="0"/>
              <a:t>C</a:t>
            </a:r>
          </a:p>
          <a:p>
            <a:pPr marL="0" indent="0">
              <a:buNone/>
            </a:pPr>
            <a:r>
              <a:rPr lang="en-US" b="1" dirty="0"/>
              <a:t>Parity</a:t>
            </a:r>
          </a:p>
          <a:p>
            <a:pPr marL="0" indent="0">
              <a:buNone/>
            </a:pPr>
            <a:r>
              <a:rPr lang="en-US" dirty="0"/>
              <a:t>P = A XOR B XOR C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one block is lost,</a:t>
            </a:r>
          </a:p>
          <a:p>
            <a:pPr marL="0" indent="0">
              <a:buNone/>
            </a:pPr>
            <a:r>
              <a:rPr lang="en-US" dirty="0"/>
              <a:t>It can be recreated using XOR operations.</a:t>
            </a:r>
          </a:p>
          <a:p>
            <a:pPr marL="0" indent="0">
              <a:buNone/>
            </a:pPr>
            <a:r>
              <a:rPr lang="en-US" dirty="0"/>
              <a:t>Parity provides:</a:t>
            </a:r>
          </a:p>
          <a:p>
            <a:pPr marL="0" indent="0">
              <a:buNone/>
            </a:pPr>
            <a:r>
              <a:rPr lang="en-US" dirty="0"/>
              <a:t>Fault tolerance </a:t>
            </a:r>
          </a:p>
          <a:p>
            <a:pPr marL="0" indent="0">
              <a:buNone/>
            </a:pPr>
            <a:r>
              <a:rPr lang="en-US" dirty="0"/>
              <a:t>Less storage overhead than mirroring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263788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1D3E6-9A57-46B9-B58E-72E4ABC7A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RAID Controller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B49B5-3C7D-4053-9F42-C29E40C60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A RAID controller manages the RAID array.</a:t>
            </a:r>
          </a:p>
          <a:p>
            <a:pPr marL="0" indent="0">
              <a:buNone/>
            </a:pPr>
            <a:r>
              <a:rPr lang="en-IN" dirty="0"/>
              <a:t>Functions include: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Data distribution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Parity calculation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Disk monitoring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Error detection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Recovery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Types: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Hardware RAID Controller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Software RAID Controller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171781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45782-98B9-4F51-8038-E18E84433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RAID Concepts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25B40-BC88-4172-A8A5-D06AA5865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RAID uses three main techniques: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Striping</a:t>
            </a:r>
          </a:p>
          <a:p>
            <a:pPr marL="0" indent="0">
              <a:buNone/>
            </a:pPr>
            <a:r>
              <a:rPr lang="en-US" dirty="0"/>
              <a:t>Improves speed.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Mirroring</a:t>
            </a:r>
          </a:p>
          <a:p>
            <a:pPr marL="0" indent="0">
              <a:buNone/>
            </a:pPr>
            <a:r>
              <a:rPr lang="en-US" dirty="0"/>
              <a:t>Improves reliability.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Parity</a:t>
            </a:r>
          </a:p>
          <a:p>
            <a:pPr marL="0" indent="0">
              <a:buNone/>
            </a:pPr>
            <a:r>
              <a:rPr lang="en-US" dirty="0"/>
              <a:t>Provides fault tolerance with less storage overhead.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404847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9BDC5-F3FA-45FB-80DE-4E17E5CB1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RAID Levels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A9F87-2248-4FCD-9CCA-F0CE21B53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There are several RAID levels.</a:t>
            </a:r>
          </a:p>
          <a:p>
            <a:pPr marL="0" indent="0">
              <a:buNone/>
            </a:pPr>
            <a:r>
              <a:rPr lang="en-US" dirty="0"/>
              <a:t>The most common are:</a:t>
            </a:r>
          </a:p>
          <a:p>
            <a:pPr lvl="1"/>
            <a:r>
              <a:rPr lang="en-US" dirty="0"/>
              <a:t>RAID 0 </a:t>
            </a:r>
          </a:p>
          <a:p>
            <a:pPr lvl="1"/>
            <a:r>
              <a:rPr lang="en-US" dirty="0"/>
              <a:t>RAID 1 </a:t>
            </a:r>
          </a:p>
          <a:p>
            <a:pPr lvl="1"/>
            <a:r>
              <a:rPr lang="en-US" dirty="0"/>
              <a:t>RAID 2 </a:t>
            </a:r>
          </a:p>
          <a:p>
            <a:pPr lvl="1"/>
            <a:r>
              <a:rPr lang="en-US" dirty="0"/>
              <a:t>RAID 3 </a:t>
            </a:r>
          </a:p>
          <a:p>
            <a:pPr lvl="1"/>
            <a:r>
              <a:rPr lang="en-US" dirty="0"/>
              <a:t>RAID 4 </a:t>
            </a:r>
          </a:p>
          <a:p>
            <a:pPr lvl="1"/>
            <a:r>
              <a:rPr lang="en-US" dirty="0"/>
              <a:t>RAID 5 </a:t>
            </a:r>
          </a:p>
          <a:p>
            <a:pPr lvl="1"/>
            <a:r>
              <a:rPr lang="en-US" dirty="0"/>
              <a:t>RAID 6 </a:t>
            </a:r>
          </a:p>
          <a:p>
            <a:pPr lvl="1"/>
            <a:r>
              <a:rPr lang="en-US" dirty="0"/>
              <a:t>RAID 10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758579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D7664-C412-4EB9-9545-0592F138C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RAID 0 (Striping)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C9035-9341-4DEF-934D-1CA766DF8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7560"/>
            <a:ext cx="10515600" cy="476940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Working Principle</a:t>
            </a:r>
          </a:p>
          <a:p>
            <a:r>
              <a:rPr lang="en-US" dirty="0"/>
              <a:t>Data is divided into blocks and distributed across disks.</a:t>
            </a:r>
          </a:p>
          <a:p>
            <a:pPr marL="0" indent="0">
              <a:buNone/>
            </a:pPr>
            <a:r>
              <a:rPr lang="en-US" b="1" dirty="0"/>
              <a:t>Characteristics</a:t>
            </a:r>
          </a:p>
          <a:p>
            <a:pPr lvl="1"/>
            <a:r>
              <a:rPr lang="en-US" dirty="0"/>
              <a:t>Minimum disks: 2</a:t>
            </a:r>
          </a:p>
          <a:p>
            <a:pPr lvl="1"/>
            <a:r>
              <a:rPr lang="en-US" dirty="0"/>
              <a:t>Fault tolerance: No</a:t>
            </a:r>
          </a:p>
          <a:p>
            <a:pPr lvl="1"/>
            <a:r>
              <a:rPr lang="en-US" dirty="0"/>
              <a:t>Performance: Very High</a:t>
            </a:r>
          </a:p>
          <a:p>
            <a:pPr lvl="1"/>
            <a:r>
              <a:rPr lang="en-US" dirty="0"/>
              <a:t>Storage efficiency: 100%</a:t>
            </a:r>
          </a:p>
          <a:p>
            <a:pPr marL="0" indent="0">
              <a:buNone/>
            </a:pPr>
            <a:r>
              <a:rPr lang="en-US" b="1" dirty="0"/>
              <a:t>Advantages</a:t>
            </a:r>
          </a:p>
          <a:p>
            <a:pPr lvl="1"/>
            <a:r>
              <a:rPr lang="en-US" dirty="0"/>
              <a:t>Fastest RAID </a:t>
            </a:r>
          </a:p>
          <a:p>
            <a:pPr lvl="1"/>
            <a:r>
              <a:rPr lang="en-US" dirty="0"/>
              <a:t>Excellent read and write speed  </a:t>
            </a:r>
          </a:p>
          <a:p>
            <a:pPr lvl="1"/>
            <a:r>
              <a:rPr lang="en-US" dirty="0"/>
              <a:t>Full storage utilization</a:t>
            </a:r>
          </a:p>
          <a:p>
            <a:pPr marL="0" indent="0">
              <a:buNone/>
            </a:pPr>
            <a:r>
              <a:rPr lang="en-US" b="1" dirty="0"/>
              <a:t>Disadvantages</a:t>
            </a:r>
          </a:p>
          <a:p>
            <a:pPr lvl="1"/>
            <a:r>
              <a:rPr lang="en-US" dirty="0"/>
              <a:t>No redundancy </a:t>
            </a:r>
          </a:p>
          <a:p>
            <a:pPr lvl="1"/>
            <a:r>
              <a:rPr lang="en-US" dirty="0"/>
              <a:t>One disk failure destroys entire array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ADAA9D-2D3B-43F9-80B0-A8677203BD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0957" y="3237793"/>
            <a:ext cx="3637511" cy="2572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16106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4F4B6-ACC8-4DD3-9643-0342C3358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RAID 1 (Mirroring)</a:t>
            </a:r>
            <a:br>
              <a:rPr lang="en-US" b="1" dirty="0"/>
            </a:b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A6AD2-798A-492C-B8E0-EAF3BF216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6045"/>
            <a:ext cx="10515600" cy="5200918"/>
          </a:xfrm>
        </p:spPr>
        <p:txBody>
          <a:bodyPr>
            <a:normAutofit/>
          </a:bodyPr>
          <a:lstStyle/>
          <a:p>
            <a:r>
              <a:rPr lang="en-US" b="1" dirty="0"/>
              <a:t>Working Principle</a:t>
            </a:r>
            <a:br>
              <a:rPr lang="en-US" b="1" dirty="0"/>
            </a:br>
            <a:r>
              <a:rPr lang="en-US" dirty="0"/>
              <a:t>Every disk has an identical copy.</a:t>
            </a:r>
          </a:p>
          <a:p>
            <a:r>
              <a:rPr lang="en-US" b="1" dirty="0"/>
              <a:t>Characteristics</a:t>
            </a:r>
          </a:p>
          <a:p>
            <a:r>
              <a:rPr lang="en-US" dirty="0"/>
              <a:t>Minimum disks: 2</a:t>
            </a:r>
          </a:p>
          <a:p>
            <a:r>
              <a:rPr lang="en-US" dirty="0"/>
              <a:t>Fault tolerance: Excellent</a:t>
            </a:r>
          </a:p>
          <a:p>
            <a:r>
              <a:rPr lang="en-US" dirty="0"/>
              <a:t>Performance: Read – High, Write - Moderate</a:t>
            </a:r>
          </a:p>
          <a:p>
            <a:r>
              <a:rPr lang="en-US" dirty="0"/>
              <a:t>Storage efficiency - 50%</a:t>
            </a:r>
          </a:p>
          <a:p>
            <a:r>
              <a:rPr lang="en-US" b="1" dirty="0"/>
              <a:t>Advantages</a:t>
            </a:r>
          </a:p>
          <a:p>
            <a:r>
              <a:rPr lang="en-US" dirty="0"/>
              <a:t>High reliability, Easy recovery, Excellent read performance</a:t>
            </a:r>
          </a:p>
          <a:p>
            <a:r>
              <a:rPr lang="en-US" b="1" dirty="0"/>
              <a:t>Disadvantages</a:t>
            </a:r>
          </a:p>
          <a:p>
            <a:r>
              <a:rPr lang="en-US" dirty="0"/>
              <a:t>Expensive and Half the storage is usable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0D388A-9191-4455-B1BB-EFE8695C1F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110" y="3708971"/>
            <a:ext cx="3578226" cy="246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00322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27FBE-1C06-46EB-9099-6B5783F99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RAID 2</a:t>
            </a:r>
            <a:br>
              <a:rPr lang="en-US" b="1" dirty="0"/>
            </a:br>
            <a:br>
              <a:rPr lang="en-US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C93D27-CD5E-4888-9136-766972AF5C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1594" y="4138091"/>
            <a:ext cx="4495238" cy="2354784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785A3B95-5228-4A66-A972-13C3DF17D3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09765"/>
            <a:ext cx="6394807" cy="3462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Bit-Level Striping: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Data is split up and spread across multiple data disks one individual bit at a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Hamming Code Parity: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Dedicated extra drives store linear error-correction bits.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Fault Tolerance: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Can detect and correct single-bit errors and identify multi-bit failures</a:t>
            </a:r>
          </a:p>
        </p:txBody>
      </p:sp>
    </p:spTree>
    <p:extLst>
      <p:ext uri="{BB962C8B-B14F-4D97-AF65-F5344CB8AC3E}">
        <p14:creationId xmlns:p14="http://schemas.microsoft.com/office/powerpoint/2010/main" val="10942058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C2159-C479-4567-93C5-AA5323B09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RAID 3</a:t>
            </a:r>
            <a:br>
              <a:rPr lang="en-US" b="1" dirty="0"/>
            </a:b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6E690-4526-4858-9D41-C6C4B3E58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6867"/>
            <a:ext cx="10515600" cy="533228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Uses:</a:t>
            </a:r>
            <a:br>
              <a:rPr lang="en-US" dirty="0"/>
            </a:br>
            <a:r>
              <a:rPr lang="en-US" dirty="0"/>
              <a:t>Data is split into tiny pieces (bytes) and written evenly across all data drives at the same time.</a:t>
            </a:r>
            <a:br>
              <a:rPr lang="en-US" dirty="0"/>
            </a:br>
            <a:r>
              <a:rPr lang="en-US" dirty="0"/>
              <a:t>A special mathematical calculation called </a:t>
            </a:r>
            <a:r>
              <a:rPr lang="en-US" b="1" dirty="0"/>
              <a:t>parity</a:t>
            </a:r>
            <a:r>
              <a:rPr lang="en-US" dirty="0"/>
              <a:t> is run on those bytes.</a:t>
            </a:r>
          </a:p>
          <a:p>
            <a:pPr marL="0" indent="0">
              <a:buNone/>
            </a:pPr>
            <a:r>
              <a:rPr lang="en-US" dirty="0"/>
              <a:t>This parity code is saved onto the one dedicated parity drive.</a:t>
            </a:r>
          </a:p>
          <a:p>
            <a:pPr marL="0" indent="0">
              <a:buNone/>
            </a:pPr>
            <a:r>
              <a:rPr lang="en-US" dirty="0"/>
              <a:t>If one data or parity drive breaks, the system uses the remaining bytes and parity math to rebuild the lost information on the fly.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Advantages</a:t>
            </a:r>
          </a:p>
          <a:p>
            <a:r>
              <a:rPr lang="en-US" dirty="0"/>
              <a:t>High sequential read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Disadvantages</a:t>
            </a:r>
          </a:p>
          <a:p>
            <a:r>
              <a:rPr lang="en-US" dirty="0"/>
              <a:t>Parity disk bottleneck </a:t>
            </a:r>
          </a:p>
          <a:p>
            <a:r>
              <a:rPr lang="en-US" dirty="0"/>
              <a:t>Applications</a:t>
            </a:r>
          </a:p>
          <a:p>
            <a:r>
              <a:rPr lang="en-US" dirty="0"/>
              <a:t>Large multimedia files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5CA71-CD27-400A-8C7A-75878DFBC0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3369" y="3605483"/>
            <a:ext cx="4495238" cy="240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4065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782AC-4857-4939-8BD5-E96420DC3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RAID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34976-CADB-4843-AF10-C70915EFA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Uses</a:t>
            </a:r>
          </a:p>
          <a:p>
            <a:r>
              <a:rPr lang="en-US" dirty="0"/>
              <a:t>Block-level striping</a:t>
            </a:r>
          </a:p>
          <a:p>
            <a:r>
              <a:rPr lang="en-US" dirty="0"/>
              <a:t>Dedicated parity disk</a:t>
            </a:r>
          </a:p>
          <a:p>
            <a:r>
              <a:rPr lang="en-US" dirty="0"/>
              <a:t>Better random reads than RAID 3.</a:t>
            </a:r>
          </a:p>
          <a:p>
            <a:r>
              <a:rPr lang="en-US" dirty="0"/>
              <a:t>Still suffers parity bottleneck.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5C5E1B-CF34-4678-8617-E181F449EC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6111" y="3605483"/>
            <a:ext cx="4495238" cy="240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63846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E7FF0-DCE7-4C39-B239-A7E4F16AB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RAID 5 (Most Popular)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5ECBE-9734-42FE-9EA3-C7DCFB070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Uses:</a:t>
            </a:r>
          </a:p>
          <a:p>
            <a:r>
              <a:rPr lang="en-US" dirty="0"/>
              <a:t>Block striping </a:t>
            </a:r>
          </a:p>
          <a:p>
            <a:r>
              <a:rPr lang="en-US" dirty="0"/>
              <a:t>Distributed parity </a:t>
            </a:r>
          </a:p>
          <a:p>
            <a:r>
              <a:rPr lang="en-US" dirty="0"/>
              <a:t>Parity rotates across disks.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Characteristics</a:t>
            </a:r>
          </a:p>
          <a:p>
            <a:r>
              <a:rPr lang="en-US" dirty="0"/>
              <a:t>Minimum disks:3</a:t>
            </a:r>
          </a:p>
          <a:p>
            <a:r>
              <a:rPr lang="en-US" dirty="0"/>
              <a:t>Fault tolerance: One disk failure</a:t>
            </a:r>
          </a:p>
          <a:p>
            <a:r>
              <a:rPr lang="en-US" dirty="0"/>
              <a:t>Performance - Read: High, Write: Moderate</a:t>
            </a:r>
          </a:p>
          <a:p>
            <a:r>
              <a:rPr lang="en-US" dirty="0"/>
              <a:t>Storage efficiency: </a:t>
            </a:r>
            <a:r>
              <a:rPr lang="en-IN" dirty="0"/>
              <a:t>(N-1)/N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475EE4-2F67-4871-98EF-29ADB6505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4770" y="1275927"/>
            <a:ext cx="5028571" cy="3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23974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3C742-43A0-4B84-B166-008012D42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RAID 5 </a:t>
            </a:r>
            <a:r>
              <a:rPr lang="en-US" b="1" dirty="0"/>
              <a:t>(Most Popular)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A3D98-DBFC-4D3B-A3FB-20583425E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Example</a:t>
            </a:r>
          </a:p>
          <a:p>
            <a:r>
              <a:rPr lang="en-IN" dirty="0"/>
              <a:t>4 disks</a:t>
            </a:r>
          </a:p>
          <a:p>
            <a:r>
              <a:rPr lang="en-IN" dirty="0"/>
              <a:t>Storage: 4 × 1 TB = 4 TB</a:t>
            </a:r>
          </a:p>
          <a:p>
            <a:r>
              <a:rPr lang="en-IN" dirty="0"/>
              <a:t>Usable: 3 TB</a:t>
            </a:r>
          </a:p>
          <a:p>
            <a:pPr marL="0" indent="0">
              <a:buNone/>
            </a:pPr>
            <a:r>
              <a:rPr lang="en-US" b="1" dirty="0"/>
              <a:t>Advantages</a:t>
            </a:r>
          </a:p>
          <a:p>
            <a:r>
              <a:rPr lang="en-US" dirty="0"/>
              <a:t>Excellent balance </a:t>
            </a:r>
          </a:p>
          <a:p>
            <a:r>
              <a:rPr lang="en-US" dirty="0"/>
              <a:t>High capacity </a:t>
            </a:r>
          </a:p>
          <a:p>
            <a:r>
              <a:rPr lang="en-US" dirty="0"/>
              <a:t>Good fault tolerance </a:t>
            </a:r>
          </a:p>
          <a:p>
            <a:pPr marL="0" indent="0">
              <a:buNone/>
            </a:pPr>
            <a:r>
              <a:rPr lang="en-US" b="1" dirty="0"/>
              <a:t>Disadvantages</a:t>
            </a:r>
          </a:p>
          <a:p>
            <a:r>
              <a:rPr lang="en-US" dirty="0"/>
              <a:t>Slow rebuild </a:t>
            </a:r>
          </a:p>
          <a:p>
            <a:r>
              <a:rPr lang="en-US" dirty="0"/>
              <a:t>Write penalty </a:t>
            </a:r>
          </a:p>
          <a:p>
            <a:r>
              <a:rPr lang="en-US" dirty="0"/>
              <a:t>Cannot survive two failures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72119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0544A-94F2-4AAE-8A73-973F32AA9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RAID 6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B4F5E-3CF5-45A0-B673-C2A11BE49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351"/>
            <a:ext cx="10515600" cy="496461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Uses:</a:t>
            </a:r>
          </a:p>
          <a:p>
            <a:r>
              <a:rPr lang="en-US" dirty="0"/>
              <a:t>Block striping </a:t>
            </a:r>
          </a:p>
          <a:p>
            <a:r>
              <a:rPr lang="en-US" dirty="0"/>
              <a:t>Dual distributed parity </a:t>
            </a:r>
          </a:p>
          <a:p>
            <a:pPr marL="0" indent="0">
              <a:buNone/>
            </a:pPr>
            <a:r>
              <a:rPr lang="en-US" b="1" dirty="0"/>
              <a:t>Characteristics</a:t>
            </a:r>
          </a:p>
          <a:p>
            <a:r>
              <a:rPr lang="en-US" dirty="0"/>
              <a:t>Minimum disks: 4 Can survive</a:t>
            </a:r>
          </a:p>
          <a:p>
            <a:r>
              <a:rPr lang="en-US" dirty="0"/>
              <a:t>Two disk failures</a:t>
            </a:r>
          </a:p>
          <a:p>
            <a:r>
              <a:rPr lang="en-US" dirty="0"/>
              <a:t>Storage: N-2</a:t>
            </a:r>
          </a:p>
          <a:p>
            <a:pPr marL="0" indent="0">
              <a:buNone/>
            </a:pPr>
            <a:r>
              <a:rPr lang="en-US" b="1" dirty="0"/>
              <a:t>Advantages</a:t>
            </a:r>
          </a:p>
          <a:p>
            <a:r>
              <a:rPr lang="en-US" dirty="0"/>
              <a:t>Very high reliability </a:t>
            </a:r>
          </a:p>
          <a:p>
            <a:r>
              <a:rPr lang="en-US" dirty="0"/>
              <a:t>Better protection than RAID 5</a:t>
            </a:r>
          </a:p>
          <a:p>
            <a:pPr marL="0" indent="0">
              <a:buNone/>
            </a:pPr>
            <a:r>
              <a:rPr lang="en-US" b="1" dirty="0"/>
              <a:t>Disadvantages</a:t>
            </a:r>
          </a:p>
          <a:p>
            <a:r>
              <a:rPr lang="en-US" dirty="0"/>
              <a:t>Higher write overhead </a:t>
            </a:r>
          </a:p>
          <a:p>
            <a:r>
              <a:rPr lang="en-US" dirty="0"/>
              <a:t>Longer rebuild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F8D603-6193-4894-A473-6684FCFD93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90688"/>
            <a:ext cx="4651772" cy="2799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38445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D9CA0-5CC3-417B-80AD-F02BD4BC7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RAID 10 (RAID 1 + RAID 0)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FE46C-8CD1-4D5E-89A6-346B57149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Combination of Mirroring and Striping</a:t>
            </a:r>
          </a:p>
          <a:p>
            <a:pPr marL="0" indent="0">
              <a:buNone/>
            </a:pPr>
            <a:r>
              <a:rPr lang="en-US" dirty="0"/>
              <a:t>Characteristics</a:t>
            </a:r>
          </a:p>
          <a:p>
            <a:r>
              <a:rPr lang="en-US" dirty="0"/>
              <a:t>Minimum disks: 4</a:t>
            </a:r>
          </a:p>
          <a:p>
            <a:r>
              <a:rPr lang="en-US" dirty="0"/>
              <a:t>Performance: Very High</a:t>
            </a:r>
          </a:p>
          <a:p>
            <a:r>
              <a:rPr lang="en-US" dirty="0"/>
              <a:t>Fault tolerance: Excellent</a:t>
            </a:r>
          </a:p>
          <a:p>
            <a:r>
              <a:rPr lang="en-US" dirty="0"/>
              <a:t>Storage efficiency: 50%</a:t>
            </a:r>
          </a:p>
          <a:p>
            <a:pPr marL="0" indent="0">
              <a:buNone/>
            </a:pPr>
            <a:r>
              <a:rPr lang="en-US" b="1" dirty="0"/>
              <a:t>Advantages</a:t>
            </a:r>
          </a:p>
          <a:p>
            <a:r>
              <a:rPr lang="en-US" dirty="0"/>
              <a:t>High speed &amp; availability </a:t>
            </a:r>
          </a:p>
          <a:p>
            <a:r>
              <a:rPr lang="en-US" dirty="0"/>
              <a:t>Quick recovery</a:t>
            </a:r>
          </a:p>
          <a:p>
            <a:pPr marL="0" indent="0">
              <a:buNone/>
            </a:pPr>
            <a:r>
              <a:rPr lang="en-US" b="1" dirty="0"/>
              <a:t>Disadvantages</a:t>
            </a:r>
          </a:p>
          <a:p>
            <a:r>
              <a:rPr lang="en-US" dirty="0"/>
              <a:t>Costly &amp; Requires many disks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EC7568-3F12-493E-90C9-051C3007BB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9676" y="2280862"/>
            <a:ext cx="6816467" cy="3361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669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874</TotalTime>
  <Words>3323</Words>
  <Application>Microsoft Office PowerPoint</Application>
  <PresentationFormat>Widescreen</PresentationFormat>
  <Paragraphs>774</Paragraphs>
  <Slides>81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81</vt:i4>
      </vt:variant>
    </vt:vector>
  </HeadingPairs>
  <TitlesOfParts>
    <vt:vector size="89" baseType="lpstr">
      <vt:lpstr>Arial</vt:lpstr>
      <vt:lpstr>Calibri</vt:lpstr>
      <vt:lpstr>Calibri Light</vt:lpstr>
      <vt:lpstr>Times New Roman</vt:lpstr>
      <vt:lpstr>Wingdings</vt:lpstr>
      <vt:lpstr>Office Theme</vt:lpstr>
      <vt:lpstr>Custom Design</vt:lpstr>
      <vt:lpstr>1_Custom Design</vt:lpstr>
      <vt:lpstr>INTELLIGENT STORAGE SYSTEMS AND RAID </vt:lpstr>
      <vt:lpstr>SYLLABUS</vt:lpstr>
      <vt:lpstr>Introduction to Intelligent Storage System (ISS)</vt:lpstr>
      <vt:lpstr>Why Do We Need Intelligent Storage Systems?</vt:lpstr>
      <vt:lpstr>Why Do We Need Intelligent Storage Systems?</vt:lpstr>
      <vt:lpstr>Example </vt:lpstr>
      <vt:lpstr>Architecture of an Intelligent Storage System </vt:lpstr>
      <vt:lpstr>2.2 Components of an Intelligent Storage System </vt:lpstr>
      <vt:lpstr>1. Host Interface (Front-End Interface) </vt:lpstr>
      <vt:lpstr>1. Host Interface (Front-End Interface)</vt:lpstr>
      <vt:lpstr>2. Storage Controller</vt:lpstr>
      <vt:lpstr>2. Storage Controller</vt:lpstr>
      <vt:lpstr>3. Cache Memory </vt:lpstr>
      <vt:lpstr>Types of Cache</vt:lpstr>
      <vt:lpstr>4. RAID Controller </vt:lpstr>
      <vt:lpstr>4. RAID Controller</vt:lpstr>
      <vt:lpstr>5. Physical Storage Devices </vt:lpstr>
      <vt:lpstr>5. Physical Storage Devices</vt:lpstr>
      <vt:lpstr>6. Back-End Interface </vt:lpstr>
      <vt:lpstr>7. Power Supply </vt:lpstr>
      <vt:lpstr>8. Cooling System </vt:lpstr>
      <vt:lpstr>9. Storage Management Software </vt:lpstr>
      <vt:lpstr>Data Flow in an Intelligent Storage System </vt:lpstr>
      <vt:lpstr> </vt:lpstr>
      <vt:lpstr>1. Introduction </vt:lpstr>
      <vt:lpstr>What is a Hard Disk Drive? </vt:lpstr>
      <vt:lpstr>Components of a Hard Disk Drive </vt:lpstr>
      <vt:lpstr>1. Platters </vt:lpstr>
      <vt:lpstr>2. Spindle </vt:lpstr>
      <vt:lpstr>3. Read/Write Head </vt:lpstr>
      <vt:lpstr>4. Actuator Arm </vt:lpstr>
      <vt:lpstr>5. Actuator </vt:lpstr>
      <vt:lpstr>6. Controller Board (PCB) </vt:lpstr>
      <vt:lpstr>7. Cache Memory (Buffer) </vt:lpstr>
      <vt:lpstr>8. SATA/SAS Interface </vt:lpstr>
      <vt:lpstr>HDD Internal Organization</vt:lpstr>
      <vt:lpstr>HDD Internal Organization</vt:lpstr>
      <vt:lpstr>HDD Internal Organization</vt:lpstr>
      <vt:lpstr>Addressing in HDD </vt:lpstr>
      <vt:lpstr>1. CHS Addressing (Cylinder-Head-Sector) </vt:lpstr>
      <vt:lpstr>2. LBA (Logical Block Addressing)</vt:lpstr>
      <vt:lpstr>HDD Performance </vt:lpstr>
      <vt:lpstr> </vt:lpstr>
      <vt:lpstr> </vt:lpstr>
      <vt:lpstr> </vt:lpstr>
      <vt:lpstr>  </vt:lpstr>
      <vt:lpstr>   </vt:lpstr>
      <vt:lpstr>SOLID STATE DRIVE (SSD)</vt:lpstr>
      <vt:lpstr>Components of Solid State Disk (SSD)</vt:lpstr>
      <vt:lpstr>1. NAND Flash Memory </vt:lpstr>
      <vt:lpstr>2. SSD Controller </vt:lpstr>
      <vt:lpstr>3. Cache Memory </vt:lpstr>
      <vt:lpstr>4. Flash Translation Layer (FTL) </vt:lpstr>
      <vt:lpstr>5. Interface </vt:lpstr>
      <vt:lpstr>Working Principle of SSD </vt:lpstr>
      <vt:lpstr>Addressing in SSD </vt:lpstr>
      <vt:lpstr>SSD Performance </vt:lpstr>
      <vt:lpstr>SSD Performance</vt:lpstr>
      <vt:lpstr>SSD Performance</vt:lpstr>
      <vt:lpstr>Real-World Applications </vt:lpstr>
      <vt:lpstr>Real-World Applications </vt:lpstr>
      <vt:lpstr>  </vt:lpstr>
      <vt:lpstr>Introduction to RAID</vt:lpstr>
      <vt:lpstr>Why RAID is Needed? </vt:lpstr>
      <vt:lpstr>Example </vt:lpstr>
      <vt:lpstr>Objectives of RAID </vt:lpstr>
      <vt:lpstr>2. Basic RAID Terminology </vt:lpstr>
      <vt:lpstr>Data Mirroring </vt:lpstr>
      <vt:lpstr>Parity </vt:lpstr>
      <vt:lpstr>RAID Controller </vt:lpstr>
      <vt:lpstr>3. RAID Concepts </vt:lpstr>
      <vt:lpstr>4. RAID Levels </vt:lpstr>
      <vt:lpstr>RAID 0 (Striping)</vt:lpstr>
      <vt:lpstr>RAID 1 (Mirroring)  </vt:lpstr>
      <vt:lpstr>RAID 2  </vt:lpstr>
      <vt:lpstr>RAID 3  </vt:lpstr>
      <vt:lpstr>RAID 4</vt:lpstr>
      <vt:lpstr>RAID 5 (Most Popular) </vt:lpstr>
      <vt:lpstr>RAID 5 (Most Popular)</vt:lpstr>
      <vt:lpstr>RAID 6 </vt:lpstr>
      <vt:lpstr>RAID 10 (RAID 1 + RAID 0)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STORAGE SYSTEMS AND RAID </dc:title>
  <dc:creator>USER</dc:creator>
  <cp:lastModifiedBy>USER</cp:lastModifiedBy>
  <cp:revision>44</cp:revision>
  <dcterms:created xsi:type="dcterms:W3CDTF">2026-07-28T09:16:59Z</dcterms:created>
  <dcterms:modified xsi:type="dcterms:W3CDTF">2026-08-04T06:55:42Z</dcterms:modified>
</cp:coreProperties>
</file>